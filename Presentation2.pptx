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853" autoAdjust="0"/>
  </p:normalViewPr>
  <p:slideViewPr>
    <p:cSldViewPr snapToGrid="0">
      <p:cViewPr varScale="1">
        <p:scale>
          <a:sx n="64" d="100"/>
          <a:sy n="64" d="100"/>
        </p:scale>
        <p:origin x="14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1CC03-23D9-46F2-A7BF-EEC96A3CCBBB}" type="datetimeFigureOut">
              <a:rPr lang="en-CA" smtClean="0"/>
              <a:t>2025-11-17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D28114-3F5B-4135-9C20-3D4D408DFEFF}" type="slidenum">
              <a:rPr lang="en-CA" smtClean="0"/>
              <a:t>‹#›</a:t>
            </a:fld>
            <a:endParaRPr lang="en-CA"/>
          </a:p>
        </p:txBody>
      </p:sp>
    </p:spTree>
    <p:extLst>
      <p:ext uri="{BB962C8B-B14F-4D97-AF65-F5344CB8AC3E}">
        <p14:creationId xmlns:p14="http://schemas.microsoft.com/office/powerpoint/2010/main" val="156415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b="1" dirty="0"/>
              <a:t>Questions:</a:t>
            </a:r>
            <a:endParaRPr lang="en-US" dirty="0"/>
          </a:p>
          <a:p>
            <a:endParaRPr lang="en-US" dirty="0"/>
          </a:p>
          <a:p>
            <a:r>
              <a:rPr lang="en-US" dirty="0"/>
              <a:t>1) Are pipelines fully YAML-based or classic UI-based?</a:t>
            </a:r>
          </a:p>
          <a:p>
            <a:r>
              <a:rPr lang="en-US" dirty="0"/>
              <a:t>2) Are shared templates used across teams?</a:t>
            </a:r>
          </a:p>
          <a:p>
            <a:endParaRPr lang="en-CA" dirty="0"/>
          </a:p>
        </p:txBody>
      </p:sp>
      <p:sp>
        <p:nvSpPr>
          <p:cNvPr id="4" name="Slide Number Placeholder 3"/>
          <p:cNvSpPr>
            <a:spLocks noGrp="1"/>
          </p:cNvSpPr>
          <p:nvPr>
            <p:ph type="sldNum" sz="quarter" idx="5"/>
          </p:nvPr>
        </p:nvSpPr>
        <p:spPr/>
        <p:txBody>
          <a:bodyPr/>
          <a:lstStyle/>
          <a:p>
            <a:fld id="{E8D28114-3F5B-4135-9C20-3D4D408DFEFF}" type="slidenum">
              <a:rPr lang="en-CA" smtClean="0"/>
              <a:t>4</a:t>
            </a:fld>
            <a:endParaRPr lang="en-CA"/>
          </a:p>
        </p:txBody>
      </p:sp>
    </p:spTree>
    <p:extLst>
      <p:ext uri="{BB962C8B-B14F-4D97-AF65-F5344CB8AC3E}">
        <p14:creationId xmlns:p14="http://schemas.microsoft.com/office/powerpoint/2010/main" val="1224294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Questions:</a:t>
            </a:r>
            <a:endParaRPr lang="en-US" dirty="0"/>
          </a:p>
          <a:p>
            <a:endParaRPr lang="en-CA" dirty="0"/>
          </a:p>
          <a:p>
            <a:pPr marL="228600" indent="-228600">
              <a:buAutoNum type="arabicParenR"/>
            </a:pPr>
            <a:r>
              <a:rPr lang="en-US" dirty="0"/>
              <a:t>How many environments you have (e.g., Dev → QA → UAT → Prod)</a:t>
            </a:r>
          </a:p>
          <a:p>
            <a:pPr marL="228600" indent="-228600">
              <a:buAutoNum type="arabicParenR"/>
            </a:pPr>
            <a:r>
              <a:rPr lang="en-US" dirty="0"/>
              <a:t>How often each system deploys</a:t>
            </a:r>
          </a:p>
          <a:p>
            <a:pPr marL="228600" indent="-228600">
              <a:buAutoNum type="arabicParenR"/>
            </a:pPr>
            <a:r>
              <a:rPr lang="en-CA" dirty="0"/>
              <a:t>Whether hotfixes are common</a:t>
            </a:r>
          </a:p>
          <a:p>
            <a:endParaRPr lang="en-CA" dirty="0"/>
          </a:p>
        </p:txBody>
      </p:sp>
      <p:sp>
        <p:nvSpPr>
          <p:cNvPr id="4" name="Slide Number Placeholder 3"/>
          <p:cNvSpPr>
            <a:spLocks noGrp="1"/>
          </p:cNvSpPr>
          <p:nvPr>
            <p:ph type="sldNum" sz="quarter" idx="5"/>
          </p:nvPr>
        </p:nvSpPr>
        <p:spPr/>
        <p:txBody>
          <a:bodyPr/>
          <a:lstStyle/>
          <a:p>
            <a:fld id="{E8D28114-3F5B-4135-9C20-3D4D408DFEFF}" type="slidenum">
              <a:rPr lang="en-CA" smtClean="0"/>
              <a:t>5</a:t>
            </a:fld>
            <a:endParaRPr lang="en-CA"/>
          </a:p>
        </p:txBody>
      </p:sp>
    </p:spTree>
    <p:extLst>
      <p:ext uri="{BB962C8B-B14F-4D97-AF65-F5344CB8AC3E}">
        <p14:creationId xmlns:p14="http://schemas.microsoft.com/office/powerpoint/2010/main" val="2486145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Questions:</a:t>
            </a:r>
            <a:endParaRPr lang="en-US" dirty="0"/>
          </a:p>
          <a:p>
            <a:endParaRPr lang="en-CA" dirty="0"/>
          </a:p>
          <a:p>
            <a:pPr marL="228600" indent="-228600">
              <a:buAutoNum type="arabicParenR"/>
            </a:pPr>
            <a:r>
              <a:rPr lang="en-US" dirty="0"/>
              <a:t>What is the promotion path? (Dev → Test → UAT → Prod)</a:t>
            </a:r>
          </a:p>
          <a:p>
            <a:pPr marL="228600" indent="-228600">
              <a:buAutoNum type="arabicParenR"/>
            </a:pPr>
            <a:r>
              <a:rPr lang="en-US" dirty="0"/>
              <a:t>Are approvals automated or manual?</a:t>
            </a:r>
          </a:p>
          <a:p>
            <a:pPr marL="228600" indent="-228600">
              <a:buAutoNum type="arabicParenR"/>
            </a:pPr>
            <a:r>
              <a:rPr lang="en-CA" dirty="0"/>
              <a:t>How are rollbacks handled?</a:t>
            </a:r>
          </a:p>
        </p:txBody>
      </p:sp>
      <p:sp>
        <p:nvSpPr>
          <p:cNvPr id="4" name="Slide Number Placeholder 3"/>
          <p:cNvSpPr>
            <a:spLocks noGrp="1"/>
          </p:cNvSpPr>
          <p:nvPr>
            <p:ph type="sldNum" sz="quarter" idx="5"/>
          </p:nvPr>
        </p:nvSpPr>
        <p:spPr/>
        <p:txBody>
          <a:bodyPr/>
          <a:lstStyle/>
          <a:p>
            <a:fld id="{E8D28114-3F5B-4135-9C20-3D4D408DFEFF}" type="slidenum">
              <a:rPr lang="en-CA" smtClean="0"/>
              <a:t>10</a:t>
            </a:fld>
            <a:endParaRPr lang="en-CA"/>
          </a:p>
        </p:txBody>
      </p:sp>
    </p:spTree>
    <p:extLst>
      <p:ext uri="{BB962C8B-B14F-4D97-AF65-F5344CB8AC3E}">
        <p14:creationId xmlns:p14="http://schemas.microsoft.com/office/powerpoint/2010/main" val="3480581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9297-2581-419F-DD1A-414289F60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2BFC2-367E-F69D-1FF2-7D6FADCE67D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E2BF5C4-2396-8427-3138-6F88DB439C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00DAD623-14D4-D761-FC54-4601554B567E}"/>
              </a:ext>
            </a:extLst>
          </p:cNvPr>
          <p:cNvSpPr>
            <a:spLocks noGrp="1"/>
          </p:cNvSpPr>
          <p:nvPr>
            <p:ph type="sldNum" sz="quarter" idx="5"/>
          </p:nvPr>
        </p:nvSpPr>
        <p:spPr/>
        <p:txBody>
          <a:bodyPr/>
          <a:lstStyle/>
          <a:p>
            <a:fld id="{E8D28114-3F5B-4135-9C20-3D4D408DFEFF}" type="slidenum">
              <a:rPr lang="en-CA" smtClean="0"/>
              <a:t>11</a:t>
            </a:fld>
            <a:endParaRPr lang="en-CA"/>
          </a:p>
        </p:txBody>
      </p:sp>
    </p:spTree>
    <p:extLst>
      <p:ext uri="{BB962C8B-B14F-4D97-AF65-F5344CB8AC3E}">
        <p14:creationId xmlns:p14="http://schemas.microsoft.com/office/powerpoint/2010/main" val="3400954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1D09-63A4-14D9-FE35-0B1E1C2EE5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E766732-B32C-9B6F-8910-DA69D1E2F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21648E3-556C-274A-C80D-FE8D2825393D}"/>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B1EA06C2-43E1-391F-CAC3-A548ADF354B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BFEDA98-3F95-6C9F-32CC-C25211226634}"/>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1840568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6CF2-AC1B-CA8A-37E6-194AA31DDA6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B53A9A9-9352-8B2A-9E14-1656085693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ED861B0-D123-28F9-8177-790C3A105F59}"/>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EEE883DF-6C47-FB34-41D8-934F93BCBDA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84A7760-00BD-3BB9-AE20-49DA6D293E31}"/>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1363224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EBC2-73FA-D6EA-295B-605EBAB2DA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95B6E11-D0AD-EC22-CCFD-BCEEDA7CE7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0A4288-19A8-A864-422B-929DB73CD847}"/>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B0FCD2E3-A8A9-20F7-2227-B607D1D194B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04E96E2-2CB5-ECF8-FBAE-D49BCCC9BE26}"/>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4040921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18A95-46C2-835B-146D-22CDCF28DF6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1C47BD5-C0A7-16C1-7919-BC333A1A1F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7032E39-2689-68C7-7C2C-3E9769005E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3B1320C-AF0C-560C-16AA-321D14BB7E49}"/>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6" name="Footer Placeholder 5">
            <a:extLst>
              <a:ext uri="{FF2B5EF4-FFF2-40B4-BE49-F238E27FC236}">
                <a16:creationId xmlns:a16="http://schemas.microsoft.com/office/drawing/2014/main" id="{88ADDEC2-2A47-534E-3FB3-2D39F94FF31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69F31F7-4F51-96A3-C969-D5278DFB0243}"/>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122392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6A73C-8C1E-B453-7B70-05F89FB2FE8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B492458-290D-0BF8-892D-8549487B4E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9FF326-7C33-012E-7704-5B416B232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437C81C-A87D-B512-0079-D3AD420CD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ACF16E-CE80-1066-FB20-5B189AEADC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B98FAED-7B5A-CBA8-7459-BFC6840E6B09}"/>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8" name="Footer Placeholder 7">
            <a:extLst>
              <a:ext uri="{FF2B5EF4-FFF2-40B4-BE49-F238E27FC236}">
                <a16:creationId xmlns:a16="http://schemas.microsoft.com/office/drawing/2014/main" id="{4488B4B3-41E0-4313-3055-3716AB67481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B470689-C921-F5D2-67B1-DF9094FDB93E}"/>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2970139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918F-C29A-C687-AC30-720979878F3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5C542C7-56FD-989B-DA9D-2A9BA330FD27}"/>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4" name="Footer Placeholder 3">
            <a:extLst>
              <a:ext uri="{FF2B5EF4-FFF2-40B4-BE49-F238E27FC236}">
                <a16:creationId xmlns:a16="http://schemas.microsoft.com/office/drawing/2014/main" id="{6C1FB217-B8A7-CF8F-9C5C-FABBF980C97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CEC579C-6F81-90B2-C30E-8DBB7AD4A6F2}"/>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3346853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EBB872-DC01-81E1-D4A1-EE3017DE8311}"/>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3" name="Footer Placeholder 2">
            <a:extLst>
              <a:ext uri="{FF2B5EF4-FFF2-40B4-BE49-F238E27FC236}">
                <a16:creationId xmlns:a16="http://schemas.microsoft.com/office/drawing/2014/main" id="{6F39D5CD-99ED-2763-3906-770FBE4D2E1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6AE8320-2FF7-F997-D8DE-244E5CCA29FE}"/>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1587715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6B3C-C8C8-C13A-57AA-FE7CFF1FC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7F4E60F-CF09-C765-917A-68BCF7BEF4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3D063A6-E1BD-463C-AF98-DBAE5BC344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03A10F-0C3E-B019-6855-654446D65C5C}"/>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6" name="Footer Placeholder 5">
            <a:extLst>
              <a:ext uri="{FF2B5EF4-FFF2-40B4-BE49-F238E27FC236}">
                <a16:creationId xmlns:a16="http://schemas.microsoft.com/office/drawing/2014/main" id="{92C438BA-9D85-70BB-5F40-0D66C523454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55FBA0B-CCF7-9443-9248-15FCC9F07427}"/>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592905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919BE-93ED-9547-0F3B-42986E7B3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3687F7C-DF42-FBDA-0398-70CD776D1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D973961-0E92-260B-DC52-F08956BFD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2137C-078B-251F-5B7E-CF3C59A5FA8C}"/>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6" name="Footer Placeholder 5">
            <a:extLst>
              <a:ext uri="{FF2B5EF4-FFF2-40B4-BE49-F238E27FC236}">
                <a16:creationId xmlns:a16="http://schemas.microsoft.com/office/drawing/2014/main" id="{3E7273B0-2382-1C3D-D4BA-17EB9891935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66FBF16-282D-8A27-4FF9-32D2E2645B58}"/>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3449836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BFD8E-64BA-5769-CE5F-ADC2BC502F8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B6B1C98-05E2-34C0-9F7F-9898673323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15F52C5-328C-D9D4-F5B1-824C4F42D158}"/>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64FD7D59-411C-0F57-9AF8-BA11D32B607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FFEC184-3ED5-411B-D6A3-1D33F306454E}"/>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3327346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61840F-4CC9-1CA2-F892-C74BC1E4D2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83573E5-35F3-76D1-3504-3BC48159A3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71FFAB6-56B3-AB38-5858-7BDAC1B39586}"/>
              </a:ext>
            </a:extLst>
          </p:cNvPr>
          <p:cNvSpPr>
            <a:spLocks noGrp="1"/>
          </p:cNvSpPr>
          <p:nvPr>
            <p:ph type="dt" sz="half" idx="10"/>
          </p:nvPr>
        </p:nvSpPr>
        <p:spPr/>
        <p:txBody>
          <a:body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5CCC3DA1-0C13-3FEA-0B47-E7E54CCF603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C5814D-30FA-304B-E2ED-E780ECA9FFD9}"/>
              </a:ext>
            </a:extLst>
          </p:cNvPr>
          <p:cNvSpPr>
            <a:spLocks noGrp="1"/>
          </p:cNvSpPr>
          <p:nvPr>
            <p:ph type="sldNum" sz="quarter" idx="12"/>
          </p:nvPr>
        </p:nvSpPr>
        <p:spPr/>
        <p:txBody>
          <a:bodyPr/>
          <a:lstStyle/>
          <a:p>
            <a:fld id="{CE8A3C6B-8E4C-4E6D-B9A5-37B2CD7874BA}" type="slidenum">
              <a:rPr lang="en-CA" smtClean="0"/>
              <a:t>‹#›</a:t>
            </a:fld>
            <a:endParaRPr lang="en-CA"/>
          </a:p>
        </p:txBody>
      </p:sp>
    </p:spTree>
    <p:extLst>
      <p:ext uri="{BB962C8B-B14F-4D97-AF65-F5344CB8AC3E}">
        <p14:creationId xmlns:p14="http://schemas.microsoft.com/office/powerpoint/2010/main" val="40236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81C5B-89D6-3B1C-1313-496D786126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E51471C-1DD8-58D6-1AF8-61AE66CE00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93AC33F-E8BB-933F-EA4A-5349864B0C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C7E3A2-5A73-4947-B870-1E5A40FF0B39}" type="datetimeFigureOut">
              <a:rPr lang="en-CA" smtClean="0"/>
              <a:t>2025-11-17</a:t>
            </a:fld>
            <a:endParaRPr lang="en-CA"/>
          </a:p>
        </p:txBody>
      </p:sp>
      <p:sp>
        <p:nvSpPr>
          <p:cNvPr id="5" name="Footer Placeholder 4">
            <a:extLst>
              <a:ext uri="{FF2B5EF4-FFF2-40B4-BE49-F238E27FC236}">
                <a16:creationId xmlns:a16="http://schemas.microsoft.com/office/drawing/2014/main" id="{30BE8759-AB81-25F6-9897-35EA49CA4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86CD80C-C398-5DA4-7441-A86CE472A1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8A3C6B-8E4C-4E6D-B9A5-37B2CD7874BA}" type="slidenum">
              <a:rPr lang="en-CA" smtClean="0"/>
              <a:t>‹#›</a:t>
            </a:fld>
            <a:endParaRPr lang="en-CA"/>
          </a:p>
        </p:txBody>
      </p:sp>
    </p:spTree>
    <p:extLst>
      <p:ext uri="{BB962C8B-B14F-4D97-AF65-F5344CB8AC3E}">
        <p14:creationId xmlns:p14="http://schemas.microsoft.com/office/powerpoint/2010/main" val="152440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9AB148-BA19-0FEF-FE56-FD4D7E825772}"/>
              </a:ext>
            </a:extLst>
          </p:cNvPr>
          <p:cNvSpPr txBox="1"/>
          <p:nvPr/>
        </p:nvSpPr>
        <p:spPr>
          <a:xfrm>
            <a:off x="388019" y="3429000"/>
            <a:ext cx="4008854" cy="369332"/>
          </a:xfrm>
          <a:prstGeom prst="rect">
            <a:avLst/>
          </a:prstGeom>
          <a:noFill/>
        </p:spPr>
        <p:txBody>
          <a:bodyPr wrap="none" rtlCol="0">
            <a:spAutoFit/>
          </a:bodyPr>
          <a:lstStyle/>
          <a:p>
            <a:r>
              <a:rPr lang="en-CA" b="1" dirty="0"/>
              <a:t>DevOps, CI/CD &amp; Deployment Processes</a:t>
            </a:r>
          </a:p>
        </p:txBody>
      </p:sp>
      <p:sp>
        <p:nvSpPr>
          <p:cNvPr id="6" name="TextBox 5">
            <a:extLst>
              <a:ext uri="{FF2B5EF4-FFF2-40B4-BE49-F238E27FC236}">
                <a16:creationId xmlns:a16="http://schemas.microsoft.com/office/drawing/2014/main" id="{16CF1E1E-B580-3434-15F3-A134801F0AA3}"/>
              </a:ext>
            </a:extLst>
          </p:cNvPr>
          <p:cNvSpPr txBox="1"/>
          <p:nvPr/>
        </p:nvSpPr>
        <p:spPr>
          <a:xfrm>
            <a:off x="612742" y="3920434"/>
            <a:ext cx="5270610" cy="1754326"/>
          </a:xfrm>
          <a:prstGeom prst="rect">
            <a:avLst/>
          </a:prstGeom>
          <a:noFill/>
        </p:spPr>
        <p:txBody>
          <a:bodyPr wrap="none" rtlCol="0">
            <a:spAutoFit/>
          </a:bodyPr>
          <a:lstStyle/>
          <a:p>
            <a:r>
              <a:rPr lang="en-US" dirty="0"/>
              <a:t>Assessment of Current Delivery, Automation &amp; IaC for:</a:t>
            </a:r>
          </a:p>
          <a:p>
            <a:endParaRPr lang="en-US" dirty="0"/>
          </a:p>
          <a:p>
            <a:pPr marL="285750" indent="-285750">
              <a:buFont typeface="Arial" panose="020B0604020202020204" pitchFamily="34" charset="0"/>
              <a:buChar char="•"/>
            </a:pPr>
            <a:r>
              <a:rPr lang="en-US" dirty="0"/>
              <a:t>Sitecore</a:t>
            </a:r>
          </a:p>
          <a:p>
            <a:pPr marL="285750" indent="-285750">
              <a:buFont typeface="Arial" panose="020B0604020202020204" pitchFamily="34" charset="0"/>
              <a:buChar char="•"/>
            </a:pPr>
            <a:r>
              <a:rPr lang="en-US" dirty="0"/>
              <a:t>Legacy</a:t>
            </a:r>
          </a:p>
          <a:p>
            <a:pPr marL="285750" indent="-285750">
              <a:buFont typeface="Arial" panose="020B0604020202020204" pitchFamily="34" charset="0"/>
              <a:buChar char="•"/>
            </a:pPr>
            <a:r>
              <a:rPr lang="en-US" dirty="0"/>
              <a:t>Associated Infrastructure &amp; AVD (Terraform)</a:t>
            </a:r>
          </a:p>
          <a:p>
            <a:endParaRPr lang="en-CA" dirty="0"/>
          </a:p>
        </p:txBody>
      </p:sp>
      <p:sp>
        <p:nvSpPr>
          <p:cNvPr id="7" name="TextBox 6">
            <a:extLst>
              <a:ext uri="{FF2B5EF4-FFF2-40B4-BE49-F238E27FC236}">
                <a16:creationId xmlns:a16="http://schemas.microsoft.com/office/drawing/2014/main" id="{660A1F12-84D5-2CB4-A43E-4C814B64921E}"/>
              </a:ext>
            </a:extLst>
          </p:cNvPr>
          <p:cNvSpPr txBox="1"/>
          <p:nvPr/>
        </p:nvSpPr>
        <p:spPr>
          <a:xfrm>
            <a:off x="388019" y="691806"/>
            <a:ext cx="1701491" cy="369332"/>
          </a:xfrm>
          <a:prstGeom prst="rect">
            <a:avLst/>
          </a:prstGeom>
          <a:noFill/>
        </p:spPr>
        <p:txBody>
          <a:bodyPr wrap="none" rtlCol="0">
            <a:spAutoFit/>
          </a:bodyPr>
          <a:lstStyle/>
          <a:p>
            <a:r>
              <a:rPr lang="en-CA" b="1" dirty="0"/>
              <a:t>What is DevOps</a:t>
            </a:r>
          </a:p>
        </p:txBody>
      </p:sp>
      <p:sp>
        <p:nvSpPr>
          <p:cNvPr id="9" name="TextBox 8">
            <a:extLst>
              <a:ext uri="{FF2B5EF4-FFF2-40B4-BE49-F238E27FC236}">
                <a16:creationId xmlns:a16="http://schemas.microsoft.com/office/drawing/2014/main" id="{E74F0B32-9551-910D-9646-6FCBB954A913}"/>
              </a:ext>
            </a:extLst>
          </p:cNvPr>
          <p:cNvSpPr txBox="1"/>
          <p:nvPr/>
        </p:nvSpPr>
        <p:spPr>
          <a:xfrm>
            <a:off x="388019" y="1183239"/>
            <a:ext cx="6457949" cy="1754325"/>
          </a:xfrm>
          <a:prstGeom prst="rect">
            <a:avLst/>
          </a:prstGeom>
          <a:noFill/>
        </p:spPr>
        <p:txBody>
          <a:bodyPr wrap="square">
            <a:spAutoFit/>
          </a:bodyPr>
          <a:lstStyle/>
          <a:p>
            <a:r>
              <a:rPr lang="en-US" dirty="0"/>
              <a:t>DevOps is a collaborative approach that combines software development and IT operations to deliver applications faster, more reliably, and with continuous improvement. It emphasizes automation, communication, and shared responsibility across the entire software lifecycle from planning to deployment and monitoring.</a:t>
            </a:r>
            <a:endParaRPr lang="en-CA" dirty="0"/>
          </a:p>
        </p:txBody>
      </p:sp>
      <p:pic>
        <p:nvPicPr>
          <p:cNvPr id="11" name="Picture 10">
            <a:extLst>
              <a:ext uri="{FF2B5EF4-FFF2-40B4-BE49-F238E27FC236}">
                <a16:creationId xmlns:a16="http://schemas.microsoft.com/office/drawing/2014/main" id="{702DD9D2-377E-4071-B818-975F565498D8}"/>
              </a:ext>
            </a:extLst>
          </p:cNvPr>
          <p:cNvPicPr>
            <a:picLocks noChangeAspect="1"/>
          </p:cNvPicPr>
          <p:nvPr/>
        </p:nvPicPr>
        <p:blipFill>
          <a:blip r:embed="rId2"/>
          <a:stretch>
            <a:fillRect/>
          </a:stretch>
        </p:blipFill>
        <p:spPr>
          <a:xfrm>
            <a:off x="7315200" y="911050"/>
            <a:ext cx="4496432" cy="3009384"/>
          </a:xfrm>
          <a:prstGeom prst="rect">
            <a:avLst/>
          </a:prstGeom>
        </p:spPr>
      </p:pic>
    </p:spTree>
    <p:extLst>
      <p:ext uri="{BB962C8B-B14F-4D97-AF65-F5344CB8AC3E}">
        <p14:creationId xmlns:p14="http://schemas.microsoft.com/office/powerpoint/2010/main" val="1017626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9370-28E4-1392-1EB8-C9E34422AD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1DE8CE-6687-B0C4-4CE7-77A74CBD794F}"/>
              </a:ext>
            </a:extLst>
          </p:cNvPr>
          <p:cNvSpPr txBox="1"/>
          <p:nvPr/>
        </p:nvSpPr>
        <p:spPr>
          <a:xfrm>
            <a:off x="744717" y="914400"/>
            <a:ext cx="2213811" cy="369332"/>
          </a:xfrm>
          <a:prstGeom prst="rect">
            <a:avLst/>
          </a:prstGeom>
          <a:noFill/>
        </p:spPr>
        <p:txBody>
          <a:bodyPr wrap="none" rtlCol="0">
            <a:spAutoFit/>
          </a:bodyPr>
          <a:lstStyle/>
          <a:p>
            <a:r>
              <a:rPr lang="en-CA" b="1" dirty="0"/>
              <a:t>Workshop Objectives</a:t>
            </a:r>
          </a:p>
        </p:txBody>
      </p:sp>
      <p:sp>
        <p:nvSpPr>
          <p:cNvPr id="4" name="Rectangle 1">
            <a:extLst>
              <a:ext uri="{FF2B5EF4-FFF2-40B4-BE49-F238E27FC236}">
                <a16:creationId xmlns:a16="http://schemas.microsoft.com/office/drawing/2014/main" id="{2FABD008-9C89-73AF-8FA8-6926EE76311D}"/>
              </a:ext>
            </a:extLst>
          </p:cNvPr>
          <p:cNvSpPr>
            <a:spLocks noChangeArrowheads="1"/>
          </p:cNvSpPr>
          <p:nvPr/>
        </p:nvSpPr>
        <p:spPr bwMode="auto">
          <a:xfrm>
            <a:off x="660496" y="1541323"/>
            <a:ext cx="88706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Review of current </a:t>
            </a:r>
            <a:r>
              <a:rPr kumimoji="0" lang="en-US" altLang="en-US" sz="1800" i="0" u="none" strike="noStrike" cap="none" normalizeH="0" baseline="0" dirty="0">
                <a:ln>
                  <a:noFill/>
                </a:ln>
                <a:solidFill>
                  <a:schemeClr val="tx1"/>
                </a:solidFill>
                <a:effectLst/>
              </a:rPr>
              <a:t>Azure DevOps pipelines </a:t>
            </a:r>
            <a:r>
              <a:rPr kumimoji="0" lang="en-US" altLang="en-US" sz="1800" b="0" i="0" u="none" strike="noStrike" cap="none" normalizeH="0" baseline="0" dirty="0">
                <a:ln>
                  <a:noFill/>
                </a:ln>
                <a:solidFill>
                  <a:schemeClr val="tx1"/>
                </a:solidFill>
                <a:effectLst/>
              </a:rPr>
              <a:t>and their configuration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Understand existing </a:t>
            </a:r>
            <a:r>
              <a:rPr kumimoji="0" lang="en-US" altLang="en-US" sz="1800" i="0" u="none" strike="noStrike" cap="none" normalizeH="0" baseline="0" dirty="0">
                <a:ln>
                  <a:noFill/>
                </a:ln>
                <a:solidFill>
                  <a:schemeClr val="tx1"/>
                </a:solidFill>
                <a:effectLst/>
              </a:rPr>
              <a:t>branching strategy </a:t>
            </a:r>
            <a:r>
              <a:rPr kumimoji="0" lang="en-US" altLang="en-US" sz="1800" b="0" i="0" u="none" strike="noStrike" cap="none" normalizeH="0" baseline="0" dirty="0">
                <a:ln>
                  <a:noFill/>
                </a:ln>
                <a:solidFill>
                  <a:schemeClr val="tx1"/>
                </a:solidFill>
                <a:effectLst/>
              </a:rPr>
              <a:t>for Sitecore, Legacy, AVD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Assess </a:t>
            </a:r>
            <a:r>
              <a:rPr kumimoji="0" lang="en-US" altLang="en-US" sz="1800" i="0" u="none" strike="noStrike" cap="none" normalizeH="0" baseline="0" dirty="0">
                <a:ln>
                  <a:noFill/>
                </a:ln>
                <a:solidFill>
                  <a:schemeClr val="tx1"/>
                </a:solidFill>
                <a:effectLst/>
              </a:rPr>
              <a:t>Infrastructure as Code (Terraform</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rPr>
              <a:t> usage and governance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Identify application </a:t>
            </a:r>
            <a:r>
              <a:rPr kumimoji="0" lang="en-US" altLang="en-US" sz="1800" i="0" u="none" strike="noStrike" cap="none" normalizeH="0" baseline="0" dirty="0">
                <a:ln>
                  <a:noFill/>
                </a:ln>
                <a:solidFill>
                  <a:schemeClr val="tx1"/>
                </a:solidFill>
                <a:effectLst/>
              </a:rPr>
              <a:t>release processes </a:t>
            </a:r>
            <a:r>
              <a:rPr kumimoji="0" lang="en-US" altLang="en-US" sz="1800" b="0" i="0" u="none" strike="noStrike" cap="none" normalizeH="0" baseline="0" dirty="0">
                <a:ln>
                  <a:noFill/>
                </a:ln>
                <a:solidFill>
                  <a:schemeClr val="tx1"/>
                </a:solidFill>
                <a:effectLst/>
              </a:rPr>
              <a:t>for Sitecore &amp; Legacy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Document pain points, gaps, risks &amp; improvement opportunities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Provide input for modernization roadmap &amp; standardization</a:t>
            </a:r>
          </a:p>
        </p:txBody>
      </p:sp>
    </p:spTree>
    <p:extLst>
      <p:ext uri="{BB962C8B-B14F-4D97-AF65-F5344CB8AC3E}">
        <p14:creationId xmlns:p14="http://schemas.microsoft.com/office/powerpoint/2010/main" val="1664246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4E34A-303C-B133-796D-5A65C71001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0FDD7F-6D34-FD5E-EEAF-9B4F5E5BAB38}"/>
              </a:ext>
            </a:extLst>
          </p:cNvPr>
          <p:cNvSpPr txBox="1"/>
          <p:nvPr/>
        </p:nvSpPr>
        <p:spPr>
          <a:xfrm>
            <a:off x="961534" y="989814"/>
            <a:ext cx="2411879" cy="369332"/>
          </a:xfrm>
          <a:prstGeom prst="rect">
            <a:avLst/>
          </a:prstGeom>
          <a:noFill/>
        </p:spPr>
        <p:txBody>
          <a:bodyPr wrap="none" rtlCol="0">
            <a:spAutoFit/>
          </a:bodyPr>
          <a:lstStyle/>
          <a:p>
            <a:r>
              <a:rPr lang="en-CA" b="1" dirty="0"/>
              <a:t>DevOps Topics in Scope</a:t>
            </a:r>
          </a:p>
        </p:txBody>
      </p:sp>
      <p:sp>
        <p:nvSpPr>
          <p:cNvPr id="4" name="Rectangle 1">
            <a:extLst>
              <a:ext uri="{FF2B5EF4-FFF2-40B4-BE49-F238E27FC236}">
                <a16:creationId xmlns:a16="http://schemas.microsoft.com/office/drawing/2014/main" id="{27668280-112A-56ED-1F26-A60B5EB6237F}"/>
              </a:ext>
            </a:extLst>
          </p:cNvPr>
          <p:cNvSpPr>
            <a:spLocks noChangeArrowheads="1"/>
          </p:cNvSpPr>
          <p:nvPr/>
        </p:nvSpPr>
        <p:spPr bwMode="auto">
          <a:xfrm>
            <a:off x="824721" y="1859338"/>
            <a:ext cx="86255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rPr>
              <a:t>Azure DevOps Repos &amp; Branching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Build &amp; Release Pipelines (CI/CD)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Infrastructure as Code (Terraform)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Deployment Automation for Applications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 Security &amp; Governance in DevOps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653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F2069-D363-2432-A553-8BD661BDEB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F662FE-79FF-FA87-31E4-097795B45F77}"/>
              </a:ext>
            </a:extLst>
          </p:cNvPr>
          <p:cNvSpPr txBox="1"/>
          <p:nvPr/>
        </p:nvSpPr>
        <p:spPr>
          <a:xfrm>
            <a:off x="517974" y="1047739"/>
            <a:ext cx="2488951" cy="369332"/>
          </a:xfrm>
          <a:prstGeom prst="rect">
            <a:avLst/>
          </a:prstGeom>
          <a:noFill/>
        </p:spPr>
        <p:txBody>
          <a:bodyPr wrap="none" rtlCol="0">
            <a:spAutoFit/>
          </a:bodyPr>
          <a:lstStyle/>
          <a:p>
            <a:r>
              <a:rPr lang="en-CA" b="1" dirty="0"/>
              <a:t>Azure DevOps Overview</a:t>
            </a:r>
          </a:p>
        </p:txBody>
      </p:sp>
      <p:sp>
        <p:nvSpPr>
          <p:cNvPr id="4" name="Rectangle 1">
            <a:extLst>
              <a:ext uri="{FF2B5EF4-FFF2-40B4-BE49-F238E27FC236}">
                <a16:creationId xmlns:a16="http://schemas.microsoft.com/office/drawing/2014/main" id="{3CA7A276-EDFE-7B4B-4142-CA9B01513006}"/>
              </a:ext>
            </a:extLst>
          </p:cNvPr>
          <p:cNvSpPr>
            <a:spLocks noChangeArrowheads="1"/>
          </p:cNvSpPr>
          <p:nvPr/>
        </p:nvSpPr>
        <p:spPr bwMode="auto">
          <a:xfrm>
            <a:off x="409690" y="1582341"/>
            <a:ext cx="842756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Is the Azure DevOps environment hosted in Azure DevOps Services (cloud) or Azure  </a:t>
            </a:r>
          </a:p>
          <a:p>
            <a:pPr lvl="0" eaLnBrk="0" fontAlgn="base" hangingPunct="0">
              <a:spcBef>
                <a:spcPct val="0"/>
              </a:spcBef>
              <a:spcAft>
                <a:spcPct val="0"/>
              </a:spcAft>
            </a:pPr>
            <a:r>
              <a:rPr lang="en-US" dirty="0"/>
              <a:t>   DevOps Server (on-premises)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many projects exist for Sitecore, Legacy, and AVD</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is the repository structure, mono-repo or multi-repo</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Are pipeline libraries, YAML templates, or variable groups used in the CI/CD pipelines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Is the pipeline integrated with Azure Key Vault for managing secrets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API connections are used, and which identity model (service principal or </a:t>
            </a:r>
          </a:p>
          <a:p>
            <a:pPr lvl="0" eaLnBrk="0" fontAlgn="base" hangingPunct="0">
              <a:spcBef>
                <a:spcPct val="0"/>
              </a:spcBef>
              <a:spcAft>
                <a:spcPct val="0"/>
              </a:spcAft>
            </a:pPr>
            <a:r>
              <a:rPr lang="en-US" dirty="0"/>
              <a:t>   managed identity) is implemented</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31309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1A03-B3A9-C552-3B75-329706DD72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379829-702B-8106-0051-8A66AEA8E2EB}"/>
              </a:ext>
            </a:extLst>
          </p:cNvPr>
          <p:cNvSpPr txBox="1"/>
          <p:nvPr/>
        </p:nvSpPr>
        <p:spPr>
          <a:xfrm>
            <a:off x="866273" y="926432"/>
            <a:ext cx="3426194" cy="369332"/>
          </a:xfrm>
          <a:prstGeom prst="rect">
            <a:avLst/>
          </a:prstGeom>
          <a:noFill/>
        </p:spPr>
        <p:txBody>
          <a:bodyPr wrap="none" rtlCol="0">
            <a:spAutoFit/>
          </a:bodyPr>
          <a:lstStyle/>
          <a:p>
            <a:r>
              <a:rPr lang="en-CA" b="1" dirty="0"/>
              <a:t>Azure Repos &amp; Branching Strategy</a:t>
            </a:r>
          </a:p>
        </p:txBody>
      </p:sp>
      <p:sp>
        <p:nvSpPr>
          <p:cNvPr id="4" name="Rectangle 1">
            <a:extLst>
              <a:ext uri="{FF2B5EF4-FFF2-40B4-BE49-F238E27FC236}">
                <a16:creationId xmlns:a16="http://schemas.microsoft.com/office/drawing/2014/main" id="{31463E80-BC46-9C52-B68B-BE54B59C01FA}"/>
              </a:ext>
            </a:extLst>
          </p:cNvPr>
          <p:cNvSpPr>
            <a:spLocks noChangeArrowheads="1"/>
          </p:cNvSpPr>
          <p:nvPr/>
        </p:nvSpPr>
        <p:spPr bwMode="auto">
          <a:xfrm>
            <a:off x="697832" y="1582340"/>
            <a:ext cx="869883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Which Git branching model should be used for Sitecore, Legacy and AVD</a:t>
            </a:r>
          </a:p>
          <a:p>
            <a:pPr lvl="0" eaLnBrk="0" fontAlgn="base" hangingPunct="0">
              <a:spcBef>
                <a:spcPct val="0"/>
              </a:spcBef>
              <a:spcAft>
                <a:spcPct val="0"/>
              </a:spcAft>
              <a:buFontTx/>
              <a:buChar char="•"/>
            </a:pPr>
            <a:endParaRPr lang="en-US" altLang="en-US" dirty="0"/>
          </a:p>
          <a:p>
            <a:pPr marL="0" marR="0" lvl="0" indent="0" algn="l" defTabSz="914400" rtl="0" eaLnBrk="0" fontAlgn="base" latinLnBrk="0" hangingPunct="0">
              <a:lnSpc>
                <a:spcPct val="100000"/>
              </a:lnSpc>
              <a:spcBef>
                <a:spcPct val="0"/>
              </a:spcBef>
              <a:spcAft>
                <a:spcPct val="0"/>
              </a:spcAft>
              <a:buClrTx/>
              <a:buSzTx/>
              <a:tabLst/>
            </a:pPr>
            <a:r>
              <a:rPr lang="en-US" altLang="en-US" dirty="0"/>
              <a:t>- </a:t>
            </a:r>
            <a:r>
              <a:rPr kumimoji="0" lang="en-US" altLang="en-US" sz="1800" b="0" i="0" u="none" strike="noStrike" cap="none" normalizeH="0" baseline="0" dirty="0">
                <a:ln>
                  <a:noFill/>
                </a:ln>
                <a:solidFill>
                  <a:schemeClr val="tx1"/>
                </a:solidFill>
                <a:effectLst/>
              </a:rPr>
              <a:t>GitFlow</a:t>
            </a:r>
          </a:p>
          <a:p>
            <a:pPr marL="0" marR="0" lvl="0" indent="0" algn="l" defTabSz="914400" rtl="0" eaLnBrk="0" fontAlgn="base" latinLnBrk="0" hangingPunct="0">
              <a:lnSpc>
                <a:spcPct val="100000"/>
              </a:lnSpc>
              <a:spcBef>
                <a:spcPct val="0"/>
              </a:spcBef>
              <a:spcAft>
                <a:spcPct val="0"/>
              </a:spcAft>
              <a:buClrTx/>
              <a:buSzTx/>
              <a:tabLst/>
            </a:pPr>
            <a:r>
              <a:rPr lang="en-US" altLang="en-US" dirty="0"/>
              <a:t>- </a:t>
            </a:r>
            <a:r>
              <a:rPr kumimoji="0" lang="en-US" altLang="en-US" sz="1800" b="0" i="0" u="none" strike="noStrike" cap="none" normalizeH="0" baseline="0" dirty="0">
                <a:ln>
                  <a:noFill/>
                </a:ln>
                <a:solidFill>
                  <a:schemeClr val="tx1"/>
                </a:solidFill>
                <a:effectLst/>
              </a:rPr>
              <a:t>Release Flow</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 Trunk-based development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are hotfixes managed in the workflow</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is the pull request process and how are approvals handled</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branch protection rules are applied</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commit policies are enforced, including linting, security scanning, and tests</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0668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DD81-293E-A632-B03E-FE48EBF9C0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A796DE-636E-A9E0-13FC-2DC081A500E3}"/>
              </a:ext>
            </a:extLst>
          </p:cNvPr>
          <p:cNvSpPr txBox="1"/>
          <p:nvPr/>
        </p:nvSpPr>
        <p:spPr>
          <a:xfrm>
            <a:off x="986590" y="1263316"/>
            <a:ext cx="1875835" cy="369332"/>
          </a:xfrm>
          <a:prstGeom prst="rect">
            <a:avLst/>
          </a:prstGeom>
          <a:noFill/>
        </p:spPr>
        <p:txBody>
          <a:bodyPr wrap="none" rtlCol="0">
            <a:spAutoFit/>
          </a:bodyPr>
          <a:lstStyle/>
          <a:p>
            <a:r>
              <a:rPr lang="en-CA" b="1" dirty="0"/>
              <a:t>CI Pipeline (Build)</a:t>
            </a:r>
          </a:p>
        </p:txBody>
      </p:sp>
      <p:sp>
        <p:nvSpPr>
          <p:cNvPr id="4" name="Rectangle 1">
            <a:extLst>
              <a:ext uri="{FF2B5EF4-FFF2-40B4-BE49-F238E27FC236}">
                <a16:creationId xmlns:a16="http://schemas.microsoft.com/office/drawing/2014/main" id="{BF84BF5D-E5E5-8B2D-7B20-8C73488A584D}"/>
              </a:ext>
            </a:extLst>
          </p:cNvPr>
          <p:cNvSpPr>
            <a:spLocks noChangeArrowheads="1"/>
          </p:cNvSpPr>
          <p:nvPr/>
        </p:nvSpPr>
        <p:spPr bwMode="auto">
          <a:xfrm>
            <a:off x="986590" y="1993714"/>
            <a:ext cx="901165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How are builds triggered? (CI, PR validation)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What </a:t>
            </a:r>
            <a:r>
              <a:rPr lang="en-US" altLang="en-US" dirty="0"/>
              <a:t>outputs are </a:t>
            </a:r>
            <a:r>
              <a:rPr kumimoji="0" lang="en-US" altLang="en-US" sz="1800" b="0" i="0" u="none" strike="noStrike" cap="none" normalizeH="0" baseline="0" dirty="0">
                <a:ln>
                  <a:noFill/>
                </a:ln>
                <a:solidFill>
                  <a:schemeClr val="tx1"/>
                </a:solidFill>
                <a:effectLst/>
              </a:rPr>
              <a:t>produced by the build? (artifacts, packages, images)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Are automated test and code quality checks part of the build process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Is the pipeline implemented as a YAML pipeline or a Classic (visual designer) pipeline</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66355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170B-94CB-F979-BD14-22D7240355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3DE93D-5C3C-FBAA-08DE-D4E98634D58B}"/>
              </a:ext>
            </a:extLst>
          </p:cNvPr>
          <p:cNvSpPr txBox="1"/>
          <p:nvPr/>
        </p:nvSpPr>
        <p:spPr>
          <a:xfrm>
            <a:off x="481262" y="1191127"/>
            <a:ext cx="2205860" cy="369332"/>
          </a:xfrm>
          <a:prstGeom prst="rect">
            <a:avLst/>
          </a:prstGeom>
          <a:noFill/>
        </p:spPr>
        <p:txBody>
          <a:bodyPr wrap="none" rtlCol="0">
            <a:spAutoFit/>
          </a:bodyPr>
          <a:lstStyle/>
          <a:p>
            <a:r>
              <a:rPr lang="en-CA" b="1" dirty="0"/>
              <a:t>CD Pipeline (Release)</a:t>
            </a:r>
          </a:p>
        </p:txBody>
      </p:sp>
      <p:sp>
        <p:nvSpPr>
          <p:cNvPr id="4" name="Rectangle 1">
            <a:extLst>
              <a:ext uri="{FF2B5EF4-FFF2-40B4-BE49-F238E27FC236}">
                <a16:creationId xmlns:a16="http://schemas.microsoft.com/office/drawing/2014/main" id="{0B348423-61D1-0342-06EA-CD84F88C9985}"/>
              </a:ext>
            </a:extLst>
          </p:cNvPr>
          <p:cNvSpPr>
            <a:spLocks noChangeArrowheads="1"/>
          </p:cNvSpPr>
          <p:nvPr/>
        </p:nvSpPr>
        <p:spPr bwMode="auto">
          <a:xfrm>
            <a:off x="360946" y="2071294"/>
            <a:ext cx="1146609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How are deployments performed: automated using CI/CD pipelines or manually</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is the process for promoting applications between environments (e.g., Dev, QA, Production)</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approvals or deployment gates are in place for the pipeline or environment</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Are there any pain points in the deployment process, such as downtime, long deployment times, or frequent rollbacks</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0584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E960-7039-2418-8A28-23E2DCFAF2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7A8E3E-343D-3797-4D26-57BF21720B96}"/>
              </a:ext>
            </a:extLst>
          </p:cNvPr>
          <p:cNvSpPr txBox="1"/>
          <p:nvPr/>
        </p:nvSpPr>
        <p:spPr>
          <a:xfrm>
            <a:off x="445168" y="998621"/>
            <a:ext cx="3436133" cy="369332"/>
          </a:xfrm>
          <a:prstGeom prst="rect">
            <a:avLst/>
          </a:prstGeom>
          <a:noFill/>
        </p:spPr>
        <p:txBody>
          <a:bodyPr wrap="none" rtlCol="0">
            <a:spAutoFit/>
          </a:bodyPr>
          <a:lstStyle/>
          <a:p>
            <a:r>
              <a:rPr lang="en-CA" b="1" dirty="0"/>
              <a:t>Infrastructure as Code (Terraform)</a:t>
            </a:r>
          </a:p>
        </p:txBody>
      </p:sp>
      <p:sp>
        <p:nvSpPr>
          <p:cNvPr id="4" name="Rectangle 1">
            <a:extLst>
              <a:ext uri="{FF2B5EF4-FFF2-40B4-BE49-F238E27FC236}">
                <a16:creationId xmlns:a16="http://schemas.microsoft.com/office/drawing/2014/main" id="{1AF2783F-2BC9-3EA8-D236-6A9BAB6C88BF}"/>
              </a:ext>
            </a:extLst>
          </p:cNvPr>
          <p:cNvSpPr>
            <a:spLocks noChangeArrowheads="1"/>
          </p:cNvSpPr>
          <p:nvPr/>
        </p:nvSpPr>
        <p:spPr bwMode="auto">
          <a:xfrm>
            <a:off x="445168" y="1951672"/>
            <a:ext cx="1147010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dirty="0"/>
              <a:t> How is the Terraform code organized—using modules or a flat structure</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is the Terraform state file stored and managed</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are Terraform workflows executed within CI/CD pipelines through automated, manual triggers, or approval-based</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32919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FD84-F2C4-9627-8A46-776F28FC08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1532B7-73E3-38C4-A850-5928A3481C71}"/>
              </a:ext>
            </a:extLst>
          </p:cNvPr>
          <p:cNvSpPr txBox="1"/>
          <p:nvPr/>
        </p:nvSpPr>
        <p:spPr>
          <a:xfrm>
            <a:off x="640681" y="777861"/>
            <a:ext cx="6093994" cy="369332"/>
          </a:xfrm>
          <a:prstGeom prst="rect">
            <a:avLst/>
          </a:prstGeom>
          <a:noFill/>
        </p:spPr>
        <p:txBody>
          <a:bodyPr wrap="square">
            <a:spAutoFit/>
          </a:bodyPr>
          <a:lstStyle/>
          <a:p>
            <a:r>
              <a:rPr lang="en-CA" b="1" dirty="0"/>
              <a:t>Terraform Deployment Pipeline</a:t>
            </a:r>
          </a:p>
        </p:txBody>
      </p:sp>
      <p:sp>
        <p:nvSpPr>
          <p:cNvPr id="4" name="Rectangle 1">
            <a:extLst>
              <a:ext uri="{FF2B5EF4-FFF2-40B4-BE49-F238E27FC236}">
                <a16:creationId xmlns:a16="http://schemas.microsoft.com/office/drawing/2014/main" id="{4F9FB485-6523-A08C-F199-7737FC4B90A6}"/>
              </a:ext>
            </a:extLst>
          </p:cNvPr>
          <p:cNvSpPr>
            <a:spLocks noChangeArrowheads="1"/>
          </p:cNvSpPr>
          <p:nvPr/>
        </p:nvSpPr>
        <p:spPr bwMode="auto">
          <a:xfrm>
            <a:off x="493295" y="1469246"/>
            <a:ext cx="114299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What is the deployment workflow? For example: plan → approval → apply</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are environments separated using Terraform workspaces, folder structures, or environment specific variables</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Are there any issues such as configuration drift, failed Terraform applies, or manual intervention required</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25571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5711-B7E8-3247-8960-A4B4029EDF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A16F68-3ADB-A163-6D23-A9810BA201DA}"/>
              </a:ext>
            </a:extLst>
          </p:cNvPr>
          <p:cNvSpPr txBox="1"/>
          <p:nvPr/>
        </p:nvSpPr>
        <p:spPr>
          <a:xfrm>
            <a:off x="457199" y="838886"/>
            <a:ext cx="6093994" cy="369332"/>
          </a:xfrm>
          <a:prstGeom prst="rect">
            <a:avLst/>
          </a:prstGeom>
          <a:noFill/>
        </p:spPr>
        <p:txBody>
          <a:bodyPr wrap="square">
            <a:spAutoFit/>
          </a:bodyPr>
          <a:lstStyle/>
          <a:p>
            <a:r>
              <a:rPr lang="en-CA" b="1" dirty="0"/>
              <a:t>Application Release</a:t>
            </a:r>
          </a:p>
        </p:txBody>
      </p:sp>
      <p:sp>
        <p:nvSpPr>
          <p:cNvPr id="4" name="Rectangle 1">
            <a:extLst>
              <a:ext uri="{FF2B5EF4-FFF2-40B4-BE49-F238E27FC236}">
                <a16:creationId xmlns:a16="http://schemas.microsoft.com/office/drawing/2014/main" id="{086BF1C7-5DDA-DA2F-987A-04617B945625}"/>
              </a:ext>
            </a:extLst>
          </p:cNvPr>
          <p:cNvSpPr>
            <a:spLocks noChangeArrowheads="1"/>
          </p:cNvSpPr>
          <p:nvPr/>
        </p:nvSpPr>
        <p:spPr bwMode="auto">
          <a:xfrm>
            <a:off x="457199" y="1555337"/>
            <a:ext cx="1124952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CA" b="1" dirty="0"/>
              <a:t>Sitecore</a:t>
            </a:r>
          </a:p>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rPr>
              <a:t> </a:t>
            </a: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is Sitecore deployed to different environments (e.g., Dev, QA, Production)</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Does the deployment process require any manual interventions before or after execution</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Does the system rely on external integrations or database connections that need to be managed during deployment</a:t>
            </a:r>
            <a:endParaRPr kumimoji="0" lang="en-US" altLang="en-US" sz="18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65CA26EE-34E0-F47C-C61B-B7B122D6BE60}"/>
              </a:ext>
            </a:extLst>
          </p:cNvPr>
          <p:cNvSpPr>
            <a:spLocks noChangeArrowheads="1"/>
          </p:cNvSpPr>
          <p:nvPr/>
        </p:nvSpPr>
        <p:spPr bwMode="auto">
          <a:xfrm>
            <a:off x="457200" y="4144198"/>
            <a:ext cx="1124952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Legacy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lang="en-US" dirty="0"/>
              <a:t> What is the deployment method used—Virtual Machines, App Service, or containers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Describe the process for handling database changes, including schema updates, migrations, and version control etc.</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52327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5067-1D19-766B-E540-64A71B8E61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83F5E8-FF98-7E58-3F2F-671A1040716C}"/>
              </a:ext>
            </a:extLst>
          </p:cNvPr>
          <p:cNvSpPr txBox="1"/>
          <p:nvPr/>
        </p:nvSpPr>
        <p:spPr>
          <a:xfrm>
            <a:off x="363955" y="496994"/>
            <a:ext cx="5149517" cy="369332"/>
          </a:xfrm>
          <a:prstGeom prst="rect">
            <a:avLst/>
          </a:prstGeom>
          <a:noFill/>
        </p:spPr>
        <p:txBody>
          <a:bodyPr wrap="square">
            <a:spAutoFit/>
          </a:bodyPr>
          <a:lstStyle/>
          <a:p>
            <a:r>
              <a:rPr lang="en-CA" b="1" dirty="0"/>
              <a:t>DevOps Security</a:t>
            </a:r>
          </a:p>
        </p:txBody>
      </p:sp>
      <p:sp>
        <p:nvSpPr>
          <p:cNvPr id="4" name="Rectangle 1">
            <a:extLst>
              <a:ext uri="{FF2B5EF4-FFF2-40B4-BE49-F238E27FC236}">
                <a16:creationId xmlns:a16="http://schemas.microsoft.com/office/drawing/2014/main" id="{57801AC6-AA2A-C666-9764-0C3024CA605C}"/>
              </a:ext>
            </a:extLst>
          </p:cNvPr>
          <p:cNvSpPr>
            <a:spLocks noChangeArrowheads="1"/>
          </p:cNvSpPr>
          <p:nvPr/>
        </p:nvSpPr>
        <p:spPr bwMode="auto">
          <a:xfrm>
            <a:off x="363955" y="866326"/>
            <a:ext cx="1086451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How are secrets and sensitive information stored—using Azure Key Vault, pipeline variables, or other methods</a:t>
            </a:r>
          </a:p>
          <a:p>
            <a:pPr lvl="0" eaLnBrk="0" fontAlgn="base" hangingPunct="0">
              <a:spcBef>
                <a:spcPct val="0"/>
              </a:spcBef>
              <a:spcAft>
                <a:spcPct val="0"/>
              </a:spcAft>
              <a:buFontTx/>
              <a:buChar char="•"/>
            </a:pPr>
            <a:endParaRPr lang="en-US" altLang="en-US" dirty="0"/>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Describe the authentication mechanism used by pipelines to access Azure, such as service principals, managed </a:t>
            </a:r>
          </a:p>
          <a:p>
            <a:pPr lvl="0" eaLnBrk="0" fontAlgn="base" hangingPunct="0">
              <a:spcBef>
                <a:spcPct val="0"/>
              </a:spcBef>
              <a:spcAft>
                <a:spcPct val="0"/>
              </a:spcAft>
            </a:pPr>
            <a:r>
              <a:rPr lang="en-US" dirty="0"/>
              <a:t>   identities, or Azure AD tokens</a:t>
            </a:r>
          </a:p>
          <a:p>
            <a:pPr lvl="0" eaLnBrk="0" fontAlgn="base" hangingPunct="0">
              <a:spcBef>
                <a:spcPct val="0"/>
              </a:spcBef>
              <a:spcAft>
                <a:spcPct val="0"/>
              </a:spcAft>
              <a:buFontTx/>
              <a:buChar char="•"/>
            </a:pPr>
            <a:endParaRPr lang="en-US" altLang="en-US" dirty="0"/>
          </a:p>
          <a:p>
            <a:pPr lvl="0" eaLnBrk="0" fontAlgn="base" hangingPunct="0">
              <a:spcBef>
                <a:spcPct val="0"/>
              </a:spcBef>
              <a:spcAft>
                <a:spcPct val="0"/>
              </a:spcAft>
              <a:buFontTx/>
              <a:buChar char="•"/>
            </a:pPr>
            <a:r>
              <a:rPr lang="en-US" altLang="en-US" dirty="0"/>
              <a:t> </a:t>
            </a:r>
            <a:r>
              <a:rPr lang="en-US" dirty="0"/>
              <a:t>Describe any code quality, static analysis, or dependency vulnerability scanning processes in place</a:t>
            </a:r>
            <a:endParaRPr lang="en-US" altLang="en-US" dirty="0"/>
          </a:p>
        </p:txBody>
      </p:sp>
      <p:sp>
        <p:nvSpPr>
          <p:cNvPr id="5" name="TextBox 4">
            <a:extLst>
              <a:ext uri="{FF2B5EF4-FFF2-40B4-BE49-F238E27FC236}">
                <a16:creationId xmlns:a16="http://schemas.microsoft.com/office/drawing/2014/main" id="{39E2306B-FD46-C074-3ACA-4404035508FC}"/>
              </a:ext>
            </a:extLst>
          </p:cNvPr>
          <p:cNvSpPr txBox="1"/>
          <p:nvPr/>
        </p:nvSpPr>
        <p:spPr>
          <a:xfrm>
            <a:off x="363955" y="3724074"/>
            <a:ext cx="6093994" cy="369332"/>
          </a:xfrm>
          <a:prstGeom prst="rect">
            <a:avLst/>
          </a:prstGeom>
          <a:noFill/>
        </p:spPr>
        <p:txBody>
          <a:bodyPr wrap="square">
            <a:spAutoFit/>
          </a:bodyPr>
          <a:lstStyle/>
          <a:p>
            <a:r>
              <a:rPr lang="en-CA" b="1" dirty="0"/>
              <a:t>Monitoring &amp; Pipeline Health</a:t>
            </a:r>
          </a:p>
        </p:txBody>
      </p:sp>
      <p:sp>
        <p:nvSpPr>
          <p:cNvPr id="8" name="Rectangle 1">
            <a:extLst>
              <a:ext uri="{FF2B5EF4-FFF2-40B4-BE49-F238E27FC236}">
                <a16:creationId xmlns:a16="http://schemas.microsoft.com/office/drawing/2014/main" id="{2DB408D6-A6D3-172A-A488-1383A56C9978}"/>
              </a:ext>
            </a:extLst>
          </p:cNvPr>
          <p:cNvSpPr>
            <a:spLocks noChangeArrowheads="1"/>
          </p:cNvSpPr>
          <p:nvPr/>
        </p:nvSpPr>
        <p:spPr bwMode="auto">
          <a:xfrm>
            <a:off x="267702" y="4312204"/>
            <a:ext cx="1066900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How are pipeline failures monitored and reported</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What is the deployment success rate across environments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rPr>
              <a:t> </a:t>
            </a:r>
            <a:r>
              <a:rPr lang="en-US" dirty="0"/>
              <a:t>Are there any existing dashboards or reports for monitoring pipelines, deployments, or application health</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40595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858</Words>
  <Application>Microsoft Office PowerPoint</Application>
  <PresentationFormat>Widescreen</PresentationFormat>
  <Paragraphs>131</Paragraphs>
  <Slides>11</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Omer Zubair</dc:creator>
  <cp:lastModifiedBy>Omer Zubair</cp:lastModifiedBy>
  <cp:revision>5</cp:revision>
  <dcterms:created xsi:type="dcterms:W3CDTF">2025-11-17T00:21:59Z</dcterms:created>
  <dcterms:modified xsi:type="dcterms:W3CDTF">2025-11-17T05:35:54Z</dcterms:modified>
</cp:coreProperties>
</file>