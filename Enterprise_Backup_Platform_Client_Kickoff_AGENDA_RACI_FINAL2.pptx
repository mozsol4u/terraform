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56" r:id="rId2"/>
    <p:sldId id="257" r:id="rId3"/>
    <p:sldId id="258" r:id="rId4"/>
    <p:sldId id="260" r:id="rId11"/>
    <p:sldId id="261" r:id="rId12"/>
    <p:sldId id="263" r:id="rId1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8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WORKSTREAM  |  ENTERPRISE BACKUP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4739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KICKOFF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65D"/>
                </a:solidFill>
                <a:latin typeface="Aptos Display"/>
              </a:rPr>
              <a:t>Agenda — Enterprise Backup Platform Client Kickoff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573"/>
                </a:solidFill>
                <a:latin typeface="Aptos"/>
              </a:rPr>
              <a:t>Today’s session: align the assessment scope, requirements, timeline and path 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98448"/>
            <a:ext cx="10881360" cy="640080"/>
          </a:xfrm>
          <a:prstGeom prst="roundRect">
            <a:avLst/>
          </a:prstGeom>
          <a:solidFill>
            <a:srgbClr val="F9FBFC"/>
          </a:solidFill>
          <a:ln w="1016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048255"/>
            <a:ext cx="10881360" cy="640080"/>
          </a:xfrm>
          <a:prstGeom prst="roundRect">
            <a:avLst/>
          </a:prstGeom>
          <a:solidFill>
            <a:srgbClr val="F9FBFC"/>
          </a:solidFill>
          <a:ln w="1016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3"/>
            <a:ext cx="10881360" cy="640080"/>
          </a:xfrm>
          <a:prstGeom prst="roundRect">
            <a:avLst/>
          </a:prstGeom>
          <a:solidFill>
            <a:srgbClr val="F9FBFC"/>
          </a:solidFill>
          <a:ln w="1016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547872"/>
            <a:ext cx="10881360" cy="640080"/>
          </a:xfrm>
          <a:prstGeom prst="roundRect">
            <a:avLst/>
          </a:prstGeom>
          <a:solidFill>
            <a:srgbClr val="F9FBFC"/>
          </a:solidFill>
          <a:ln w="1016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297679"/>
            <a:ext cx="10881360" cy="640080"/>
          </a:xfrm>
          <a:prstGeom prst="roundRect">
            <a:avLst/>
          </a:prstGeom>
          <a:solidFill>
            <a:srgbClr val="F9FBFC"/>
          </a:solidFill>
          <a:ln w="1016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5047488"/>
            <a:ext cx="10881360" cy="640080"/>
          </a:xfrm>
          <a:prstGeom prst="roundRect">
            <a:avLst/>
          </a:prstGeom>
          <a:solidFill>
            <a:srgbClr val="F9FBFC"/>
          </a:solidFill>
          <a:ln w="1016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245352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>
                <a:solidFill>
                  <a:srgbClr val="1F4E79"/>
                </a:solidFill>
                <a:latin typeface="Aptos"/>
              </a:rPr>
              <a:t>KICKOFF OUTCOME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6144768"/>
            <a:ext cx="9573768" cy="347472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69" b="1">
                <a:solidFill>
                  <a:srgbClr val="1F4E79"/>
                </a:solidFill>
                <a:latin typeface="Aptos"/>
              </a:rPr>
              <a:t>Agreed scope  •  Requirements baseline  •  Workshop plan  •  Client inputs / owners  •  Immediate next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6547104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B6573"/>
                </a:solidFill>
                <a:latin typeface="Aptos"/>
              </a:rPr>
              <a:t>RESILIENCE WORKSTREAM  |  ENTERPRISE BACKUP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5B6573"/>
                </a:solidFill>
                <a:latin typeface="Aptos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1252728"/>
            <a:ext cx="310896" cy="310896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125272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1197864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17365D"/>
                </a:solidFill>
                <a:latin typeface="Aptos"/>
              </a:rPr>
              <a:t>Kickoff Objective &amp; Current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86784" y="1188720"/>
            <a:ext cx="7178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0" b="0">
                <a:solidFill>
                  <a:srgbClr val="5B6573"/>
                </a:solidFill>
                <a:latin typeface="Aptos"/>
              </a:rPr>
              <a:t>Why the enterprise backup platform is needed now; current Azure-native backup and Canada regional model.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" y="1865376"/>
            <a:ext cx="310896" cy="310896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186537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1810512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17365D"/>
                </a:solidFill>
                <a:latin typeface="Aptos"/>
              </a:rPr>
              <a:t>Current-to-Target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86784" y="1801368"/>
            <a:ext cx="7178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0" b="0">
                <a:solidFill>
                  <a:srgbClr val="5B6573"/>
                </a:solidFill>
                <a:latin typeface="Aptos"/>
              </a:rPr>
              <a:t>IaaS, PaaS and SaaS coverage; enterprise backup layer; Canada Central / Canada East resilience; future AWS expansion.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" y="2478024"/>
            <a:ext cx="310896" cy="310896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247802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8448" y="2423160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17365D"/>
                </a:solidFill>
                <a:latin typeface="Aptos"/>
              </a:rPr>
              <a:t>Assessment &amp; Requirements Workstream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86784" y="2414016"/>
            <a:ext cx="7178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0" b="0">
                <a:solidFill>
                  <a:srgbClr val="5B6573"/>
                </a:solidFill>
                <a:latin typeface="Aptos"/>
              </a:rPr>
              <a:t>Assess the environment, define business/technical/security/residency requirements, and align on the recommended path forward.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" y="3090672"/>
            <a:ext cx="310896" cy="310896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3090672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3035808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17365D"/>
                </a:solidFill>
                <a:latin typeface="Aptos"/>
              </a:rPr>
              <a:t>Project Timeline &amp; Key Milestones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86784" y="3026664"/>
            <a:ext cx="7178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0" b="0">
                <a:solidFill>
                  <a:srgbClr val="5B6573"/>
                </a:solidFill>
                <a:latin typeface="Aptos"/>
              </a:rPr>
              <a:t>Assessment through requirements sign-off, CR decision gate, and indicative post-CR delivery milestones.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" y="3703320"/>
            <a:ext cx="310896" cy="310896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370332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8448" y="3648456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17365D"/>
                </a:solidFill>
                <a:latin typeface="Aptos"/>
              </a:rPr>
              <a:t>Platform Recovery Runbooks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6784" y="3639312"/>
            <a:ext cx="7178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0" b="0">
                <a:solidFill>
                  <a:srgbClr val="5B6573"/>
                </a:solidFill>
                <a:latin typeface="Aptos"/>
              </a:rPr>
              <a:t>Indicative post-CR recovery runbook workstream: scenarios, development, tabletop validation, approval and handover.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" y="4315968"/>
            <a:ext cx="310896" cy="310896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431596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98448" y="4261104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17365D"/>
                </a:solidFill>
                <a:latin typeface="Aptos"/>
              </a:rPr>
              <a:t>RACI &amp; Responsibilities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86784" y="4251960"/>
            <a:ext cx="7178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0" b="0">
                <a:solidFill>
                  <a:srgbClr val="5B6573"/>
                </a:solidFill>
                <a:latin typeface="Aptos"/>
              </a:rPr>
              <a:t>Clarify Resilience Support Team and HPE responsibilities across assessment, requirements, decisions, CR and post-CR activities.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" y="4928616"/>
            <a:ext cx="310896" cy="310896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49286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98448" y="4873752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17365D"/>
                </a:solidFill>
                <a:latin typeface="Aptos"/>
              </a:rPr>
              <a:t>Kickoff Discussion &amp; Next Steps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86784" y="4864608"/>
            <a:ext cx="7178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0" b="0">
                <a:solidFill>
                  <a:srgbClr val="5B6573"/>
                </a:solidFill>
                <a:latin typeface="Aptos"/>
              </a:rPr>
              <a:t>Confirm inputs, owners, workshop topics, required access/data, evaluation approach and immediate actions.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4672" y="5541264"/>
            <a:ext cx="310896" cy="310896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2" y="554126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98448" y="5486400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17365D"/>
                </a:solidFill>
                <a:latin typeface="Aptos"/>
              </a:rPr>
              <a:t>Scope Boundaries &amp; Client Dependencies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86784" y="5477256"/>
            <a:ext cx="7178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0" b="0">
                <a:solidFill>
                  <a:srgbClr val="5B6573"/>
                </a:solidFill>
                <a:latin typeface="Aptos"/>
              </a:rPr>
              <a:t>Confirm SOW limits, timely access/data provision, CR dependency, and HPE responsibility for procurement/licensing/subscriptions.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Backup Platform — Client Kickoff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workstream | Current Azure foundation with future multi-cloud expansion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124358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OBJECTIVE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Establish an enterprise-grade backup and recovery platform for Azure now, with a design that can extend to AWS without re-architecting the operating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82128" y="1225296"/>
            <a:ext cx="376732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38160" y="14813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573"/>
                </a:solidFill>
              </a:rPr>
              <a:t>REGIONAL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38160" y="1737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Canada Central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82912" y="176479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</a:rPr>
              <a:t>Primary production region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9308592" y="2084832"/>
            <a:ext cx="384048" cy="219456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38160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7864"/>
                </a:solidFill>
              </a:rPr>
              <a:t>Canada East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82912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</a:rPr>
              <a:t>Secondary DR / recovery target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852928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68096" y="31272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68096" y="31683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Current state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2971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is the immediate scope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Azure-native backup is currently in place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design now needs enterprise governance, security and recovery standards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352544" y="2852928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90288" y="3127248"/>
            <a:ext cx="420624" cy="420624"/>
          </a:xfrm>
          <a:prstGeom prst="ellipse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90288" y="31683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Target state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26864" y="3566160"/>
            <a:ext cx="2971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coverage across IaaS, PaaS and SaaS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policy, retention, monitoring and recovery governance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of critical workloads across Canada regions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174736" y="2852928"/>
            <a:ext cx="3474720" cy="2578608"/>
          </a:xfrm>
          <a:prstGeom prst="roundRect">
            <a:avLst>
              <a:gd name="adj" fmla="val 4255"/>
            </a:avLst>
          </a:prstGeom>
          <a:solidFill>
            <a:srgbClr val="17365D"/>
          </a:solidFill>
          <a:ln w="13970">
            <a:solidFill>
              <a:srgbClr val="17365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39912" y="3136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D7F1"/>
                </a:solidFill>
              </a:rPr>
              <a:t>DESIGN PRINCIPLE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39912" y="346557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 residency and security first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39912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</a:rPr>
              <a:t>Backup data should remain within Canada, with resilient copies and strong ransomware / access controls.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Current-to-Target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enterprise platform must protect and how the solution evolves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EAF2F8"/>
          </a:solidFill>
          <a:ln w="1397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70078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Azure Workloads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0574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573"/>
                </a:solidFill>
              </a:rPr>
              <a:t>Primary scope 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17099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IaaS: VMs / compute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PaaS: databases / services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SaaS: business data where supported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798064" y="2816352"/>
            <a:ext cx="310896" cy="566928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063240" y="141732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EEF4EE"/>
          </a:solidFill>
          <a:ln w="13970">
            <a:solidFill>
              <a:srgbClr val="EEF4E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64408" y="170078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7864"/>
                </a:solidFill>
              </a:rPr>
              <a:t>Enterprise Backup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64408" y="20574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573"/>
                </a:solidFill>
              </a:rPr>
              <a:t>Common operating model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2487168"/>
            <a:ext cx="17099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&amp; retention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&amp; access control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/ reporting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orchestration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312664" y="2816352"/>
            <a:ext cx="310896" cy="566928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577840" y="141732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EEF4EE"/>
          </a:solidFill>
          <a:ln w="13970">
            <a:solidFill>
              <a:srgbClr val="EEF4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79008" y="170078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Canada Recovery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9008" y="20574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573"/>
                </a:solidFill>
              </a:rPr>
              <a:t>Resilience by region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06440" y="2487168"/>
            <a:ext cx="17099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Central — primary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East — secondary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testing / validation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827264" y="2816352"/>
            <a:ext cx="310896" cy="566928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92440" y="141732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FF4E8"/>
          </a:solidFill>
          <a:ln w="13970">
            <a:solidFill>
              <a:srgbClr val="FFF4E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93608" y="170078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55A11"/>
                </a:solidFill>
              </a:rPr>
              <a:t>Future AWS Expansion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93608" y="205740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573"/>
                </a:solidFill>
              </a:rPr>
              <a:t>Phase 2 capability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2487168"/>
            <a:ext cx="30815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policy &amp; governance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AWS workloads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Canada-only data residency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operational reporting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48640" y="5047488"/>
            <a:ext cx="11064240" cy="859536"/>
          </a:xfrm>
          <a:prstGeom prst="roundRect">
            <a:avLst>
              <a:gd name="adj" fmla="val 12766"/>
            </a:avLst>
          </a:prstGeom>
          <a:solidFill>
            <a:srgbClr val="17365D"/>
          </a:solidFill>
          <a:ln w="13970">
            <a:solidFill>
              <a:srgbClr val="17365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4672" y="5294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CBE8"/>
                </a:solidFill>
              </a:rPr>
              <a:t>Key outcome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5175504"/>
            <a:ext cx="9098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single enterprise backup strategy that meets today’s Azure requirements and can absorb AWS workloads later.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Enterprise Backup Platform — What This Workstream Will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DCEE"/>
                </a:solidFill>
                <a:latin typeface="Aptos"/>
              </a:rPr>
              <a:t>Assessment + requirements gathering to establish 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4688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Our immediate objective is to understand the environment, capture requirements, and align on the solution direction before any design or implementation begins.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00784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00784"/>
            <a:ext cx="3456432" cy="7315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901952"/>
            <a:ext cx="393192" cy="39319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78D4"/>
                </a:solidFill>
                <a:latin typeface="Aptos"/>
              </a:rP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Current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52344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77380"/>
                </a:solidFill>
                <a:latin typeface="Aptos"/>
              </a:rPr>
              <a:t>Inventory workloads, existing Azure-native backup, recovery practices, dependencies, gaps and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700784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700784"/>
            <a:ext cx="3456432" cy="73152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59" y="1901952"/>
            <a:ext cx="393192" cy="39319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999"/>
                </a:solidFill>
                <a:latin typeface="Aptos"/>
              </a:rP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4140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752344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77380"/>
                </a:solidFill>
                <a:latin typeface="Aptos"/>
              </a:rPr>
              <a:t>Establish IaaS / PaaS / SaaS coverage, RPO/RTO, retention, security, residency, operational and recovery requirements.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4423" y="1700784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64423" y="1700784"/>
            <a:ext cx="3456432" cy="7315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65592" y="1901952"/>
            <a:ext cx="393192" cy="393192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5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Aptos"/>
              </a:rPr>
              <a:t>ALIGN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4140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Path 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752344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77380"/>
                </a:solidFill>
                <a:latin typeface="Aptos"/>
              </a:rPr>
              <a:t>Evaluate solution options, identify changes required to existing workloads, and agree the recommended direction.</a:t>
            </a:r>
          </a:p>
        </p:txBody>
      </p:sp>
      <p:sp>
        <p:nvSpPr>
          <p:cNvPr id="25" name="Chevron 24"/>
          <p:cNvSpPr/>
          <p:nvPr/>
        </p:nvSpPr>
        <p:spPr>
          <a:xfrm>
            <a:off x="4023360" y="2395728"/>
            <a:ext cx="201168" cy="384048"/>
          </a:xfrm>
          <a:prstGeom prst="chevron">
            <a:avLst/>
          </a:prstGeom>
          <a:solidFill>
            <a:srgbClr val="D2DAE2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7708392" y="2395728"/>
            <a:ext cx="201168" cy="384048"/>
          </a:xfrm>
          <a:prstGeom prst="chevron">
            <a:avLst/>
          </a:prstGeom>
          <a:solidFill>
            <a:srgbClr val="D2DAE2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4224528"/>
            <a:ext cx="11000232" cy="8229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40740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CDF6"/>
                </a:solidFill>
                <a:latin typeface="Aptos"/>
              </a:rPr>
              <a:t>SCOPE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4334256"/>
            <a:ext cx="88879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1">
                <a:solidFill>
                  <a:srgbClr val="FFFFFF"/>
                </a:solidFill>
                <a:latin typeface="Aptos"/>
              </a:rPr>
              <a:t>Design &amp; implementation are not part of this phase. Once solution alignment is reached, a Change Request (CR) will be executed for the next phase.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Aptos"/>
              </a:rPr>
              <a:t>CLIENT INPUTS NEEDED TO KEEP THE ASSESSMENT MOVING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504688"/>
            <a:ext cx="256032" cy="25603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95544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Timely access to relevant environments, tools and documentation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5897880"/>
            <a:ext cx="256032" cy="25603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888736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Workload / application inventory and business criticality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6291072"/>
            <a:ext cx="256032" cy="25603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281928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Existing backup, recovery, retention and security standards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212080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Aptos"/>
              </a:rPr>
              <a:t>EXPECTED OUTPUTS FROM THIS WORKSTREAM</a:t>
            </a:r>
          </a:p>
        </p:txBody>
      </p:sp>
      <p:sp>
        <p:nvSpPr>
          <p:cNvPr id="38" name="Oval 37"/>
          <p:cNvSpPr/>
          <p:nvPr/>
        </p:nvSpPr>
        <p:spPr>
          <a:xfrm>
            <a:off x="6473952" y="5504688"/>
            <a:ext cx="256032" cy="25603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5495544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Agreed assessment findings and current-state gaps</a:t>
            </a:r>
          </a:p>
        </p:txBody>
      </p:sp>
      <p:sp>
        <p:nvSpPr>
          <p:cNvPr id="40" name="Oval 39"/>
          <p:cNvSpPr/>
          <p:nvPr/>
        </p:nvSpPr>
        <p:spPr>
          <a:xfrm>
            <a:off x="6473952" y="5897880"/>
            <a:ext cx="256032" cy="25603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5888736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Requirements baseline and evaluation criteria</a:t>
            </a:r>
          </a:p>
        </p:txBody>
      </p:sp>
      <p:sp>
        <p:nvSpPr>
          <p:cNvPr id="42" name="Oval 41"/>
          <p:cNvSpPr/>
          <p:nvPr/>
        </p:nvSpPr>
        <p:spPr>
          <a:xfrm>
            <a:off x="6473952" y="6291072"/>
            <a:ext cx="256032" cy="25603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6281928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Clear recommendation / path forward for the next phase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6702552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1475720" y="6711696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3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2B44"/>
          </a:solidFill>
          <a:ln>
            <a:solidFill>
              <a:srgbClr val="14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595360" cy="47548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300" b="1">
                <a:solidFill>
                  <a:srgbClr val="142B44"/>
                </a:solidFill>
                <a:latin typeface="Aptos"/>
              </a:rPr>
              <a:t>Project Timeline &amp; Key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86384"/>
            <a:ext cx="10972800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10" b="0">
                <a:solidFill>
                  <a:srgbClr val="737D88"/>
                </a:solidFill>
                <a:latin typeface="Aptos"/>
              </a:rPr>
              <a:t>Assessment and requirements are the current SOW; design / implementation are indicative and require CR approval after alignment.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11000232" cy="329184"/>
          </a:xfrm>
          <a:prstGeom prst="roundRect">
            <a:avLst>
              <a:gd name="adj" fmla="val 12000"/>
            </a:avLst>
          </a:prstGeom>
          <a:solidFill>
            <a:srgbClr val="142B44"/>
          </a:solidFill>
          <a:ln>
            <a:solidFill>
              <a:srgbClr val="14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97864"/>
            <a:ext cx="4389120" cy="24688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Aptos"/>
              </a:rPr>
              <a:t>ENTERPRISE BACKUP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97864"/>
            <a:ext cx="4846320" cy="24688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1019" b="0">
                <a:solidFill>
                  <a:srgbClr val="FFFFFF"/>
                </a:solidFill>
                <a:latin typeface="Aptos"/>
              </a:rPr>
              <a:t>Assessment → Requirements Sign-off → CR →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3154680" cy="329184"/>
          </a:xfrm>
          <a:prstGeom prst="rect">
            <a:avLst/>
          </a:prstGeom>
          <a:solidFill>
            <a:srgbClr val="E4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36776"/>
            <a:ext cx="3008376" cy="30175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940" b="1">
                <a:solidFill>
                  <a:srgbClr val="142B44"/>
                </a:solidFill>
                <a:latin typeface="Aptos"/>
              </a:rPr>
              <a:t>Phase / 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627632"/>
            <a:ext cx="1417320" cy="329184"/>
          </a:xfrm>
          <a:prstGeom prst="rect">
            <a:avLst/>
          </a:prstGeom>
          <a:solidFill>
            <a:srgbClr val="E4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636776"/>
            <a:ext cx="1271016" cy="30175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940" b="1">
                <a:solidFill>
                  <a:srgbClr val="142B44"/>
                </a:solidFill>
                <a:latin typeface="Aptos"/>
              </a:rPr>
              <a:t>Target Start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627632"/>
            <a:ext cx="1417320" cy="329184"/>
          </a:xfrm>
          <a:prstGeom prst="rect">
            <a:avLst/>
          </a:prstGeom>
          <a:solidFill>
            <a:srgbClr val="E4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1636776"/>
            <a:ext cx="1271016" cy="30175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940" b="1">
                <a:solidFill>
                  <a:srgbClr val="142B44"/>
                </a:solidFill>
                <a:latin typeface="Aptos"/>
              </a:rPr>
              <a:t>Target 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27632"/>
            <a:ext cx="5010912" cy="329184"/>
          </a:xfrm>
          <a:prstGeom prst="rect">
            <a:avLst/>
          </a:prstGeom>
          <a:solidFill>
            <a:srgbClr val="E4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636776"/>
            <a:ext cx="4864608" cy="30175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940" b="1">
                <a:solidFill>
                  <a:srgbClr val="142B44"/>
                </a:solidFill>
                <a:latin typeface="Aptos"/>
              </a:rPr>
              <a:t>Key Milestone / 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956816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0" y="1956816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956816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956816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1965960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Analysis +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1965960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Oct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1965960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Oct 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1965960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Current-state findings reviewed and confirmed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304288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40" y="2304288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66360" y="2304288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2304288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2313432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Requirements gathering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2" y="2313432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Oct 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2313432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2313432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Business, technical, security, residency and recovery requirements captured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651760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49040" y="2651760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66360" y="2651760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2651760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2660904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Requirements sign-off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2192" y="2660904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9512" y="2660904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2660904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Approved requirements baseline • Decision gate for CR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2999232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40" y="2999232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66360" y="2999232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2999232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3008376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Backup Platform Design*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2192" y="3008376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9512" y="3008376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2" y="3008376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Target architecture, operating model and migration approach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3346704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9040" y="3346704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66360" y="3346704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0" y="3346704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" y="3355848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POC validation*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22192" y="3355848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3355848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Dec 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3355848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Candidate platform validated against priority use cases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3694176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49040" y="3694176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66360" y="3694176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83680" y="3694176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" y="3703320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Design review &amp; approval*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22192" y="3703320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Dec 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9512" y="3703320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Dec 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56832" y="3703320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Approved solution direction / implementation readiness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041648"/>
            <a:ext cx="11000232" cy="347472"/>
          </a:xfrm>
          <a:prstGeom prst="rect">
            <a:avLst/>
          </a:prstGeom>
          <a:solidFill>
            <a:srgbClr val="FFF4E8"/>
          </a:solidFill>
          <a:ln>
            <a:solidFill>
              <a:srgbClr val="ECC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" y="4050791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0" b="1">
                <a:solidFill>
                  <a:srgbClr val="E08739"/>
                </a:solidFill>
                <a:latin typeface="Aptos"/>
              </a:rPr>
              <a:t>CLIENT HOLIDAY / OFFICE CLOSURE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22192" y="4050791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30" b="1">
                <a:solidFill>
                  <a:srgbClr val="262B30"/>
                </a:solidFill>
                <a:latin typeface="Aptos"/>
              </a:rPr>
              <a:t>Dec 21,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39512" y="4050791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30" b="1">
                <a:solidFill>
                  <a:srgbClr val="262B30"/>
                </a:solidFill>
                <a:latin typeface="Aptos"/>
              </a:rPr>
              <a:t>Jan 01, 2027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6832" y="4050791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Normal business activities resume Jan 04, 2027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" y="4389120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49040" y="4389120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166360" y="4389120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83680" y="4389120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" y="4398264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Implementation*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22192" y="4398264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Jan 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4398264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Jan 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56832" y="4398264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Platform configuration, onboarding and policy implementation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4360" y="4736592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749040" y="4736592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66360" y="4736592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3680" y="4736592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" y="4745736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Backup &amp; Recovery Validation*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22192" y="4745736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Jan 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745736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Feb 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56832" y="4745736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Recovery testing, controls validation and operational readiness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4360" y="5084064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49040" y="5084064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166360" y="5084064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83680" y="5084064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7512" y="5093208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Knowledge Transfer + Transition*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22192" y="5093208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Feb 08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39512" y="5093208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Feb 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56832" y="5093208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KT, runbook walkthrough and transition to operations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" y="5431536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49040" y="5431536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66360" y="5431536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583680" y="5431536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7512" y="5440679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Stabilization &amp; Acceptance*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22192" y="5440679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Feb 22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39512" y="5440679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Mar 06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56832" y="5440679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Final readiness, stabilization, acceptance and project exit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94360" y="5879592"/>
            <a:ext cx="11000232" cy="310896"/>
          </a:xfrm>
          <a:prstGeom prst="roundRect">
            <a:avLst>
              <a:gd name="adj" fmla="val 12000"/>
            </a:avLst>
          </a:prstGeom>
          <a:solidFill>
            <a:srgbClr val="458061"/>
          </a:solidFill>
          <a:ln>
            <a:solidFill>
              <a:srgbClr val="458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94360" y="6217920"/>
            <a:ext cx="3593591" cy="320040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261104" y="6217920"/>
            <a:ext cx="3593591" cy="320040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927848" y="6217920"/>
            <a:ext cx="3593591" cy="320040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94360" y="6492240"/>
            <a:ext cx="3593591" cy="28346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261104" y="6492240"/>
            <a:ext cx="3593591" cy="28346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927848" y="6492240"/>
            <a:ext cx="3593591" cy="28346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01000" y="6501383"/>
            <a:ext cx="224028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790" b="1">
                <a:solidFill>
                  <a:srgbClr val="262B30"/>
                </a:solidFill>
                <a:latin typeface="Aptos"/>
              </a:rPr>
              <a:t>Current SOW exit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30967" y="6501383"/>
            <a:ext cx="137160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740" b="0">
                <a:solidFill>
                  <a:srgbClr val="737D88"/>
                </a:solidFill>
                <a:latin typeface="Aptos"/>
              </a:rPr>
              <a:t>Requirements sign-off / alignment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2648" y="6793992"/>
            <a:ext cx="10972800" cy="457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670" b="0">
                <a:solidFill>
                  <a:srgbClr val="737D88"/>
                </a:solidFill>
                <a:latin typeface="Aptos"/>
              </a:rPr>
              <a:t>* Indicative post-CR dates require client alignment, CR approval and scheduling.  Holiday: Dec 21, 2026 – Jan 01, 2027.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94360" y="6108192"/>
            <a:ext cx="10972800" cy="384048"/>
          </a:xfrm>
          <a:prstGeom prst="rect">
            <a:avLst/>
          </a:prstGeom>
          <a:solidFill>
            <a:srgbClr val="EBF1F7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/>
          <a:lstStyle/>
          <a:p>
            <a:pPr algn="ctr"/>
            <a:r>
              <a:rPr sz="1050" b="1">
                <a:solidFill>
                  <a:srgbClr val="1F4E79"/>
                </a:solidFill>
              </a:rPr>
              <a:t>PLATFORM RECOVERY RUNBOOKS  |  Detailed post-CR timeline on next slide  |  Jan 25 – Mar 05,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lIns="0" rIns="0" tIns="0" bIns="2540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</a:rPr>
              <a:t>Platform Recovery Runbooks — Detailed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365760"/>
          </a:xfrm>
          <a:prstGeom prst="rect">
            <a:avLst/>
          </a:prstGeom>
          <a:noFill/>
        </p:spPr>
        <p:txBody>
          <a:bodyPr wrap="none" lIns="0" rIns="0" tIns="0" bIns="2540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</a:rPr>
              <a:t>Indicative post-CR workstream | Recovery readiness, operationalization and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109728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89888"/>
            <a:ext cx="3209544" cy="310896"/>
          </a:xfrm>
          <a:prstGeom prst="rect">
            <a:avLst/>
          </a:prstGeom>
          <a:noFill/>
        </p:spPr>
        <p:txBody>
          <a:bodyPr wrap="none" lIns="50800" rIns="50800" tIns="12700" bIns="2540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8768" y="1389888"/>
            <a:ext cx="1380744" cy="310896"/>
          </a:xfrm>
          <a:prstGeom prst="rect">
            <a:avLst/>
          </a:prstGeom>
          <a:noFill/>
        </p:spPr>
        <p:txBody>
          <a:bodyPr wrap="none" lIns="50800" rIns="50800" tIns="12700" bIns="2540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Target Start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088" y="1389888"/>
            <a:ext cx="1380744" cy="310896"/>
          </a:xfrm>
          <a:prstGeom prst="rect">
            <a:avLst/>
          </a:prstGeom>
          <a:noFill/>
        </p:spPr>
        <p:txBody>
          <a:bodyPr wrap="none" lIns="50800" rIns="50800" tIns="12700" bIns="2540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Target End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93407" y="1389888"/>
            <a:ext cx="4855464" cy="310896"/>
          </a:xfrm>
          <a:prstGeom prst="rect">
            <a:avLst/>
          </a:prstGeom>
          <a:noFill/>
        </p:spPr>
        <p:txBody>
          <a:bodyPr wrap="none" lIns="50800" rIns="50800" tIns="12700" bIns="2540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Key Milestone /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10512"/>
            <a:ext cx="109728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83664"/>
            <a:ext cx="32095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1">
                <a:solidFill>
                  <a:srgbClr val="1F4E79"/>
                </a:solidFill>
              </a:rPr>
              <a:t>Recovery Scenario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1883664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Jan 25,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1883664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Jan 29,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7" y="1883664"/>
            <a:ext cx="485546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0">
                <a:solidFill>
                  <a:srgbClr val="373737"/>
                </a:solidFill>
              </a:rPr>
              <a:t>Priority recovery scenarios agreed; scope, dependencies and success criteria defined.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615184"/>
            <a:ext cx="10972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688336"/>
            <a:ext cx="32095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1">
                <a:solidFill>
                  <a:srgbClr val="1F4E79"/>
                </a:solidFill>
              </a:rPr>
              <a:t>Runbook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688336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Feb 01,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688336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Feb 12,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7" y="2688336"/>
            <a:ext cx="485546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0">
                <a:solidFill>
                  <a:srgbClr val="373737"/>
                </a:solidFill>
              </a:rPr>
              <a:t>Draft runbooks completed for priority scenarios, including prerequisites, recovery steps, owners and validation criteria.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419856"/>
            <a:ext cx="109728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493008"/>
            <a:ext cx="32095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1">
                <a:solidFill>
                  <a:srgbClr val="1F4E79"/>
                </a:solidFill>
              </a:rPr>
              <a:t>Tabletop Walkthrough &amp;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3493008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Feb 15,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493008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Feb 19,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7" y="3493008"/>
            <a:ext cx="485546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0">
                <a:solidFill>
                  <a:srgbClr val="373737"/>
                </a:solidFill>
              </a:rPr>
              <a:t>Walkthrough completed with stakeholders; gaps, feedback and corrective actions captured.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224528"/>
            <a:ext cx="10972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297680"/>
            <a:ext cx="32095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1">
                <a:solidFill>
                  <a:srgbClr val="1F4E79"/>
                </a:solidFill>
              </a:rPr>
              <a:t>Finalization &amp;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4297680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Feb 22,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297680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Feb 26,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7" y="4297680"/>
            <a:ext cx="485546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0">
                <a:solidFill>
                  <a:srgbClr val="373737"/>
                </a:solidFill>
              </a:rPr>
              <a:t>Final runbook package approved as the operational recovery reference.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029200"/>
            <a:ext cx="109728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5102352"/>
            <a:ext cx="32095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1">
                <a:solidFill>
                  <a:srgbClr val="1F4E79"/>
                </a:solidFill>
              </a:rPr>
              <a:t>Knowledge Transfer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5102352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Mar 01,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088" y="5102352"/>
            <a:ext cx="138074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ctr"/>
            <a:r>
              <a:rPr sz="1080" b="0">
                <a:solidFill>
                  <a:srgbClr val="373737"/>
                </a:solidFill>
              </a:rPr>
              <a:t>Mar 05,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7" y="5102352"/>
            <a:ext cx="4855464" cy="694944"/>
          </a:xfrm>
          <a:prstGeom prst="rect">
            <a:avLst/>
          </a:prstGeom>
          <a:noFill/>
        </p:spPr>
        <p:txBody>
          <a:bodyPr wrap="none" lIns="63500" rIns="63500" tIns="12700" bIns="25400">
            <a:spAutoFit/>
          </a:bodyPr>
          <a:lstStyle/>
          <a:p>
            <a:pPr algn="l"/>
            <a:r>
              <a:rPr sz="1080" b="0">
                <a:solidFill>
                  <a:srgbClr val="373737"/>
                </a:solidFill>
              </a:rPr>
              <a:t>Operations team briefed; ownership, maintenance and handover completed.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715000"/>
            <a:ext cx="10972800" cy="621792"/>
          </a:xfrm>
          <a:prstGeom prst="rect">
            <a:avLst/>
          </a:prstGeom>
          <a:solidFill>
            <a:srgbClr val="FFF7E6"/>
          </a:solidFill>
          <a:ln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tIns="88900"/>
          <a:lstStyle/>
          <a:p>
            <a:pPr algn="ctr"/>
            <a:r>
              <a:rPr sz="1080" b="1">
                <a:solidFill>
                  <a:srgbClr val="785014"/>
                </a:solidFill>
              </a:rPr>
              <a:t>Scope note: Indicative post-CR dates; dependent on requirements sign-off, solution alignment, CR approval, client scheduling, access and data availability.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0" rIns="0" tIns="0" bIns="25400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RACI — Enterprise Backup Platform Workstream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37D88"/>
                </a:solidFill>
                <a:latin typeface="Aptos"/>
              </a:rPr>
              <a:t>Clear ownership for the current assessment / requirements scope and the indicative post-CR delivery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5720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143000"/>
            <a:ext cx="10652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7365D"/>
                </a:solidFill>
                <a:latin typeface="Aptos"/>
              </a:rPr>
              <a:t>Key client responsibility: HPE provides timely access / data and owns procurement, licensing and subscription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73352"/>
            <a:ext cx="7589520" cy="365760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00784"/>
            <a:ext cx="7461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Workstream /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80" y="1673352"/>
            <a:ext cx="1874519" cy="365760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00784"/>
            <a:ext cx="174650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Resilience Support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1673352"/>
            <a:ext cx="1554480" cy="365760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22408" y="1700784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HPE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39112"/>
            <a:ext cx="11018520" cy="26517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039112"/>
            <a:ext cx="1087221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Aptos"/>
              </a:rPr>
              <a:t>CURRENT SOW — ASSESSMENT &amp; REQUIREMENTS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304288"/>
            <a:ext cx="75895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304288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Kickoff, governance &amp; schedule alignment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2304288"/>
            <a:ext cx="1874519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230428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304288"/>
            <a:ext cx="155448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304288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B87A16"/>
                </a:solidFill>
                <a:latin typeface="Aptos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578608"/>
            <a:ext cx="758952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2578608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Provide access, inventory, documentation &amp;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80" y="2578608"/>
            <a:ext cx="1874519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5786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2578608"/>
            <a:ext cx="155448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578608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E7D5B"/>
                </a:solidFill>
                <a:latin typeface="Aptos"/>
              </a:rPr>
              <a:t>R/A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852927"/>
            <a:ext cx="75895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2852927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Current-state backup &amp; recovery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852927"/>
            <a:ext cx="1874519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852927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E7D5B"/>
                </a:solidFill>
                <a:latin typeface="Aptos"/>
              </a:rPr>
              <a:t>R/A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2852927"/>
            <a:ext cx="155448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2852927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127247"/>
            <a:ext cx="758952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127247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Assessment / discovery workshops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3127247"/>
            <a:ext cx="1874519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3127247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3127247"/>
            <a:ext cx="155448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3127247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B87A16"/>
                </a:solidFill>
                <a:latin typeface="Aptos"/>
              </a:rPr>
              <a:t>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401567"/>
            <a:ext cx="75895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3401567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Requirements definition &amp; baseline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80" y="3401567"/>
            <a:ext cx="1874519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3401567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3401567"/>
            <a:ext cx="155448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3401567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675887"/>
            <a:ext cx="758952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3675887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Requirements review &amp; sign-off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80" y="3675887"/>
            <a:ext cx="1874519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3675887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3675887"/>
            <a:ext cx="155448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0" y="3675887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B87A16"/>
                </a:solidFill>
                <a:latin typeface="Aptos"/>
              </a:rPr>
              <a:t>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3950207"/>
            <a:ext cx="75895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" y="3950207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Platform options evaluation &amp; recommendation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80" y="3950207"/>
            <a:ext cx="1874519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3950207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E7D5B"/>
                </a:solidFill>
                <a:latin typeface="Aptos"/>
              </a:rPr>
              <a:t>R/A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3950207"/>
            <a:ext cx="155448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0" y="3950207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224527"/>
            <a:ext cx="758952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" y="4224527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Solution alignment / platform decision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83880" y="4224527"/>
            <a:ext cx="1874519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4224527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0" y="4224527"/>
            <a:ext cx="155448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0" y="4224527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E7D5B"/>
                </a:solidFill>
                <a:latin typeface="Aptos"/>
              </a:rPr>
              <a:t>R/A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4498847"/>
            <a:ext cx="11018520" cy="265176"/>
          </a:xfrm>
          <a:prstGeom prst="rect">
            <a:avLst/>
          </a:prstGeom>
          <a:solidFill>
            <a:srgbClr val="737D88"/>
          </a:solidFill>
          <a:ln w="10160">
            <a:solidFill>
              <a:srgbClr val="737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" y="4498847"/>
            <a:ext cx="1087221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Aptos"/>
              </a:rPr>
              <a:t>POST-CR — INDICATIVE DESIGN / IMPLEMENTATION / OPERATIONS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764023"/>
            <a:ext cx="75895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" y="4764023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CR preparation / approval for design &amp; implementation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83880" y="4764023"/>
            <a:ext cx="1874519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83880" y="4764023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0" y="4764023"/>
            <a:ext cx="155448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58400" y="4764023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E7D5B"/>
                </a:solidFill>
                <a:latin typeface="Aptos"/>
              </a:rPr>
              <a:t>R/A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5038343"/>
            <a:ext cx="758952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512" y="5038343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Design, implementation &amp; backup/recovery validation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83880" y="5038343"/>
            <a:ext cx="1874519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83880" y="5038343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58400" y="5038343"/>
            <a:ext cx="155448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58400" y="5038343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B87A16"/>
                </a:solidFill>
                <a:latin typeface="Aptos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5312663"/>
            <a:ext cx="75895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" y="5312663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Procurement, licensing &amp; subscriptions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83880" y="5312663"/>
            <a:ext cx="1874519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83880" y="5312663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58400" y="5312663"/>
            <a:ext cx="155448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58400" y="5312663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E7D5B"/>
                </a:solidFill>
                <a:latin typeface="Aptos"/>
              </a:rPr>
              <a:t>R/A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" y="5586983"/>
            <a:ext cx="758952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7512" y="5586983"/>
            <a:ext cx="7443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7365D"/>
                </a:solidFill>
                <a:latin typeface="Aptos"/>
              </a:rPr>
              <a:t>Recovery runbooks, KT &amp; operational acceptance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83880" y="5586983"/>
            <a:ext cx="1874519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83880" y="5586983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F4E79"/>
                </a:solidFill>
                <a:latin typeface="Aptos"/>
              </a:rPr>
              <a:t>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58400" y="5586983"/>
            <a:ext cx="1554480" cy="274320"/>
          </a:xfrm>
          <a:prstGeom prst="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58400" y="5586983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B87A16"/>
                </a:solidFill>
                <a:latin typeface="Aptos"/>
              </a:rPr>
              <a:t>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1792" y="606247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1">
                <a:solidFill>
                  <a:srgbClr val="17365D"/>
                </a:solidFill>
                <a:latin typeface="Aptos"/>
              </a:rPr>
              <a:t>LEGEND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417320" y="6062472"/>
            <a:ext cx="274320" cy="219456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17320" y="6062472"/>
            <a:ext cx="274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1F4E79"/>
                </a:solidFill>
                <a:latin typeface="Aptos"/>
              </a:rPr>
              <a:t>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46504" y="6062472"/>
            <a:ext cx="8046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737D88"/>
                </a:solidFill>
                <a:latin typeface="Aptos"/>
              </a:rPr>
              <a:t>Responsible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715768" y="6062472"/>
            <a:ext cx="274320" cy="219456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15768" y="6062472"/>
            <a:ext cx="274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1F4E79"/>
                </a:solidFill>
                <a:latin typeface="Aptos"/>
              </a:rPr>
              <a:t>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44951" y="6062472"/>
            <a:ext cx="8046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737D88"/>
                </a:solidFill>
                <a:latin typeface="Aptos"/>
              </a:rPr>
              <a:t>Accountable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014215" y="6062472"/>
            <a:ext cx="274320" cy="219456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014215" y="6062472"/>
            <a:ext cx="274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1F4E79"/>
                </a:solidFill>
                <a:latin typeface="Aptos"/>
              </a:rPr>
              <a:t>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43400" y="6062472"/>
            <a:ext cx="8046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737D88"/>
                </a:solidFill>
                <a:latin typeface="Aptos"/>
              </a:rPr>
              <a:t>Consulted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312664" y="6062472"/>
            <a:ext cx="274320" cy="219456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12664" y="6062472"/>
            <a:ext cx="274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1F4E79"/>
                </a:solidFill>
                <a:latin typeface="Aptos"/>
              </a:rPr>
              <a:t>I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41848" y="6062472"/>
            <a:ext cx="8046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737D88"/>
                </a:solidFill>
                <a:latin typeface="Aptos"/>
              </a:rPr>
              <a:t>Informed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92240" y="6044184"/>
            <a:ext cx="5074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30" b="0">
                <a:solidFill>
                  <a:srgbClr val="737D88"/>
                </a:solidFill>
                <a:latin typeface="Aptos"/>
              </a:rPr>
              <a:t>RACI is an engagement baseline; post-CR activities remain subject to approved CR and solution alignment.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Kickoff Discussion — Proposed Agenda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session to align requirements before platform evaluation / POC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307592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1453896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5087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89888" y="1408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Business &amp; workload scope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03320" y="1408176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Which workloads are in scope now? What is business-critical?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21792" y="2148840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41248" y="2295144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23500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89888" y="22494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Recovery objectives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03320" y="2249424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Target RPO / RTO, retention, backup frequency, recovery testing expectations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1792" y="2990088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1248" y="3136392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" y="31912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89888" y="3090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Security &amp; residency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3090672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Canada-only requirement, encryption, access model, immutability / cyber-recovery expectations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21792" y="3831336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41248" y="397764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1248" y="40325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89888" y="3931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Platform requirements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03320" y="393192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IaaS / PaaS / SaaS coverage, Azure today, AWS readiness tomorrow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1792" y="4672584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EDF5EE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41248" y="4818888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1248" y="48737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89888" y="4773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Evaluation path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03320" y="477316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Platform shortlist, POC success criteria, decision timeline, ownership and next steps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58368" y="56235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</a:rPr>
              <a:t>Expected outputs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01168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scope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4340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34340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7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baseline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67512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7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/ evaluation criteria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0684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00684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owners &amp; next steps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Client Resilience Workstream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Backup Platform – Client Kickoff</dc:title>
  <dc:subject>Enterprise Backup Platform Client Kickoff</dc:subject>
  <dc:creator>OpenAI</dc:creator>
  <cp:lastModifiedBy>OpenAI</cp:lastModifiedBy>
  <cp:revision>1</cp:revision>
  <dcterms:created xsi:type="dcterms:W3CDTF">2026-10-04T21:56:20Z</dcterms:created>
  <dcterms:modified xsi:type="dcterms:W3CDTF">2026-10-04T21:56:20Z</dcterms:modified>
</cp:coreProperties>
</file>