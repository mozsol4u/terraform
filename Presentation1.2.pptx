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9" r:id="rId3"/>
    <p:sldId id="261" r:id="rId4"/>
    <p:sldId id="262" r:id="rId5"/>
    <p:sldId id="263" r:id="rId6"/>
    <p:sldId id="264" r:id="rId7"/>
    <p:sldId id="265" r:id="rId8"/>
    <p:sldId id="266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61062" autoAdjust="0"/>
  </p:normalViewPr>
  <p:slideViewPr>
    <p:cSldViewPr snapToGrid="0">
      <p:cViewPr varScale="1">
        <p:scale>
          <a:sx n="52" d="100"/>
          <a:sy n="52" d="100"/>
        </p:scale>
        <p:origin x="187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470DC9-E25D-46DB-9461-BB226B2578B0}" type="datetimeFigureOut">
              <a:rPr lang="en-CA" smtClean="0"/>
              <a:t>2025-11-16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2B77F9-9656-42F6-BB71-73FA39E65E2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2230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b="1" dirty="0"/>
              <a:t>Questions: </a:t>
            </a:r>
          </a:p>
          <a:p>
            <a:endParaRPr lang="en-CA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dirty="0"/>
              <a:t>1) What does the current Azure infrastructure look like for hosting Sitecore, Legacy, and AVD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dirty="0"/>
              <a:t>2) Do you maintain up-to-date diagrams of each environment’s layout, topology, and dependencies? Can these be shared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   for reference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3) </a:t>
            </a:r>
            <a:r>
              <a:rPr lang="en-US" dirty="0"/>
              <a:t>How is authentication handled across these applications? Does it use Entra ID, on-premises AD integration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4) What </a:t>
            </a:r>
            <a:r>
              <a:rPr lang="en-US" altLang="en-US" dirty="0"/>
              <a:t>Networking components are deployed, and how are VNETs, Firewalls, Gateways, Front Door, and Load Balancers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/>
              <a:t>   are configured for these 3 services.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5) How is AVD deployed, and how does it integrate with existing systems and services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B77F9-9656-42F6-BB71-73FA39E65E2A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7767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B77F9-9656-42F6-BB71-73FA39E65E2A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801997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B77F9-9656-42F6-BB71-73FA39E65E2A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59523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b="1" dirty="0"/>
              <a:t>Questions</a:t>
            </a:r>
          </a:p>
          <a:p>
            <a:endParaRPr lang="en-CA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/>
              <a:t>1) Do users authenticate via Entra ID only, or hybrid identity?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/>
              <a:t>2) Are any apps still relying on legacy authentication methods?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B77F9-9656-42F6-BB71-73FA39E65E2A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9666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FC761-36FF-909F-2F10-7C5DE015EC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670259-328E-5410-E71B-C89669B81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B2D87-0A4E-CFA7-AB1A-87549C3B0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B7CEC-A49B-447B-9ACC-3E5FE9CD8962}" type="datetimeFigureOut">
              <a:rPr lang="en-CA" smtClean="0"/>
              <a:t>2025-11-16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09911-88AE-20A7-60F1-C80C4588E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119D4-468F-9C76-4D31-149B3D5FB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0468D-95FF-41B6-866B-430AB0BFE4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6732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46EB4-C2C9-33D1-24F9-C693669A6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FD84B-A333-55E9-6D02-EDF5E44F3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1BEF03-BA9A-8810-518F-3B12F6AE4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B7CEC-A49B-447B-9ACC-3E5FE9CD8962}" type="datetimeFigureOut">
              <a:rPr lang="en-CA" smtClean="0"/>
              <a:t>2025-11-16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FAB03-A578-E77D-E7F7-323EB21E6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52B31-6511-D0DA-2804-B5400E8B2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0468D-95FF-41B6-866B-430AB0BFE4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9261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4ED9F-70D8-8DFA-46F6-EF7EE9F90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417FB-5AAC-B620-0C0E-54541AE98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71302-A48C-CF63-DAB1-3C4CA9AE6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B7CEC-A49B-447B-9ACC-3E5FE9CD8962}" type="datetimeFigureOut">
              <a:rPr lang="en-CA" smtClean="0"/>
              <a:t>2025-11-16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1DE82-1CF4-A554-6DCE-4989D5867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020D7-F6F3-000A-A05B-13A9465F5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0468D-95FF-41B6-866B-430AB0BFE4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378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9614F-A191-10F9-8E78-23D0BF958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44C44-2762-8E29-4C7E-146B87A72C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32A077-FB0D-76CF-239B-56C93D4ED0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7FF22-323C-4CBE-0A9D-E26D98AB0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B7CEC-A49B-447B-9ACC-3E5FE9CD8962}" type="datetimeFigureOut">
              <a:rPr lang="en-CA" smtClean="0"/>
              <a:t>2025-11-16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2F64F6-55DF-CE54-D999-5A36450B2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383ECE-FFB8-043D-DD35-E77C88F42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0468D-95FF-41B6-866B-430AB0BFE4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93463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9E416-577A-4F0F-2F10-EEDB1D2F3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D6D474-5B62-BDB9-7ADC-523681BFB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A255CE-C544-E8AD-B807-A393F72244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62D4B7-1BBC-6CED-B005-325400270A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F0E286-9617-C4E8-DB39-7C4067CCBD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BDAD03-9FA9-3475-82A7-E65591590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B7CEC-A49B-447B-9ACC-3E5FE9CD8962}" type="datetimeFigureOut">
              <a:rPr lang="en-CA" smtClean="0"/>
              <a:t>2025-11-16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391D14-CD1C-5F01-A1FE-DFBFCA8CB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CB7F27-3D53-16BF-5405-404E65DC6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0468D-95FF-41B6-866B-430AB0BFE4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13944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D775F-E3F2-6280-5679-896CC5E73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5810-25E4-7FBD-A7E7-596BF4F99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B7CEC-A49B-447B-9ACC-3E5FE9CD8962}" type="datetimeFigureOut">
              <a:rPr lang="en-CA" smtClean="0"/>
              <a:t>2025-11-16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1CBF87-BC77-834C-4665-515CF947B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2F7CFF-F8A4-546B-C2E2-7A04F6D68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0468D-95FF-41B6-866B-430AB0BFE4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0188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F8C1A4-2D89-E1FE-E790-B4CD02EBC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B7CEC-A49B-447B-9ACC-3E5FE9CD8962}" type="datetimeFigureOut">
              <a:rPr lang="en-CA" smtClean="0"/>
              <a:t>2025-11-16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30CF8E-6402-FDA5-8951-96B3648A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3CF694-9FFF-0C3A-6781-6BAE28098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0468D-95FF-41B6-866B-430AB0BFE4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3970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72EF6-7D66-6DFA-CF38-87CCB3027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14422-CB06-C2D9-F851-75BCB317A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FB2FF2-340C-2C76-4967-9F9ACC341B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54FF4E-658B-498D-F6CA-F9A337935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B7CEC-A49B-447B-9ACC-3E5FE9CD8962}" type="datetimeFigureOut">
              <a:rPr lang="en-CA" smtClean="0"/>
              <a:t>2025-11-16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2D9678-3890-9D58-BC69-FEE32389A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2E86EE-F5EE-C1D4-77AC-067310ACD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0468D-95FF-41B6-866B-430AB0BFE4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90827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6B4AE-71F4-5B2A-42B9-E1DAA2373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99E7C4-62F6-80D7-3398-F3CC79667A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49D531-77D6-1B5B-7DE5-B9E245098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66AFC-0995-A4FD-796D-C701D579F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B7CEC-A49B-447B-9ACC-3E5FE9CD8962}" type="datetimeFigureOut">
              <a:rPr lang="en-CA" smtClean="0"/>
              <a:t>2025-11-16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1402E-9BF3-1353-92B2-75CE6D786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E6743-6D3E-C0A3-34E3-F66643A73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0468D-95FF-41B6-866B-430AB0BFE4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78348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BCED0-08C8-0C36-AFFC-F340B1354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84B05-0932-37F7-B0A3-EA4132D477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0449F-25E0-8386-A4C4-34A7A2389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B7CEC-A49B-447B-9ACC-3E5FE9CD8962}" type="datetimeFigureOut">
              <a:rPr lang="en-CA" smtClean="0"/>
              <a:t>2025-11-16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2D34D-066E-75C4-4C0D-ADC8E2D68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63652-8EE9-F98D-A25F-17B55023B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0468D-95FF-41B6-866B-430AB0BFE4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141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B48B01-57DF-2BCC-4EF8-682209DEBB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2E1BCA-BCB6-F306-D71B-031018B507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2ECF7-B122-B184-C460-60A9166B8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B7CEC-A49B-447B-9ACC-3E5FE9CD8962}" type="datetimeFigureOut">
              <a:rPr lang="en-CA" smtClean="0"/>
              <a:t>2025-11-16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50D11-6EA5-EC20-29DD-73F77F734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63B7E-95BA-6182-5C90-72702A7DD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0468D-95FF-41B6-866B-430AB0BFE4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0140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0A8006-FB3E-4C45-22C4-F181A1A5C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57264E-EA2D-DD80-3969-746C9498B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243E7-6774-FD45-EE77-C83C17E88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CB7CEC-A49B-447B-9ACC-3E5FE9CD8962}" type="datetimeFigureOut">
              <a:rPr lang="en-CA" smtClean="0"/>
              <a:t>2025-11-16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C798B-AD91-B773-6EC8-874327377A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50693-B959-5CB0-76FE-5AE3B84B64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F0468D-95FF-41B6-866B-430AB0BFE4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328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CDF6F-9317-17B0-0F20-F2962847E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9E7736-601F-EA6B-8FB7-CCCEC0D3F98A}"/>
              </a:ext>
            </a:extLst>
          </p:cNvPr>
          <p:cNvSpPr txBox="1"/>
          <p:nvPr/>
        </p:nvSpPr>
        <p:spPr>
          <a:xfrm>
            <a:off x="379429" y="56947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Applications in Scope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7FFB661-45F2-49A1-BFC7-C64F265B4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429" y="1172666"/>
            <a:ext cx="11189617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Sitecore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 Platform used for managing and delivering Web content, digital experiences and customer interactions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 Is the application deployed in a multi-tier configuration with Content Management (CM), Content Delivery (CD),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/>
              <a:t>   Database (DB) and Search components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Legacy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What is the intended architecture</a:t>
            </a:r>
            <a:r>
              <a:rPr lang="en-US" altLang="en-US" dirty="0"/>
              <a:t>? Is it monolithic, multi-tier or integration-focused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Azure Virtual Desktop (AVD)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Provides end-users with virtual desktops </a:t>
            </a:r>
            <a:r>
              <a:rPr lang="en-US" altLang="en-US" dirty="0"/>
              <a:t>or secure access to applications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Uses Entra ID, FSLogix, host pools, and session hosts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5842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7D763-5833-8237-B2A7-DF8398ACF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0DDF78-D563-2EAB-15F3-5ECA7390F03A}"/>
              </a:ext>
            </a:extLst>
          </p:cNvPr>
          <p:cNvSpPr txBox="1"/>
          <p:nvPr/>
        </p:nvSpPr>
        <p:spPr>
          <a:xfrm>
            <a:off x="408698" y="79040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Azure Subscription &amp; Resource Organization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F19848-DF13-8729-0DA4-2F80EF577DD3}"/>
              </a:ext>
            </a:extLst>
          </p:cNvPr>
          <p:cNvSpPr txBox="1"/>
          <p:nvPr/>
        </p:nvSpPr>
        <p:spPr>
          <a:xfrm>
            <a:off x="408698" y="1423960"/>
            <a:ext cx="1163581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How many Azure Subscriptions are used for these (Sitecore, Legacy, AVD)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Are the applications deployed in separate subscriptions for isolation or do they share subscriptions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Usage of Azure Management Groups for organizing subscriptions, policies, and governance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What is the strategy of organizing Azure resources into Resource Groups with respect to Application or environments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What naming conventions and tagging practices are used for Azure resources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Any cross-subscription networking or shared services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How many environments currently exist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888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26DD1-7F6C-8851-E24F-DB6EF31CF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470086-A957-70B6-D83D-FD81307EE22A}"/>
              </a:ext>
            </a:extLst>
          </p:cNvPr>
          <p:cNvSpPr txBox="1"/>
          <p:nvPr/>
        </p:nvSpPr>
        <p:spPr>
          <a:xfrm>
            <a:off x="407710" y="635465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Network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5EC39C-B156-F47A-2ECD-F963035713FE}"/>
              </a:ext>
            </a:extLst>
          </p:cNvPr>
          <p:cNvSpPr txBox="1"/>
          <p:nvPr/>
        </p:nvSpPr>
        <p:spPr>
          <a:xfrm>
            <a:off x="407710" y="1298990"/>
            <a:ext cx="916399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 VNET layout per application or environment (Sitecore, Legacy, AVD)</a:t>
            </a:r>
          </a:p>
          <a:p>
            <a:r>
              <a:rPr lang="en-CA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 Subnet segmentation for workloads (App, DB, DMZ, DR etc.) </a:t>
            </a:r>
          </a:p>
          <a:p>
            <a:pPr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 Peering models (hub-and-spoke, mesh)</a:t>
            </a:r>
          </a:p>
          <a:p>
            <a:pPr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 VPN Gateway or ExpressRoute for on-prem integration </a:t>
            </a:r>
          </a:p>
          <a:p>
            <a:pPr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 Network Security Groups (NSGs) and Application Security Groups (ASGs)</a:t>
            </a:r>
          </a:p>
          <a:p>
            <a:r>
              <a:rPr lang="en-CA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 Azure Firewall or Network Virtual Appliance for traffic filtering </a:t>
            </a:r>
          </a:p>
          <a:p>
            <a:pPr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 Azure DNS (public &amp; private)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99457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519C2-E6F1-D8F5-F636-BEAF46D8A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F03A50-6318-8BAC-63E4-C503720A2169}"/>
              </a:ext>
            </a:extLst>
          </p:cNvPr>
          <p:cNvSpPr txBox="1"/>
          <p:nvPr/>
        </p:nvSpPr>
        <p:spPr>
          <a:xfrm>
            <a:off x="520831" y="682599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Application Delivery &amp; Security Components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02B42C-B9C8-8491-0AC7-8B7B3F0512FA}"/>
              </a:ext>
            </a:extLst>
          </p:cNvPr>
          <p:cNvSpPr txBox="1"/>
          <p:nvPr/>
        </p:nvSpPr>
        <p:spPr>
          <a:xfrm>
            <a:off x="520831" y="1362075"/>
            <a:ext cx="1155809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CA" dirty="0"/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 How does traffic currently enter Azure for (Sitecore, Legacy, AVD) </a:t>
            </a:r>
          </a:p>
          <a:p>
            <a:pPr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 What Security measures are in place for external traffic (Internet </a:t>
            </a:r>
            <a:r>
              <a:rPr lang="en-CA" dirty="0">
                <a:sym typeface="Wingdings" panose="05000000000000000000" pitchFamily="2" charset="2"/>
              </a:rPr>
              <a:t> Azure) for Sitecore, Legacy, AVD)</a:t>
            </a:r>
          </a:p>
          <a:p>
            <a:pPr>
              <a:buFont typeface="Arial" panose="020B0604020202020204" pitchFamily="34" charset="0"/>
              <a:buChar char="•"/>
            </a:pPr>
            <a:endParaRPr lang="en-CA" dirty="0">
              <a:sym typeface="Wingdings" panose="05000000000000000000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CA" dirty="0">
                <a:sym typeface="Wingdings" panose="05000000000000000000" pitchFamily="2" charset="2"/>
              </a:rPr>
              <a:t> What Security measures are in place for internal traffic (Eg: between VNETs, subnets, or services)</a:t>
            </a:r>
          </a:p>
          <a:p>
            <a:pPr>
              <a:buFont typeface="Arial" panose="020B0604020202020204" pitchFamily="34" charset="0"/>
              <a:buChar char="•"/>
            </a:pPr>
            <a:endParaRPr lang="en-CA" dirty="0">
              <a:sym typeface="Wingdings" panose="05000000000000000000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CA" dirty="0">
                <a:sym typeface="Wingdings" panose="05000000000000000000" pitchFamily="2" charset="2"/>
              </a:rPr>
              <a:t> Is WAFs, NSGs, ASGs or DDoS protections implemented? </a:t>
            </a:r>
            <a:endParaRPr lang="en-CA" dirty="0"/>
          </a:p>
          <a:p>
            <a:pPr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 Are Azure Front Door, Application Gateway, Load Balancers, or API Management used </a:t>
            </a:r>
          </a:p>
          <a:p>
            <a:pPr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 Is CDN used for content delivery or caching </a:t>
            </a:r>
          </a:p>
          <a:p>
            <a:pPr>
              <a:buFont typeface="Arial" panose="020B0604020202020204" pitchFamily="34" charset="0"/>
              <a:buChar char="•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11062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17CE1-A92A-4B4E-8417-BEA0ECD38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7B0B58-D7DC-5CFF-4641-62BB46C7FF5C}"/>
              </a:ext>
            </a:extLst>
          </p:cNvPr>
          <p:cNvSpPr txBox="1"/>
          <p:nvPr/>
        </p:nvSpPr>
        <p:spPr>
          <a:xfrm>
            <a:off x="483125" y="692026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Identity &amp; Access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E16ACD-14D8-2E2A-903B-E44029152D5C}"/>
              </a:ext>
            </a:extLst>
          </p:cNvPr>
          <p:cNvSpPr txBox="1"/>
          <p:nvPr/>
        </p:nvSpPr>
        <p:spPr>
          <a:xfrm>
            <a:off x="483125" y="1374404"/>
            <a:ext cx="1050442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 How are applications currently integrated with Entra ID, Is On-premises Active Directory used (hybrid identity) if Yes,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AAD Connect / Cloud Sync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Federation Services (ADFS)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 What SSO patterns are implemented for Sitecore, Legacy and AVD</a:t>
            </a:r>
          </a:p>
          <a:p>
            <a:pPr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 Are there Conditional Access policies applied </a:t>
            </a:r>
          </a:p>
          <a:p>
            <a:pPr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 How is Role-based access control (RBAC) configured for Azure resources</a:t>
            </a:r>
          </a:p>
          <a:p>
            <a:pPr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 Are Managed Identities used for applications or services</a:t>
            </a:r>
          </a:p>
          <a:p>
            <a:pPr>
              <a:buNone/>
            </a:pP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776607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08B7F-66FC-6D9E-B8A3-AC5EB1A77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2EDFA3-0064-0F74-A0FF-E3422EE2DC4B}"/>
              </a:ext>
            </a:extLst>
          </p:cNvPr>
          <p:cNvSpPr txBox="1"/>
          <p:nvPr/>
        </p:nvSpPr>
        <p:spPr>
          <a:xfrm>
            <a:off x="501978" y="720306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Sitecore Infrastructure Discovery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BA5907-564D-CDC3-37EE-9DF8ED775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978" y="1570110"/>
            <a:ext cx="11237738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 Is Sitecore deployed as PaaS (XM Cloud) or IaaS (VMs) or App Service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How are the tiers structured for Content Management (CM), Content Delivery (CD), Database (DB), Solr/Search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 Which Storage options are used (SQL managed instance, SQL VMs, Azure storage etc.)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Are Supporting services in use (Redis, CDN, Key Vault, App Services)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How are deployments handled, CI/CD pipelines, containers, ARM/Bicep/Terraform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What internal or external systems does Sitecore Integrate with</a:t>
            </a:r>
          </a:p>
        </p:txBody>
      </p:sp>
    </p:spTree>
    <p:extLst>
      <p:ext uri="{BB962C8B-B14F-4D97-AF65-F5344CB8AC3E}">
        <p14:creationId xmlns:p14="http://schemas.microsoft.com/office/powerpoint/2010/main" val="2358652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807EC-0758-B9F8-A853-9FCC89FBE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F011C0-D100-5AFA-C003-58B56E9DC2BA}"/>
              </a:ext>
            </a:extLst>
          </p:cNvPr>
          <p:cNvSpPr txBox="1"/>
          <p:nvPr/>
        </p:nvSpPr>
        <p:spPr>
          <a:xfrm>
            <a:off x="520832" y="748587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Legacy – Infrastructure Discovery</a:t>
            </a:r>
            <a:endParaRPr lang="en-CA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EF881ED-E5B7-C913-1E57-3C0620BB5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649" y="1684054"/>
            <a:ext cx="1150070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Compute model (VMs, App Services, Containers)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Which OS versions are used and what is the patching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What data storage is used (SQL, PostgreSQL, Cosmos, File shares, etc.)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 What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APIs or Web services does Legacy integrate with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81641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26AEC-39D1-C20A-510A-949DC5012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D043AE-537D-A10B-DF79-9301119F3FC0}"/>
              </a:ext>
            </a:extLst>
          </p:cNvPr>
          <p:cNvSpPr txBox="1"/>
          <p:nvPr/>
        </p:nvSpPr>
        <p:spPr>
          <a:xfrm>
            <a:off x="520832" y="748587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Azure Virtual Desktop (AVD) Discovery</a:t>
            </a:r>
            <a:endParaRPr lang="en-CA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9E9172-CCCA-567F-DC9E-CF98E9A32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831" y="1365170"/>
            <a:ext cx="1177932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Are host pools configured as pooled or personal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If the hos pools is pooled, then How many hosts are deployed and session host per pooled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Where are FSLogix profile storage (Azure Files, NetApp Files)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How are Images managed (Custom images, Shared Image Gallery)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Are there any Scaling rules </a:t>
            </a:r>
            <a:r>
              <a:rPr lang="en-US" altLang="en-US" dirty="0"/>
              <a:t>configured for session hosts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How is AVD accessed, Externally via default Microsoft URL, only through hybrid-joined VMs,  or internally within </a:t>
            </a:r>
            <a:r>
              <a:rPr lang="en-US" altLang="en-US" dirty="0"/>
              <a:t> the corporate network and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what conditional access policies are applied</a:t>
            </a:r>
          </a:p>
        </p:txBody>
      </p:sp>
    </p:spTree>
    <p:extLst>
      <p:ext uri="{BB962C8B-B14F-4D97-AF65-F5344CB8AC3E}">
        <p14:creationId xmlns:p14="http://schemas.microsoft.com/office/powerpoint/2010/main" val="1177018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FA2C4-BFB1-B102-AE9B-80953E04D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E40FFF5-96B5-7A48-239F-3BFF48C3EECB}"/>
              </a:ext>
            </a:extLst>
          </p:cNvPr>
          <p:cNvSpPr txBox="1"/>
          <p:nvPr/>
        </p:nvSpPr>
        <p:spPr>
          <a:xfrm>
            <a:off x="291041" y="698564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Monitoring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6869EA3D-F89D-FEED-61A2-ED78038BE1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41" y="1551603"/>
            <a:ext cx="9397738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Azure Monitor or Application Insights configured for (Sitecore, Legacy, AVD)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How is Log Analytics set up and does it connect to Azure Sentinel or other SIEM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Are VM updates managed through Azure Update Management or another process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What Backup policies are in place (using Azure Backup or any 3</a:t>
            </a:r>
            <a:r>
              <a:rPr kumimoji="0" lang="en-US" altLang="en-US" sz="18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</a:rPr>
              <a:t>rd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party)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What is the Disaster Recovery / BCP strategy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cost monitoring configured </a:t>
            </a:r>
          </a:p>
        </p:txBody>
      </p:sp>
    </p:spTree>
    <p:extLst>
      <p:ext uri="{BB962C8B-B14F-4D97-AF65-F5344CB8AC3E}">
        <p14:creationId xmlns:p14="http://schemas.microsoft.com/office/powerpoint/2010/main" val="1222741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2758</TotalTime>
  <Words>924</Words>
  <Application>Microsoft Office PowerPoint</Application>
  <PresentationFormat>Widescreen</PresentationFormat>
  <Paragraphs>129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Omer Zubair</dc:creator>
  <cp:lastModifiedBy>Omer Zubair</cp:lastModifiedBy>
  <cp:revision>5</cp:revision>
  <dcterms:created xsi:type="dcterms:W3CDTF">2025-11-15T04:57:47Z</dcterms:created>
  <dcterms:modified xsi:type="dcterms:W3CDTF">2025-11-17T05:34:49Z</dcterms:modified>
</cp:coreProperties>
</file>