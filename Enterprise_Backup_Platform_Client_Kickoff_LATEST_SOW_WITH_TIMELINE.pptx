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2" r:id="rId13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ADFDF"/>
                </a:solidFill>
                <a:latin typeface="Aptos"/>
              </a:defRPr>
            </a:pPr>
            <a:r>
              <a:t>ENTERPRISE BACKUP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Client Kickoff — Requirements &amp; Assessment</a:t>
            </a:r>
          </a:p>
          <a:p>
            <a:pPr>
              <a:defRPr sz="1500">
                <a:solidFill>
                  <a:srgbClr val="CED8E5"/>
                </a:solidFill>
                <a:latin typeface="Aptos"/>
              </a:defRPr>
            </a:pPr>
            <a:r>
              <a:t>Third-party backup environment assessment | Cisco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34640"/>
            <a:ext cx="10698480" cy="3063240"/>
          </a:xfrm>
          <a:prstGeom prst="roundRect">
            <a:avLst/>
          </a:prstGeom>
          <a:solidFill>
            <a:srgbClr val="1C3556"/>
          </a:solidFill>
          <a:ln>
            <a:solidFill>
              <a:srgbClr val="36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272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ADFDF"/>
                </a:solidFill>
                <a:latin typeface="Aptos"/>
              </a:defRPr>
            </a:pPr>
            <a:r>
              <a:rPr sz="900" b="1">
                <a:solidFill>
                  <a:srgbClr val="008C8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18104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Kickoff Objective &amp;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429000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FCCDC"/>
                </a:solidFill>
                <a:latin typeface="Aptos"/>
              </a:defRPr>
            </a:pPr>
            <a:r>
              <a:t>What this workstream is intended to achieve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416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ADFDF"/>
                </a:solidFill>
                <a:latin typeface="Aptos"/>
              </a:defRPr>
            </a:pPr>
            <a:r>
              <a:rPr sz="900" b="1">
                <a:solidFill>
                  <a:srgbClr val="008C8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032504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Requirements Definition &amp; Stakeholder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343400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FCCDC"/>
                </a:solidFill>
                <a:latin typeface="Aptos"/>
              </a:defRPr>
            </a:pPr>
            <a:r>
              <a:t>Align requirements across stakeholder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560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ADFDF"/>
                </a:solidFill>
                <a:latin typeface="Aptos"/>
              </a:defRPr>
            </a:pPr>
            <a:r>
              <a:rPr sz="900" b="1">
                <a:solidFill>
                  <a:srgbClr val="008C8C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94690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200" b="1">
                <a:solidFill>
                  <a:srgbClr val="15324B"/>
                </a:solidFill>
                <a:latin typeface="Aptos"/>
              </a:rPr>
              <a:t>Project Timeline &amp; Key Milestones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25780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BFCCDC"/>
                </a:solidFill>
                <a:latin typeface="Aptos"/>
              </a:defRPr>
            </a:pPr>
            <a:r>
              <a:rPr sz="800" b="0">
                <a:solidFill>
                  <a:srgbClr val="5A6B7B"/>
                </a:solidFill>
                <a:latin typeface="Aptos"/>
              </a:rPr>
              <a:t>Definition, alignment and milestone 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272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ADFDF"/>
                </a:solidFill>
                <a:latin typeface="Aptos"/>
              </a:defRPr>
            </a:pPr>
            <a:r>
              <a:rPr sz="900" b="1">
                <a:solidFill>
                  <a:srgbClr val="008C8C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11810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200" b="1">
                <a:solidFill>
                  <a:srgbClr val="15324B"/>
                </a:solidFill>
                <a:latin typeface="Aptos"/>
              </a:rPr>
              <a:t>Draft Sign-off &amp; Requirements Approval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42900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BFCCDC"/>
                </a:solidFill>
                <a:latin typeface="Aptos"/>
              </a:defRPr>
            </a:pPr>
            <a:r>
              <a:rPr sz="800" b="0">
                <a:solidFill>
                  <a:srgbClr val="5A6B7B"/>
                </a:solidFill>
                <a:latin typeface="Aptos"/>
              </a:rPr>
              <a:t>Review, refine and approve the working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416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ADFDF"/>
                </a:solidFill>
                <a:latin typeface="Aptos"/>
              </a:defRPr>
            </a:pPr>
            <a:r>
              <a:rPr sz="900" b="1">
                <a:solidFill>
                  <a:srgbClr val="008C8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03250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200" b="1">
                <a:solidFill>
                  <a:srgbClr val="15324B"/>
                </a:solidFill>
                <a:latin typeface="Aptos"/>
              </a:rPr>
              <a:t>Current-State Assessment &amp; Gap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343400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>
                <a:solidFill>
                  <a:srgbClr val="BFCCDC"/>
                </a:solidFill>
                <a:latin typeface="Aptos"/>
              </a:defRPr>
            </a:pPr>
            <a:r>
              <a:rPr sz="800" b="0">
                <a:solidFill>
                  <a:srgbClr val="5A6B7B"/>
                </a:solidFill>
                <a:latin typeface="Aptos"/>
              </a:rPr>
              <a:t>Assess the current environment and identify material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560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9ADFDF"/>
                </a:solidFill>
                <a:latin typeface="Aptos"/>
              </a:defRPr>
            </a:pPr>
            <a:r>
              <a:rPr sz="900" b="1">
                <a:solidFill>
                  <a:srgbClr val="008C8C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946904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Kickoff Discussion &amp; 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257800"/>
            <a:ext cx="4434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BFCCDC"/>
                </a:solidFill>
                <a:latin typeface="Aptos"/>
              </a:defRPr>
            </a:pPr>
            <a:r>
              <a:t>Confirm inputs, owners, workshops and immediate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743"/>
                </a:solidFill>
                <a:latin typeface="Aptos"/>
              </a:defRPr>
            </a:pPr>
            <a:r>
              <a:t>Kickoff Objective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4183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B7A"/>
                </a:solidFill>
                <a:latin typeface="Aptos"/>
              </a:defRPr>
            </a:pPr>
            <a:r>
              <a:t>Focus the workstream on defining and aligning requirements, then assessing the existing third-party backup 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572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8C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94960" cy="201168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20116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074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Primary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507492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2D3946"/>
                </a:solidFill>
                <a:latin typeface="Aptos"/>
              </a:defRPr>
            </a:pPr>
            <a:r>
              <a:t>Establish a shared, reviewable requirements baseline across stakeholder groups and understand the current third-party backup environment at Cisco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49240" cy="201168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73152" cy="2011680"/>
          </a:xfrm>
          <a:prstGeom prst="rect">
            <a:avLst/>
          </a:prstGeom>
          <a:solidFill>
            <a:srgbClr val="1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Assessment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47672"/>
            <a:ext cx="5029200" cy="1353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2D3946"/>
                </a:solidFill>
                <a:latin typeface="Aptos"/>
              </a:defRPr>
            </a:pPr>
            <a:r>
              <a:t>Identify gaps in existing backup coverage, capabilities, and controls to provide a fact-based view of the current state.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1092708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67912"/>
            <a:ext cx="10469880" cy="1874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D3946"/>
                </a:solidFill>
                <a:latin typeface="Aptos"/>
              </a:defRPr>
            </a:pPr>
            <a:r>
              <a:t>• Requirements definition and alignment across stakeholder groups</a:t>
            </a:r>
          </a:p>
          <a:p>
            <a:pPr>
              <a:spcAft>
                <a:spcPts val="1000"/>
              </a:spcAft>
              <a:defRPr sz="1200">
                <a:solidFill>
                  <a:srgbClr val="2D3946"/>
                </a:solidFill>
                <a:latin typeface="Aptos"/>
              </a:defRPr>
            </a:pPr>
            <a:r>
              <a:t>• Draft requirements preparation for stakeholder sign-off</a:t>
            </a:r>
          </a:p>
          <a:p>
            <a:pPr>
              <a:spcAft>
                <a:spcPts val="1000"/>
              </a:spcAft>
              <a:defRPr sz="1200">
                <a:solidFill>
                  <a:srgbClr val="2D3946"/>
                </a:solidFill>
                <a:latin typeface="Aptos"/>
              </a:defRPr>
            </a:pPr>
            <a:r>
              <a:t>• Requirements review and approval</a:t>
            </a:r>
          </a:p>
          <a:p>
            <a:pPr>
              <a:spcAft>
                <a:spcPts val="1000"/>
              </a:spcAft>
              <a:defRPr sz="1200">
                <a:solidFill>
                  <a:srgbClr val="2D3946"/>
                </a:solidFill>
                <a:latin typeface="Aptos"/>
              </a:defRPr>
            </a:pPr>
            <a:r>
              <a:t>• Current-state assessment of the third-party backup environment at Cisco Systems</a:t>
            </a:r>
          </a:p>
          <a:p>
            <a:pPr>
              <a:spcAft>
                <a:spcPts val="1000"/>
              </a:spcAft>
              <a:defRPr sz="1200">
                <a:solidFill>
                  <a:srgbClr val="2D3946"/>
                </a:solidFill>
                <a:latin typeface="Aptos"/>
              </a:defRPr>
            </a:pPr>
            <a:r>
              <a:t>• Gap analysis across coverage, capabilities, and controls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653796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B7A"/>
                </a:solidFill>
                <a:latin typeface="Aptos"/>
              </a:defRPr>
            </a:pPr>
            <a:r>
              <a:t>Enterprise Backup Platform | Client Kickoff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B7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743"/>
                </a:solidFill>
                <a:latin typeface="Aptos"/>
              </a:defRPr>
            </a:pPr>
            <a:r>
              <a:t>Requirements Definition &amp;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4183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B7A"/>
                </a:solidFill>
                <a:latin typeface="Aptos"/>
              </a:defRPr>
            </a:pPr>
            <a:r>
              <a:t>A structured path from stakeholder input to an approved requirements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572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8C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99032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371600"/>
            <a:ext cx="7086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Capture business, technical, security and operational requirements from the relevant stakeholder groups.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920240"/>
            <a:ext cx="18288" cy="594360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1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151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96312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468880"/>
            <a:ext cx="7086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Reconcile differing priorities, terminology, assumptions and expectations across stakeholder groups.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3017520"/>
            <a:ext cx="18288" cy="594360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D1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1246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93592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Draft Sign-off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566160"/>
            <a:ext cx="7086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Issue a draft requirements baseline for stakeholder review and sign-off.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" y="4114800"/>
            <a:ext cx="18288" cy="594360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709159"/>
            <a:ext cx="502920" cy="502920"/>
          </a:xfrm>
          <a:prstGeom prst="ellipse">
            <a:avLst/>
          </a:prstGeom>
          <a:solidFill>
            <a:srgbClr val="2A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09743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90871"/>
            <a:ext cx="23774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Review &amp;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663439"/>
            <a:ext cx="7086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Incorporate feedback and obtain formal approval of the agreed requirements baseline.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5166360"/>
            <a:ext cx="3657600" cy="713232"/>
          </a:xfrm>
          <a:prstGeom prst="roundRect">
            <a:avLst/>
          </a:prstGeom>
          <a:solidFill>
            <a:srgbClr val="E8F5F0"/>
          </a:solidFill>
          <a:ln>
            <a:solidFill>
              <a:srgbClr val="B9D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533095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A7E5B"/>
                </a:solidFill>
                <a:latin typeface="Aptos"/>
              </a:defRPr>
            </a:pPr>
            <a:r>
              <a:t>Outcome: Approved Requirements Baseline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53796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B7A"/>
                </a:solidFill>
                <a:latin typeface="Aptos"/>
              </a:defRPr>
            </a:pPr>
            <a:r>
              <a:t>Enterprise Backup Platform | Client Kickoff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B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743"/>
                </a:solidFill>
                <a:latin typeface="Aptos"/>
              </a:defRPr>
            </a:pPr>
            <a:r>
              <a:t>Assessment — Current State &amp;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4183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B7A"/>
                </a:solidFill>
                <a:latin typeface="Aptos"/>
              </a:defRPr>
            </a:pPr>
            <a:r>
              <a:t>Assess the existing third-party backup environment at Cisco Systems and identify material gaps.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5720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08C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3977639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3977639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Current-State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3154680" cy="3319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2D3946"/>
                </a:solidFill>
                <a:latin typeface="Aptos"/>
              </a:defRPr>
            </a:pPr>
            <a:r>
              <a:t>Review the existing third-party backup environment to establish the current baseline and understand how backup services are operating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15468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73152" cy="1691640"/>
          </a:xfrm>
          <a:prstGeom prst="rect">
            <a:avLst/>
          </a:prstGeom>
          <a:solidFill>
            <a:srgbClr val="1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544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47672"/>
            <a:ext cx="28346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What workloads, data sets and services are currently protected — and what is not?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417320"/>
            <a:ext cx="315468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417320"/>
            <a:ext cx="73152" cy="16916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55448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947672"/>
            <a:ext cx="28346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What backup, recovery, retention and operational capabilities are available today?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611880"/>
            <a:ext cx="315468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611880"/>
            <a:ext cx="73152" cy="1691640"/>
          </a:xfrm>
          <a:prstGeom prst="rect">
            <a:avLst/>
          </a:prstGeom>
          <a:solidFill>
            <a:srgbClr val="D1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7490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142232"/>
            <a:ext cx="283464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What governance, security, monitoring and operational controls are currently in place?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5440680"/>
            <a:ext cx="69037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5605272"/>
            <a:ext cx="6537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2743"/>
                </a:solidFill>
                <a:latin typeface="Aptos"/>
              </a:defRPr>
            </a:pPr>
            <a:r>
              <a:t>Gap analysis outcome: clear view of current-state gaps, risks and requirement implications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653796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B7A"/>
                </a:solidFill>
                <a:latin typeface="Aptos"/>
              </a:defRPr>
            </a:pPr>
            <a:r>
              <a:t>Enterprise Backup Platform | Client Kickoff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B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5324B"/>
                </a:solidFill>
                <a:latin typeface="Aptos"/>
              </a:rPr>
              <a:t>Project Timeline &amp; Key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418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Aptos"/>
              </a:rPr>
              <a:t>Indicative timeline for Definition, Alignment, Draft Sign-off, and Requirements Review &amp; Approval.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480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8C8C"/>
                </a:solidFill>
                <a:latin typeface="Apto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212848"/>
            <a:ext cx="10241280" cy="3657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865376"/>
            <a:ext cx="530352" cy="530352"/>
          </a:xfrm>
          <a:prstGeom prst="ellipse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984248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560320"/>
            <a:ext cx="1737360" cy="329184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633472"/>
            <a:ext cx="1627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8C8C"/>
                </a:solidFill>
                <a:latin typeface="Aptos"/>
              </a:rPr>
              <a:t>Sep 28 – Oct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723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324B"/>
                </a:solidFill>
                <a:latin typeface="Aptos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465576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36575"/>
                </a:solidFill>
                <a:latin typeface="Aptos"/>
              </a:rPr>
              <a:t>Establish scope, stakeholder groups and detailed requirements inputs.</a:t>
            </a:r>
          </a:p>
        </p:txBody>
      </p:sp>
      <p:sp>
        <p:nvSpPr>
          <p:cNvPr id="14" name="Oval 13"/>
          <p:cNvSpPr/>
          <p:nvPr/>
        </p:nvSpPr>
        <p:spPr>
          <a:xfrm>
            <a:off x="3584448" y="1865376"/>
            <a:ext cx="530352" cy="530352"/>
          </a:xfrm>
          <a:prstGeom prst="ellipse">
            <a:avLst/>
          </a:prstGeom>
          <a:solidFill>
            <a:srgbClr val="1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1" y="1984248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560320"/>
            <a:ext cx="1737360" cy="329184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2633472"/>
            <a:ext cx="1627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5D9E"/>
                </a:solidFill>
                <a:latin typeface="Aptos"/>
              </a:rPr>
              <a:t>Oct 12 – Oct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0723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324B"/>
                </a:solidFill>
                <a:latin typeface="Aptos"/>
              </a:rPr>
              <a:t>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3465576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36575"/>
                </a:solidFill>
                <a:latin typeface="Aptos"/>
              </a:rPr>
              <a:t>Consolidate stakeholder input and align on the working requirements baseline.</a:t>
            </a:r>
          </a:p>
        </p:txBody>
      </p:sp>
      <p:sp>
        <p:nvSpPr>
          <p:cNvPr id="20" name="Oval 19"/>
          <p:cNvSpPr/>
          <p:nvPr/>
        </p:nvSpPr>
        <p:spPr>
          <a:xfrm>
            <a:off x="6455664" y="1865376"/>
            <a:ext cx="530352" cy="530352"/>
          </a:xfrm>
          <a:prstGeom prst="ellipse">
            <a:avLst/>
          </a:prstGeom>
          <a:solidFill>
            <a:srgbClr val="D1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1984248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3" y="2560320"/>
            <a:ext cx="1737360" cy="329184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633472"/>
            <a:ext cx="1627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19123"/>
                </a:solidFill>
                <a:latin typeface="Aptos"/>
              </a:rPr>
              <a:t>Oct 26 – Nov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0723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324B"/>
                </a:solidFill>
                <a:latin typeface="Aptos"/>
              </a:rPr>
              <a:t>Draft Sign-off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465576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36575"/>
                </a:solidFill>
                <a:latin typeface="Aptos"/>
              </a:rPr>
              <a:t>Two-week stakeholder review and draft requirements sign-off.</a:t>
            </a:r>
          </a:p>
        </p:txBody>
      </p:sp>
      <p:sp>
        <p:nvSpPr>
          <p:cNvPr id="26" name="Oval 25"/>
          <p:cNvSpPr/>
          <p:nvPr/>
        </p:nvSpPr>
        <p:spPr>
          <a:xfrm>
            <a:off x="9326880" y="1865376"/>
            <a:ext cx="530352" cy="530352"/>
          </a:xfrm>
          <a:prstGeom prst="ellipse">
            <a:avLst/>
          </a:prstGeom>
          <a:solidFill>
            <a:srgbClr val="2A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6024" y="1984248"/>
            <a:ext cx="5120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560320"/>
            <a:ext cx="1737360" cy="329184"/>
          </a:xfrm>
          <a:prstGeom prst="round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98863" y="2633472"/>
            <a:ext cx="1627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A7E5B"/>
                </a:solidFill>
                <a:latin typeface="Aptos"/>
              </a:rPr>
              <a:t>Nov 09 – Nov 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307238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324B"/>
                </a:solidFill>
                <a:latin typeface="Aptos"/>
              </a:rPr>
              <a:t>Review &amp;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3474720"/>
            <a:ext cx="2240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36575"/>
                </a:solidFill>
                <a:latin typeface="Aptos"/>
              </a:rPr>
              <a:t>Resolve final comments and obtain formal approval of the requirements baseline.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74920"/>
            <a:ext cx="10899648" cy="676656"/>
          </a:xfrm>
          <a:prstGeom prst="round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23036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A7E5B"/>
                </a:solidFill>
                <a:latin typeface="Aptos"/>
              </a:rPr>
              <a:t>KEY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5175504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324B"/>
                </a:solidFill>
                <a:latin typeface="Aptos"/>
              </a:rPr>
              <a:t>Outcome by Nov 13: Approved Requirements Baseline ready to support downstream planning.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65379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8794"/>
                </a:solidFill>
                <a:latin typeface="Aptos"/>
              </a:rPr>
              <a:t>Enterprise Backup Platform | Client Kickoff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79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743"/>
                </a:solidFill>
                <a:latin typeface="Aptos"/>
              </a:defRPr>
            </a:pPr>
            <a:r>
              <a:t>Draft Sign-off &amp; Requirements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4183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B7A"/>
                </a:solidFill>
                <a:latin typeface="Aptos"/>
              </a:defRPr>
            </a:pPr>
            <a:r>
              <a:t>Make the working requirements explicit, reviewable and ready for stakeholder approval.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57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08C8C"/>
                </a:solidFill>
                <a:latin typeface="Aptos"/>
              </a:defRPr>
            </a:pPr>
            <a:r>
              <a:rPr sz="1100" b="1">
                <a:solidFill>
                  <a:srgbClr val="008C8C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12344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2344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Prepare 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31546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Consolidate stakeholder inputs into a single draft requirements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3474720" cy="12344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73152" cy="1234440"/>
          </a:xfrm>
          <a:prstGeom prst="rect">
            <a:avLst/>
          </a:prstGeom>
          <a:solidFill>
            <a:srgbClr val="1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Stakeholder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9272"/>
            <a:ext cx="31546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Walk through the draft, capture comments and resolve open 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3474720" cy="12344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60520"/>
            <a:ext cx="73152" cy="1234440"/>
          </a:xfrm>
          <a:prstGeom prst="rect">
            <a:avLst/>
          </a:prstGeom>
          <a:solidFill>
            <a:srgbClr val="2A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12743"/>
                </a:solidFill>
                <a:latin typeface="Aptos"/>
              </a:defRPr>
            </a:pPr>
            <a:r>
              <a:t>Sign-off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2"/>
            <a:ext cx="315468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2D3946"/>
                </a:solidFill>
                <a:latin typeface="Aptos"/>
              </a:defRPr>
            </a:pPr>
            <a:r>
              <a:t>Confirm the agreed requirements baseline and record approval.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417320"/>
            <a:ext cx="7040880" cy="3977639"/>
          </a:xfrm>
          <a:prstGeom prst="roundRect">
            <a:avLst/>
          </a:prstGeom>
          <a:solidFill>
            <a:srgbClr val="F2F6FA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69164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743"/>
                </a:solidFill>
                <a:latin typeface="Aptos"/>
              </a:defRPr>
            </a:pPr>
            <a:r>
              <a:t>Requirements Review &amp; Approval — What good looks like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2240280"/>
            <a:ext cx="6537960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2404872"/>
            <a:ext cx="608076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2D3946"/>
                </a:solidFill>
                <a:latin typeface="Aptos"/>
              </a:defRPr>
            </a:pPr>
            <a:r>
              <a:t>• Stakeholder groups and decision owners are identified</a:t>
            </a:r>
          </a:p>
          <a:p>
            <a:pPr>
              <a:spcAft>
                <a:spcPts val="1000"/>
              </a:spcAft>
              <a:defRPr sz="1100">
                <a:solidFill>
                  <a:srgbClr val="2D3946"/>
                </a:solidFill>
                <a:latin typeface="Aptos"/>
              </a:defRPr>
            </a:pPr>
            <a:r>
              <a:t>• Open requirements, assumptions and unresolved items are visible</a:t>
            </a:r>
          </a:p>
          <a:p>
            <a:pPr>
              <a:spcAft>
                <a:spcPts val="1000"/>
              </a:spcAft>
              <a:defRPr sz="1100">
                <a:solidFill>
                  <a:srgbClr val="2D3946"/>
                </a:solidFill>
                <a:latin typeface="Aptos"/>
              </a:defRPr>
            </a:pPr>
            <a:r>
              <a:t>• Requirements are traceable to the current-state assessment and identified gaps</a:t>
            </a:r>
          </a:p>
          <a:p>
            <a:pPr>
              <a:spcAft>
                <a:spcPts val="1000"/>
              </a:spcAft>
              <a:defRPr sz="1100">
                <a:solidFill>
                  <a:srgbClr val="2D3946"/>
                </a:solidFill>
                <a:latin typeface="Aptos"/>
              </a:defRPr>
            </a:pPr>
            <a:r>
              <a:t>• Review comments are dispositioned and the final baseline is approved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983480"/>
            <a:ext cx="6400800" cy="658368"/>
          </a:xfrm>
          <a:prstGeom prst="roundRect">
            <a:avLst/>
          </a:prstGeom>
          <a:solidFill>
            <a:srgbClr val="ECF2FB"/>
          </a:solidFill>
          <a:ln>
            <a:solidFill>
              <a:srgbClr val="C0D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5157216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5D9E"/>
                </a:solidFill>
                <a:latin typeface="Aptos"/>
              </a:defRPr>
            </a:pPr>
            <a:r>
              <a:t>Decision point: approve the requirements baseline for downstream planning.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653796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B7A"/>
                </a:solidFill>
                <a:latin typeface="Aptos"/>
              </a:defRPr>
            </a:pPr>
            <a:r>
              <a:t>Enterprise Backup Platform | Client Kickoff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5D6B7A"/>
                </a:solidFill>
                <a:latin typeface="Aptos"/>
              </a:defRPr>
            </a:pPr>
            <a:r>
              <a:rPr sz="800" b="0">
                <a:solidFill>
                  <a:srgbClr val="7A879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743"/>
                </a:solidFill>
                <a:latin typeface="Aptos"/>
              </a:defRPr>
            </a:pPr>
            <a:r>
              <a:t>Kickoff Discussion &amp; Immediate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4183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D6B7A"/>
                </a:solidFill>
                <a:latin typeface="Aptos"/>
              </a:defRPr>
            </a:pPr>
            <a:r>
              <a:t>Use the kickoff to confirm participants, inputs, review cadence and decision ownership.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4572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08C8C"/>
                </a:solidFill>
                <a:latin typeface="Aptos"/>
              </a:defRPr>
            </a:pPr>
            <a:r>
              <a:rPr sz="1100" b="1">
                <a:solidFill>
                  <a:srgbClr val="008C8C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6916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12743"/>
                </a:solidFill>
                <a:latin typeface="Aptos"/>
              </a:defRPr>
            </a:pPr>
            <a:r>
              <a:t>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49377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Confirm the stakeholder groups that need to be represented in requirements definition, review and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525780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73152" cy="1691640"/>
          </a:xfrm>
          <a:prstGeom prst="rect">
            <a:avLst/>
          </a:prstGeom>
          <a:solidFill>
            <a:srgbClr val="1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12743"/>
                </a:solidFill>
                <a:latin typeface="Aptos"/>
              </a:defRPr>
            </a:pPr>
            <a:r>
              <a:t>Inputs &amp;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47672"/>
            <a:ext cx="49377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Confirm available current-state documentation, backup platform information and required access for assessment.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525780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73152" cy="1691640"/>
          </a:xfrm>
          <a:prstGeom prst="rect">
            <a:avLst/>
          </a:prstGeom>
          <a:solidFill>
            <a:srgbClr val="D1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12743"/>
                </a:solidFill>
                <a:latin typeface="Aptos"/>
              </a:defRPr>
            </a:pPr>
            <a:r>
              <a:t>Workshop Cadence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05072"/>
            <a:ext cx="49377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Agree the assessment and requirements workshop sequence, attendees and review checkpoints.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474720"/>
            <a:ext cx="5257800" cy="1691640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474720"/>
            <a:ext cx="73152" cy="1691640"/>
          </a:xfrm>
          <a:prstGeom prst="rect">
            <a:avLst/>
          </a:prstGeom>
          <a:solidFill>
            <a:srgbClr val="2A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12743"/>
                </a:solidFill>
                <a:latin typeface="Aptos"/>
              </a:defRPr>
            </a:pPr>
            <a:r>
              <a:t>Decision Ownership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005072"/>
            <a:ext cx="493776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2D3946"/>
                </a:solidFill>
                <a:latin typeface="Aptos"/>
              </a:defRPr>
            </a:pPr>
            <a:r>
              <a:t>Confirm who reviews, who consolidates feedback and who provides draft sign-off / final approval.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77840"/>
            <a:ext cx="10744200" cy="548640"/>
          </a:xfrm>
          <a:prstGeom prst="roundRect">
            <a:avLst/>
          </a:prstGeom>
          <a:solidFill>
            <a:srgbClr val="11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705856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Kickoff outcome: agreed participants, inputs, workshop plan and approval path for the requirements &amp; assessment workstream.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653796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B7A"/>
                </a:solidFill>
                <a:latin typeface="Aptos"/>
              </a:defRPr>
            </a:pPr>
            <a:r>
              <a:t>Enterprise Backup Platform | Client Kickoff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>
                <a:solidFill>
                  <a:srgbClr val="5D6B7A"/>
                </a:solidFill>
                <a:latin typeface="Aptos"/>
              </a:defRPr>
            </a:pPr>
            <a:r>
              <a:rPr sz="800" b="0">
                <a:solidFill>
                  <a:srgbClr val="7A879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