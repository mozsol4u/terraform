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56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 |  ENTERPRISE BACKUP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473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KICKOFF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Backup Platform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workstream | Current Azure foundation with future multi-cloud expansion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435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Establish an enterprise-grade backup and recovery platform for Azure now, with a design that can extend to AWS without re-architecting the operating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82128" y="1225296"/>
            <a:ext cx="376732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481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573"/>
                </a:solidFill>
              </a:rPr>
              <a:t>REGIONAL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Canada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2912" y="176479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Primary production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9308592" y="2084832"/>
            <a:ext cx="384048" cy="219456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7864"/>
                </a:solidFill>
              </a:rPr>
              <a:t>Canada East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82912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Secondary DR / recovery target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1272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Current state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is the immediate scope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Azure-native backup is currently in place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design now needs enterprise governance, security and recovery standards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52544" y="2852928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3127248"/>
            <a:ext cx="420624" cy="42062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1683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Target state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356616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coverage across IaaS, PaaS and SaaS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policy, retention, monitoring and recovery governance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critical workloads across Canada regions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174736" y="2852928"/>
            <a:ext cx="3474720" cy="2578608"/>
          </a:xfrm>
          <a:prstGeom prst="roundRect">
            <a:avLst>
              <a:gd name="adj" fmla="val 4255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3136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D7F1"/>
                </a:solidFill>
              </a:rPr>
              <a:t>DESIGN PRINCIPLE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39912" y="34655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residency and security first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3991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6EEF8"/>
                </a:solidFill>
              </a:rPr>
              <a:t>Backup data should remain within Canada, with resilient copies and strong ransomware / access controls.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434F28-6582-1D66-C5A4-90730BC24FDB}"/>
              </a:ext>
            </a:extLst>
          </p:cNvPr>
          <p:cNvSpPr/>
          <p:nvPr/>
        </p:nvSpPr>
        <p:spPr>
          <a:xfrm>
            <a:off x="10820401" y="6322200"/>
            <a:ext cx="1315720" cy="493776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Current-to-Target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enterprise platform must protect and how the solution evolves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AF2F8"/>
          </a:solidFill>
          <a:ln w="1397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Azure Workloads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573"/>
                </a:solidFill>
              </a:rPr>
              <a:t>Primary scope 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IaaS: VMs / compute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PaaS: databases / services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SaaS: business data where supported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7980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7864"/>
                </a:solidFill>
              </a:rPr>
              <a:t>Enterprise Backup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573"/>
                </a:solidFill>
              </a:rPr>
              <a:t>Common operating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retention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&amp; access control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/ reporting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orchestration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3126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41732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EEF4EE"/>
          </a:solidFill>
          <a:ln w="13970">
            <a:solidFill>
              <a:srgbClr val="EEF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70078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Canada Recovery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9008" y="20574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573"/>
                </a:solidFill>
              </a:rPr>
              <a:t>Resilience by region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487168"/>
            <a:ext cx="17099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Central — primary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East — secondary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testing / validation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827264" y="2816352"/>
            <a:ext cx="310896" cy="566928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41732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FF4E8"/>
          </a:solidFill>
          <a:ln w="13970">
            <a:solidFill>
              <a:srgbClr val="FFF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007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</a:rPr>
              <a:t>Future AWS Expansion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608" y="205740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573"/>
                </a:solidFill>
              </a:rPr>
              <a:t>Phase 2 capability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2487168"/>
            <a:ext cx="308152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policy &amp; governance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AWS workloads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Canada-only data residency</a:t>
            </a:r>
            <a:endParaRPr lang="en-US" sz="1120" dirty="0"/>
          </a:p>
          <a:p>
            <a:r>
              <a:rPr lang="en-US" sz="11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operational reporting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64240" cy="859536"/>
          </a:xfrm>
          <a:prstGeom prst="roundRect">
            <a:avLst>
              <a:gd name="adj" fmla="val 12766"/>
            </a:avLst>
          </a:prstGeom>
          <a:solidFill>
            <a:srgbClr val="17365D"/>
          </a:solidFill>
          <a:ln w="13970">
            <a:solidFill>
              <a:srgbClr val="17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294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BE8"/>
                </a:solidFill>
              </a:rPr>
              <a:t>Key outcome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5175504"/>
            <a:ext cx="9098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single enterprise backup strategy that meets today’s Azure requirements and can absorb AWS workloads later.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25844-FC79-94BB-5244-6B7C96039AC2}"/>
              </a:ext>
            </a:extLst>
          </p:cNvPr>
          <p:cNvSpPr/>
          <p:nvPr/>
        </p:nvSpPr>
        <p:spPr>
          <a:xfrm>
            <a:off x="10879327" y="6419088"/>
            <a:ext cx="1177205" cy="225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Enterprise Backup Platform — What This Workstream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DCEE"/>
                </a:solidFill>
                <a:latin typeface="Aptos"/>
              </a:rPr>
              <a:t>Assessment + requirements gathering to establish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4688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Our immediate objective is to understand the environment, capture requirements, and align on the solution direction before any design or implementation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00784"/>
            <a:ext cx="3456432" cy="7315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1901952"/>
            <a:ext cx="393192" cy="39319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8D4"/>
                </a:solidFill>
                <a:latin typeface="Aptos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Inventory workloads, existing Azure-native backup, recovery practices, dependencies, gaps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700784"/>
            <a:ext cx="3456432" cy="73152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80559" y="1901952"/>
            <a:ext cx="393192" cy="39319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999"/>
                </a:solidFill>
                <a:latin typeface="Aptos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Establish IaaS / PaaS / SaaS coverage, RPO/RTO, retention, security, residency, operational and recovery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3" y="1700784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64423" y="1700784"/>
            <a:ext cx="345643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65592" y="1901952"/>
            <a:ext cx="393192" cy="393192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5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Aptos"/>
              </a:rPr>
              <a:t>ALIGN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140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Path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752344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77380"/>
                </a:solidFill>
                <a:latin typeface="Aptos"/>
              </a:rPr>
              <a:t>Evaluate solution options, identify changes required to existing workloads, and agree the recommended direction.</a:t>
            </a:r>
          </a:p>
        </p:txBody>
      </p:sp>
      <p:sp>
        <p:nvSpPr>
          <p:cNvPr id="25" name="Chevron 24"/>
          <p:cNvSpPr/>
          <p:nvPr/>
        </p:nvSpPr>
        <p:spPr>
          <a:xfrm>
            <a:off x="4023360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>
            <a:off x="7708392" y="2395728"/>
            <a:ext cx="201168" cy="384048"/>
          </a:xfrm>
          <a:prstGeom prst="chevron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4224528"/>
            <a:ext cx="11000232" cy="8229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40740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CDF6"/>
                </a:solidFill>
                <a:latin typeface="Aptos"/>
              </a:rPr>
              <a:t>SCOPE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4334256"/>
            <a:ext cx="88879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Aptos"/>
              </a:rPr>
              <a:t>Design &amp; implementation are not part of this phase. Once solution alignment is reached, a Change Request (CR) will be executed for the next phase.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135877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B1F3A"/>
                </a:solidFill>
                <a:latin typeface="Aptos"/>
              </a:rPr>
              <a:t>CLIENT INPUTS NEEDED TO KEEP THE ASSESSMENT MOVING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453886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53209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1F2937"/>
                </a:solidFill>
                <a:latin typeface="Aptos"/>
              </a:rPr>
              <a:t>Timely access to relevant environments, tools and documentation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804743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78713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Workload / application inventory and business criticality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6147135"/>
            <a:ext cx="256032" cy="25603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112591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Existing backup, recovery, retention and security standards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2741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B1F3A"/>
                </a:solidFill>
                <a:latin typeface="Aptos"/>
              </a:rPr>
              <a:t>EXPECTED OUTPUTS FROM THIS WORKSTREAM</a:t>
            </a:r>
          </a:p>
        </p:txBody>
      </p:sp>
      <p:sp>
        <p:nvSpPr>
          <p:cNvPr id="38" name="Oval 37"/>
          <p:cNvSpPr/>
          <p:nvPr/>
        </p:nvSpPr>
        <p:spPr>
          <a:xfrm>
            <a:off x="6473952" y="5462353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461676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1F2937"/>
                </a:solidFill>
                <a:latin typeface="Aptos"/>
              </a:rPr>
              <a:t>Agreed assessment findings and current-state gaps</a:t>
            </a:r>
          </a:p>
        </p:txBody>
      </p:sp>
      <p:sp>
        <p:nvSpPr>
          <p:cNvPr id="40" name="Oval 39"/>
          <p:cNvSpPr/>
          <p:nvPr/>
        </p:nvSpPr>
        <p:spPr>
          <a:xfrm>
            <a:off x="6473952" y="5847078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846401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Aptos"/>
              </a:rPr>
              <a:t>Requirements baseline and evaluation criteria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6240270"/>
            <a:ext cx="256032" cy="256032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6231126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1F2937"/>
                </a:solidFill>
                <a:latin typeface="Aptos"/>
              </a:rPr>
              <a:t>Clear recommendation / path forward for the next phase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670255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75720" y="6711696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380"/>
                </a:solidFill>
                <a:latin typeface="Aptos"/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F0E8E4-7BB4-74CF-1E68-D3BD3B705399}"/>
              </a:ext>
            </a:extLst>
          </p:cNvPr>
          <p:cNvSpPr/>
          <p:nvPr/>
        </p:nvSpPr>
        <p:spPr>
          <a:xfrm>
            <a:off x="10932837" y="6371675"/>
            <a:ext cx="1177205" cy="493776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Kickoff Discussion — Proposed Agenda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session to align requirements before platform evaluation / POC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07592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53896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5097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65D"/>
                </a:solidFill>
              </a:rPr>
              <a:t>Business &amp; workload scope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20254" y="147591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573"/>
                </a:solidFill>
              </a:rPr>
              <a:t>Which workloads are in scope now? What is business-critical?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1792" y="2148840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295144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50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23510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65D"/>
                </a:solidFill>
              </a:rPr>
              <a:t>Recovery objectives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2308693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573"/>
                </a:solidFill>
              </a:rPr>
              <a:t>Target RPO / RTO, retention, backup frequency, recovery testing expectations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" y="2990088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136392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1912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3183809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65D"/>
                </a:solidFill>
              </a:rPr>
              <a:t>Security &amp; residency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14147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573"/>
                </a:solidFill>
              </a:rPr>
              <a:t>Canada-only requirement, encryption, access model, immutability / cyber-recovery expectations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1792" y="3831336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97764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032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89888" y="40335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65D"/>
                </a:solidFill>
              </a:rPr>
              <a:t>Platform requirements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03320" y="3974255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573"/>
                </a:solidFill>
              </a:rPr>
              <a:t>IaaS / PaaS / SaaS coverage, Azure today, AWS readiness tomorrow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1792" y="4672584"/>
            <a:ext cx="10789920" cy="676656"/>
          </a:xfrm>
          <a:prstGeom prst="roundRect">
            <a:avLst>
              <a:gd name="adj" fmla="val 16216"/>
            </a:avLst>
          </a:prstGeom>
          <a:solidFill>
            <a:srgbClr val="EDF5EE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818888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873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89888" y="4866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65D"/>
                </a:solidFill>
              </a:rPr>
              <a:t>Evaluation path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4815503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573"/>
                </a:solidFill>
              </a:rPr>
              <a:t>Platform shortlist, POC success criteria, decision timeline, ownership and next steps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58368" y="5623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</a:rPr>
              <a:t>Expected outputs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scope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baseline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7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/ evaluation criteria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06840" y="555955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557784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owners &amp; next steps</a:t>
            </a:r>
            <a:endParaRPr lang="en-US" sz="9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7B32E0-52C8-CE7D-30D8-869D374F26F3}"/>
              </a:ext>
            </a:extLst>
          </p:cNvPr>
          <p:cNvSpPr/>
          <p:nvPr/>
        </p:nvSpPr>
        <p:spPr>
          <a:xfrm>
            <a:off x="10820401" y="6322200"/>
            <a:ext cx="1315720" cy="493776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564</Words>
  <Application>Microsoft Office PowerPoint</Application>
  <PresentationFormat>Widescreen</PresentationFormat>
  <Paragraphs>109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Client Resilience Workstream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Backup Platform – Client Kickoff</dc:title>
  <dc:subject>Enterprise Backup Platform Client Kickoff</dc:subject>
  <dc:creator>OpenAI</dc:creator>
  <cp:lastModifiedBy>Omer Zubair</cp:lastModifiedBy>
  <cp:revision>2</cp:revision>
  <dcterms:created xsi:type="dcterms:W3CDTF">2026-10-04T21:56:20Z</dcterms:created>
  <dcterms:modified xsi:type="dcterms:W3CDTF">2026-10-04T22:34:07Z</dcterms:modified>
</cp:coreProperties>
</file>