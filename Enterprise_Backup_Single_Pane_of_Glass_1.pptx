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f683954-c272-f223-b0f5-eff59696858d}">
          <p14:sldIdLst>
            <p14:sldId id="256"/>
          </p14:sldIdLst>
        </p14:section>
        <p14:section name="Coverage" id="{819ee014-d8a2-3b77-cd16-aeeb0566db2c}">
          <p14:sldIdLst>
            <p14:sldId id="257"/>
            <p14:sldId id="258"/>
          </p14:sldIdLst>
        </p14:section>
        <p14:section name="Outage impact" id="{29e58873-e24b-1693-f1ae-a5277f631bf2}">
          <p14:sldIdLst>
            <p14:sldId id="259"/>
          </p14:sldIdLst>
        </p14:section>
        <p14:section name="Critical services" id="{2e652957-c9b7-e1e2-9113-2d7324b7adb9}">
          <p14:sldIdLst>
            <p14:sldId id="260"/>
          </p14:sldIdLst>
        </p14:section>
        <p14:section name="Closing the gaps" id="{f9fb8e26-a2ee-232c-860d-730d1889b1a2}">
          <p14:sldIdLst>
            <p14:sldId id="261"/>
          </p14:sldIdLst>
        </p14:section>
        <p14:section name="Recovery" id="{ce31402b-cd99-c9f3-35c0-5191df43129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session as a coverage review, not a vendor pitch. Six content slides, about twelve minutes, then discussion. The method: start from what Azure Backup and the Azure platform protect today, test it against three outage types and against the services everything else depends on, and show what a third-party platform adds and what it does not. The recovery sequence is on the last slide, after the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a minute here so everyone has the same picture. Three layers: protect, isolate, recover. Azure Backup is the first layer and it is good at it. Then the four things to say plainly: it is strong for core data; a service showing as not covered by Azure Backup is usually protected by its own built-in backup, by design; its geo-replica is not an isolated copy; and it does not reach identity, code or platform configuration. Those last two are the whole story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right: how each group of workloads is protected today, whether a copy exists in another Canadian location, and what is not captured. Green is Azure Backup; blue is the service’s own backup; amber is protected with conditions; grey is rebuilt from code; red is a gap. Most data is well protected in region. The three numbers at the bottom carry the finding: Azure Backup itself covers five of the twenty-three workload types, nothing today is held outside the production tenant, and six critical services have no customer-controlled backup. Statuses come from the KDD and must be confirmed per subscription.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three columns. A zone outage is absorbed by zone-redundant design: nothing to add. A region outage takes production down; backups replicate to Canada East with GRS vaults, but Cross Region Restore exists only for supported workloads, and restoring VMs needs compute capacity in a region where we currently run nothing. The Azure-wide or Entra ID column is the worst case: the portal, Resource Manager and every Entra sign-in stop, so even backup consoles are inaccessible without break-glass access. Entra ID and GitHub are global services and survive a regional outage, but Entra is itself the single point of dependency. The last row is why the on-premises copy option matters: it is the only copy independent of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 is what Microsoft gives us natively, and it is more than people expect: Entra ID now has a native backup, GitHub and Azure DevOps restore deleted items for a period, locks and policies prevent accidents. Right column is the honest half: every one of these is short-term, held inside the service being recovered, and cannot handle hard deletion or a compromised administrator. Say the dependency chain out loud: platform configuration is rebuilt from code, the code lives in GitHub or Azure DevOps, and both sign in with Entra ID. Protecting identity and code is therefore a precondition for recovering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gap from the previous slides to what Commvault and Rubrik provide. Three things recur: an isolated copy, long-term retention, and for Commvault the automated rebuild of environments through Cloud Rewind. The last column is the honest half: a third-party product does not remove every Azure dependency. Restore targets, Entra ID and the SaaS platforms must be reachable, and rebuilding needs capacity in the recovery region. The on-premises copy in Option A is the one path that is fully independent of Azure. Do not oversell: every capability here is from vendor documentation and is confirmed in the proof of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principle first: recovery runs in dependency order, and every step needs something that exists before the outage. The three cards are those preconditions, each tied to a requirement. Then the sequence: regain control with break-glass accounts that do not depend on Entra ID or the portal; recover identity, because nothing else can be reached without it; rebuild the foundation in the recovery region from Cloud Rewind or IaC, which may mean restoring repositories first; restore data by tier from the isolated copy; validate, cut over and later fail back. Finish on the grey box: the four things that would make this fail are exactly the gaps on slides three to five, and each has a requirement and needs an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430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Title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12188952" cy="566928"/>
          </a:xfrm>
          <a:prstGeom prst="rect">
            <a:avLst/>
          </a:prstGeom>
          <a:solidFill>
            <a:srgbClr val="2E9AC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Title</a:t>
            </a: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i="1" dirty="0">
                <a:solidFill>
                  <a:srgbClr val="7F7F7F"/>
                </a:solidFill>
              </a:defRPr>
            </a:lvl1pPr>
          </a:lstStyle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</a:t>
            </a:r>
            <a:endParaRPr lang="en-US" sz="10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Enterprise Platform Backup</a:t>
            </a:r>
            <a:endParaRPr lang="en-US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2240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9D3E8"/>
                </a:solidFill>
              </a:rPr>
              <a:t>Backup and Recovery Coverage: a Single Pane of Glass</a:t>
            </a:r>
            <a:endParaRPr lang="en-US" sz="2800" dirty="0"/>
          </a:p>
        </p:txBody>
      </p:sp>
      <p:sp>
        <p:nvSpPr>
          <p:cNvPr id="4" name="Programme"/>
          <p:cNvSpPr txBox="1"/>
          <p:nvPr/>
        </p:nvSpPr>
        <p:spPr>
          <a:xfrm>
            <a:off x="731520" y="3017520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Cloud Security, Identity &amp; Resilience Enhancements</a:t>
            </a:r>
            <a:endParaRPr lang="en-US" sz="1800" dirty="0"/>
          </a:p>
        </p:txBody>
      </p:sp>
      <p:sp>
        <p:nvSpPr>
          <p:cNvPr id="5" name="Question box"/>
          <p:cNvSpPr/>
          <p:nvPr/>
        </p:nvSpPr>
        <p:spPr>
          <a:xfrm>
            <a:off x="731520" y="3931920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F4E79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Question text"/>
          <p:cNvSpPr txBox="1"/>
          <p:nvPr/>
        </p:nvSpPr>
        <p:spPr>
          <a:xfrm>
            <a:off x="914400" y="4069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9D3E8"/>
                </a:solidFill>
              </a:rPr>
              <a:t>The question:  </a:t>
            </a:r>
            <a:pPr indent="0" marL="0">
              <a:buNone/>
            </a:pPr>
            <a:r>
              <a:rPr lang="en-US" sz="1700" dirty="0">
                <a:solidFill>
                  <a:srgbClr val="A9D3E8"/>
                </a:solidFill>
              </a:rPr>
              <a:t>if Azure, or a privileged account, fails, can we get the business back? Answered from the current Azure Backup configuration, the services it does not reach (identity, code, platform configuration), and the third-party options assessed in the Key Decision Document.</a:t>
            </a:r>
            <a:endParaRPr lang="en-US" sz="1700" dirty="0"/>
          </a:p>
        </p:txBody>
      </p:sp>
      <p:sp>
        <p:nvSpPr>
          <p:cNvPr id="7" name="Title footnote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9D3E8"/>
                </a:solidFill>
              </a:rPr>
              <a:t>October 2026. Reference documents: Key Decision Document, Enterprise Cloud Workload Backup and Recovery, version 0.6; Enterprise Platform Backup Technical Requirements, version 0.1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enterprise backup coverage is, in one picture</a:t>
            </a:r>
            <a:endParaRPr lang="en-US" sz="24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Three layers, not one product: a protected copy of every workload, an isolated copy that production credentials cannot reach, and a tested way to rebuild and restore. Azure Backup provides the first layer well; the second and third are where the enterprise gaps sit.</a:t>
            </a:r>
            <a:endParaRPr lang="en-US" sz="1400" dirty="0"/>
          </a:p>
        </p:txBody>
      </p:sp>
      <p:sp>
        <p:nvSpPr>
          <p:cNvPr id="4" name="Layer box 1"/>
          <p:cNvSpPr/>
          <p:nvPr/>
        </p:nvSpPr>
        <p:spPr>
          <a:xfrm>
            <a:off x="548640" y="196596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F4E79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Layer heading 1"/>
          <p:cNvSpPr txBox="1"/>
          <p:nvPr/>
        </p:nvSpPr>
        <p:spPr>
          <a:xfrm>
            <a:off x="658368" y="203911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Protect</a:t>
            </a:r>
            <a:endParaRPr lang="en-US" sz="1300" dirty="0"/>
          </a:p>
        </p:txBody>
      </p:sp>
      <p:sp>
        <p:nvSpPr>
          <p:cNvPr id="6" name="Layer text 1"/>
          <p:cNvSpPr txBox="1"/>
          <p:nvPr/>
        </p:nvSpPr>
        <p:spPr>
          <a:xfrm>
            <a:off x="658368" y="2404872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Every workload has a defined protection method: Azure Backup, the service’s own backup, or rebuild from code. Point-in-time copies in Canada Central, zone-redundant.</a:t>
            </a:r>
            <a:endParaRPr lang="en-US" sz="1100" dirty="0"/>
          </a:p>
        </p:txBody>
      </p:sp>
      <p:sp>
        <p:nvSpPr>
          <p:cNvPr id="7" name="Arrow 1"/>
          <p:cNvSpPr/>
          <p:nvPr/>
        </p:nvSpPr>
        <p:spPr>
          <a:xfrm>
            <a:off x="3291840" y="2514600"/>
            <a:ext cx="822960" cy="457200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8" name="Layer box 2"/>
          <p:cNvSpPr/>
          <p:nvPr/>
        </p:nvSpPr>
        <p:spPr>
          <a:xfrm>
            <a:off x="4206240" y="1965960"/>
            <a:ext cx="3017520" cy="1554480"/>
          </a:xfrm>
          <a:prstGeom prst="roundRect">
            <a:avLst>
              <a:gd name="adj" fmla="val 4706"/>
            </a:avLst>
          </a:prstGeom>
          <a:solidFill>
            <a:srgbClr val="007C89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Layer heading 2"/>
          <p:cNvSpPr txBox="1"/>
          <p:nvPr/>
        </p:nvSpPr>
        <p:spPr>
          <a:xfrm>
            <a:off x="4315968" y="203911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Isolate</a:t>
            </a:r>
            <a:endParaRPr lang="en-US" sz="1300" dirty="0"/>
          </a:p>
        </p:txBody>
      </p:sp>
      <p:sp>
        <p:nvSpPr>
          <p:cNvPr id="10" name="Layer text 2"/>
          <p:cNvSpPr txBox="1"/>
          <p:nvPr/>
        </p:nvSpPr>
        <p:spPr>
          <a:xfrm>
            <a:off x="4315968" y="2404872"/>
            <a:ext cx="27980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 second copy in another Canadian location, immutable, administered outside production and primary-backup credentials. Zone redundancy is not this layer.</a:t>
            </a:r>
            <a:endParaRPr lang="en-US" sz="1100" dirty="0"/>
          </a:p>
        </p:txBody>
      </p:sp>
      <p:sp>
        <p:nvSpPr>
          <p:cNvPr id="11" name="Arrow 2"/>
          <p:cNvSpPr/>
          <p:nvPr/>
        </p:nvSpPr>
        <p:spPr>
          <a:xfrm>
            <a:off x="7315200" y="2514600"/>
            <a:ext cx="822960" cy="457200"/>
          </a:xfrm>
          <a:prstGeom prst="rightArrow">
            <a:avLst/>
          </a:prstGeom>
          <a:solidFill>
            <a:srgbClr val="7F7F7F"/>
          </a:solidFill>
          <a:ln/>
        </p:spPr>
      </p:sp>
      <p:sp>
        <p:nvSpPr>
          <p:cNvPr id="12" name="Layer box 3"/>
          <p:cNvSpPr/>
          <p:nvPr/>
        </p:nvSpPr>
        <p:spPr>
          <a:xfrm>
            <a:off x="8229600" y="19659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55AB45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Layer heading 3"/>
          <p:cNvSpPr txBox="1"/>
          <p:nvPr/>
        </p:nvSpPr>
        <p:spPr>
          <a:xfrm>
            <a:off x="8339328" y="203911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Recover</a:t>
            </a:r>
            <a:endParaRPr lang="en-US" sz="1300" dirty="0"/>
          </a:p>
        </p:txBody>
      </p:sp>
      <p:sp>
        <p:nvSpPr>
          <p:cNvPr id="14" name="Layer text 3"/>
          <p:cNvSpPr txBox="1"/>
          <p:nvPr/>
        </p:nvSpPr>
        <p:spPr>
          <a:xfrm>
            <a:off x="8339328" y="2404872"/>
            <a:ext cx="3163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Rebuild the foundation (identity, resource groups, networks, configuration) and restore data in a tested order, into a region with capacity, within business-signed targets.</a:t>
            </a:r>
            <a:endParaRPr lang="en-US" sz="1100" dirty="0"/>
          </a:p>
        </p:txBody>
      </p:sp>
      <p:sp>
        <p:nvSpPr>
          <p:cNvPr id="15" name="Model note"/>
          <p:cNvSpPr txBox="1"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</a:rPr>
              <a:t>Model behind the picture: the 3-2-1-1-0 copy rule in the Requirements (4-3) and the Azure layered protection model described in the KDD (1.1.1).</a:t>
            </a:r>
            <a:endParaRPr lang="en-US" sz="1100" dirty="0"/>
          </a:p>
        </p:txBody>
      </p:sp>
      <p:sp>
        <p:nvSpPr>
          <p:cNvPr id="16" name="Is not heading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What Azure Backup is, and is not</a:t>
            </a:r>
            <a:endParaRPr lang="en-US" sz="1600" dirty="0"/>
          </a:p>
        </p:txBody>
      </p:sp>
      <p:sp>
        <p:nvSpPr>
          <p:cNvPr id="17" name="Isnot card 1"/>
          <p:cNvSpPr/>
          <p:nvPr/>
        </p:nvSpPr>
        <p:spPr>
          <a:xfrm>
            <a:off x="548640" y="4526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Isnot text 1"/>
          <p:cNvSpPr txBox="1"/>
          <p:nvPr/>
        </p:nvSpPr>
        <p:spPr>
          <a:xfrm>
            <a:off x="658368" y="4572000"/>
            <a:ext cx="517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Strong for core Azure data.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VMs with hourly policies, SQL Server on VMs with 15-minute log backups, Azure Files, Blob, PostgreSQL and AKS, fully Canadian-resident and already in production.</a:t>
            </a:r>
            <a:endParaRPr lang="en-US" sz="1050" dirty="0"/>
          </a:p>
        </p:txBody>
      </p:sp>
      <p:sp>
        <p:nvSpPr>
          <p:cNvPr id="19" name="Isnot card 2"/>
          <p:cNvSpPr/>
          <p:nvPr/>
        </p:nvSpPr>
        <p:spPr>
          <a:xfrm>
            <a:off x="6126480" y="45262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Isnot text 2"/>
          <p:cNvSpPr txBox="1"/>
          <p:nvPr/>
        </p:nvSpPr>
        <p:spPr>
          <a:xfrm>
            <a:off x="6236208" y="4572000"/>
            <a:ext cx="517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Not a weakness when a service is “not covered”.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SQL Database, Cosmos DB, Key Vault and Entra ID carry their own built-in backup; Logic Apps and Data Factory are designed to be redeployed from code.</a:t>
            </a:r>
            <a:endParaRPr lang="en-US" sz="1050" dirty="0"/>
          </a:p>
        </p:txBody>
      </p:sp>
      <p:sp>
        <p:nvSpPr>
          <p:cNvPr id="21" name="Isnot card 3"/>
          <p:cNvSpPr/>
          <p:nvPr/>
        </p:nvSpPr>
        <p:spPr>
          <a:xfrm>
            <a:off x="548640" y="5394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Isnot text 3"/>
          <p:cNvSpPr txBox="1"/>
          <p:nvPr/>
        </p:nvSpPr>
        <p:spPr>
          <a:xfrm>
            <a:off x="658368" y="5440680"/>
            <a:ext cx="517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Not an isolated offsite copy.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Its geo-replica in Canada East is administered in the same tenant; immutable vaults and Multi-User Authorization reduce, but do not remove, that dependency.</a:t>
            </a:r>
            <a:endParaRPr lang="en-US" sz="1050" dirty="0"/>
          </a:p>
        </p:txBody>
      </p:sp>
      <p:sp>
        <p:nvSpPr>
          <p:cNvPr id="23" name="Isnot card 4"/>
          <p:cNvSpPr/>
          <p:nvPr/>
        </p:nvSpPr>
        <p:spPr>
          <a:xfrm>
            <a:off x="6126480" y="53949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Isnot text 4"/>
          <p:cNvSpPr txBox="1"/>
          <p:nvPr/>
        </p:nvSpPr>
        <p:spPr>
          <a:xfrm>
            <a:off x="6236208" y="5440680"/>
            <a:ext cx="5175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Not a backup for identity, code or platform configuration.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Entra ID, GitHub, Azure DevOps, resource groups and networks sit outside its scope and need another layer.</a:t>
            </a:r>
            <a:endParaRPr lang="en-US" sz="1050" dirty="0"/>
          </a:p>
        </p:txBody>
      </p:sp>
      <p:sp>
        <p:nvSpPr>
          <p:cNvPr id="25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 1.1.1; Requirements sections 3 and 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protected today, and what is not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2011680"/>
                <a:gridCol w="4480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or 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Offsite copy in Canada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not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and Linux VMs; SQL Server on VMs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GRS replica, if vault is GRS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Region Restore needs a GRS vault set at creation; restore into Canada East depends on capacity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Files; PostgreSQL Flexible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Vaulted tier / geo-backup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vaulted backup ≤ 1 TB, weekly, restores to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sets, managed disks, Oracle on VMs, Blob / ADLS Gen2, AKS volumes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 stay in 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scale sets; disk snapshots in the same subscription; Archive-tier blobs excluded; AKS Azure Disk volumes only; no cross-region restore for blobs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Database / MI, MySQL, Cosmos DB, Key Vault, Log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Geo-backup per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retention of 7–35 days, held in the same tenant; no long-term or isolated copy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Functions, Synapse,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hosting plan and Git integration; run history and logs are not backed 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Apps, Data Factory, AI Foundry; resource groups, VNets, NSGs, DNS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Rebuild (IaC)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undelete; recovery depends on Infrastructure as Code being complete, tested and itself backed 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inside the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backups kept for 7 days; recycle bin 30 days; hard-deleted objects not recoverable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Services; GitHub Enterprise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retention only (28 and 90 days for deleted items); no customer-controlled backup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s heading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The pattern across the estate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48640" y="53949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4305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tat number 1"/>
          <p:cNvSpPr txBox="1"/>
          <p:nvPr/>
        </p:nvSpPr>
        <p:spPr>
          <a:xfrm>
            <a:off x="685800" y="542239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</a:rPr>
              <a:t>5 of 23</a:t>
            </a:r>
            <a:endParaRPr lang="en-US" sz="2400" dirty="0"/>
          </a:p>
        </p:txBody>
      </p:sp>
      <p:sp>
        <p:nvSpPr>
          <p:cNvPr id="7" name="Stat text 1"/>
          <p:cNvSpPr txBox="1"/>
          <p:nvPr/>
        </p:nvSpPr>
        <p:spPr>
          <a:xfrm>
            <a:off x="1874520" y="54223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workload types are protected by Azure Backup itself; 7 more by the service’s own backup; 7 with conditions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4251960" y="53949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4305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tat number 2"/>
          <p:cNvSpPr txBox="1"/>
          <p:nvPr/>
        </p:nvSpPr>
        <p:spPr>
          <a:xfrm>
            <a:off x="4389120" y="542239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</a:rPr>
              <a:t>0</a:t>
            </a:r>
            <a:endParaRPr lang="en-US" sz="2400" dirty="0"/>
          </a:p>
        </p:txBody>
      </p:sp>
      <p:sp>
        <p:nvSpPr>
          <p:cNvPr id="10" name="Stat text 2"/>
          <p:cNvSpPr txBox="1"/>
          <p:nvPr/>
        </p:nvSpPr>
        <p:spPr>
          <a:xfrm>
            <a:off x="5577840" y="54223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copies administered outside the production tenant: every offsite copy today is a same-tenant geo-replica</a:t>
            </a:r>
            <a:endParaRPr lang="en-US" sz="1000" dirty="0"/>
          </a:p>
        </p:txBody>
      </p:sp>
      <p:sp>
        <p:nvSpPr>
          <p:cNvPr id="11" name="Stat card 3"/>
          <p:cNvSpPr/>
          <p:nvPr/>
        </p:nvSpPr>
        <p:spPr>
          <a:xfrm>
            <a:off x="7955280" y="539496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4305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tat number 3"/>
          <p:cNvSpPr txBox="1"/>
          <p:nvPr/>
        </p:nvSpPr>
        <p:spPr>
          <a:xfrm>
            <a:off x="8092440" y="5422392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B429"/>
                </a:solidFill>
              </a:rPr>
              <a:t>6</a:t>
            </a:r>
            <a:endParaRPr lang="en-US" sz="2400" dirty="0"/>
          </a:p>
        </p:txBody>
      </p:sp>
      <p:sp>
        <p:nvSpPr>
          <p:cNvPr id="13" name="Stat text 3"/>
          <p:cNvSpPr txBox="1"/>
          <p:nvPr/>
        </p:nvSpPr>
        <p:spPr>
          <a:xfrm>
            <a:off x="9281160" y="542239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critical services with no customer-controlled backup: Entra ID beyond 7 days, Azure DevOps, GitHub, Logic Apps, Data Factory and platform configuration</a:t>
            </a:r>
            <a:endParaRPr lang="en-US" sz="1000" dirty="0"/>
          </a:p>
        </p:txBody>
      </p:sp>
      <p:sp>
        <p:nvSpPr>
          <p:cNvPr id="14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 1.1.1 and 1.1.2 (23 workload types assessed). Statuses to be confirmed per subscription in discovery.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stops working in an Azure outage, by outage type</a:t>
            </a:r>
            <a:endParaRPr lang="en-US" sz="24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04040"/>
                </a:solidFill>
              </a:rPr>
              <a:t>Three outage types, from the one we are designed for to the one we are not. Statuses assume current configuration (zone-redundant production, GRS vaults where enabled) and must be confirmed per service.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286000"/>
                <a:gridCol w="301752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outage, Canada Central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outage, Canada Central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Azure-wide or Entra ID outage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VMs, AKS, PaaS applications and databases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(zone-redundant)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Unavailable until restored or failed 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/ ADLS, Azure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if RA-GRS; otherwise 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Backup vaults and recovery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GRS replica in Canada East; Cross Region Restore for supported workloads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and restore APIs 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PaaS backups (SQL, Cosmos DB, PostgreSQL); Key Vault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Geo-restore or read-only from paired 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Entra ID (sign-in, Conditional Access)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that signs in with Entra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Services; GitHub Enterprise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depends on hosting region; GitHub independent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SSO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consoles: Azure Backup Center; third-party SaaS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console needs Resource Manager; SaaS consoles independent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Unless break-glass sign-in exists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3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On-premises data centres and existing Commvault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of Azure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D0"/>
                    </a:solidFill>
                  </a:tcPr>
                </a:tc>
              </a:tr>
            </a:tbl>
          </a:graphicData>
        </a:graphic>
      </p:graphicFrame>
      <p:sp>
        <p:nvSpPr>
          <p:cNvPr id="5" name="Verdict box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Verdict text"/>
          <p:cNvSpPr txBox="1"/>
          <p:nvPr/>
        </p:nvSpPr>
        <p:spPr>
          <a:xfrm>
            <a:off x="685800" y="57607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Against the requirements: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backups that live only in Azure share Azure’s failure modes (Requirements 4-6, 4-7). A region outage leaves recovery dependent on Canada East capacity where nothing runs today; an Entra ID outage blocks every console that uses Entra sign-in. Recovery needs an isolated copy, a tested recovery region and break-glass access.</a:t>
            </a:r>
            <a:endParaRPr lang="en-US" sz="1050" dirty="0"/>
          </a:p>
        </p:txBody>
      </p:sp>
      <p:sp>
        <p:nvSpPr>
          <p:cNvPr id="7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sections 1.1.2, 1.1.3 and 2.2.4; Requirements section 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services everything else depends on, and how they are protected today</a:t>
            </a:r>
            <a:endParaRPr lang="en-US" sz="2400" dirty="0"/>
          </a:p>
        </p:txBody>
      </p:sp>
      <p:sp>
        <p:nvSpPr>
          <p:cNvPr id="3" name="Left heading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What exists natively</a:t>
            </a:r>
            <a:endParaRPr lang="en-US" sz="1600" dirty="0"/>
          </a:p>
        </p:txBody>
      </p:sp>
      <p:sp>
        <p:nvSpPr>
          <p:cNvPr id="4" name="Right heading"/>
          <p:cNvSpPr txBox="1"/>
          <p:nvPr/>
        </p:nvSpPr>
        <p:spPr>
          <a:xfrm>
            <a:off x="6263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Where the gap is</a:t>
            </a:r>
            <a:endParaRPr lang="en-US" sz="1600" dirty="0"/>
          </a:p>
        </p:txBody>
      </p:sp>
      <p:sp>
        <p:nvSpPr>
          <p:cNvPr id="5" name="Native 1 card"/>
          <p:cNvSpPr/>
          <p:nvPr/>
        </p:nvSpPr>
        <p:spPr>
          <a:xfrm>
            <a:off x="548640" y="16002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Native 1 stripe"/>
          <p:cNvSpPr/>
          <p:nvPr/>
        </p:nvSpPr>
        <p:spPr>
          <a:xfrm>
            <a:off x="548640" y="1600200"/>
            <a:ext cx="109728" cy="82296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7" name="Native 1 text"/>
          <p:cNvSpPr txBox="1"/>
          <p:nvPr/>
        </p:nvSpPr>
        <p:spPr>
          <a:xfrm>
            <a:off x="749808" y="16276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Microsoft Entra ID.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Recycle bin restores soft-deleted users, groups, apps and service principals for 30 days. Entra Backup and Recovery (GA June 2026) takes daily, tamper-proof backups of core objects, kept 7 days, at no charge with P1/P2.</a:t>
            </a:r>
            <a:endParaRPr lang="en-US" sz="1050" dirty="0"/>
          </a:p>
        </p:txBody>
      </p:sp>
      <p:sp>
        <p:nvSpPr>
          <p:cNvPr id="8" name="Gap 1 card"/>
          <p:cNvSpPr/>
          <p:nvPr/>
        </p:nvSpPr>
        <p:spPr>
          <a:xfrm>
            <a:off x="6263640" y="16002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Gap 1 stripe"/>
          <p:cNvSpPr/>
          <p:nvPr/>
        </p:nvSpPr>
        <p:spPr>
          <a:xfrm>
            <a:off x="6263640" y="1600200"/>
            <a:ext cx="109728" cy="8229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0" name="Gap 1 text"/>
          <p:cNvSpPr txBox="1"/>
          <p:nvPr/>
        </p:nvSpPr>
        <p:spPr>
          <a:xfrm>
            <a:off x="6464808" y="16276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Microsoft Entra ID.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Hard-deleted objects cannot be recovered; nothing beyond 7 days; backups held inside the same service we would be recovering. A compromised Global Administrator is outside the design.</a:t>
            </a:r>
            <a:endParaRPr lang="en-US" sz="1050" dirty="0"/>
          </a:p>
        </p:txBody>
      </p:sp>
      <p:sp>
        <p:nvSpPr>
          <p:cNvPr id="11" name="Native 2 card"/>
          <p:cNvSpPr/>
          <p:nvPr/>
        </p:nvSpPr>
        <p:spPr>
          <a:xfrm>
            <a:off x="548640" y="2514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Native 2 stripe"/>
          <p:cNvSpPr/>
          <p:nvPr/>
        </p:nvSpPr>
        <p:spPr>
          <a:xfrm>
            <a:off x="548640" y="2514600"/>
            <a:ext cx="109728" cy="82296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13" name="Native 2 text"/>
          <p:cNvSpPr txBox="1"/>
          <p:nvPr/>
        </p:nvSpPr>
        <p:spPr>
          <a:xfrm>
            <a:off x="749808" y="25420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GitHub Enterprise Cloud.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Deleted repositories can be restored for 90 days by an organisation owner. GitHub is a global service, independent of any Azure region.</a:t>
            </a:r>
            <a:endParaRPr lang="en-US" sz="1050" dirty="0"/>
          </a:p>
        </p:txBody>
      </p:sp>
      <p:sp>
        <p:nvSpPr>
          <p:cNvPr id="14" name="Gap 2 card"/>
          <p:cNvSpPr/>
          <p:nvPr/>
        </p:nvSpPr>
        <p:spPr>
          <a:xfrm>
            <a:off x="6263640" y="25146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Gap 2 stripe"/>
          <p:cNvSpPr/>
          <p:nvPr/>
        </p:nvSpPr>
        <p:spPr>
          <a:xfrm>
            <a:off x="6263640" y="2514600"/>
            <a:ext cx="109728" cy="8229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6" name="Gap 2 text"/>
          <p:cNvSpPr txBox="1"/>
          <p:nvPr/>
        </p:nvSpPr>
        <p:spPr>
          <a:xfrm>
            <a:off x="6464808" y="25420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GitHub Enterprise Cloud.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No customer-controlled or point-in-time backup; issues, pull requests, Actions workflows and permissions are not restored. Source code and Infrastructure as Code live here.</a:t>
            </a:r>
            <a:endParaRPr lang="en-US" sz="1050" dirty="0"/>
          </a:p>
        </p:txBody>
      </p:sp>
      <p:sp>
        <p:nvSpPr>
          <p:cNvPr id="17" name="Native 3 card"/>
          <p:cNvSpPr/>
          <p:nvPr/>
        </p:nvSpPr>
        <p:spPr>
          <a:xfrm>
            <a:off x="548640" y="34290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Native 3 stripe"/>
          <p:cNvSpPr/>
          <p:nvPr/>
        </p:nvSpPr>
        <p:spPr>
          <a:xfrm>
            <a:off x="548640" y="3429000"/>
            <a:ext cx="109728" cy="82296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19" name="Native 3 text"/>
          <p:cNvSpPr txBox="1"/>
          <p:nvPr/>
        </p:nvSpPr>
        <p:spPr>
          <a:xfrm>
            <a:off x="749808" y="34564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Azure DevOps Services.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Deleted projects can be restored for 28 days; the service is Microsoft-managed and resilient within its hosting region.</a:t>
            </a:r>
            <a:endParaRPr lang="en-US" sz="1050" dirty="0"/>
          </a:p>
        </p:txBody>
      </p:sp>
      <p:sp>
        <p:nvSpPr>
          <p:cNvPr id="20" name="Gap 3 card"/>
          <p:cNvSpPr/>
          <p:nvPr/>
        </p:nvSpPr>
        <p:spPr>
          <a:xfrm>
            <a:off x="6263640" y="34290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Gap 3 stripe"/>
          <p:cNvSpPr/>
          <p:nvPr/>
        </p:nvSpPr>
        <p:spPr>
          <a:xfrm>
            <a:off x="6263640" y="3429000"/>
            <a:ext cx="109728" cy="8229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2" name="Gap 3 text"/>
          <p:cNvSpPr txBox="1"/>
          <p:nvPr/>
        </p:nvSpPr>
        <p:spPr>
          <a:xfrm>
            <a:off x="6464808" y="34564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Azure DevOps Services.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Repositories, pipelines, work items and wikis have no customer-controlled backup; nothing beyond 28 days. The pipelines needed to rebuild environments are here.</a:t>
            </a:r>
            <a:endParaRPr lang="en-US" sz="1050" dirty="0"/>
          </a:p>
        </p:txBody>
      </p:sp>
      <p:sp>
        <p:nvSpPr>
          <p:cNvPr id="23" name="Native 4 card"/>
          <p:cNvSpPr/>
          <p:nvPr/>
        </p:nvSpPr>
        <p:spPr>
          <a:xfrm>
            <a:off x="548640" y="43434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Native 4 stripe"/>
          <p:cNvSpPr/>
          <p:nvPr/>
        </p:nvSpPr>
        <p:spPr>
          <a:xfrm>
            <a:off x="548640" y="4343400"/>
            <a:ext cx="109728" cy="82296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25" name="Native 4 text"/>
          <p:cNvSpPr txBox="1"/>
          <p:nvPr/>
        </p:nvSpPr>
        <p:spPr>
          <a:xfrm>
            <a:off x="749808" y="43708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Platform configuration.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Resource locks and Azure Policy prevent accidental deletion of resource groups and networks; Key Vault has soft delete and purge protection.</a:t>
            </a:r>
            <a:endParaRPr lang="en-US" sz="1050" dirty="0"/>
          </a:p>
        </p:txBody>
      </p:sp>
      <p:sp>
        <p:nvSpPr>
          <p:cNvPr id="26" name="Gap 4 card"/>
          <p:cNvSpPr/>
          <p:nvPr/>
        </p:nvSpPr>
        <p:spPr>
          <a:xfrm>
            <a:off x="6263640" y="43434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Gap 4 stripe"/>
          <p:cNvSpPr/>
          <p:nvPr/>
        </p:nvSpPr>
        <p:spPr>
          <a:xfrm>
            <a:off x="6263640" y="4343400"/>
            <a:ext cx="109728" cy="8229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8" name="Gap 4 text"/>
          <p:cNvSpPr txBox="1"/>
          <p:nvPr/>
        </p:nvSpPr>
        <p:spPr>
          <a:xfrm>
            <a:off x="6464808" y="43708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Platform configuration.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No undelete for resource groups or networks; recovery depends on IaC being complete, tested and recoverable from the DevOps platform above.</a:t>
            </a:r>
            <a:endParaRPr lang="en-US" sz="1050" dirty="0"/>
          </a:p>
        </p:txBody>
      </p:sp>
      <p:sp>
        <p:nvSpPr>
          <p:cNvPr id="29" name="Native 5 card"/>
          <p:cNvSpPr/>
          <p:nvPr/>
        </p:nvSpPr>
        <p:spPr>
          <a:xfrm>
            <a:off x="548640" y="52578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Native 5 stripe"/>
          <p:cNvSpPr/>
          <p:nvPr/>
        </p:nvSpPr>
        <p:spPr>
          <a:xfrm>
            <a:off x="548640" y="5257800"/>
            <a:ext cx="109728" cy="822960"/>
          </a:xfrm>
          <a:prstGeom prst="rect">
            <a:avLst/>
          </a:prstGeom>
          <a:solidFill>
            <a:srgbClr val="55AB45"/>
          </a:solidFill>
          <a:ln/>
        </p:spPr>
      </p:sp>
      <p:sp>
        <p:nvSpPr>
          <p:cNvPr id="31" name="Native 5 text"/>
          <p:cNvSpPr txBox="1"/>
          <p:nvPr/>
        </p:nvSpPr>
        <p:spPr>
          <a:xfrm>
            <a:off x="749808" y="52852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PaaS databases.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SQL Database, Managed Instance, PostgreSQL, MySQL and Cosmos DB carry built-in point-in-time restore of 7 to 35 days, with geo-backup options.</a:t>
            </a:r>
            <a:endParaRPr lang="en-US" sz="1050" dirty="0"/>
          </a:p>
        </p:txBody>
      </p:sp>
      <p:sp>
        <p:nvSpPr>
          <p:cNvPr id="32" name="Gap 5 card"/>
          <p:cNvSpPr/>
          <p:nvPr/>
        </p:nvSpPr>
        <p:spPr>
          <a:xfrm>
            <a:off x="6263640" y="5257800"/>
            <a:ext cx="5394960" cy="82296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3" name="Gap 5 stripe"/>
          <p:cNvSpPr/>
          <p:nvPr/>
        </p:nvSpPr>
        <p:spPr>
          <a:xfrm>
            <a:off x="6263640" y="5257800"/>
            <a:ext cx="109728" cy="822960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34" name="Gap 5 text"/>
          <p:cNvSpPr txBox="1"/>
          <p:nvPr/>
        </p:nvSpPr>
        <p:spPr>
          <a:xfrm>
            <a:off x="6464808" y="5285232"/>
            <a:ext cx="5084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PaaS databases.  </a:t>
            </a:r>
            <a:pPr indent="0" marL="0">
              <a:buNone/>
            </a:pPr>
            <a:r>
              <a:rPr lang="en-US" sz="1050" dirty="0">
                <a:solidFill>
                  <a:srgbClr val="1F4E79"/>
                </a:solidFill>
              </a:rPr>
              <a:t>Short retention, held in the production tenant; long-term records retention and an isolated copy need another layer.</a:t>
            </a:r>
            <a:endParaRPr lang="en-US" sz="1050" dirty="0"/>
          </a:p>
        </p:txBody>
      </p:sp>
      <p:sp>
        <p:nvSpPr>
          <p:cNvPr id="35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sections 2.2.6 and 2.2.7; Requirements section 6. Vendor and Microsoft statements verified October 2026.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a third-party platform closes the gaps, and what it does not change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2926080"/>
                <a:gridCol w="23774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Commvault (KDD Option 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Rubrik (KDD Option 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still depends on Azure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Offsite copy administered in the same tenant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AirGap Protect copy in a vendor-managed tenant (Canada Central or Canada East); optional further copy to on-premises data centres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Rubrik Cloud Vault in a Rubrik-managed tenant (Toronto or Quebec City)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vaults are still Azure-hosted storage; only the on-premises copy is independent of Azure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rebuild of resource groups, networks and PaaS configuration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Rewind discovers and rebuilds resource groups, VNets, compute and PaaS configuration, then restores data (same region and resource group for selected resources)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provided; rebuild from Infrastructure as Code in Git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rebuild region must have compute capacity; Resource Manager must be reachable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ID: 7-day retention, no hard-delete recovery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backups of users, groups, roles, applications and Conditional Access held outside the tenant; compare and revert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Recovery: immutable backups in a Rubrik-managed tenant; orchestrated hybrid Active Directory and Entra recovery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itself must be available to restore into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and Azure DevOps: native retention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Repositories, pull requests, pipelines, work items and feeds; GitHub issues and Actions through scheduled exports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DevOps protection generally available since December 2025; GitHub announced March 2026, scope to confirm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SaaS platform must be reachable to restore into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PaaS databases: short native retention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copies for SQL, PostgreSQL, MySQL and Cosmos DB alongside native PITR (validate per service)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Database and Managed Instance supported; others to validate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PITR remains the fastest short-term path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consoles per service; AWS would add another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console across on-premises, Microsoft 365, Azure and AWS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console for cloud and AWS; Commvault remains for on-premises and Microsoft 365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control-plane residency to resolve (Commvault lists East US 2 for Canadian regions)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Gap verdict box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Gap verdict text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The common thread:  </a:t>
            </a:r>
            <a:pPr indent="0" marL="0">
              <a:buNone/>
            </a:pPr>
            <a:r>
              <a:rPr lang="en-US" sz="1000" dirty="0">
                <a:solidFill>
                  <a:srgbClr val="1F4E79"/>
                </a:solidFill>
              </a:rPr>
              <a:t>isolation (a copy production credentials cannot reach), long-term retention for identity, code and PaaS, and, with Commvault, automated rebuild of environments. Neither platform removes the need for Entra ID, a reachable control plane and capacity in the recovery region.</a:t>
            </a:r>
            <a:endParaRPr lang="en-US" sz="1000" dirty="0"/>
          </a:p>
        </p:txBody>
      </p:sp>
      <p:sp>
        <p:nvSpPr>
          <p:cNvPr id="6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sections 2.1, 2.2.5 to 2.2.7 and 2.6. Capabilities from vendor documentation; to be confirmed in the proof of concept.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1148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Getting the business back after a major Azure outage</a:t>
            </a:r>
            <a:endParaRPr lang="en-US" sz="2400" dirty="0"/>
          </a:p>
        </p:txBody>
      </p:sp>
      <p:sp>
        <p:nvSpPr>
          <p:cNvPr id="3" name="Principle box"/>
          <p:cNvSpPr/>
          <p:nvPr/>
        </p:nvSpPr>
        <p:spPr>
          <a:xfrm>
            <a:off x="548640" y="11887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4305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Principle text"/>
          <p:cNvSpPr txBox="1"/>
          <p:nvPr/>
        </p:nvSpPr>
        <p:spPr>
          <a:xfrm>
            <a:off x="731520" y="1335024"/>
            <a:ext cx="10698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Recover in dependency order: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control, then identity, then the platform foundation, then data, then validation. Each step depends on the one before it, and each needs something that must exist before the outage.</a:t>
            </a:r>
            <a:endParaRPr lang="en-US" sz="1700" dirty="0"/>
          </a:p>
        </p:txBody>
      </p:sp>
      <p:sp>
        <p:nvSpPr>
          <p:cNvPr id="5" name="Precondition card 1"/>
          <p:cNvSpPr/>
          <p:nvPr/>
        </p:nvSpPr>
        <p:spPr>
          <a:xfrm>
            <a:off x="54864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Precondition heading 1"/>
          <p:cNvSpPr txBox="1"/>
          <p:nvPr/>
        </p:nvSpPr>
        <p:spPr>
          <a:xfrm>
            <a:off x="68580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An isolated copy</a:t>
            </a:r>
            <a:endParaRPr lang="en-US" sz="1350" dirty="0"/>
          </a:p>
        </p:txBody>
      </p:sp>
      <p:sp>
        <p:nvSpPr>
          <p:cNvPr id="7" name="Precondition text 1"/>
          <p:cNvSpPr txBox="1"/>
          <p:nvPr/>
        </p:nvSpPr>
        <p:spPr>
          <a:xfrm>
            <a:off x="685800" y="2606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Immutable backups in a second Canadian location, or on-premises, administered outside production and primary-backup credentials (Requirements 4-5, 4-6).</a:t>
            </a:r>
            <a:endParaRPr lang="en-US" sz="1050" dirty="0"/>
          </a:p>
        </p:txBody>
      </p:sp>
      <p:sp>
        <p:nvSpPr>
          <p:cNvPr id="8" name="Precondition card 2"/>
          <p:cNvSpPr/>
          <p:nvPr/>
        </p:nvSpPr>
        <p:spPr>
          <a:xfrm>
            <a:off x="425196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Precondition heading 2"/>
          <p:cNvSpPr txBox="1"/>
          <p:nvPr/>
        </p:nvSpPr>
        <p:spPr>
          <a:xfrm>
            <a:off x="438912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A recovery region plan</a:t>
            </a:r>
            <a:endParaRPr lang="en-US" sz="1350" dirty="0"/>
          </a:p>
        </p:txBody>
      </p:sp>
      <p:sp>
        <p:nvSpPr>
          <p:cNvPr id="10" name="Precondition text 2"/>
          <p:cNvSpPr txBox="1"/>
          <p:nvPr/>
        </p:nvSpPr>
        <p:spPr>
          <a:xfrm>
            <a:off x="4389120" y="2606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Compute capacity in Canada East, or an alternate subscription in Canada Central, tested at least annually; break-glass identities that do not depend on Entra ID (4-7, 7-3).</a:t>
            </a:r>
            <a:endParaRPr lang="en-US" sz="1050" dirty="0"/>
          </a:p>
        </p:txBody>
      </p:sp>
      <p:sp>
        <p:nvSpPr>
          <p:cNvPr id="11" name="Precondition card 3"/>
          <p:cNvSpPr/>
          <p:nvPr/>
        </p:nvSpPr>
        <p:spPr>
          <a:xfrm>
            <a:off x="795528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Precondition heading 3"/>
          <p:cNvSpPr txBox="1"/>
          <p:nvPr/>
        </p:nvSpPr>
        <p:spPr>
          <a:xfrm>
            <a:off x="8092440" y="22402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E79"/>
                </a:solidFill>
              </a:rPr>
              <a:t>Code and identity recoverable</a:t>
            </a:r>
            <a:endParaRPr lang="en-US" sz="1350" dirty="0"/>
          </a:p>
        </p:txBody>
      </p:sp>
      <p:sp>
        <p:nvSpPr>
          <p:cNvPr id="13" name="Precondition text 3"/>
          <p:cNvSpPr txBox="1"/>
          <p:nvPr/>
        </p:nvSpPr>
        <p:spPr>
          <a:xfrm>
            <a:off x="8092440" y="260604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04040"/>
                </a:solidFill>
              </a:rPr>
              <a:t>Infrastructure as Code for critical environments, with the repositories and Entra ID themselves backed up, so the foundation can be rebuilt (5-9, 6-1 to 6-7).</a:t>
            </a:r>
            <a:endParaRPr lang="en-US" sz="1050" dirty="0"/>
          </a:p>
        </p:txBody>
      </p:sp>
      <p:sp>
        <p:nvSpPr>
          <p:cNvPr id="14" name="Sequence heading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The recovery sequence: indicative timings; business-signed RPO and RTO per tier set the targets</a:t>
            </a:r>
            <a:endParaRPr lang="en-US" sz="1400" dirty="0"/>
          </a:p>
        </p:txBody>
      </p:sp>
      <p:sp>
        <p:nvSpPr>
          <p:cNvPr id="15" name="Step shape 0"/>
          <p:cNvSpPr/>
          <p:nvPr/>
        </p:nvSpPr>
        <p:spPr>
          <a:xfrm>
            <a:off x="548640" y="4069080"/>
            <a:ext cx="2286000" cy="502920"/>
          </a:xfrm>
          <a:prstGeom prst="homePlate">
            <a:avLst/>
          </a:prstGeom>
          <a:solidFill>
            <a:srgbClr val="1F4E79"/>
          </a:solidFill>
          <a:ln/>
        </p:spPr>
      </p:sp>
      <p:sp>
        <p:nvSpPr>
          <p:cNvPr id="16" name="Step label 0"/>
          <p:cNvSpPr txBox="1"/>
          <p:nvPr/>
        </p:nvSpPr>
        <p:spPr>
          <a:xfrm>
            <a:off x="89611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  Regain control</a:t>
            </a:r>
            <a:endParaRPr lang="en-US" sz="1100" dirty="0"/>
          </a:p>
        </p:txBody>
      </p:sp>
      <p:sp>
        <p:nvSpPr>
          <p:cNvPr id="17" name="Step text 0"/>
          <p:cNvSpPr txBox="1"/>
          <p:nvPr/>
        </p:nvSpPr>
        <p:spPr>
          <a:xfrm>
            <a:off x="59436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Break-glass accounts reach the backup consoles and recovery subscription; confirm the last clean recovery point. Minutes to hours.</a:t>
            </a:r>
            <a:endParaRPr lang="en-US" sz="950" dirty="0"/>
          </a:p>
        </p:txBody>
      </p:sp>
      <p:sp>
        <p:nvSpPr>
          <p:cNvPr id="18" name="Step shape 1"/>
          <p:cNvSpPr/>
          <p:nvPr/>
        </p:nvSpPr>
        <p:spPr>
          <a:xfrm>
            <a:off x="2788920" y="4069080"/>
            <a:ext cx="2286000" cy="502920"/>
          </a:xfrm>
          <a:prstGeom prst="chevron">
            <a:avLst/>
          </a:prstGeom>
          <a:solidFill>
            <a:srgbClr val="007C89"/>
          </a:solidFill>
          <a:ln/>
        </p:spPr>
      </p:sp>
      <p:sp>
        <p:nvSpPr>
          <p:cNvPr id="19" name="Step label 1"/>
          <p:cNvSpPr txBox="1"/>
          <p:nvPr/>
        </p:nvSpPr>
        <p:spPr>
          <a:xfrm>
            <a:off x="313639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Recover identity</a:t>
            </a:r>
            <a:endParaRPr lang="en-US" sz="1100" dirty="0"/>
          </a:p>
        </p:txBody>
      </p:sp>
      <p:sp>
        <p:nvSpPr>
          <p:cNvPr id="20" name="Step text 1"/>
          <p:cNvSpPr txBox="1"/>
          <p:nvPr/>
        </p:nvSpPr>
        <p:spPr>
          <a:xfrm>
            <a:off x="283464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Restore Entra ID users, groups, apps and Conditional Access if damaged; hybrid users via on-premises AD first. Hours.</a:t>
            </a:r>
            <a:endParaRPr lang="en-US" sz="950" dirty="0"/>
          </a:p>
        </p:txBody>
      </p:sp>
      <p:sp>
        <p:nvSpPr>
          <p:cNvPr id="21" name="Step shape 2"/>
          <p:cNvSpPr/>
          <p:nvPr/>
        </p:nvSpPr>
        <p:spPr>
          <a:xfrm>
            <a:off x="5029200" y="4069080"/>
            <a:ext cx="2286000" cy="502920"/>
          </a:xfrm>
          <a:prstGeom prst="chevron">
            <a:avLst/>
          </a:prstGeom>
          <a:solidFill>
            <a:srgbClr val="007C89"/>
          </a:solidFill>
          <a:ln/>
        </p:spPr>
      </p:sp>
      <p:sp>
        <p:nvSpPr>
          <p:cNvPr id="22" name="Step label 2"/>
          <p:cNvSpPr txBox="1"/>
          <p:nvPr/>
        </p:nvSpPr>
        <p:spPr>
          <a:xfrm>
            <a:off x="537667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Rebuild the foundation</a:t>
            </a:r>
            <a:endParaRPr lang="en-US" sz="1100" dirty="0"/>
          </a:p>
        </p:txBody>
      </p:sp>
      <p:sp>
        <p:nvSpPr>
          <p:cNvPr id="23" name="Step text 2"/>
          <p:cNvSpPr txBox="1"/>
          <p:nvPr/>
        </p:nvSpPr>
        <p:spPr>
          <a:xfrm>
            <a:off x="507492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Resource groups, VNets, Key Vault and PaaS configuration in the recovery region, from Cloud Rewind or IaC; restore repositories first if needed. Hours.</a:t>
            </a:r>
            <a:endParaRPr lang="en-US" sz="950" dirty="0"/>
          </a:p>
        </p:txBody>
      </p:sp>
      <p:sp>
        <p:nvSpPr>
          <p:cNvPr id="24" name="Step shape 3"/>
          <p:cNvSpPr/>
          <p:nvPr/>
        </p:nvSpPr>
        <p:spPr>
          <a:xfrm>
            <a:off x="7269480" y="4069080"/>
            <a:ext cx="2286000" cy="502920"/>
          </a:xfrm>
          <a:prstGeom prst="chevron">
            <a:avLst/>
          </a:prstGeom>
          <a:solidFill>
            <a:srgbClr val="007C89"/>
          </a:solidFill>
          <a:ln/>
        </p:spPr>
      </p:sp>
      <p:sp>
        <p:nvSpPr>
          <p:cNvPr id="25" name="Step label 3"/>
          <p:cNvSpPr txBox="1"/>
          <p:nvPr/>
        </p:nvSpPr>
        <p:spPr>
          <a:xfrm>
            <a:off x="761695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Restore data by tier</a:t>
            </a:r>
            <a:endParaRPr lang="en-US" sz="1100" dirty="0"/>
          </a:p>
        </p:txBody>
      </p:sp>
      <p:sp>
        <p:nvSpPr>
          <p:cNvPr id="26" name="Step text 3"/>
          <p:cNvSpPr txBox="1"/>
          <p:nvPr/>
        </p:nvSpPr>
        <p:spPr>
          <a:xfrm>
            <a:off x="731520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Tier-0/1 VMs, databases, files and AKS volumes from the isolated copy; native geo-restore where faster. Hours to a day per tier.</a:t>
            </a:r>
            <a:endParaRPr lang="en-US" sz="950" dirty="0"/>
          </a:p>
        </p:txBody>
      </p:sp>
      <p:sp>
        <p:nvSpPr>
          <p:cNvPr id="27" name="Step shape 4"/>
          <p:cNvSpPr/>
          <p:nvPr/>
        </p:nvSpPr>
        <p:spPr>
          <a:xfrm>
            <a:off x="9509760" y="4069080"/>
            <a:ext cx="2286000" cy="502920"/>
          </a:xfrm>
          <a:prstGeom prst="chevron">
            <a:avLst/>
          </a:prstGeom>
          <a:solidFill>
            <a:srgbClr val="55AB45"/>
          </a:solidFill>
          <a:ln/>
        </p:spPr>
      </p:sp>
      <p:sp>
        <p:nvSpPr>
          <p:cNvPr id="28" name="Step label 4"/>
          <p:cNvSpPr txBox="1"/>
          <p:nvPr/>
        </p:nvSpPr>
        <p:spPr>
          <a:xfrm>
            <a:off x="985723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Validate and cut over</a:t>
            </a:r>
            <a:endParaRPr lang="en-US" sz="1100" dirty="0"/>
          </a:p>
        </p:txBody>
      </p:sp>
      <p:sp>
        <p:nvSpPr>
          <p:cNvPr id="29" name="Step text 4"/>
          <p:cNvSpPr txBox="1"/>
          <p:nvPr/>
        </p:nvSpPr>
        <p:spPr>
          <a:xfrm>
            <a:off x="9555480" y="4617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04040"/>
                </a:solidFill>
              </a:rPr>
              <a:t>Application checks, DNS and ExpressRoute changes, Sentinel monitoring; fail back when Canada Central returns. Per runbook.</a:t>
            </a:r>
            <a:endParaRPr lang="en-US" sz="950" dirty="0"/>
          </a:p>
        </p:txBody>
      </p:sp>
      <p:sp>
        <p:nvSpPr>
          <p:cNvPr id="30" name="Fail box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F2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31" name="Fail text"/>
          <p:cNvSpPr txBox="1"/>
          <p:nvPr/>
        </p:nvSpPr>
        <p:spPr>
          <a:xfrm>
            <a:off x="685800" y="53949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</a:rPr>
              <a:t>What would make recovery fail:  </a:t>
            </a:r>
            <a:pPr indent="0" marL="0">
              <a:buNone/>
            </a:pPr>
            <a:r>
              <a:rPr lang="en-US" sz="1150" dirty="0">
                <a:solidFill>
                  <a:srgbClr val="1F4E79"/>
                </a:solidFill>
              </a:rPr>
              <a:t>an offsite copy that a compromised administrator can delete; no reserved capacity or alternate subscription to restore into; Infrastructure as Code that is incomplete or held only in a repository that is itself lost; no identity that works when Entra ID does not. Each is addressed by a requirement, and each needs an owner before the design phase.</a:t>
            </a:r>
            <a:endParaRPr lang="en-US" sz="1150" dirty="0"/>
          </a:p>
        </p:txBody>
      </p:sp>
      <p:sp>
        <p:nvSpPr>
          <p:cNvPr id="32" name="Text 2"/>
          <p:cNvSpPr/>
          <p:nvPr>
            <p:ph idx="103" type="body" hasCustomPrompt="1"/>
          </p:nvPr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F7F"/>
                </a:solidFill>
              </a:rPr>
              <a:t>Reference documents: KDD sections 2.2.5 and 3; Requirements sections 4, 5 and 7. Timings are indicative and set by the recovery tiers agreed with the business.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erprise Backup Coverage">
  <a:themeElements>
    <a:clrScheme name="Enterprise Backup Coverage">
      <a:dk1>
        <a:srgbClr val="1A1A1A"/>
      </a:dk1>
      <a:lt1>
        <a:srgbClr val="FFFFFF"/>
      </a:lt1>
      <a:dk2>
        <a:srgbClr val="14305A"/>
      </a:dk2>
      <a:lt2>
        <a:srgbClr val="F2F2F2"/>
      </a:lt2>
      <a:accent1>
        <a:srgbClr val="1F4E79"/>
      </a:accent1>
      <a:accent2>
        <a:srgbClr val="2E9ACA"/>
      </a:accent2>
      <a:accent3>
        <a:srgbClr val="007C89"/>
      </a:accent3>
      <a:accent4>
        <a:srgbClr val="55AB45"/>
      </a:accent4>
      <a:accent5>
        <a:srgbClr val="F0B429"/>
      </a:accent5>
      <a:accent6>
        <a:srgbClr val="7F7F7F"/>
      </a:accent6>
      <a:hlink>
        <a:srgbClr val="2E9ACA"/>
      </a:hlink>
      <a:folHlink>
        <a:srgbClr val="1F4E79"/>
      </a:folHlink>
    </a:clrScheme>
    <a:fontScheme name="Enterprise Backup Covera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Platform Backup: Coverage, Gaps and Recovery</dc:title>
  <dc:subject>PptxGenJS Presentation</dc:subject>
  <dc:creator>PptxGenJS</dc:creator>
  <cp:lastModifiedBy>PptxGenJS</cp:lastModifiedBy>
  <cp:revision>1</cp:revision>
  <dcterms:created xsi:type="dcterms:W3CDTF">2026-10-30T15:19:20Z</dcterms:created>
  <dcterms:modified xsi:type="dcterms:W3CDTF">2026-10-30T15:19:20Z</dcterms:modified>
</cp:coreProperties>
</file>