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Backup Platform | Resilience Workstream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18320" y="647395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Systems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Workshop Plan &amp; Questionnaires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Backup Platform | Proposed client workshop sequence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45952" cy="585216"/>
          </a:xfrm>
          <a:prstGeom prst="roundRect">
            <a:avLst>
              <a:gd name="adj" fmla="val 9375"/>
            </a:avLst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53312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Objective: establish the current Azure-native backup baseline, define requirements, align stakeholders, and reach an approved requirements baseline.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1024128" cy="384048"/>
          </a:xfrm>
          <a:prstGeom prst="rect">
            <a:avLst/>
          </a:prstGeom>
          <a:solidFill>
            <a:srgbClr val="EEF3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3911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A5F"/>
                </a:solidFill>
              </a:rPr>
              <a:t>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91056" y="1938528"/>
            <a:ext cx="1216152" cy="384048"/>
          </a:xfrm>
          <a:prstGeom prst="rect">
            <a:avLst/>
          </a:prstGeom>
          <a:solidFill>
            <a:srgbClr val="EEF3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203911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A5F"/>
                </a:solidFill>
              </a:rPr>
              <a:t>Proposed date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07208" y="1938528"/>
            <a:ext cx="2971800" cy="384048"/>
          </a:xfrm>
          <a:prstGeom prst="rect">
            <a:avLst/>
          </a:prstGeom>
          <a:solidFill>
            <a:srgbClr val="EEF3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03911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A5F"/>
                </a:solidFill>
              </a:rPr>
              <a:t>Primary focus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79008" y="1938528"/>
            <a:ext cx="2770632" cy="384048"/>
          </a:xfrm>
          <a:prstGeom prst="rect">
            <a:avLst/>
          </a:prstGeom>
          <a:solidFill>
            <a:srgbClr val="EEF3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039112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A5F"/>
                </a:solidFill>
              </a:rPr>
              <a:t>Main attendees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49640" y="1938528"/>
            <a:ext cx="2926080" cy="384048"/>
          </a:xfrm>
          <a:prstGeom prst="rect">
            <a:avLst/>
          </a:prstGeom>
          <a:solidFill>
            <a:srgbClr val="EEF3F8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22792" y="2039112"/>
            <a:ext cx="2779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3A5F"/>
                </a:solidFill>
              </a:rPr>
              <a:t>What comes out of 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322576"/>
            <a:ext cx="1024128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32304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75B5"/>
                </a:solidFill>
              </a:rPr>
              <a:t>01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91056" y="2322576"/>
            <a:ext cx="1216152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2432304"/>
            <a:ext cx="1069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Oct 08, 2026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807208" y="2322576"/>
            <a:ext cx="2971800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432304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Environment &amp; Current-State; Current Backup Coverage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779008" y="2322576"/>
            <a:ext cx="2770632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432304"/>
            <a:ext cx="2624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Azure/Cloud; Backup/Infrastructure; Operations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49640" y="2322576"/>
            <a:ext cx="2926080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2432304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Current-state baseline; workload/protection inventory; initial coverage observations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66928" y="2999232"/>
            <a:ext cx="10241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108960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75B5"/>
                </a:solidFill>
              </a:rPr>
              <a:t>02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591056" y="2999232"/>
            <a:ext cx="12161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208" y="3108960"/>
            <a:ext cx="1069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Oct 15, 2026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807208" y="2999232"/>
            <a:ext cx="2971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3108960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Recovery; Security &amp; Controls; Residency &amp; Compliance; Operations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779008" y="2999232"/>
            <a:ext cx="27706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108960"/>
            <a:ext cx="2624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Cloud; Backup; Security; Compliance; Operations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549640" y="2999232"/>
            <a:ext cx="2926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22792" y="310896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Recovery requirements; security/control requirements; compliance needs; operating model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66928" y="3675888"/>
            <a:ext cx="1024128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785616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75B5"/>
                </a:solidFill>
              </a:rPr>
              <a:t>03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591056" y="3675888"/>
            <a:ext cx="1216152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64208" y="3785616"/>
            <a:ext cx="1069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Oct 20, 2026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807208" y="3675888"/>
            <a:ext cx="2971800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3785616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Stakeholder; Future-State; Assumptions / Constraints / Dependencies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779008" y="3675888"/>
            <a:ext cx="2770632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3785616"/>
            <a:ext cx="2624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Business; Application; Architecture; Cloud; Security; Operations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549640" y="3675888"/>
            <a:ext cx="2926080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378561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Business/technical requirements; future-state needs; assumptions and dependencies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566928" y="4352544"/>
            <a:ext cx="10241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4622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75B5"/>
                </a:solidFill>
              </a:rPr>
              <a:t>04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591056" y="4352544"/>
            <a:ext cx="121615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64208" y="4462272"/>
            <a:ext cx="1069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Oct 22, 2026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2807208" y="4352544"/>
            <a:ext cx="2971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446227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Gap Review; Requirements Alignment; Draft Sign-off preparation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5779008" y="4352544"/>
            <a:ext cx="27706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4462272"/>
            <a:ext cx="2624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Core stakeholder group; decision makers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8549640" y="4352544"/>
            <a:ext cx="2926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22792" y="4462272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Prioritized gap register; aligned requirements baseline; draft sign-off package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566928" y="5029200"/>
            <a:ext cx="1024128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5138928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75B5"/>
                </a:solidFill>
              </a:rPr>
              <a:t>Final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591056" y="5029200"/>
            <a:ext cx="1216152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64208" y="5138928"/>
            <a:ext cx="1069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Nov 09–13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2807208" y="5029200"/>
            <a:ext cx="2971800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80360" y="5138928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Requirements Review &amp; Approval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5779008" y="5029200"/>
            <a:ext cx="2770632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52160" y="5138928"/>
            <a:ext cx="2624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Sponsors; designated approvers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8549640" y="5029200"/>
            <a:ext cx="2926080" cy="676656"/>
          </a:xfrm>
          <a:prstGeom prst="rect">
            <a:avLst/>
          </a:prstGeom>
          <a:solidFill>
            <a:srgbClr val="FBFCFE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22792" y="5138928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Approved requirements baseline; closure of final comments and decisions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585216" y="5687568"/>
            <a:ext cx="297180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" y="5751576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sign-off period: Oct 26 – Nov 06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39312" y="5687568"/>
            <a:ext cx="2880360" cy="329184"/>
          </a:xfrm>
          <a:prstGeom prst="roundRect">
            <a:avLst>
              <a:gd name="adj" fmla="val 16667"/>
            </a:avLst>
          </a:prstGeom>
          <a:solidFill>
            <a:srgbClr val="4E8B57"/>
          </a:solidFill>
          <a:ln w="12700">
            <a:solidFill>
              <a:srgbClr val="4E8B5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12464" y="5751576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approval window: Nov 09 – Nov 13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12280" y="573328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472"/>
                </a:solidFill>
              </a:rPr>
              <a:t>Proposed dates are subject to stakeholder availability and Azure access.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1 — Current State &amp; Azure-Native Backup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establish the current-state baseline and understand existing protection coverage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61872"/>
            <a:ext cx="5285232" cy="47548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75B5"/>
                </a:solidFill>
              </a:rPr>
              <a:t>Environment &amp; Current-State Understanding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Azure subscriptions / environments are in scope?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workload types are currently deployed in Azure?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workloads are business-critical or mission-critical?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Azure-native backup services, vaults and policies are currently used?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How is backup organized and who owns administration, monitoring and recovery?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What backup documentation, architecture diagrams and procedures are available?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309360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61872"/>
            <a:ext cx="5285232" cy="475488"/>
          </a:xfrm>
          <a:prstGeom prst="rect">
            <a:avLst/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75B5"/>
                </a:solidFill>
              </a:rPr>
              <a:t>Current Backup Coverage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Azure workloads are currently protected?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workloads are not protected or have exceptions?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Are all critical workloads covered by an appropriate policy?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Are backup policies standardized across subscriptions / workload tiers?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backup frequency and retention are configured?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Are there known coverage gaps or protection exceptions?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566928" y="5897880"/>
            <a:ext cx="11027664" cy="384048"/>
          </a:xfrm>
          <a:prstGeom prst="roundRect">
            <a:avLst>
              <a:gd name="adj" fmla="val 11905"/>
            </a:avLst>
          </a:prstGeom>
          <a:solidFill>
            <a:srgbClr val="EEF7EF"/>
          </a:solidFill>
          <a:ln w="12700">
            <a:solidFill>
              <a:srgbClr val="4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989320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E8B57"/>
                </a:solidFill>
              </a:rPr>
              <a:t>Workshop outcome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847088" y="595274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Current-state Azure backup baseline, workload/protection inventory and initial coverage findings.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2 — Recovery, Security &amp; Operations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resilience, security, compliance, operating model and observability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61872"/>
            <a:ext cx="5285232" cy="475488"/>
          </a:xfrm>
          <a:prstGeom prst="rect">
            <a:avLst/>
          </a:prstGeom>
          <a:solidFill>
            <a:srgbClr val="EEF7EF"/>
          </a:solidFill>
          <a:ln w="12700">
            <a:solidFill>
              <a:srgbClr val="EE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7D78"/>
                </a:solidFill>
              </a:rPr>
              <a:t>Backup &amp; Recovery Capabilities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backup and recovery capabilities are currently available?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restore methods are used and how often are recovery tests performed?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RPO / RTO requirements exist for critical workloads?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Are recovery outcomes meeting those objectives today?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recovery limitations or pain points exist?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What backup/recovery monitoring and reporting are available?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309360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61872"/>
            <a:ext cx="5285232" cy="475488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7D78"/>
                </a:solidFill>
              </a:rPr>
              <a:t>Security, Compliance &amp; Operations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Who can administer, modify, restore or delete backup data?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Are privileged access, separation of duties and audit controls enforced?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Are immutability / deletion protection / ransomware resilience required?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data residency, retention and regulatory requirements apply?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How are backup failures, restores and incidents detected, escalated and tracked?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What integrations exist with SIEM, ITSM, monitoring and alerting platforms?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566928" y="5897880"/>
            <a:ext cx="11027664" cy="384048"/>
          </a:xfrm>
          <a:prstGeom prst="roundRect">
            <a:avLst>
              <a:gd name="adj" fmla="val 11905"/>
            </a:avLst>
          </a:prstGeom>
          <a:solidFill>
            <a:srgbClr val="EEF7EF"/>
          </a:solidFill>
          <a:ln w="12700">
            <a:solidFill>
              <a:srgbClr val="4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989320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E8B57"/>
                </a:solidFill>
              </a:rPr>
              <a:t>Workshop outcome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847088" y="595274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Recovery/security requirements, compliance constraints, operational model, monitoring and control observations.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3 — Stakeholder &amp; Future-State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define what the Enterprise Backup Platform must deliver and what constraints it must satisfy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61872"/>
            <a:ext cx="5285232" cy="475488"/>
          </a:xfrm>
          <a:prstGeom prst="rect">
            <a:avLst/>
          </a:prstGeom>
          <a:solidFill>
            <a:srgbClr val="F1EEFB"/>
          </a:solidFill>
          <a:ln w="12700">
            <a:solidFill>
              <a:srgbClr val="F1EE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D5BD0"/>
                </a:solidFill>
              </a:rPr>
              <a:t>Stakeholder Requirements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business outcomes should the Enterprise Backup Platform achieve?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workloads and services require the strongest protection?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recovery objectives and user expectations must be met?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business, technical, security and operational capabilities are mandatory?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reporting, visibility and governance are required?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What capabilities are desirable but not mandatory?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309360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61872"/>
            <a:ext cx="5285232" cy="47548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D5BD0"/>
                </a:solidFill>
              </a:rPr>
              <a:t>Future-State / Constraints / Economics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capabilities are needed beyond the current Azure-native baseline?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scale, growth, region and multi-subscription requirements must be supported?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Should future AWS workloads be considered as a platform requirement?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assumptions, constraints and dependencies could affect the future solution?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are the major current cost drivers / business-value expectations?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How should resilience, security, operational effort and cost be balanced?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566928" y="5897880"/>
            <a:ext cx="11027664" cy="384048"/>
          </a:xfrm>
          <a:prstGeom prst="roundRect">
            <a:avLst>
              <a:gd name="adj" fmla="val 11905"/>
            </a:avLst>
          </a:prstGeom>
          <a:solidFill>
            <a:srgbClr val="EEF7EF"/>
          </a:solidFill>
          <a:ln w="12700">
            <a:solidFill>
              <a:srgbClr val="4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989320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E8B57"/>
                </a:solidFill>
              </a:rPr>
              <a:t>Workshop outcome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847088" y="595274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Business, technical, security and operational requirements; future-state considerations; assumptions, constraints, dependencies and value drivers.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4 — Gap Review, Requirements Alignment &amp; Draft Sign-off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validate findings, prioritize gaps and prepare the draft requirements baseline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61872"/>
            <a:ext cx="5285232" cy="475488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Gap Analysis &amp; Prioritization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Does the documented current state accurately reflect the environment?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Are any coverage, capability, security, compliance or operational gaps missing?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gaps represent the highest business or security risk?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gaps are mandatory to address?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Which requirements are must-have versus desirable?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Are there cost, scalability or operational gaps that affect priority?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6309360" y="1261872"/>
            <a:ext cx="52852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61872"/>
            <a:ext cx="5285232" cy="475488"/>
          </a:xfrm>
          <a:prstGeom prst="rect">
            <a:avLst/>
          </a:prstGeom>
          <a:solidFill>
            <a:srgbClr val="EEF7EF"/>
          </a:solidFill>
          <a:ln w="12700">
            <a:solidFill>
              <a:srgbClr val="EE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38988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Requirements Alignment &amp; Draft Sign-off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1856232"/>
            <a:ext cx="4901184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Does the consolidated requirements baseline reflect all stakeholder groups?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Are any requirements conflicting or still unclear?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Are assumptions, constraints and dependencies complete?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Are all open decisions assigned to an owner?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Have stakeholder comments been incorporated / dispositioned?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Does the group agree the draft requirements baseline is ready for sign-off?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566928" y="5897880"/>
            <a:ext cx="11027664" cy="384048"/>
          </a:xfrm>
          <a:prstGeom prst="roundRect">
            <a:avLst>
              <a:gd name="adj" fmla="val 11905"/>
            </a:avLst>
          </a:prstGeom>
          <a:solidFill>
            <a:srgbClr val="EEF7EF"/>
          </a:solidFill>
          <a:ln w="12700">
            <a:solidFill>
              <a:srgbClr val="4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989320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E8B57"/>
                </a:solidFill>
              </a:rPr>
              <a:t>Workshop outcome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847088" y="5952744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</a:rPr>
              <a:t>Prioritized gap register, aligned requirements baseline, open-decision register and draft sign-off package for Oct 26–Nov 06 review.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Review — Requirements Review &amp; Approval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09–13, 2026 | Final review and approval window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review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306324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assessment findings are accurate and complete.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mandatory requirements and priorities.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remaining stakeholder comments or decisions.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assumptions, constraints and dependencies.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ownership of any remaining actions.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298448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36592" y="2011680"/>
            <a:ext cx="269748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requirements baseline represent stakeholder expectations?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all high-priority gaps understood and accepted?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all open items assigned and tracked?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requirements baseline approved?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28432" y="1298448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EEF7EF"/>
          </a:solidFill>
          <a:ln w="12700">
            <a:solidFill>
              <a:srgbClr val="4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5727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02752" y="2084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APPROVED REQUIREMENTS BASELINE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02752" y="2788920"/>
            <a:ext cx="288036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Current-state assessment findings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/ capability / control gaps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Business, technical, security and operational requirements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/ constraints / dependencies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decisions and approval record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66928" y="6053328"/>
            <a:ext cx="11027664" cy="320040"/>
          </a:xfrm>
          <a:prstGeom prst="roundRect">
            <a:avLst>
              <a:gd name="adj" fmla="val 11429"/>
            </a:avLst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135624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Document status after approval: agreed requirements baseline for subsequent solutioning activities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Resilience Workstream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Backup Platform – Assessment Workshop Plan &amp; Questionnaires</dc:title>
  <dc:subject>Enterprise Backup Platform assessment workshops</dc:subject>
  <dc:creator>Resilience Support Team</dc:creator>
  <cp:lastModifiedBy>Resilience Support Team</cp:lastModifiedBy>
  <cp:revision>1</cp:revision>
  <dcterms:created xsi:type="dcterms:W3CDTF">2026-10-08T17:42:05Z</dcterms:created>
  <dcterms:modified xsi:type="dcterms:W3CDTF">2026-10-08T17:42:05Z</dcterms:modified>
</cp:coreProperties>
</file>