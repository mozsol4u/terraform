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c23302c-1b1b-c18e-4c3d-c60a88422048}">
          <p14:sldIdLst>
            <p14:sldId id="256"/>
          </p14:sldIdLst>
        </p14:section>
        <p14:section name="Context" id="{913c8d24-0f17-9713-0dfc-bff4555a2305}">
          <p14:sldIdLst>
            <p14:sldId id="257"/>
          </p14:sldIdLst>
        </p14:section>
        <p14:section name="Solution" id="{5de11f5b-38ec-733a-7956-7c5d3c9d53e8}">
          <p14:sldIdLst>
            <p14:sldId id="258"/>
          </p14:sldIdLst>
        </p14:section>
        <p14:section name="Capabilities" id="{fff51636-eee3-6560-0f99-a9e1dcee5d3e}">
          <p14:sldIdLst>
            <p14:sldId id="259"/>
          </p14:sldIdLst>
        </p14:section>
        <p14:section name="Implementation" id="{7f2e0aba-ccc3-ef13-b3ca-080623006214}">
          <p14:sldIdLst>
            <p14:sldId id="260"/>
          </p14:sldIdLst>
        </p14:section>
        <p14:section name="Decisions" id="{431211f2-b238-5065-19a1-aa0350fbcb30}">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minutes. Thank stakeholders for reviewing the KDD that was circulated. Explain that today is not a page-by-page review: we will cover the business need, the recommended approach, its main capabilities, the implementation path, and the decisions we need. Ask attendees to hold detailed technical questions for the Q&amp;A at the end of slides 3 and 6. Expected outcomes: shared understanding, alignment on the recommendation and its conditions, and agreed owners for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minutes. Start with the current state: Azure is the main cloud, production is in Canada Central, and Azure Backup is already implemented and working as designed. Stress that the KDD does not position Azure Backup as a poor product. The decision is driven by six enterprise needs on the right. Data residency in Canada is mandatory and covers metadata, not only backup data. Zone redundancy inside Canada Central does not count as an offsite copy. Rebuilding deleted resource groups and networks, protecting DevOps repositories and recovering Entra ID are the main gaps. AWS may be adopted later, so the approach should not need re-platforming.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minutes. Three options were assessed in depth; others such as Veeam were screened out because they would add a third platform without filling more gaps (KDD 2.1.5). Option A extends Commvault, which already runs on-premises and Microsoft 365 backup. It scores highest (4.0 of 5) because it closes the isolation, rebuild, DevOps and identity gaps on one platform. It costs about CAD 2.1M more than Option C over five years at ROM accuracy, and its SaaS control plane for Canadian regions is listed in East US 2, so residency must be resolved before approval. Option B adds a second enterprise platform at the highest cost. Option C is the credible lower-cost path: it is already in production, but its offsite copy sits in the same tenant, native Entra ID backups last 7 days, and there is no AWS path. All costs are ROM estimates (−40% / +50%) and must be replaced by quotes and actual Azure Backup spend. Pause for questions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minutes. Walk through the six capabilities in business terms rather than technical detail. One platform: the same team, console and audit trail across on-premises, Microsoft 365 and cloud. Isolated offsite copy: backups held in a separate, immutable vendor tenant in Canada, so a compromised production admin cannot delete them. Environment rebuild: Commvault Cloud Rewind recreates deleted resource groups, networks and app configuration before restoring data (to be proven in the PoC; same-region only for selected resources). DevOps: repositories and pipelines protected, with GitHub issues and Actions handled by exports. Entra ID: long-term copies beyond Microsoft's 7-day native window. AWS: same policies when adopted. Native Azure protection is not switched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minutes. The approach is phased so risk stays low: Azure Backup keeps running until the new protection is proven and old recovery points expire. Phase 0 validates the residency question, runs the PoC and obtains quotes. Phase 1 quick wins apply whichever option is chosen: DevOps backup, resource locks and Azure Policy, and hardening. Phases 2 and 3 onboard Azure workloads, the offsite copy and environment rebuild. AWS is onboarded only when adopted. Highlight the four dependencies; the residency confirmation is the critical path. If Option C were chosen instead, there is no core implementation effort, only about 96 person-days of optional enhancements.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minutes, plus remaining time for discussion. Ask for three decisions. First, endorsement of Option A as the direction, subject to the KDD conditions of approval. Second, a clear position on residency: Commvault lists East US 2 as the control plane for its Canadian storage regions, so Privacy and Compliance must decide whether that metadata scope is acceptable; if not, the fallback is Option C. Third, confirm the planning assumptions that drive the choice: AWS timing, Entra ID retention needs and the budget envelope. Capture answers to the open questions and confirm owners and dates for the four actions before 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3A1D5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8521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r>
              <a:rPr lang="en-US" sz="4000" b="1" dirty="0">
                <a:solidFill>
                  <a:schemeClr val="bg1"/>
                </a:solidFill>
              </a:rPr>
              <a:t>Title</a:t>
            </a: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r>
              <a:rPr lang="en-US" sz="3200" b="1" dirty="0">
                <a:solidFill>
                  <a:schemeClr val="tx2"/>
                </a:solidFill>
              </a:rPr>
              <a:t>Title</a:t>
            </a:r>
            <a:endParaRPr lang="en-US" sz="3200" dirty="0"/>
          </a:p>
        </p:txBody>
      </p:sp>
      <p:sp>
        <p:nvSpPr>
          <p:cNvPr id="3" name="Text 0"/>
          <p:cNvSpPr txBox="1"/>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7F7F7F"/>
                </a:solidFill>
              </a:rPr>
              <a:t>Draft for discussion  |  Source: KDD v0.6  |  Costs are ROM estimates (−40% / +50%), not vendor quotes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slideLayout" Target="../slideLayouts/slideLayout3.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822960"/>
            <a:ext cx="5852160" cy="365760"/>
          </a:xfrm>
          <a:prstGeom prst="rect">
            <a:avLst/>
          </a:prstGeom>
          <a:noFill/>
          <a:ln/>
        </p:spPr>
        <p:txBody>
          <a:bodyPr wrap="square" lIns="0" tIns="0" rIns="0" bIns="0" rtlCol="0" anchor="ctr"/>
          <a:lstStyle/>
          <a:p>
            <a:pPr indent="0" marL="0">
              <a:buNone/>
            </a:pPr>
            <a:r>
              <a:rPr lang="en-US" sz="1400" b="1" spc="200" kern="0" dirty="0">
                <a:solidFill>
                  <a:srgbClr val="D9C8E8"/>
                </a:solidFill>
              </a:rPr>
              <a:t>KEY DECISION DOCUMENT  |  STAKEHOLDER WALKTHROUGH</a:t>
            </a:r>
            <a:endParaRPr lang="en-US" sz="1400" dirty="0"/>
          </a:p>
        </p:txBody>
      </p:sp>
      <p:sp>
        <p:nvSpPr>
          <p:cNvPr id="3" name="Text 0"/>
          <p:cNvSpPr/>
          <p:nvPr>
            <p:ph idx="100" type="title" hasCustomPrompt="1"/>
          </p:nvPr>
        </p:nvSpPr>
        <p:spPr>
          <a:xfrm>
            <a:off x="548640" y="1417320"/>
            <a:ext cx="5852160" cy="1737360"/>
          </a:xfrm>
          <a:prstGeom prst="rect">
            <a:avLst/>
          </a:prstGeom>
          <a:noFill/>
          <a:ln/>
        </p:spPr>
        <p:txBody>
          <a:bodyPr wrap="square" lIns="0" tIns="0" rIns="0" bIns="0" rtlCol="0" anchor="t"/>
          <a:lstStyle/>
          <a:p>
            <a:pPr algn="l" indent="0" marL="0">
              <a:buNone/>
            </a:pPr>
            <a:r>
              <a:rPr lang="en-US" sz="4000" b="1" dirty="0">
                <a:solidFill>
                  <a:schemeClr val="bg1"/>
                </a:solidFill>
              </a:rPr>
              <a:t>Enterprise Cloud Workload Backup and Recovery</a:t>
            </a:r>
            <a:endParaRPr lang="en-US" sz="4000" dirty="0"/>
          </a:p>
        </p:txBody>
      </p:sp>
      <p:sp>
        <p:nvSpPr>
          <p:cNvPr id="4" name="Subtitle"/>
          <p:cNvSpPr txBox="1"/>
          <p:nvPr/>
        </p:nvSpPr>
        <p:spPr>
          <a:xfrm>
            <a:off x="548640" y="3246120"/>
            <a:ext cx="5669280" cy="914400"/>
          </a:xfrm>
          <a:prstGeom prst="rect">
            <a:avLst/>
          </a:prstGeom>
          <a:noFill/>
          <a:ln/>
        </p:spPr>
        <p:txBody>
          <a:bodyPr wrap="square" lIns="0" tIns="0" rIns="0" bIns="0" rtlCol="0" anchor="t"/>
          <a:lstStyle/>
          <a:p>
            <a:pPr indent="0" marL="0">
              <a:buNone/>
            </a:pPr>
            <a:r>
              <a:rPr lang="en-US" sz="1600" dirty="0">
                <a:solidFill>
                  <a:srgbClr val="D9C8E8"/>
                </a:solidFill>
              </a:rPr>
              <a:t>30-minute session to walk through the KDD (v0.6), confirm the recommended approach and agree the next steps</a:t>
            </a:r>
            <a:endParaRPr lang="en-US" sz="1600" dirty="0"/>
          </a:p>
        </p:txBody>
      </p:sp>
      <p:sp>
        <p:nvSpPr>
          <p:cNvPr id="5" name="Objectives panel"/>
          <p:cNvSpPr/>
          <p:nvPr/>
        </p:nvSpPr>
        <p:spPr>
          <a:xfrm>
            <a:off x="6812280" y="822960"/>
            <a:ext cx="4846320" cy="3886200"/>
          </a:xfrm>
          <a:prstGeom prst="roundRect">
            <a:avLst>
              <a:gd name="adj" fmla="val 2824"/>
            </a:avLst>
          </a:prstGeom>
          <a:solidFill>
            <a:srgbClr val="4B2A66"/>
          </a:solidFill>
          <a:ln/>
        </p:spPr>
      </p:sp>
      <p:sp>
        <p:nvSpPr>
          <p:cNvPr id="6" name="Objectives heading"/>
          <p:cNvSpPr txBox="1"/>
          <p:nvPr/>
        </p:nvSpPr>
        <p:spPr>
          <a:xfrm>
            <a:off x="7132320" y="1005840"/>
            <a:ext cx="4206240" cy="457200"/>
          </a:xfrm>
          <a:prstGeom prst="rect">
            <a:avLst/>
          </a:prstGeom>
          <a:noFill/>
          <a:ln/>
        </p:spPr>
        <p:txBody>
          <a:bodyPr wrap="square" lIns="0" tIns="0" rIns="0" bIns="0" rtlCol="0" anchor="ctr"/>
          <a:lstStyle/>
          <a:p>
            <a:pPr indent="0" marL="0">
              <a:buNone/>
            </a:pPr>
            <a:r>
              <a:rPr lang="en-US" sz="2000" b="1" dirty="0">
                <a:solidFill>
                  <a:srgbClr val="FFFFFF"/>
                </a:solidFill>
              </a:rPr>
              <a:t>Session outcomes</a:t>
            </a:r>
            <a:endParaRPr lang="en-US" sz="2000" dirty="0"/>
          </a:p>
        </p:txBody>
      </p:sp>
      <p:sp>
        <p:nvSpPr>
          <p:cNvPr id="7" name="Outcome 1 circle"/>
          <p:cNvSpPr/>
          <p:nvPr/>
        </p:nvSpPr>
        <p:spPr>
          <a:xfrm>
            <a:off x="7132320" y="1645920"/>
            <a:ext cx="566928" cy="566928"/>
          </a:xfrm>
          <a:prstGeom prst="ellipse">
            <a:avLst/>
          </a:prstGeom>
          <a:solidFill>
            <a:srgbClr val="AD1D84"/>
          </a:solidFill>
          <a:ln/>
        </p:spPr>
      </p:sp>
      <p:pic>
        <p:nvPicPr>
          <p:cNvPr id="8" name="Outcome 1 icon" descr="preencoded.png">    </p:cNvPr>
          <p:cNvPicPr>
            <a:picLocks noChangeAspect="1"/>
          </p:cNvPicPr>
          <p:nvPr/>
        </p:nvPicPr>
        <p:blipFill>
          <a:blip r:embed="rId1"/>
          <a:stretch>
            <a:fillRect/>
          </a:stretch>
        </p:blipFill>
        <p:spPr>
          <a:xfrm>
            <a:off x="7274052" y="1787652"/>
            <a:ext cx="283464" cy="283464"/>
          </a:xfrm>
          <a:prstGeom prst="rect">
            <a:avLst/>
          </a:prstGeom>
        </p:spPr>
      </p:pic>
      <p:sp>
        <p:nvSpPr>
          <p:cNvPr id="9" name="Outcome text 1"/>
          <p:cNvSpPr txBox="1"/>
          <p:nvPr/>
        </p:nvSpPr>
        <p:spPr>
          <a:xfrm>
            <a:off x="7863840" y="1536192"/>
            <a:ext cx="3611880" cy="868680"/>
          </a:xfrm>
          <a:prstGeom prst="rect">
            <a:avLst/>
          </a:prstGeom>
          <a:noFill/>
          <a:ln/>
        </p:spPr>
        <p:txBody>
          <a:bodyPr wrap="square" lIns="0" tIns="0" rIns="0" bIns="0" rtlCol="0" anchor="t"/>
          <a:lstStyle/>
          <a:p>
            <a:pPr indent="0" marL="0">
              <a:buNone/>
            </a:pPr>
            <a:r>
              <a:rPr lang="en-US" sz="1700" b="1" dirty="0">
                <a:solidFill>
                  <a:srgbClr val="FFFFFF"/>
                </a:solidFill>
              </a:rPr>
              <a:t>Understand</a:t>
            </a:r>
            <a:endParaRPr lang="en-US" sz="1700" dirty="0"/>
          </a:p>
          <a:p>
            <a:pPr indent="0" marL="0">
              <a:buNone/>
            </a:pPr>
            <a:r>
              <a:rPr lang="en-US" sz="1400" dirty="0">
                <a:solidFill>
                  <a:srgbClr val="D9C8E8"/>
                </a:solidFill>
              </a:rPr>
              <a:t>the business need, the options assessed and what the KDD recommends</a:t>
            </a:r>
            <a:endParaRPr lang="en-US" sz="1700" dirty="0"/>
          </a:p>
        </p:txBody>
      </p:sp>
      <p:sp>
        <p:nvSpPr>
          <p:cNvPr id="10" name="Outcome 2 circle"/>
          <p:cNvSpPr/>
          <p:nvPr/>
        </p:nvSpPr>
        <p:spPr>
          <a:xfrm>
            <a:off x="7132320" y="2633472"/>
            <a:ext cx="566928" cy="566928"/>
          </a:xfrm>
          <a:prstGeom prst="ellipse">
            <a:avLst/>
          </a:prstGeom>
          <a:solidFill>
            <a:srgbClr val="AD1D84"/>
          </a:solidFill>
          <a:ln/>
        </p:spPr>
      </p:sp>
      <p:pic>
        <p:nvPicPr>
          <p:cNvPr id="11" name="Outcome 2 icon" descr="preencoded.png">    </p:cNvPr>
          <p:cNvPicPr>
            <a:picLocks noChangeAspect="1"/>
          </p:cNvPicPr>
          <p:nvPr/>
        </p:nvPicPr>
        <p:blipFill>
          <a:blip r:embed="rId2"/>
          <a:stretch>
            <a:fillRect/>
          </a:stretch>
        </p:blipFill>
        <p:spPr>
          <a:xfrm>
            <a:off x="7274052" y="2775204"/>
            <a:ext cx="283464" cy="283464"/>
          </a:xfrm>
          <a:prstGeom prst="rect">
            <a:avLst/>
          </a:prstGeom>
        </p:spPr>
      </p:pic>
      <p:sp>
        <p:nvSpPr>
          <p:cNvPr id="12" name="Outcome text 2"/>
          <p:cNvSpPr txBox="1"/>
          <p:nvPr/>
        </p:nvSpPr>
        <p:spPr>
          <a:xfrm>
            <a:off x="7863840" y="2523744"/>
            <a:ext cx="3611880" cy="868680"/>
          </a:xfrm>
          <a:prstGeom prst="rect">
            <a:avLst/>
          </a:prstGeom>
          <a:noFill/>
          <a:ln/>
        </p:spPr>
        <p:txBody>
          <a:bodyPr wrap="square" lIns="0" tIns="0" rIns="0" bIns="0" rtlCol="0" anchor="t"/>
          <a:lstStyle/>
          <a:p>
            <a:pPr indent="0" marL="0">
              <a:buNone/>
            </a:pPr>
            <a:r>
              <a:rPr lang="en-US" sz="1700" b="1" dirty="0">
                <a:solidFill>
                  <a:srgbClr val="FFFFFF"/>
                </a:solidFill>
              </a:rPr>
              <a:t>Align</a:t>
            </a:r>
            <a:endParaRPr lang="en-US" sz="1700" dirty="0"/>
          </a:p>
          <a:p>
            <a:pPr indent="0" marL="0">
              <a:buNone/>
            </a:pPr>
            <a:r>
              <a:rPr lang="en-US" sz="1400" dirty="0">
                <a:solidFill>
                  <a:srgbClr val="D9C8E8"/>
                </a:solidFill>
              </a:rPr>
              <a:t>on the recommended approach, its trade-offs and the open conditions</a:t>
            </a:r>
            <a:endParaRPr lang="en-US" sz="1700" dirty="0"/>
          </a:p>
        </p:txBody>
      </p:sp>
      <p:sp>
        <p:nvSpPr>
          <p:cNvPr id="13" name="Outcome 3 circle"/>
          <p:cNvSpPr/>
          <p:nvPr/>
        </p:nvSpPr>
        <p:spPr>
          <a:xfrm>
            <a:off x="7132320" y="3621024"/>
            <a:ext cx="566928" cy="566928"/>
          </a:xfrm>
          <a:prstGeom prst="ellipse">
            <a:avLst/>
          </a:prstGeom>
          <a:solidFill>
            <a:srgbClr val="AD1D84"/>
          </a:solidFill>
          <a:ln/>
        </p:spPr>
      </p:sp>
      <p:pic>
        <p:nvPicPr>
          <p:cNvPr id="14" name="Outcome 3 icon" descr="preencoded.png">    </p:cNvPr>
          <p:cNvPicPr>
            <a:picLocks noChangeAspect="1"/>
          </p:cNvPicPr>
          <p:nvPr/>
        </p:nvPicPr>
        <p:blipFill>
          <a:blip r:embed="rId3"/>
          <a:stretch>
            <a:fillRect/>
          </a:stretch>
        </p:blipFill>
        <p:spPr>
          <a:xfrm>
            <a:off x="7274052" y="3762756"/>
            <a:ext cx="283464" cy="283464"/>
          </a:xfrm>
          <a:prstGeom prst="rect">
            <a:avLst/>
          </a:prstGeom>
        </p:spPr>
      </p:pic>
      <p:sp>
        <p:nvSpPr>
          <p:cNvPr id="15" name="Outcome text 3"/>
          <p:cNvSpPr txBox="1"/>
          <p:nvPr/>
        </p:nvSpPr>
        <p:spPr>
          <a:xfrm>
            <a:off x="7863840" y="3511296"/>
            <a:ext cx="3611880" cy="868680"/>
          </a:xfrm>
          <a:prstGeom prst="rect">
            <a:avLst/>
          </a:prstGeom>
          <a:noFill/>
          <a:ln/>
        </p:spPr>
        <p:txBody>
          <a:bodyPr wrap="square" lIns="0" tIns="0" rIns="0" bIns="0" rtlCol="0" anchor="t"/>
          <a:lstStyle/>
          <a:p>
            <a:pPr indent="0" marL="0">
              <a:buNone/>
            </a:pPr>
            <a:r>
              <a:rPr lang="en-US" sz="1700" b="1" dirty="0">
                <a:solidFill>
                  <a:srgbClr val="FFFFFF"/>
                </a:solidFill>
              </a:rPr>
              <a:t>Decide</a:t>
            </a:r>
            <a:endParaRPr lang="en-US" sz="1700" dirty="0"/>
          </a:p>
          <a:p>
            <a:pPr indent="0" marL="0">
              <a:buNone/>
            </a:pPr>
            <a:r>
              <a:rPr lang="en-US" sz="1400" dirty="0">
                <a:solidFill>
                  <a:srgbClr val="D9C8E8"/>
                </a:solidFill>
              </a:rPr>
              <a:t>the decisions needed today and who owns each next step</a:t>
            </a:r>
            <a:endParaRPr lang="en-US" sz="1700" dirty="0"/>
          </a:p>
        </p:txBody>
      </p:sp>
      <p:sp>
        <p:nvSpPr>
          <p:cNvPr id="16" name="Agenda label"/>
          <p:cNvSpPr txBox="1"/>
          <p:nvPr/>
        </p:nvSpPr>
        <p:spPr>
          <a:xfrm>
            <a:off x="548640" y="5074920"/>
            <a:ext cx="2743200" cy="320040"/>
          </a:xfrm>
          <a:prstGeom prst="rect">
            <a:avLst/>
          </a:prstGeom>
          <a:noFill/>
          <a:ln/>
        </p:spPr>
        <p:txBody>
          <a:bodyPr wrap="square" lIns="0" tIns="0" rIns="0" bIns="0" rtlCol="0" anchor="ctr"/>
          <a:lstStyle/>
          <a:p>
            <a:pPr indent="0" marL="0">
              <a:buNone/>
            </a:pPr>
            <a:r>
              <a:rPr lang="en-US" sz="1400" b="1" dirty="0">
                <a:solidFill>
                  <a:srgbClr val="D9C8E8"/>
                </a:solidFill>
              </a:rPr>
              <a:t>Agenda</a:t>
            </a:r>
            <a:endParaRPr lang="en-US" sz="1400" dirty="0"/>
          </a:p>
        </p:txBody>
      </p:sp>
      <p:sp>
        <p:nvSpPr>
          <p:cNvPr id="17" name="Agenda item 1"/>
          <p:cNvSpPr/>
          <p:nvPr/>
        </p:nvSpPr>
        <p:spPr>
          <a:xfrm>
            <a:off x="548640" y="5486400"/>
            <a:ext cx="1734312" cy="731520"/>
          </a:xfrm>
          <a:prstGeom prst="roundRect">
            <a:avLst>
              <a:gd name="adj" fmla="val 12500"/>
            </a:avLst>
          </a:prstGeom>
          <a:solidFill>
            <a:srgbClr val="AD1D84"/>
          </a:solidFill>
          <a:ln/>
        </p:spPr>
      </p:sp>
      <p:sp>
        <p:nvSpPr>
          <p:cNvPr id="18" name="Agenda text 1"/>
          <p:cNvSpPr txBox="1"/>
          <p:nvPr/>
        </p:nvSpPr>
        <p:spPr>
          <a:xfrm>
            <a:off x="658368" y="5486400"/>
            <a:ext cx="1551432" cy="731520"/>
          </a:xfrm>
          <a:prstGeom prst="rect">
            <a:avLst/>
          </a:prstGeom>
          <a:noFill/>
          <a:ln/>
        </p:spPr>
        <p:txBody>
          <a:bodyPr wrap="square" lIns="0" tIns="0" rIns="0" bIns="0" rtlCol="0" anchor="ctr"/>
          <a:lstStyle/>
          <a:p>
            <a:pPr indent="0" marL="0">
              <a:buNone/>
            </a:pPr>
            <a:r>
              <a:rPr lang="en-US" sz="1600" b="1" dirty="0">
                <a:solidFill>
                  <a:srgbClr val="FFFFFF"/>
                </a:solidFill>
              </a:rPr>
              <a:t>1  </a:t>
            </a:r>
            <a:pPr indent="0" marL="0">
              <a:buNone/>
            </a:pPr>
            <a:r>
              <a:rPr lang="en-US" sz="1300" dirty="0">
                <a:solidFill>
                  <a:srgbClr val="FFFFFF"/>
                </a:solidFill>
              </a:rPr>
              <a:t>Objectives</a:t>
            </a:r>
            <a:endParaRPr lang="en-US" sz="1600" dirty="0"/>
          </a:p>
        </p:txBody>
      </p:sp>
      <p:sp>
        <p:nvSpPr>
          <p:cNvPr id="19" name="Agenda item 2"/>
          <p:cNvSpPr/>
          <p:nvPr/>
        </p:nvSpPr>
        <p:spPr>
          <a:xfrm>
            <a:off x="2420112" y="5486400"/>
            <a:ext cx="1734312" cy="731520"/>
          </a:xfrm>
          <a:prstGeom prst="roundRect">
            <a:avLst>
              <a:gd name="adj" fmla="val 12500"/>
            </a:avLst>
          </a:prstGeom>
          <a:solidFill>
            <a:srgbClr val="4B2A66"/>
          </a:solidFill>
          <a:ln/>
        </p:spPr>
      </p:sp>
      <p:sp>
        <p:nvSpPr>
          <p:cNvPr id="20" name="Agenda text 2"/>
          <p:cNvSpPr txBox="1"/>
          <p:nvPr/>
        </p:nvSpPr>
        <p:spPr>
          <a:xfrm>
            <a:off x="2529840" y="5486400"/>
            <a:ext cx="1551432" cy="731520"/>
          </a:xfrm>
          <a:prstGeom prst="rect">
            <a:avLst/>
          </a:prstGeom>
          <a:noFill/>
          <a:ln/>
        </p:spPr>
        <p:txBody>
          <a:bodyPr wrap="square" lIns="0" tIns="0" rIns="0" bIns="0" rtlCol="0" anchor="ctr"/>
          <a:lstStyle/>
          <a:p>
            <a:pPr indent="0" marL="0">
              <a:buNone/>
            </a:pPr>
            <a:r>
              <a:rPr lang="en-US" sz="1600" b="1" dirty="0">
                <a:solidFill>
                  <a:srgbClr val="FFFFFF"/>
                </a:solidFill>
              </a:rPr>
              <a:t>2  </a:t>
            </a:r>
            <a:pPr indent="0" marL="0">
              <a:buNone/>
            </a:pPr>
            <a:r>
              <a:rPr lang="en-US" sz="1300" dirty="0">
                <a:solidFill>
                  <a:srgbClr val="FFFFFF"/>
                </a:solidFill>
              </a:rPr>
              <a:t>Context and requirements</a:t>
            </a:r>
            <a:endParaRPr lang="en-US" sz="1600" dirty="0"/>
          </a:p>
        </p:txBody>
      </p:sp>
      <p:sp>
        <p:nvSpPr>
          <p:cNvPr id="21" name="Agenda item 3"/>
          <p:cNvSpPr/>
          <p:nvPr/>
        </p:nvSpPr>
        <p:spPr>
          <a:xfrm>
            <a:off x="4291584" y="5486400"/>
            <a:ext cx="1734312" cy="731520"/>
          </a:xfrm>
          <a:prstGeom prst="roundRect">
            <a:avLst>
              <a:gd name="adj" fmla="val 12500"/>
            </a:avLst>
          </a:prstGeom>
          <a:solidFill>
            <a:srgbClr val="4B2A66"/>
          </a:solidFill>
          <a:ln/>
        </p:spPr>
      </p:sp>
      <p:sp>
        <p:nvSpPr>
          <p:cNvPr id="22" name="Agenda text 3"/>
          <p:cNvSpPr txBox="1"/>
          <p:nvPr/>
        </p:nvSpPr>
        <p:spPr>
          <a:xfrm>
            <a:off x="4401312" y="5486400"/>
            <a:ext cx="1551432" cy="731520"/>
          </a:xfrm>
          <a:prstGeom prst="rect">
            <a:avLst/>
          </a:prstGeom>
          <a:noFill/>
          <a:ln/>
        </p:spPr>
        <p:txBody>
          <a:bodyPr wrap="square" lIns="0" tIns="0" rIns="0" bIns="0" rtlCol="0" anchor="ctr"/>
          <a:lstStyle/>
          <a:p>
            <a:pPr indent="0" marL="0">
              <a:buNone/>
            </a:pPr>
            <a:r>
              <a:rPr lang="en-US" sz="1600" b="1" dirty="0">
                <a:solidFill>
                  <a:srgbClr val="FFFFFF"/>
                </a:solidFill>
              </a:rPr>
              <a:t>3  </a:t>
            </a:r>
            <a:pPr indent="0" marL="0">
              <a:buNone/>
            </a:pPr>
            <a:r>
              <a:rPr lang="en-US" sz="1300" dirty="0">
                <a:solidFill>
                  <a:srgbClr val="FFFFFF"/>
                </a:solidFill>
              </a:rPr>
              <a:t>Proposed solution</a:t>
            </a:r>
            <a:endParaRPr lang="en-US" sz="1600" dirty="0"/>
          </a:p>
        </p:txBody>
      </p:sp>
      <p:sp>
        <p:nvSpPr>
          <p:cNvPr id="23" name="Agenda item 4"/>
          <p:cNvSpPr/>
          <p:nvPr/>
        </p:nvSpPr>
        <p:spPr>
          <a:xfrm>
            <a:off x="6163056" y="5486400"/>
            <a:ext cx="1734312" cy="731520"/>
          </a:xfrm>
          <a:prstGeom prst="roundRect">
            <a:avLst>
              <a:gd name="adj" fmla="val 12500"/>
            </a:avLst>
          </a:prstGeom>
          <a:solidFill>
            <a:srgbClr val="4B2A66"/>
          </a:solidFill>
          <a:ln/>
        </p:spPr>
      </p:sp>
      <p:sp>
        <p:nvSpPr>
          <p:cNvPr id="24" name="Agenda text 4"/>
          <p:cNvSpPr txBox="1"/>
          <p:nvPr/>
        </p:nvSpPr>
        <p:spPr>
          <a:xfrm>
            <a:off x="6272784" y="5486400"/>
            <a:ext cx="1551432" cy="731520"/>
          </a:xfrm>
          <a:prstGeom prst="rect">
            <a:avLst/>
          </a:prstGeom>
          <a:noFill/>
          <a:ln/>
        </p:spPr>
        <p:txBody>
          <a:bodyPr wrap="square" lIns="0" tIns="0" rIns="0" bIns="0" rtlCol="0" anchor="ctr"/>
          <a:lstStyle/>
          <a:p>
            <a:pPr indent="0" marL="0">
              <a:buNone/>
            </a:pPr>
            <a:r>
              <a:rPr lang="en-US" sz="1600" b="1" dirty="0">
                <a:solidFill>
                  <a:srgbClr val="FFFFFF"/>
                </a:solidFill>
              </a:rPr>
              <a:t>4  </a:t>
            </a:r>
            <a:pPr indent="0" marL="0">
              <a:buNone/>
            </a:pPr>
            <a:r>
              <a:rPr lang="en-US" sz="1300" dirty="0">
                <a:solidFill>
                  <a:srgbClr val="FFFFFF"/>
                </a:solidFill>
              </a:rPr>
              <a:t>Key capabilities</a:t>
            </a:r>
            <a:endParaRPr lang="en-US" sz="1600" dirty="0"/>
          </a:p>
        </p:txBody>
      </p:sp>
      <p:sp>
        <p:nvSpPr>
          <p:cNvPr id="25" name="Agenda item 5"/>
          <p:cNvSpPr/>
          <p:nvPr/>
        </p:nvSpPr>
        <p:spPr>
          <a:xfrm>
            <a:off x="8034528" y="5486400"/>
            <a:ext cx="1734312" cy="731520"/>
          </a:xfrm>
          <a:prstGeom prst="roundRect">
            <a:avLst>
              <a:gd name="adj" fmla="val 12500"/>
            </a:avLst>
          </a:prstGeom>
          <a:solidFill>
            <a:srgbClr val="4B2A66"/>
          </a:solidFill>
          <a:ln/>
        </p:spPr>
      </p:sp>
      <p:sp>
        <p:nvSpPr>
          <p:cNvPr id="26" name="Agenda text 5"/>
          <p:cNvSpPr txBox="1"/>
          <p:nvPr/>
        </p:nvSpPr>
        <p:spPr>
          <a:xfrm>
            <a:off x="8144256" y="5486400"/>
            <a:ext cx="1551432" cy="731520"/>
          </a:xfrm>
          <a:prstGeom prst="rect">
            <a:avLst/>
          </a:prstGeom>
          <a:noFill/>
          <a:ln/>
        </p:spPr>
        <p:txBody>
          <a:bodyPr wrap="square" lIns="0" tIns="0" rIns="0" bIns="0" rtlCol="0" anchor="ctr"/>
          <a:lstStyle/>
          <a:p>
            <a:pPr indent="0" marL="0">
              <a:buNone/>
            </a:pPr>
            <a:r>
              <a:rPr lang="en-US" sz="1600" b="1" dirty="0">
                <a:solidFill>
                  <a:srgbClr val="FFFFFF"/>
                </a:solidFill>
              </a:rPr>
              <a:t>5  </a:t>
            </a:r>
            <a:pPr indent="0" marL="0">
              <a:buNone/>
            </a:pPr>
            <a:r>
              <a:rPr lang="en-US" sz="1300" dirty="0">
                <a:solidFill>
                  <a:srgbClr val="FFFFFF"/>
                </a:solidFill>
              </a:rPr>
              <a:t>Implementation</a:t>
            </a:r>
            <a:endParaRPr lang="en-US" sz="1600" dirty="0"/>
          </a:p>
        </p:txBody>
      </p:sp>
      <p:sp>
        <p:nvSpPr>
          <p:cNvPr id="27" name="Agenda item 6"/>
          <p:cNvSpPr/>
          <p:nvPr/>
        </p:nvSpPr>
        <p:spPr>
          <a:xfrm>
            <a:off x="9906000" y="5486400"/>
            <a:ext cx="1734312" cy="731520"/>
          </a:xfrm>
          <a:prstGeom prst="roundRect">
            <a:avLst>
              <a:gd name="adj" fmla="val 12500"/>
            </a:avLst>
          </a:prstGeom>
          <a:solidFill>
            <a:srgbClr val="4B2A66"/>
          </a:solidFill>
          <a:ln/>
        </p:spPr>
      </p:sp>
      <p:sp>
        <p:nvSpPr>
          <p:cNvPr id="28" name="Agenda text 6"/>
          <p:cNvSpPr txBox="1"/>
          <p:nvPr/>
        </p:nvSpPr>
        <p:spPr>
          <a:xfrm>
            <a:off x="10015728" y="5486400"/>
            <a:ext cx="1551432" cy="731520"/>
          </a:xfrm>
          <a:prstGeom prst="rect">
            <a:avLst/>
          </a:prstGeom>
          <a:noFill/>
          <a:ln/>
        </p:spPr>
        <p:txBody>
          <a:bodyPr wrap="square" lIns="0" tIns="0" rIns="0" bIns="0" rtlCol="0" anchor="ctr"/>
          <a:lstStyle/>
          <a:p>
            <a:pPr indent="0" marL="0">
              <a:buNone/>
            </a:pPr>
            <a:r>
              <a:rPr lang="en-US" sz="1600" b="1" dirty="0">
                <a:solidFill>
                  <a:srgbClr val="FFFFFF"/>
                </a:solidFill>
              </a:rPr>
              <a:t>6  </a:t>
            </a:r>
            <a:pPr indent="0" marL="0">
              <a:buNone/>
            </a:pPr>
            <a:r>
              <a:rPr lang="en-US" sz="1300" dirty="0">
                <a:solidFill>
                  <a:srgbClr val="FFFFFF"/>
                </a:solidFill>
              </a:rPr>
              <a:t>Decisions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Business context and key requirements</a:t>
            </a:r>
            <a:endParaRPr lang="en-US" sz="3200" dirty="0"/>
          </a:p>
        </p:txBody>
      </p:sp>
      <p:sp>
        <p:nvSpPr>
          <p:cNvPr id="3" name="Today heading"/>
          <p:cNvSpPr txBox="1"/>
          <p:nvPr/>
        </p:nvSpPr>
        <p:spPr>
          <a:xfrm>
            <a:off x="548640" y="1234440"/>
            <a:ext cx="4480560" cy="365760"/>
          </a:xfrm>
          <a:prstGeom prst="rect">
            <a:avLst/>
          </a:prstGeom>
          <a:noFill/>
          <a:ln/>
        </p:spPr>
        <p:txBody>
          <a:bodyPr wrap="square" lIns="0" tIns="0" rIns="0" bIns="0" rtlCol="0" anchor="ctr"/>
          <a:lstStyle/>
          <a:p>
            <a:pPr indent="0" marL="0">
              <a:buNone/>
            </a:pPr>
            <a:r>
              <a:rPr lang="en-US" sz="1800" b="1" dirty="0">
                <a:solidFill>
                  <a:schemeClr val="accent1"/>
                </a:solidFill>
              </a:rPr>
              <a:t>Where we are today</a:t>
            </a:r>
            <a:endParaRPr lang="en-US" sz="1800" dirty="0"/>
          </a:p>
        </p:txBody>
      </p:sp>
      <p:sp>
        <p:nvSpPr>
          <p:cNvPr id="4" name="Stat card 1"/>
          <p:cNvSpPr/>
          <p:nvPr/>
        </p:nvSpPr>
        <p:spPr>
          <a:xfrm>
            <a:off x="548640" y="1737360"/>
            <a:ext cx="4480560" cy="914400"/>
          </a:xfrm>
          <a:prstGeom prst="roundRect">
            <a:avLst>
              <a:gd name="adj" fmla="val 8000"/>
            </a:avLst>
          </a:prstGeom>
          <a:solidFill>
            <a:schemeClr val="bg2"/>
          </a:solidFill>
          <a:ln/>
        </p:spPr>
      </p:sp>
      <p:pic>
        <p:nvPicPr>
          <p:cNvPr id="5" name="Stat icon 1" descr="preencoded.png">    </p:cNvPr>
          <p:cNvPicPr>
            <a:picLocks noChangeAspect="1"/>
          </p:cNvPicPr>
          <p:nvPr/>
        </p:nvPicPr>
        <p:blipFill>
          <a:blip r:embed="rId1"/>
          <a:stretch>
            <a:fillRect/>
          </a:stretch>
        </p:blipFill>
        <p:spPr>
          <a:xfrm>
            <a:off x="731520" y="1993392"/>
            <a:ext cx="402336" cy="402336"/>
          </a:xfrm>
          <a:prstGeom prst="rect">
            <a:avLst/>
          </a:prstGeom>
        </p:spPr>
      </p:pic>
      <p:sp>
        <p:nvSpPr>
          <p:cNvPr id="6" name="Stat text 1"/>
          <p:cNvSpPr txBox="1"/>
          <p:nvPr/>
        </p:nvSpPr>
        <p:spPr>
          <a:xfrm>
            <a:off x="1325880" y="1810512"/>
            <a:ext cx="3566160" cy="786384"/>
          </a:xfrm>
          <a:prstGeom prst="rect">
            <a:avLst/>
          </a:prstGeom>
          <a:noFill/>
          <a:ln/>
        </p:spPr>
        <p:txBody>
          <a:bodyPr wrap="square" lIns="0" tIns="0" rIns="0" bIns="0" rtlCol="0" anchor="ctr"/>
          <a:lstStyle/>
          <a:p>
            <a:pPr indent="0" marL="0">
              <a:buNone/>
            </a:pPr>
            <a:r>
              <a:rPr lang="en-US" sz="2000" b="1" dirty="0">
                <a:solidFill>
                  <a:srgbClr val="582873"/>
                </a:solidFill>
              </a:rPr>
              <a:t>Canada Central</a:t>
            </a:r>
            <a:endParaRPr lang="en-US" sz="2000" dirty="0"/>
          </a:p>
          <a:p>
            <a:pPr indent="0" marL="0">
              <a:buNone/>
            </a:pPr>
            <a:r>
              <a:rPr lang="en-US" sz="1200" dirty="0">
                <a:solidFill>
                  <a:srgbClr val="595959"/>
                </a:solidFill>
              </a:rPr>
              <a:t>Primary Azure region, zone-redundant; no workloads in Canada East (capacity)</a:t>
            </a:r>
            <a:endParaRPr lang="en-US" sz="2000" dirty="0"/>
          </a:p>
        </p:txBody>
      </p:sp>
      <p:sp>
        <p:nvSpPr>
          <p:cNvPr id="7" name="Stat card 2"/>
          <p:cNvSpPr/>
          <p:nvPr/>
        </p:nvSpPr>
        <p:spPr>
          <a:xfrm>
            <a:off x="548640" y="2816352"/>
            <a:ext cx="4480560" cy="914400"/>
          </a:xfrm>
          <a:prstGeom prst="roundRect">
            <a:avLst>
              <a:gd name="adj" fmla="val 8000"/>
            </a:avLst>
          </a:prstGeom>
          <a:solidFill>
            <a:schemeClr val="bg2"/>
          </a:solidFill>
          <a:ln/>
        </p:spPr>
      </p:sp>
      <p:pic>
        <p:nvPicPr>
          <p:cNvPr id="8" name="Stat icon 2" descr="preencoded.png">    </p:cNvPr>
          <p:cNvPicPr>
            <a:picLocks noChangeAspect="1"/>
          </p:cNvPicPr>
          <p:nvPr/>
        </p:nvPicPr>
        <p:blipFill>
          <a:blip r:embed="rId2"/>
          <a:stretch>
            <a:fillRect/>
          </a:stretch>
        </p:blipFill>
        <p:spPr>
          <a:xfrm>
            <a:off x="731520" y="3072384"/>
            <a:ext cx="402336" cy="402336"/>
          </a:xfrm>
          <a:prstGeom prst="rect">
            <a:avLst/>
          </a:prstGeom>
        </p:spPr>
      </p:pic>
      <p:sp>
        <p:nvSpPr>
          <p:cNvPr id="9" name="Stat text 2"/>
          <p:cNvSpPr txBox="1"/>
          <p:nvPr/>
        </p:nvSpPr>
        <p:spPr>
          <a:xfrm>
            <a:off x="1325880" y="2889504"/>
            <a:ext cx="3566160" cy="786384"/>
          </a:xfrm>
          <a:prstGeom prst="rect">
            <a:avLst/>
          </a:prstGeom>
          <a:noFill/>
          <a:ln/>
        </p:spPr>
        <p:txBody>
          <a:bodyPr wrap="square" lIns="0" tIns="0" rIns="0" bIns="0" rtlCol="0" anchor="ctr"/>
          <a:lstStyle/>
          <a:p>
            <a:pPr indent="0" marL="0">
              <a:buNone/>
            </a:pPr>
            <a:r>
              <a:rPr lang="en-US" sz="2000" b="1" dirty="0">
                <a:solidFill>
                  <a:srgbClr val="582873"/>
                </a:solidFill>
              </a:rPr>
              <a:t>~100 TB</a:t>
            </a:r>
            <a:endParaRPr lang="en-US" sz="2000" dirty="0"/>
          </a:p>
          <a:p>
            <a:pPr indent="0" marL="0">
              <a:buNone/>
            </a:pPr>
            <a:r>
              <a:rPr lang="en-US" sz="1200" dirty="0">
                <a:solidFill>
                  <a:srgbClr val="595959"/>
                </a:solidFill>
              </a:rPr>
              <a:t>Azure data protected today, growing ~25% a year</a:t>
            </a:r>
            <a:endParaRPr lang="en-US" sz="2000" dirty="0"/>
          </a:p>
        </p:txBody>
      </p:sp>
      <p:sp>
        <p:nvSpPr>
          <p:cNvPr id="10" name="Stat card 3"/>
          <p:cNvSpPr/>
          <p:nvPr/>
        </p:nvSpPr>
        <p:spPr>
          <a:xfrm>
            <a:off x="548640" y="3895344"/>
            <a:ext cx="4480560" cy="914400"/>
          </a:xfrm>
          <a:prstGeom prst="roundRect">
            <a:avLst>
              <a:gd name="adj" fmla="val 8000"/>
            </a:avLst>
          </a:prstGeom>
          <a:solidFill>
            <a:schemeClr val="bg2"/>
          </a:solidFill>
          <a:ln/>
        </p:spPr>
      </p:sp>
      <p:pic>
        <p:nvPicPr>
          <p:cNvPr id="11" name="Stat icon 3" descr="preencoded.png">    </p:cNvPr>
          <p:cNvPicPr>
            <a:picLocks noChangeAspect="1"/>
          </p:cNvPicPr>
          <p:nvPr/>
        </p:nvPicPr>
        <p:blipFill>
          <a:blip r:embed="rId3"/>
          <a:stretch>
            <a:fillRect/>
          </a:stretch>
        </p:blipFill>
        <p:spPr>
          <a:xfrm>
            <a:off x="731520" y="4151376"/>
            <a:ext cx="402336" cy="402336"/>
          </a:xfrm>
          <a:prstGeom prst="rect">
            <a:avLst/>
          </a:prstGeom>
        </p:spPr>
      </p:pic>
      <p:sp>
        <p:nvSpPr>
          <p:cNvPr id="12" name="Stat text 3"/>
          <p:cNvSpPr txBox="1"/>
          <p:nvPr/>
        </p:nvSpPr>
        <p:spPr>
          <a:xfrm>
            <a:off x="1325880" y="3968496"/>
            <a:ext cx="3566160" cy="786384"/>
          </a:xfrm>
          <a:prstGeom prst="rect">
            <a:avLst/>
          </a:prstGeom>
          <a:noFill/>
          <a:ln/>
        </p:spPr>
        <p:txBody>
          <a:bodyPr wrap="square" lIns="0" tIns="0" rIns="0" bIns="0" rtlCol="0" anchor="ctr"/>
          <a:lstStyle/>
          <a:p>
            <a:pPr indent="0" marL="0">
              <a:buNone/>
            </a:pPr>
            <a:r>
              <a:rPr lang="en-US" sz="2000" b="1" dirty="0">
                <a:solidFill>
                  <a:srgbClr val="582873"/>
                </a:solidFill>
              </a:rPr>
              <a:t>In production</a:t>
            </a:r>
            <a:endParaRPr lang="en-US" sz="2000" dirty="0"/>
          </a:p>
          <a:p>
            <a:pPr indent="0" marL="0">
              <a:buNone/>
            </a:pPr>
            <a:r>
              <a:rPr lang="en-US" sz="1200" dirty="0">
                <a:solidFill>
                  <a:srgbClr val="595959"/>
                </a:solidFill>
              </a:rPr>
              <a:t>Azure Backup already protects supported Azure workloads</a:t>
            </a:r>
            <a:endParaRPr lang="en-US" sz="2000" dirty="0"/>
          </a:p>
        </p:txBody>
      </p:sp>
      <p:sp>
        <p:nvSpPr>
          <p:cNvPr id="13" name="Stat card 4"/>
          <p:cNvSpPr/>
          <p:nvPr/>
        </p:nvSpPr>
        <p:spPr>
          <a:xfrm>
            <a:off x="548640" y="4974336"/>
            <a:ext cx="4480560" cy="914400"/>
          </a:xfrm>
          <a:prstGeom prst="roundRect">
            <a:avLst>
              <a:gd name="adj" fmla="val 8000"/>
            </a:avLst>
          </a:prstGeom>
          <a:solidFill>
            <a:schemeClr val="bg2"/>
          </a:solidFill>
          <a:ln/>
        </p:spPr>
      </p:sp>
      <p:pic>
        <p:nvPicPr>
          <p:cNvPr id="14" name="Stat icon 4" descr="preencoded.png">    </p:cNvPr>
          <p:cNvPicPr>
            <a:picLocks noChangeAspect="1"/>
          </p:cNvPicPr>
          <p:nvPr/>
        </p:nvPicPr>
        <p:blipFill>
          <a:blip r:embed="rId4"/>
          <a:stretch>
            <a:fillRect/>
          </a:stretch>
        </p:blipFill>
        <p:spPr>
          <a:xfrm>
            <a:off x="731520" y="5230368"/>
            <a:ext cx="402336" cy="402336"/>
          </a:xfrm>
          <a:prstGeom prst="rect">
            <a:avLst/>
          </a:prstGeom>
        </p:spPr>
      </p:pic>
      <p:sp>
        <p:nvSpPr>
          <p:cNvPr id="15" name="Stat text 4"/>
          <p:cNvSpPr txBox="1"/>
          <p:nvPr/>
        </p:nvSpPr>
        <p:spPr>
          <a:xfrm>
            <a:off x="1325880" y="5047488"/>
            <a:ext cx="3566160" cy="786384"/>
          </a:xfrm>
          <a:prstGeom prst="rect">
            <a:avLst/>
          </a:prstGeom>
          <a:noFill/>
          <a:ln/>
        </p:spPr>
        <p:txBody>
          <a:bodyPr wrap="square" lIns="0" tIns="0" rIns="0" bIns="0" rtlCol="0" anchor="ctr"/>
          <a:lstStyle/>
          <a:p>
            <a:pPr indent="0" marL="0">
              <a:buNone/>
            </a:pPr>
            <a:r>
              <a:rPr lang="en-US" sz="2000" b="1" dirty="0">
                <a:solidFill>
                  <a:srgbClr val="582873"/>
                </a:solidFill>
              </a:rPr>
              <a:t>AWS</a:t>
            </a:r>
            <a:endParaRPr lang="en-US" sz="2000" dirty="0"/>
          </a:p>
          <a:p>
            <a:pPr indent="0" marL="0">
              <a:buNone/>
            </a:pPr>
            <a:r>
              <a:rPr lang="en-US" sz="1200" dirty="0">
                <a:solidFill>
                  <a:srgbClr val="595959"/>
                </a:solidFill>
              </a:rPr>
              <a:t>Possible future cloud; no re-platforming when adopted</a:t>
            </a:r>
            <a:endParaRPr lang="en-US" sz="2000" dirty="0"/>
          </a:p>
        </p:txBody>
      </p:sp>
      <p:sp>
        <p:nvSpPr>
          <p:cNvPr id="16" name="Needs heading"/>
          <p:cNvSpPr txBox="1"/>
          <p:nvPr/>
        </p:nvSpPr>
        <p:spPr>
          <a:xfrm>
            <a:off x="5394960" y="1234440"/>
            <a:ext cx="6217920" cy="365760"/>
          </a:xfrm>
          <a:prstGeom prst="rect">
            <a:avLst/>
          </a:prstGeom>
          <a:noFill/>
          <a:ln/>
        </p:spPr>
        <p:txBody>
          <a:bodyPr wrap="square" lIns="0" tIns="0" rIns="0" bIns="0" rtlCol="0" anchor="ctr"/>
          <a:lstStyle/>
          <a:p>
            <a:pPr indent="0" marL="0">
              <a:buNone/>
            </a:pPr>
            <a:r>
              <a:rPr lang="en-US" sz="1800" b="1" dirty="0">
                <a:solidFill>
                  <a:schemeClr val="accent1"/>
                </a:solidFill>
              </a:rPr>
              <a:t>What the business needs</a:t>
            </a:r>
            <a:endParaRPr lang="en-US" sz="1800" dirty="0"/>
          </a:p>
        </p:txBody>
      </p:sp>
      <p:sp>
        <p:nvSpPr>
          <p:cNvPr id="17" name="Need 1 circle"/>
          <p:cNvSpPr/>
          <p:nvPr/>
        </p:nvSpPr>
        <p:spPr>
          <a:xfrm>
            <a:off x="5394960" y="1783080"/>
            <a:ext cx="548640" cy="548640"/>
          </a:xfrm>
          <a:prstGeom prst="ellipse">
            <a:avLst/>
          </a:prstGeom>
          <a:solidFill>
            <a:srgbClr val="582873"/>
          </a:solidFill>
          <a:ln/>
        </p:spPr>
      </p:sp>
      <p:pic>
        <p:nvPicPr>
          <p:cNvPr id="18" name="Need 1 icon" descr="preencoded.png">    </p:cNvPr>
          <p:cNvPicPr>
            <a:picLocks noChangeAspect="1"/>
          </p:cNvPicPr>
          <p:nvPr/>
        </p:nvPicPr>
        <p:blipFill>
          <a:blip r:embed="rId5"/>
          <a:stretch>
            <a:fillRect/>
          </a:stretch>
        </p:blipFill>
        <p:spPr>
          <a:xfrm>
            <a:off x="5532120" y="1920240"/>
            <a:ext cx="274320" cy="274320"/>
          </a:xfrm>
          <a:prstGeom prst="rect">
            <a:avLst/>
          </a:prstGeom>
        </p:spPr>
      </p:pic>
      <p:sp>
        <p:nvSpPr>
          <p:cNvPr id="19" name="Need text 1"/>
          <p:cNvSpPr txBox="1"/>
          <p:nvPr/>
        </p:nvSpPr>
        <p:spPr>
          <a:xfrm>
            <a:off x="6080760" y="1737360"/>
            <a:ext cx="2331720" cy="1051560"/>
          </a:xfrm>
          <a:prstGeom prst="rect">
            <a:avLst/>
          </a:prstGeom>
          <a:noFill/>
          <a:ln/>
        </p:spPr>
        <p:txBody>
          <a:bodyPr wrap="square" lIns="0" tIns="0" rIns="0" bIns="0" rtlCol="0" anchor="t"/>
          <a:lstStyle/>
          <a:p>
            <a:pPr indent="0" marL="0">
              <a:buNone/>
            </a:pPr>
            <a:r>
              <a:rPr lang="en-US" sz="1500" b="1" dirty="0">
                <a:solidFill>
                  <a:srgbClr val="262626"/>
                </a:solidFill>
              </a:rPr>
              <a:t>Data stays in Canada</a:t>
            </a:r>
            <a:endParaRPr lang="en-US" sz="1500" dirty="0"/>
          </a:p>
          <a:p>
            <a:pPr indent="0" marL="0">
              <a:buNone/>
            </a:pPr>
            <a:r>
              <a:rPr lang="en-US" sz="1300" dirty="0">
                <a:solidFill>
                  <a:srgbClr val="595959"/>
                </a:solidFill>
              </a:rPr>
              <a:t>Production data, backup copies, replicas and metadata</a:t>
            </a:r>
            <a:endParaRPr lang="en-US" sz="1500" dirty="0"/>
          </a:p>
        </p:txBody>
      </p:sp>
      <p:sp>
        <p:nvSpPr>
          <p:cNvPr id="20" name="Need 2 circle"/>
          <p:cNvSpPr/>
          <p:nvPr/>
        </p:nvSpPr>
        <p:spPr>
          <a:xfrm>
            <a:off x="8549640" y="1783080"/>
            <a:ext cx="548640" cy="548640"/>
          </a:xfrm>
          <a:prstGeom prst="ellipse">
            <a:avLst/>
          </a:prstGeom>
          <a:solidFill>
            <a:srgbClr val="582873"/>
          </a:solidFill>
          <a:ln/>
        </p:spPr>
      </p:sp>
      <p:pic>
        <p:nvPicPr>
          <p:cNvPr id="21" name="Need 2 icon" descr="preencoded.png">    </p:cNvPr>
          <p:cNvPicPr>
            <a:picLocks noChangeAspect="1"/>
          </p:cNvPicPr>
          <p:nvPr/>
        </p:nvPicPr>
        <p:blipFill>
          <a:blip r:embed="rId6"/>
          <a:stretch>
            <a:fillRect/>
          </a:stretch>
        </p:blipFill>
        <p:spPr>
          <a:xfrm>
            <a:off x="8686800" y="1920240"/>
            <a:ext cx="274320" cy="274320"/>
          </a:xfrm>
          <a:prstGeom prst="rect">
            <a:avLst/>
          </a:prstGeom>
        </p:spPr>
      </p:pic>
      <p:sp>
        <p:nvSpPr>
          <p:cNvPr id="22" name="Need text 2"/>
          <p:cNvSpPr txBox="1"/>
          <p:nvPr/>
        </p:nvSpPr>
        <p:spPr>
          <a:xfrm>
            <a:off x="9235440" y="1737360"/>
            <a:ext cx="2331720" cy="1051560"/>
          </a:xfrm>
          <a:prstGeom prst="rect">
            <a:avLst/>
          </a:prstGeom>
          <a:noFill/>
          <a:ln/>
        </p:spPr>
        <p:txBody>
          <a:bodyPr wrap="square" lIns="0" tIns="0" rIns="0" bIns="0" rtlCol="0" anchor="t"/>
          <a:lstStyle/>
          <a:p>
            <a:pPr indent="0" marL="0">
              <a:buNone/>
            </a:pPr>
            <a:r>
              <a:rPr lang="en-US" sz="1500" b="1" dirty="0">
                <a:solidFill>
                  <a:srgbClr val="262626"/>
                </a:solidFill>
              </a:rPr>
              <a:t>Isolated offsite copy</a:t>
            </a:r>
            <a:endParaRPr lang="en-US" sz="1500" dirty="0"/>
          </a:p>
          <a:p>
            <a:pPr indent="0" marL="0">
              <a:buNone/>
            </a:pPr>
            <a:r>
              <a:rPr lang="en-US" sz="1300" dirty="0">
                <a:solidFill>
                  <a:srgbClr val="595959"/>
                </a:solidFill>
              </a:rPr>
              <a:t>A separate copy in Canada; zone redundancy alone is not enough</a:t>
            </a:r>
            <a:endParaRPr lang="en-US" sz="1500" dirty="0"/>
          </a:p>
        </p:txBody>
      </p:sp>
      <p:sp>
        <p:nvSpPr>
          <p:cNvPr id="23" name="Need 3 circle"/>
          <p:cNvSpPr/>
          <p:nvPr/>
        </p:nvSpPr>
        <p:spPr>
          <a:xfrm>
            <a:off x="5394960" y="3017520"/>
            <a:ext cx="548640" cy="548640"/>
          </a:xfrm>
          <a:prstGeom prst="ellipse">
            <a:avLst/>
          </a:prstGeom>
          <a:solidFill>
            <a:srgbClr val="582873"/>
          </a:solidFill>
          <a:ln/>
        </p:spPr>
      </p:sp>
      <p:pic>
        <p:nvPicPr>
          <p:cNvPr id="24" name="Need 3 icon" descr="preencoded.png">    </p:cNvPr>
          <p:cNvPicPr>
            <a:picLocks noChangeAspect="1"/>
          </p:cNvPicPr>
          <p:nvPr/>
        </p:nvPicPr>
        <p:blipFill>
          <a:blip r:embed="rId7"/>
          <a:stretch>
            <a:fillRect/>
          </a:stretch>
        </p:blipFill>
        <p:spPr>
          <a:xfrm>
            <a:off x="5532120" y="3154680"/>
            <a:ext cx="274320" cy="274320"/>
          </a:xfrm>
          <a:prstGeom prst="rect">
            <a:avLst/>
          </a:prstGeom>
        </p:spPr>
      </p:pic>
      <p:sp>
        <p:nvSpPr>
          <p:cNvPr id="25" name="Need text 3"/>
          <p:cNvSpPr txBox="1"/>
          <p:nvPr/>
        </p:nvSpPr>
        <p:spPr>
          <a:xfrm>
            <a:off x="6080760" y="2971800"/>
            <a:ext cx="2331720" cy="1051560"/>
          </a:xfrm>
          <a:prstGeom prst="rect">
            <a:avLst/>
          </a:prstGeom>
          <a:noFill/>
          <a:ln/>
        </p:spPr>
        <p:txBody>
          <a:bodyPr wrap="square" lIns="0" tIns="0" rIns="0" bIns="0" rtlCol="0" anchor="t"/>
          <a:lstStyle/>
          <a:p>
            <a:pPr indent="0" marL="0">
              <a:buNone/>
            </a:pPr>
            <a:r>
              <a:rPr lang="en-US" sz="1500" b="1" dirty="0">
                <a:solidFill>
                  <a:srgbClr val="262626"/>
                </a:solidFill>
              </a:rPr>
              <a:t>Rebuild deleted environments</a:t>
            </a:r>
            <a:endParaRPr lang="en-US" sz="1500" dirty="0"/>
          </a:p>
          <a:p>
            <a:pPr indent="0" marL="0">
              <a:buNone/>
            </a:pPr>
            <a:r>
              <a:rPr lang="en-US" sz="1300" dirty="0">
                <a:solidFill>
                  <a:srgbClr val="595959"/>
                </a:solidFill>
              </a:rPr>
              <a:t>Resource groups, networks and app configuration, not just data</a:t>
            </a:r>
            <a:endParaRPr lang="en-US" sz="1500" dirty="0"/>
          </a:p>
        </p:txBody>
      </p:sp>
      <p:sp>
        <p:nvSpPr>
          <p:cNvPr id="26" name="Need 4 circle"/>
          <p:cNvSpPr/>
          <p:nvPr/>
        </p:nvSpPr>
        <p:spPr>
          <a:xfrm>
            <a:off x="8549640" y="3017520"/>
            <a:ext cx="548640" cy="548640"/>
          </a:xfrm>
          <a:prstGeom prst="ellipse">
            <a:avLst/>
          </a:prstGeom>
          <a:solidFill>
            <a:srgbClr val="582873"/>
          </a:solidFill>
          <a:ln/>
        </p:spPr>
      </p:sp>
      <p:pic>
        <p:nvPicPr>
          <p:cNvPr id="27" name="Need 4 icon" descr="preencoded.png">    </p:cNvPr>
          <p:cNvPicPr>
            <a:picLocks noChangeAspect="1"/>
          </p:cNvPicPr>
          <p:nvPr/>
        </p:nvPicPr>
        <p:blipFill>
          <a:blip r:embed="rId8"/>
          <a:stretch>
            <a:fillRect/>
          </a:stretch>
        </p:blipFill>
        <p:spPr>
          <a:xfrm>
            <a:off x="8686800" y="3154680"/>
            <a:ext cx="274320" cy="274320"/>
          </a:xfrm>
          <a:prstGeom prst="rect">
            <a:avLst/>
          </a:prstGeom>
        </p:spPr>
      </p:pic>
      <p:sp>
        <p:nvSpPr>
          <p:cNvPr id="28" name="Need text 4"/>
          <p:cNvSpPr txBox="1"/>
          <p:nvPr/>
        </p:nvSpPr>
        <p:spPr>
          <a:xfrm>
            <a:off x="9235440" y="2971800"/>
            <a:ext cx="2331720" cy="1051560"/>
          </a:xfrm>
          <a:prstGeom prst="rect">
            <a:avLst/>
          </a:prstGeom>
          <a:noFill/>
          <a:ln/>
        </p:spPr>
        <p:txBody>
          <a:bodyPr wrap="square" lIns="0" tIns="0" rIns="0" bIns="0" rtlCol="0" anchor="t"/>
          <a:lstStyle/>
          <a:p>
            <a:pPr indent="0" marL="0">
              <a:buNone/>
            </a:pPr>
            <a:r>
              <a:rPr lang="en-US" sz="1500" b="1" dirty="0">
                <a:solidFill>
                  <a:srgbClr val="262626"/>
                </a:solidFill>
              </a:rPr>
              <a:t>DevOps and GitHub protected</a:t>
            </a:r>
            <a:endParaRPr lang="en-US" sz="1500" dirty="0"/>
          </a:p>
          <a:p>
            <a:pPr indent="0" marL="0">
              <a:buNone/>
            </a:pPr>
            <a:r>
              <a:rPr lang="en-US" sz="1300" dirty="0">
                <a:solidFill>
                  <a:srgbClr val="595959"/>
                </a:solidFill>
              </a:rPr>
              <a:t>Source code, pipelines and Infrastructure as Code</a:t>
            </a:r>
            <a:endParaRPr lang="en-US" sz="1500" dirty="0"/>
          </a:p>
        </p:txBody>
      </p:sp>
      <p:sp>
        <p:nvSpPr>
          <p:cNvPr id="29" name="Need 5 circle"/>
          <p:cNvSpPr/>
          <p:nvPr/>
        </p:nvSpPr>
        <p:spPr>
          <a:xfrm>
            <a:off x="5394960" y="4251960"/>
            <a:ext cx="548640" cy="548640"/>
          </a:xfrm>
          <a:prstGeom prst="ellipse">
            <a:avLst/>
          </a:prstGeom>
          <a:solidFill>
            <a:srgbClr val="582873"/>
          </a:solidFill>
          <a:ln/>
        </p:spPr>
      </p:sp>
      <p:pic>
        <p:nvPicPr>
          <p:cNvPr id="30" name="Need 5 icon" descr="preencoded.png">    </p:cNvPr>
          <p:cNvPicPr>
            <a:picLocks noChangeAspect="1"/>
          </p:cNvPicPr>
          <p:nvPr/>
        </p:nvPicPr>
        <p:blipFill>
          <a:blip r:embed="rId9"/>
          <a:stretch>
            <a:fillRect/>
          </a:stretch>
        </p:blipFill>
        <p:spPr>
          <a:xfrm>
            <a:off x="5532120" y="4389120"/>
            <a:ext cx="274320" cy="274320"/>
          </a:xfrm>
          <a:prstGeom prst="rect">
            <a:avLst/>
          </a:prstGeom>
        </p:spPr>
      </p:pic>
      <p:sp>
        <p:nvSpPr>
          <p:cNvPr id="31" name="Need text 5"/>
          <p:cNvSpPr txBox="1"/>
          <p:nvPr/>
        </p:nvSpPr>
        <p:spPr>
          <a:xfrm>
            <a:off x="6080760" y="4206240"/>
            <a:ext cx="2331720" cy="1051560"/>
          </a:xfrm>
          <a:prstGeom prst="rect">
            <a:avLst/>
          </a:prstGeom>
          <a:noFill/>
          <a:ln/>
        </p:spPr>
        <p:txBody>
          <a:bodyPr wrap="square" lIns="0" tIns="0" rIns="0" bIns="0" rtlCol="0" anchor="t"/>
          <a:lstStyle/>
          <a:p>
            <a:pPr indent="0" marL="0">
              <a:buNone/>
            </a:pPr>
            <a:r>
              <a:rPr lang="en-US" sz="1500" b="1" dirty="0">
                <a:solidFill>
                  <a:srgbClr val="262626"/>
                </a:solidFill>
              </a:rPr>
              <a:t>Entra ID recoverable</a:t>
            </a:r>
            <a:endParaRPr lang="en-US" sz="1500" dirty="0"/>
          </a:p>
          <a:p>
            <a:pPr indent="0" marL="0">
              <a:buNone/>
            </a:pPr>
            <a:r>
              <a:rPr lang="en-US" sz="1300" dirty="0">
                <a:solidFill>
                  <a:srgbClr val="595959"/>
                </a:solidFill>
              </a:rPr>
              <a:t>Users, groups, apps and access policies after errors or attack</a:t>
            </a:r>
            <a:endParaRPr lang="en-US" sz="1500" dirty="0"/>
          </a:p>
        </p:txBody>
      </p:sp>
      <p:sp>
        <p:nvSpPr>
          <p:cNvPr id="32" name="Need 6 circle"/>
          <p:cNvSpPr/>
          <p:nvPr/>
        </p:nvSpPr>
        <p:spPr>
          <a:xfrm>
            <a:off x="8549640" y="4251960"/>
            <a:ext cx="548640" cy="548640"/>
          </a:xfrm>
          <a:prstGeom prst="ellipse">
            <a:avLst/>
          </a:prstGeom>
          <a:solidFill>
            <a:srgbClr val="582873"/>
          </a:solidFill>
          <a:ln/>
        </p:spPr>
      </p:sp>
      <p:pic>
        <p:nvPicPr>
          <p:cNvPr id="33" name="Need 6 icon" descr="preencoded.png">    </p:cNvPr>
          <p:cNvPicPr>
            <a:picLocks noChangeAspect="1"/>
          </p:cNvPicPr>
          <p:nvPr/>
        </p:nvPicPr>
        <p:blipFill>
          <a:blip r:embed="rId10"/>
          <a:stretch>
            <a:fillRect/>
          </a:stretch>
        </p:blipFill>
        <p:spPr>
          <a:xfrm>
            <a:off x="8686800" y="4389120"/>
            <a:ext cx="274320" cy="274320"/>
          </a:xfrm>
          <a:prstGeom prst="rect">
            <a:avLst/>
          </a:prstGeom>
        </p:spPr>
      </p:pic>
      <p:sp>
        <p:nvSpPr>
          <p:cNvPr id="34" name="Need text 6"/>
          <p:cNvSpPr txBox="1"/>
          <p:nvPr/>
        </p:nvSpPr>
        <p:spPr>
          <a:xfrm>
            <a:off x="9235440" y="4206240"/>
            <a:ext cx="2331720" cy="1051560"/>
          </a:xfrm>
          <a:prstGeom prst="rect">
            <a:avLst/>
          </a:prstGeom>
          <a:noFill/>
          <a:ln/>
        </p:spPr>
        <p:txBody>
          <a:bodyPr wrap="square" lIns="0" tIns="0" rIns="0" bIns="0" rtlCol="0" anchor="t"/>
          <a:lstStyle/>
          <a:p>
            <a:pPr indent="0" marL="0">
              <a:buNone/>
            </a:pPr>
            <a:r>
              <a:rPr lang="en-US" sz="1500" b="1" dirty="0">
                <a:solidFill>
                  <a:srgbClr val="262626"/>
                </a:solidFill>
              </a:rPr>
              <a:t>Ransomware-resilient</a:t>
            </a:r>
            <a:endParaRPr lang="en-US" sz="1500" dirty="0"/>
          </a:p>
          <a:p>
            <a:pPr indent="0" marL="0">
              <a:buNone/>
            </a:pPr>
            <a:r>
              <a:rPr lang="en-US" sz="1300" dirty="0">
                <a:solidFill>
                  <a:srgbClr val="595959"/>
                </a:solidFill>
              </a:rPr>
              <a:t>Immutable backups, multi-person approval, tested recovery</a:t>
            </a:r>
            <a:endParaRPr lang="en-US" sz="1500" dirty="0"/>
          </a:p>
        </p:txBody>
      </p:sp>
      <p:sp>
        <p:nvSpPr>
          <p:cNvPr id="35" name="Balance note box"/>
          <p:cNvSpPr/>
          <p:nvPr/>
        </p:nvSpPr>
        <p:spPr>
          <a:xfrm>
            <a:off x="5394960" y="5440680"/>
            <a:ext cx="6245352" cy="685800"/>
          </a:xfrm>
          <a:prstGeom prst="roundRect">
            <a:avLst>
              <a:gd name="adj" fmla="val 10667"/>
            </a:avLst>
          </a:prstGeom>
          <a:solidFill>
            <a:srgbClr val="EEF6EA"/>
          </a:solidFill>
          <a:ln/>
        </p:spPr>
      </p:sp>
      <p:pic>
        <p:nvPicPr>
          <p:cNvPr id="36" name="Balance note icon" descr="preencoded.png">    </p:cNvPr>
          <p:cNvPicPr>
            <a:picLocks noChangeAspect="1"/>
          </p:cNvPicPr>
          <p:nvPr/>
        </p:nvPicPr>
        <p:blipFill>
          <a:blip r:embed="rId11"/>
          <a:stretch>
            <a:fillRect/>
          </a:stretch>
        </p:blipFill>
        <p:spPr>
          <a:xfrm>
            <a:off x="5559552" y="5605272"/>
            <a:ext cx="347472" cy="347472"/>
          </a:xfrm>
          <a:prstGeom prst="rect">
            <a:avLst/>
          </a:prstGeom>
        </p:spPr>
      </p:pic>
      <p:sp>
        <p:nvSpPr>
          <p:cNvPr id="37" name="Balance note"/>
          <p:cNvSpPr txBox="1"/>
          <p:nvPr/>
        </p:nvSpPr>
        <p:spPr>
          <a:xfrm>
            <a:off x="6035040" y="5440680"/>
            <a:ext cx="5486400" cy="685800"/>
          </a:xfrm>
          <a:prstGeom prst="rect">
            <a:avLst/>
          </a:prstGeom>
          <a:noFill/>
          <a:ln/>
        </p:spPr>
        <p:txBody>
          <a:bodyPr wrap="square" lIns="0" tIns="0" rIns="0" bIns="0" rtlCol="0" anchor="ctr"/>
          <a:lstStyle/>
          <a:p>
            <a:pPr indent="0" marL="0">
              <a:buNone/>
            </a:pPr>
            <a:r>
              <a:rPr lang="en-US" sz="1300" dirty="0">
                <a:solidFill>
                  <a:srgbClr val="262626"/>
                </a:solidFill>
              </a:rPr>
              <a:t>Azure Backup works well for in-region protection today. The gaps come from enterprise-wide needs: isolation, environment rebuild, DevOps, identity and AWS.</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Proposed solution: extend Commvault to cloud workloads</a:t>
            </a:r>
            <a:endParaRPr lang="en-US" sz="3200" dirty="0"/>
          </a:p>
        </p:txBody>
      </p:sp>
      <p:sp>
        <p:nvSpPr>
          <p:cNvPr id="3" name="Option card A"/>
          <p:cNvSpPr/>
          <p:nvPr/>
        </p:nvSpPr>
        <p:spPr>
          <a:xfrm>
            <a:off x="548640" y="1280160"/>
            <a:ext cx="3514344" cy="3931920"/>
          </a:xfrm>
          <a:prstGeom prst="roundRect">
            <a:avLst>
              <a:gd name="adj" fmla="val 2602"/>
            </a:avLst>
          </a:prstGeom>
          <a:solidFill>
            <a:srgbClr val="F4EFF8"/>
          </a:solidFill>
          <a:ln w="31750">
            <a:solidFill>
              <a:srgbClr val="582873"/>
            </a:solidFill>
            <a:prstDash val="solid"/>
          </a:ln>
          <a:effectLst>
            <a:outerShdw sx="100000" sy="100000" kx="0" ky="0" algn="bl" rotWithShape="0" blurRad="76200" dist="25400" dir="5400000">
              <a:srgbClr val="000000">
                <a:alpha val="12000"/>
              </a:srgbClr>
            </a:outerShdw>
          </a:effectLst>
        </p:spPr>
      </p:sp>
      <p:sp>
        <p:nvSpPr>
          <p:cNvPr id="4" name="Verdict A"/>
          <p:cNvSpPr txBox="1"/>
          <p:nvPr/>
        </p:nvSpPr>
        <p:spPr>
          <a:xfrm>
            <a:off x="777240" y="1463040"/>
            <a:ext cx="3057144" cy="274320"/>
          </a:xfrm>
          <a:prstGeom prst="rect">
            <a:avLst/>
          </a:prstGeom>
          <a:noFill/>
          <a:ln/>
        </p:spPr>
        <p:txBody>
          <a:bodyPr wrap="square" lIns="0" tIns="0" rIns="0" bIns="0" rtlCol="0" anchor="ctr"/>
          <a:lstStyle/>
          <a:p>
            <a:pPr indent="0" marL="0">
              <a:buNone/>
            </a:pPr>
            <a:r>
              <a:rPr lang="en-US" sz="1100" b="1" spc="100" kern="0" dirty="0">
                <a:solidFill>
                  <a:srgbClr val="582873"/>
                </a:solidFill>
              </a:rPr>
              <a:t>RECOMMENDED</a:t>
            </a:r>
            <a:endParaRPr lang="en-US" sz="1100" dirty="0"/>
          </a:p>
        </p:txBody>
      </p:sp>
      <p:sp>
        <p:nvSpPr>
          <p:cNvPr id="5" name="Option name A"/>
          <p:cNvSpPr txBox="1"/>
          <p:nvPr/>
        </p:nvSpPr>
        <p:spPr>
          <a:xfrm>
            <a:off x="777240" y="1737360"/>
            <a:ext cx="3057144" cy="411480"/>
          </a:xfrm>
          <a:prstGeom prst="rect">
            <a:avLst/>
          </a:prstGeom>
          <a:noFill/>
          <a:ln/>
        </p:spPr>
        <p:txBody>
          <a:bodyPr wrap="square" lIns="0" tIns="0" rIns="0" bIns="0" rtlCol="0" anchor="ctr"/>
          <a:lstStyle/>
          <a:p>
            <a:pPr indent="0" marL="0">
              <a:buNone/>
            </a:pPr>
            <a:r>
              <a:rPr lang="en-US" sz="2000" b="1" dirty="0">
                <a:solidFill>
                  <a:srgbClr val="262626"/>
                </a:solidFill>
              </a:rPr>
              <a:t>Option A: Commvault</a:t>
            </a:r>
            <a:endParaRPr lang="en-US" sz="2000" dirty="0"/>
          </a:p>
        </p:txBody>
      </p:sp>
      <p:sp>
        <p:nvSpPr>
          <p:cNvPr id="6" name="Option tagline A"/>
          <p:cNvSpPr txBox="1"/>
          <p:nvPr/>
        </p:nvSpPr>
        <p:spPr>
          <a:xfrm>
            <a:off x="777240" y="2148840"/>
            <a:ext cx="3057144" cy="594360"/>
          </a:xfrm>
          <a:prstGeom prst="rect">
            <a:avLst/>
          </a:prstGeom>
          <a:noFill/>
          <a:ln/>
        </p:spPr>
        <p:txBody>
          <a:bodyPr wrap="square" lIns="0" tIns="0" rIns="0" bIns="0" rtlCol="0" anchor="t"/>
          <a:lstStyle/>
          <a:p>
            <a:pPr indent="0" marL="0">
              <a:buNone/>
            </a:pPr>
            <a:r>
              <a:rPr lang="en-US" sz="1300" dirty="0">
                <a:solidFill>
                  <a:srgbClr val="595959"/>
                </a:solidFill>
              </a:rPr>
              <a:t>Extend the platform already used for on-premises and Microsoft 365</a:t>
            </a:r>
            <a:endParaRPr lang="en-US" sz="1300" dirty="0"/>
          </a:p>
        </p:txBody>
      </p:sp>
      <p:sp>
        <p:nvSpPr>
          <p:cNvPr id="7" name="Option cost A"/>
          <p:cNvSpPr txBox="1"/>
          <p:nvPr/>
        </p:nvSpPr>
        <p:spPr>
          <a:xfrm>
            <a:off x="777240" y="2788920"/>
            <a:ext cx="1737360" cy="822960"/>
          </a:xfrm>
          <a:prstGeom prst="rect">
            <a:avLst/>
          </a:prstGeom>
          <a:noFill/>
          <a:ln/>
        </p:spPr>
        <p:txBody>
          <a:bodyPr wrap="square" lIns="0" tIns="0" rIns="0" bIns="0" rtlCol="0" anchor="t"/>
          <a:lstStyle/>
          <a:p>
            <a:pPr indent="0" marL="0">
              <a:buNone/>
            </a:pPr>
            <a:r>
              <a:rPr lang="en-US" sz="3000" b="1" dirty="0">
                <a:solidFill>
                  <a:srgbClr val="582873"/>
                </a:solidFill>
              </a:rPr>
              <a:t>$4.4M</a:t>
            </a:r>
            <a:endParaRPr lang="en-US" sz="3000" dirty="0"/>
          </a:p>
          <a:p>
            <a:pPr indent="0" marL="0">
              <a:buNone/>
            </a:pPr>
            <a:r>
              <a:rPr lang="en-US" sz="1100" dirty="0">
                <a:solidFill>
                  <a:srgbClr val="595959"/>
                </a:solidFill>
              </a:rPr>
              <a:t>5-year ROM (CAD)</a:t>
            </a:r>
            <a:endParaRPr lang="en-US" sz="3000" dirty="0"/>
          </a:p>
        </p:txBody>
      </p:sp>
      <p:sp>
        <p:nvSpPr>
          <p:cNvPr id="8" name="Option score A"/>
          <p:cNvSpPr txBox="1"/>
          <p:nvPr/>
        </p:nvSpPr>
        <p:spPr>
          <a:xfrm>
            <a:off x="2560320" y="2788920"/>
            <a:ext cx="1371600" cy="822960"/>
          </a:xfrm>
          <a:prstGeom prst="rect">
            <a:avLst/>
          </a:prstGeom>
          <a:noFill/>
          <a:ln/>
        </p:spPr>
        <p:txBody>
          <a:bodyPr wrap="square" lIns="0" tIns="0" rIns="0" bIns="0" rtlCol="0" anchor="t"/>
          <a:lstStyle/>
          <a:p>
            <a:pPr indent="0" marL="0">
              <a:buNone/>
            </a:pPr>
            <a:r>
              <a:rPr lang="en-US" sz="3000" b="1" dirty="0">
                <a:solidFill>
                  <a:srgbClr val="582873"/>
                </a:solidFill>
              </a:rPr>
              <a:t>4.0</a:t>
            </a:r>
            <a:endParaRPr lang="en-US" sz="3000" dirty="0"/>
          </a:p>
          <a:p>
            <a:pPr indent="0" marL="0">
              <a:buNone/>
            </a:pPr>
            <a:r>
              <a:rPr lang="en-US" sz="1100" dirty="0">
                <a:solidFill>
                  <a:srgbClr val="595959"/>
                </a:solidFill>
              </a:rPr>
              <a:t>Decision score / 5</a:t>
            </a:r>
            <a:endParaRPr lang="en-US" sz="3000" dirty="0"/>
          </a:p>
        </p:txBody>
      </p:sp>
      <p:sp>
        <p:nvSpPr>
          <p:cNvPr id="9" name="Option points A"/>
          <p:cNvSpPr txBox="1"/>
          <p:nvPr/>
        </p:nvSpPr>
        <p:spPr>
          <a:xfrm>
            <a:off x="777240" y="3703320"/>
            <a:ext cx="3102864"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62626"/>
                </a:solidFill>
              </a:rPr>
              <a:t>Isolated offsite copy; environment rebuild</a:t>
            </a:r>
            <a:endParaRPr lang="en-US" sz="1400" dirty="0"/>
          </a:p>
          <a:p>
            <a:pPr marL="342900" indent="-342900">
              <a:spcAft>
                <a:spcPts val="400"/>
              </a:spcAft>
              <a:buSzPct val="100000"/>
              <a:buChar char="•"/>
            </a:pPr>
            <a:r>
              <a:rPr lang="en-US" sz="1400" dirty="0">
                <a:solidFill>
                  <a:srgbClr val="262626"/>
                </a:solidFill>
              </a:rPr>
              <a:t>DevOps, Entra ID and AWS on one platform</a:t>
            </a:r>
            <a:endParaRPr lang="en-US" sz="1400" dirty="0"/>
          </a:p>
          <a:p>
            <a:pPr marL="342900" indent="-342900">
              <a:spcAft>
                <a:spcPts val="400"/>
              </a:spcAft>
              <a:buSzPct val="100000"/>
              <a:buChar char="•"/>
            </a:pPr>
            <a:r>
              <a:rPr lang="en-US" sz="1400" dirty="0">
                <a:solidFill>
                  <a:srgbClr val="262626"/>
                </a:solidFill>
              </a:rPr>
              <a:t>Condition: resolve control-plane residency</a:t>
            </a:r>
            <a:endParaRPr lang="en-US" sz="1400" dirty="0"/>
          </a:p>
        </p:txBody>
      </p:sp>
      <p:sp>
        <p:nvSpPr>
          <p:cNvPr id="10" name="Option card B"/>
          <p:cNvSpPr/>
          <p:nvPr/>
        </p:nvSpPr>
        <p:spPr>
          <a:xfrm>
            <a:off x="4337304" y="1280160"/>
            <a:ext cx="3514344" cy="3931920"/>
          </a:xfrm>
          <a:prstGeom prst="roundRect">
            <a:avLst>
              <a:gd name="adj" fmla="val 2602"/>
            </a:avLst>
          </a:prstGeom>
          <a:solidFill>
            <a:srgbClr val="F2F2F2"/>
          </a:solidFill>
          <a:ln/>
        </p:spPr>
      </p:sp>
      <p:sp>
        <p:nvSpPr>
          <p:cNvPr id="11" name="Verdict B"/>
          <p:cNvSpPr txBox="1"/>
          <p:nvPr/>
        </p:nvSpPr>
        <p:spPr>
          <a:xfrm>
            <a:off x="4565904" y="1463040"/>
            <a:ext cx="3057144" cy="274320"/>
          </a:xfrm>
          <a:prstGeom prst="rect">
            <a:avLst/>
          </a:prstGeom>
          <a:noFill/>
          <a:ln/>
        </p:spPr>
        <p:txBody>
          <a:bodyPr wrap="square" lIns="0" tIns="0" rIns="0" bIns="0" rtlCol="0" anchor="ctr"/>
          <a:lstStyle/>
          <a:p>
            <a:pPr indent="0" marL="0">
              <a:buNone/>
            </a:pPr>
            <a:r>
              <a:rPr lang="en-US" sz="1100" b="1" spc="100" kern="0" dirty="0">
                <a:solidFill>
                  <a:srgbClr val="7F7F7F"/>
                </a:solidFill>
              </a:rPr>
              <a:t>NOT RECOMMENDED</a:t>
            </a:r>
            <a:endParaRPr lang="en-US" sz="1100" dirty="0"/>
          </a:p>
        </p:txBody>
      </p:sp>
      <p:sp>
        <p:nvSpPr>
          <p:cNvPr id="12" name="Option name B"/>
          <p:cNvSpPr txBox="1"/>
          <p:nvPr/>
        </p:nvSpPr>
        <p:spPr>
          <a:xfrm>
            <a:off x="4565904" y="1737360"/>
            <a:ext cx="3057144" cy="411480"/>
          </a:xfrm>
          <a:prstGeom prst="rect">
            <a:avLst/>
          </a:prstGeom>
          <a:noFill/>
          <a:ln/>
        </p:spPr>
        <p:txBody>
          <a:bodyPr wrap="square" lIns="0" tIns="0" rIns="0" bIns="0" rtlCol="0" anchor="ctr"/>
          <a:lstStyle/>
          <a:p>
            <a:pPr indent="0" marL="0">
              <a:buNone/>
            </a:pPr>
            <a:r>
              <a:rPr lang="en-US" sz="2000" b="1" dirty="0">
                <a:solidFill>
                  <a:srgbClr val="262626"/>
                </a:solidFill>
              </a:rPr>
              <a:t>Option B: Rubrik</a:t>
            </a:r>
            <a:endParaRPr lang="en-US" sz="2000" dirty="0"/>
          </a:p>
        </p:txBody>
      </p:sp>
      <p:sp>
        <p:nvSpPr>
          <p:cNvPr id="13" name="Option tagline B"/>
          <p:cNvSpPr txBox="1"/>
          <p:nvPr/>
        </p:nvSpPr>
        <p:spPr>
          <a:xfrm>
            <a:off x="4565904" y="2148840"/>
            <a:ext cx="3057144" cy="594360"/>
          </a:xfrm>
          <a:prstGeom prst="rect">
            <a:avLst/>
          </a:prstGeom>
          <a:noFill/>
          <a:ln/>
        </p:spPr>
        <p:txBody>
          <a:bodyPr wrap="square" lIns="0" tIns="0" rIns="0" bIns="0" rtlCol="0" anchor="t"/>
          <a:lstStyle/>
          <a:p>
            <a:pPr indent="0" marL="0">
              <a:buNone/>
            </a:pPr>
            <a:r>
              <a:rPr lang="en-US" sz="1300" dirty="0">
                <a:solidFill>
                  <a:srgbClr val="595959"/>
                </a:solidFill>
              </a:rPr>
              <a:t>New third-party platform for cloud, alongside Commvault on-premises</a:t>
            </a:r>
            <a:endParaRPr lang="en-US" sz="1300" dirty="0"/>
          </a:p>
        </p:txBody>
      </p:sp>
      <p:sp>
        <p:nvSpPr>
          <p:cNvPr id="14" name="Option cost B"/>
          <p:cNvSpPr txBox="1"/>
          <p:nvPr/>
        </p:nvSpPr>
        <p:spPr>
          <a:xfrm>
            <a:off x="4565904" y="2788920"/>
            <a:ext cx="1737360" cy="822960"/>
          </a:xfrm>
          <a:prstGeom prst="rect">
            <a:avLst/>
          </a:prstGeom>
          <a:noFill/>
          <a:ln/>
        </p:spPr>
        <p:txBody>
          <a:bodyPr wrap="square" lIns="0" tIns="0" rIns="0" bIns="0" rtlCol="0" anchor="t"/>
          <a:lstStyle/>
          <a:p>
            <a:pPr indent="0" marL="0">
              <a:buNone/>
            </a:pPr>
            <a:r>
              <a:rPr lang="en-US" sz="3000" b="1" dirty="0">
                <a:solidFill>
                  <a:srgbClr val="7F7F7F"/>
                </a:solidFill>
              </a:rPr>
              <a:t>$5.4M</a:t>
            </a:r>
            <a:endParaRPr lang="en-US" sz="3000" dirty="0"/>
          </a:p>
          <a:p>
            <a:pPr indent="0" marL="0">
              <a:buNone/>
            </a:pPr>
            <a:r>
              <a:rPr lang="en-US" sz="1100" dirty="0">
                <a:solidFill>
                  <a:srgbClr val="595959"/>
                </a:solidFill>
              </a:rPr>
              <a:t>5-year ROM (CAD)</a:t>
            </a:r>
            <a:endParaRPr lang="en-US" sz="3000" dirty="0"/>
          </a:p>
        </p:txBody>
      </p:sp>
      <p:sp>
        <p:nvSpPr>
          <p:cNvPr id="15" name="Option score B"/>
          <p:cNvSpPr txBox="1"/>
          <p:nvPr/>
        </p:nvSpPr>
        <p:spPr>
          <a:xfrm>
            <a:off x="6348984" y="2788920"/>
            <a:ext cx="1371600" cy="822960"/>
          </a:xfrm>
          <a:prstGeom prst="rect">
            <a:avLst/>
          </a:prstGeom>
          <a:noFill/>
          <a:ln/>
        </p:spPr>
        <p:txBody>
          <a:bodyPr wrap="square" lIns="0" tIns="0" rIns="0" bIns="0" rtlCol="0" anchor="t"/>
          <a:lstStyle/>
          <a:p>
            <a:pPr indent="0" marL="0">
              <a:buNone/>
            </a:pPr>
            <a:r>
              <a:rPr lang="en-US" sz="3000" b="1" dirty="0">
                <a:solidFill>
                  <a:srgbClr val="7F7F7F"/>
                </a:solidFill>
              </a:rPr>
              <a:t>3.5</a:t>
            </a:r>
            <a:endParaRPr lang="en-US" sz="3000" dirty="0"/>
          </a:p>
          <a:p>
            <a:pPr indent="0" marL="0">
              <a:buNone/>
            </a:pPr>
            <a:r>
              <a:rPr lang="en-US" sz="1100" dirty="0">
                <a:solidFill>
                  <a:srgbClr val="595959"/>
                </a:solidFill>
              </a:rPr>
              <a:t>Decision score / 5</a:t>
            </a:r>
            <a:endParaRPr lang="en-US" sz="3000" dirty="0"/>
          </a:p>
        </p:txBody>
      </p:sp>
      <p:sp>
        <p:nvSpPr>
          <p:cNvPr id="16" name="Option points B"/>
          <p:cNvSpPr txBox="1"/>
          <p:nvPr/>
        </p:nvSpPr>
        <p:spPr>
          <a:xfrm>
            <a:off x="4565904" y="3703320"/>
            <a:ext cx="3102864"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62626"/>
                </a:solidFill>
              </a:rPr>
              <a:t>Strongest default security</a:t>
            </a:r>
            <a:endParaRPr lang="en-US" sz="1400" dirty="0"/>
          </a:p>
          <a:p>
            <a:pPr marL="342900" indent="-342900">
              <a:spcAft>
                <a:spcPts val="400"/>
              </a:spcAft>
              <a:buSzPct val="100000"/>
              <a:buChar char="•"/>
            </a:pPr>
            <a:r>
              <a:rPr lang="en-US" sz="1400" dirty="0">
                <a:solidFill>
                  <a:srgbClr val="262626"/>
                </a:solidFill>
              </a:rPr>
              <a:t>Second enterprise platform to run</a:t>
            </a:r>
            <a:endParaRPr lang="en-US" sz="1400" dirty="0"/>
          </a:p>
          <a:p>
            <a:pPr marL="342900" indent="-342900">
              <a:spcAft>
                <a:spcPts val="400"/>
              </a:spcAft>
              <a:buSzPct val="100000"/>
              <a:buChar char="•"/>
            </a:pPr>
            <a:r>
              <a:rPr lang="en-US" sz="1400" dirty="0">
                <a:solidFill>
                  <a:srgbClr val="262626"/>
                </a:solidFill>
              </a:rPr>
              <a:t>Highest cost; rebuild relies on IaC</a:t>
            </a:r>
            <a:endParaRPr lang="en-US" sz="1400" dirty="0"/>
          </a:p>
        </p:txBody>
      </p:sp>
      <p:sp>
        <p:nvSpPr>
          <p:cNvPr id="17" name="Option card C"/>
          <p:cNvSpPr/>
          <p:nvPr/>
        </p:nvSpPr>
        <p:spPr>
          <a:xfrm>
            <a:off x="8125968" y="1280160"/>
            <a:ext cx="3514344" cy="3931920"/>
          </a:xfrm>
          <a:prstGeom prst="roundRect">
            <a:avLst>
              <a:gd name="adj" fmla="val 2602"/>
            </a:avLst>
          </a:prstGeom>
          <a:solidFill>
            <a:srgbClr val="EAF4F3"/>
          </a:solidFill>
          <a:ln/>
        </p:spPr>
      </p:sp>
      <p:sp>
        <p:nvSpPr>
          <p:cNvPr id="18" name="Verdict C"/>
          <p:cNvSpPr txBox="1"/>
          <p:nvPr/>
        </p:nvSpPr>
        <p:spPr>
          <a:xfrm>
            <a:off x="8354568" y="1463040"/>
            <a:ext cx="3057144" cy="274320"/>
          </a:xfrm>
          <a:prstGeom prst="rect">
            <a:avLst/>
          </a:prstGeom>
          <a:noFill/>
          <a:ln/>
        </p:spPr>
        <p:txBody>
          <a:bodyPr wrap="square" lIns="0" tIns="0" rIns="0" bIns="0" rtlCol="0" anchor="ctr"/>
          <a:lstStyle/>
          <a:p>
            <a:pPr indent="0" marL="0">
              <a:buNone/>
            </a:pPr>
            <a:r>
              <a:rPr lang="en-US" sz="1100" b="1" spc="100" kern="0" dirty="0">
                <a:solidFill>
                  <a:srgbClr val="2E8B88"/>
                </a:solidFill>
              </a:rPr>
              <a:t>CREDIBLE LOWER-COST ALTERNATIVE</a:t>
            </a:r>
            <a:endParaRPr lang="en-US" sz="1100" dirty="0"/>
          </a:p>
        </p:txBody>
      </p:sp>
      <p:sp>
        <p:nvSpPr>
          <p:cNvPr id="19" name="Option name C"/>
          <p:cNvSpPr txBox="1"/>
          <p:nvPr/>
        </p:nvSpPr>
        <p:spPr>
          <a:xfrm>
            <a:off x="8354568" y="1737360"/>
            <a:ext cx="3057144" cy="411480"/>
          </a:xfrm>
          <a:prstGeom prst="rect">
            <a:avLst/>
          </a:prstGeom>
          <a:noFill/>
          <a:ln/>
        </p:spPr>
        <p:txBody>
          <a:bodyPr wrap="square" lIns="0" tIns="0" rIns="0" bIns="0" rtlCol="0" anchor="ctr"/>
          <a:lstStyle/>
          <a:p>
            <a:pPr indent="0" marL="0">
              <a:buNone/>
            </a:pPr>
            <a:r>
              <a:rPr lang="en-US" sz="2000" b="1" dirty="0">
                <a:solidFill>
                  <a:srgbClr val="262626"/>
                </a:solidFill>
              </a:rPr>
              <a:t>Option C: Azure Backup</a:t>
            </a:r>
            <a:endParaRPr lang="en-US" sz="2000" dirty="0"/>
          </a:p>
        </p:txBody>
      </p:sp>
      <p:sp>
        <p:nvSpPr>
          <p:cNvPr id="20" name="Option tagline C"/>
          <p:cNvSpPr txBox="1"/>
          <p:nvPr/>
        </p:nvSpPr>
        <p:spPr>
          <a:xfrm>
            <a:off x="8354568" y="2148840"/>
            <a:ext cx="3057144" cy="594360"/>
          </a:xfrm>
          <a:prstGeom prst="rect">
            <a:avLst/>
          </a:prstGeom>
          <a:noFill/>
          <a:ln/>
        </p:spPr>
        <p:txBody>
          <a:bodyPr wrap="square" lIns="0" tIns="0" rIns="0" bIns="0" rtlCol="0" anchor="t"/>
          <a:lstStyle/>
          <a:p>
            <a:pPr indent="0" marL="0">
              <a:buNone/>
            </a:pPr>
            <a:r>
              <a:rPr lang="en-US" sz="1300" dirty="0">
                <a:solidFill>
                  <a:srgbClr val="595959"/>
                </a:solidFill>
              </a:rPr>
              <a:t>Keep and enhance the native service already in production</a:t>
            </a:r>
            <a:endParaRPr lang="en-US" sz="1300" dirty="0"/>
          </a:p>
        </p:txBody>
      </p:sp>
      <p:sp>
        <p:nvSpPr>
          <p:cNvPr id="21" name="Option cost C"/>
          <p:cNvSpPr txBox="1"/>
          <p:nvPr/>
        </p:nvSpPr>
        <p:spPr>
          <a:xfrm>
            <a:off x="8354568" y="2788920"/>
            <a:ext cx="1737360" cy="822960"/>
          </a:xfrm>
          <a:prstGeom prst="rect">
            <a:avLst/>
          </a:prstGeom>
          <a:noFill/>
          <a:ln/>
        </p:spPr>
        <p:txBody>
          <a:bodyPr wrap="square" lIns="0" tIns="0" rIns="0" bIns="0" rtlCol="0" anchor="t"/>
          <a:lstStyle/>
          <a:p>
            <a:pPr indent="0" marL="0">
              <a:buNone/>
            </a:pPr>
            <a:r>
              <a:rPr lang="en-US" sz="3000" b="1" dirty="0">
                <a:solidFill>
                  <a:srgbClr val="2E8B88"/>
                </a:solidFill>
              </a:rPr>
              <a:t>$2.3M</a:t>
            </a:r>
            <a:endParaRPr lang="en-US" sz="3000" dirty="0"/>
          </a:p>
          <a:p>
            <a:pPr indent="0" marL="0">
              <a:buNone/>
            </a:pPr>
            <a:r>
              <a:rPr lang="en-US" sz="1100" dirty="0">
                <a:solidFill>
                  <a:srgbClr val="595959"/>
                </a:solidFill>
              </a:rPr>
              <a:t>5-year ROM (CAD)</a:t>
            </a:r>
            <a:endParaRPr lang="en-US" sz="3000" dirty="0"/>
          </a:p>
        </p:txBody>
      </p:sp>
      <p:sp>
        <p:nvSpPr>
          <p:cNvPr id="22" name="Option score C"/>
          <p:cNvSpPr txBox="1"/>
          <p:nvPr/>
        </p:nvSpPr>
        <p:spPr>
          <a:xfrm>
            <a:off x="10137648" y="2788920"/>
            <a:ext cx="1371600" cy="822960"/>
          </a:xfrm>
          <a:prstGeom prst="rect">
            <a:avLst/>
          </a:prstGeom>
          <a:noFill/>
          <a:ln/>
        </p:spPr>
        <p:txBody>
          <a:bodyPr wrap="square" lIns="0" tIns="0" rIns="0" bIns="0" rtlCol="0" anchor="t"/>
          <a:lstStyle/>
          <a:p>
            <a:pPr indent="0" marL="0">
              <a:buNone/>
            </a:pPr>
            <a:r>
              <a:rPr lang="en-US" sz="3000" b="1" dirty="0">
                <a:solidFill>
                  <a:srgbClr val="2E8B88"/>
                </a:solidFill>
              </a:rPr>
              <a:t>3.3</a:t>
            </a:r>
            <a:endParaRPr lang="en-US" sz="3000" dirty="0"/>
          </a:p>
          <a:p>
            <a:pPr indent="0" marL="0">
              <a:buNone/>
            </a:pPr>
            <a:r>
              <a:rPr lang="en-US" sz="1100" dirty="0">
                <a:solidFill>
                  <a:srgbClr val="595959"/>
                </a:solidFill>
              </a:rPr>
              <a:t>Decision score / 5</a:t>
            </a:r>
            <a:endParaRPr lang="en-US" sz="3000" dirty="0"/>
          </a:p>
        </p:txBody>
      </p:sp>
      <p:sp>
        <p:nvSpPr>
          <p:cNvPr id="23" name="Option points C"/>
          <p:cNvSpPr txBox="1"/>
          <p:nvPr/>
        </p:nvSpPr>
        <p:spPr>
          <a:xfrm>
            <a:off x="8354568" y="3703320"/>
            <a:ext cx="3102864"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62626"/>
                </a:solidFill>
              </a:rPr>
              <a:t>Lowest cost; no migration</a:t>
            </a:r>
            <a:endParaRPr lang="en-US" sz="1400" dirty="0"/>
          </a:p>
          <a:p>
            <a:pPr marL="342900" indent="-342900">
              <a:spcAft>
                <a:spcPts val="400"/>
              </a:spcAft>
              <a:buSzPct val="100000"/>
              <a:buChar char="•"/>
            </a:pPr>
            <a:r>
              <a:rPr lang="en-US" sz="1400" dirty="0">
                <a:solidFill>
                  <a:srgbClr val="262626"/>
                </a:solidFill>
              </a:rPr>
              <a:t>Offsite copy in the same tenant</a:t>
            </a:r>
            <a:endParaRPr lang="en-US" sz="1400" dirty="0"/>
          </a:p>
          <a:p>
            <a:pPr marL="342900" indent="-342900">
              <a:spcAft>
                <a:spcPts val="400"/>
              </a:spcAft>
              <a:buSzPct val="100000"/>
              <a:buChar char="•"/>
            </a:pPr>
            <a:r>
              <a:rPr lang="en-US" sz="1400" dirty="0">
                <a:solidFill>
                  <a:srgbClr val="262626"/>
                </a:solidFill>
              </a:rPr>
              <a:t>7-day native Entra ID recovery; no AWS path</a:t>
            </a:r>
            <a:endParaRPr lang="en-US" sz="1400" dirty="0"/>
          </a:p>
        </p:txBody>
      </p:sp>
      <p:sp>
        <p:nvSpPr>
          <p:cNvPr id="24" name="Recommendation box"/>
          <p:cNvSpPr/>
          <p:nvPr/>
        </p:nvSpPr>
        <p:spPr>
          <a:xfrm>
            <a:off x="548640" y="5440680"/>
            <a:ext cx="11091672" cy="731520"/>
          </a:xfrm>
          <a:prstGeom prst="roundRect">
            <a:avLst>
              <a:gd name="adj" fmla="val 10000"/>
            </a:avLst>
          </a:prstGeom>
          <a:solidFill>
            <a:srgbClr val="3A1D52"/>
          </a:solidFill>
          <a:ln/>
        </p:spPr>
      </p:sp>
      <p:sp>
        <p:nvSpPr>
          <p:cNvPr id="25" name="Recommendation text"/>
          <p:cNvSpPr txBox="1"/>
          <p:nvPr/>
        </p:nvSpPr>
        <p:spPr>
          <a:xfrm>
            <a:off x="777240" y="5440680"/>
            <a:ext cx="10698480" cy="731520"/>
          </a:xfrm>
          <a:prstGeom prst="rect">
            <a:avLst/>
          </a:prstGeom>
          <a:noFill/>
          <a:ln/>
        </p:spPr>
        <p:txBody>
          <a:bodyPr wrap="square" lIns="0" tIns="0" rIns="0" bIns="0" rtlCol="0" anchor="ctr"/>
          <a:lstStyle/>
          <a:p>
            <a:pPr indent="0" marL="0">
              <a:buNone/>
            </a:pPr>
            <a:r>
              <a:rPr lang="en-US" sz="1400" b="1" dirty="0">
                <a:solidFill>
                  <a:srgbClr val="FFFFFF"/>
                </a:solidFill>
              </a:rPr>
              <a:t>Recommendation: </a:t>
            </a:r>
            <a:pPr indent="0" marL="0">
              <a:buNone/>
            </a:pPr>
            <a:r>
              <a:rPr lang="en-US" sz="1400" dirty="0">
                <a:solidFill>
                  <a:srgbClr val="D9C8E8"/>
                </a:solidFill>
              </a:rPr>
              <a:t>adopt Option A, keeping native Azure PITR for PaaS databases. Option C is the fallback if the residency condition cannot be met, or if AWS is not expected and a same-tenant offsite copy is acceptable.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Key capabilities and business benefits (Option A)</a:t>
            </a:r>
            <a:endParaRPr lang="en-US" sz="3200" dirty="0"/>
          </a:p>
        </p:txBody>
      </p:sp>
      <p:sp>
        <p:nvSpPr>
          <p:cNvPr id="3" name="Feature card 1"/>
          <p:cNvSpPr/>
          <p:nvPr/>
        </p:nvSpPr>
        <p:spPr>
          <a:xfrm>
            <a:off x="548640" y="1280160"/>
            <a:ext cx="3514344" cy="2057400"/>
          </a:xfrm>
          <a:prstGeom prst="roundRect">
            <a:avLst>
              <a:gd name="adj" fmla="val 4444"/>
            </a:avLst>
          </a:prstGeom>
          <a:solidFill>
            <a:srgbClr val="FFFFFF"/>
          </a:solidFill>
          <a:ln w="12700">
            <a:solidFill>
              <a:srgbClr val="E3D9EC"/>
            </a:solidFill>
            <a:prstDash val="solid"/>
          </a:ln>
          <a:effectLst>
            <a:outerShdw sx="100000" sy="100000" kx="0" ky="0" algn="bl" rotWithShape="0" blurRad="76200" dist="25400" dir="5400000">
              <a:srgbClr val="000000">
                <a:alpha val="12000"/>
              </a:srgbClr>
            </a:outerShdw>
          </a:effectLst>
        </p:spPr>
      </p:sp>
      <p:sp>
        <p:nvSpPr>
          <p:cNvPr id="4" name="Feature 1 circle"/>
          <p:cNvSpPr/>
          <p:nvPr/>
        </p:nvSpPr>
        <p:spPr>
          <a:xfrm>
            <a:off x="777240" y="1508760"/>
            <a:ext cx="594360" cy="594360"/>
          </a:xfrm>
          <a:prstGeom prst="ellipse">
            <a:avLst/>
          </a:prstGeom>
          <a:solidFill>
            <a:srgbClr val="582873"/>
          </a:solidFill>
          <a:ln/>
        </p:spPr>
      </p:sp>
      <p:pic>
        <p:nvPicPr>
          <p:cNvPr id="5" name="Feature 1 icon" descr="preencoded.png">    </p:cNvPr>
          <p:cNvPicPr>
            <a:picLocks noChangeAspect="1"/>
          </p:cNvPicPr>
          <p:nvPr/>
        </p:nvPicPr>
        <p:blipFill>
          <a:blip r:embed="rId1"/>
          <a:stretch>
            <a:fillRect/>
          </a:stretch>
        </p:blipFill>
        <p:spPr>
          <a:xfrm>
            <a:off x="925830" y="1657350"/>
            <a:ext cx="297180" cy="297180"/>
          </a:xfrm>
          <a:prstGeom prst="rect">
            <a:avLst/>
          </a:prstGeom>
        </p:spPr>
      </p:pic>
      <p:sp>
        <p:nvSpPr>
          <p:cNvPr id="6" name="Feature heading 1"/>
          <p:cNvSpPr txBox="1"/>
          <p:nvPr/>
        </p:nvSpPr>
        <p:spPr>
          <a:xfrm>
            <a:off x="1508760" y="1508760"/>
            <a:ext cx="2371344" cy="594360"/>
          </a:xfrm>
          <a:prstGeom prst="rect">
            <a:avLst/>
          </a:prstGeom>
          <a:noFill/>
          <a:ln/>
        </p:spPr>
        <p:txBody>
          <a:bodyPr wrap="square" lIns="0" tIns="0" rIns="0" bIns="0" rtlCol="0" anchor="ctr"/>
          <a:lstStyle/>
          <a:p>
            <a:pPr indent="0" marL="0">
              <a:buNone/>
            </a:pPr>
            <a:r>
              <a:rPr lang="en-US" sz="1700" b="1" dirty="0">
                <a:solidFill>
                  <a:srgbClr val="262626"/>
                </a:solidFill>
              </a:rPr>
              <a:t>One platform, one team</a:t>
            </a:r>
            <a:endParaRPr lang="en-US" sz="1700" dirty="0"/>
          </a:p>
        </p:txBody>
      </p:sp>
      <p:sp>
        <p:nvSpPr>
          <p:cNvPr id="7" name="Feature text 1"/>
          <p:cNvSpPr txBox="1"/>
          <p:nvPr/>
        </p:nvSpPr>
        <p:spPr>
          <a:xfrm>
            <a:off x="777240" y="2194560"/>
            <a:ext cx="3057144" cy="731520"/>
          </a:xfrm>
          <a:prstGeom prst="rect">
            <a:avLst/>
          </a:prstGeom>
          <a:noFill/>
          <a:ln/>
        </p:spPr>
        <p:txBody>
          <a:bodyPr wrap="square" lIns="0" tIns="0" rIns="0" bIns="0" rtlCol="0" anchor="t"/>
          <a:lstStyle/>
          <a:p>
            <a:pPr indent="0" marL="0">
              <a:buNone/>
            </a:pPr>
            <a:r>
              <a:rPr lang="en-US" sz="1400" dirty="0">
                <a:solidFill>
                  <a:srgbClr val="404040"/>
                </a:solidFill>
              </a:rPr>
              <a:t>On-premises, Microsoft 365 and cloud backup managed together</a:t>
            </a:r>
            <a:endParaRPr lang="en-US" sz="1400" dirty="0"/>
          </a:p>
        </p:txBody>
      </p:sp>
      <p:sp>
        <p:nvSpPr>
          <p:cNvPr id="8" name="Feature benefit 1"/>
          <p:cNvSpPr txBox="1"/>
          <p:nvPr/>
        </p:nvSpPr>
        <p:spPr>
          <a:xfrm>
            <a:off x="777240" y="2816352"/>
            <a:ext cx="3057144" cy="411480"/>
          </a:xfrm>
          <a:prstGeom prst="rect">
            <a:avLst/>
          </a:prstGeom>
          <a:noFill/>
          <a:ln/>
        </p:spPr>
        <p:txBody>
          <a:bodyPr wrap="square" lIns="0" tIns="0" rIns="0" bIns="0" rtlCol="0" anchor="t"/>
          <a:lstStyle/>
          <a:p>
            <a:pPr indent="0" marL="0">
              <a:buNone/>
            </a:pPr>
            <a:r>
              <a:rPr lang="en-US" sz="1200" b="1" dirty="0">
                <a:solidFill>
                  <a:srgbClr val="2E8B88"/>
                </a:solidFill>
              </a:rPr>
              <a:t>Benefit: </a:t>
            </a:r>
            <a:pPr indent="0" marL="0">
              <a:buNone/>
            </a:pPr>
            <a:r>
              <a:rPr lang="en-US" sz="1200" i="1" dirty="0">
                <a:solidFill>
                  <a:srgbClr val="2E8B88"/>
                </a:solidFill>
              </a:rPr>
              <a:t>Simpler operations, one audit trail</a:t>
            </a:r>
            <a:endParaRPr lang="en-US" sz="1200" dirty="0"/>
          </a:p>
        </p:txBody>
      </p:sp>
      <p:sp>
        <p:nvSpPr>
          <p:cNvPr id="9" name="Feature card 2"/>
          <p:cNvSpPr/>
          <p:nvPr/>
        </p:nvSpPr>
        <p:spPr>
          <a:xfrm>
            <a:off x="4337304" y="1280160"/>
            <a:ext cx="3514344" cy="2057400"/>
          </a:xfrm>
          <a:prstGeom prst="roundRect">
            <a:avLst>
              <a:gd name="adj" fmla="val 4444"/>
            </a:avLst>
          </a:prstGeom>
          <a:solidFill>
            <a:srgbClr val="FFFFFF"/>
          </a:solidFill>
          <a:ln w="12700">
            <a:solidFill>
              <a:srgbClr val="E3D9EC"/>
            </a:solidFill>
            <a:prstDash val="solid"/>
          </a:ln>
          <a:effectLst>
            <a:outerShdw sx="100000" sy="100000" kx="0" ky="0" algn="bl" rotWithShape="0" blurRad="76200" dist="25400" dir="5400000">
              <a:srgbClr val="000000">
                <a:alpha val="12000"/>
              </a:srgbClr>
            </a:outerShdw>
          </a:effectLst>
        </p:spPr>
      </p:sp>
      <p:sp>
        <p:nvSpPr>
          <p:cNvPr id="10" name="Feature 2 circle"/>
          <p:cNvSpPr/>
          <p:nvPr/>
        </p:nvSpPr>
        <p:spPr>
          <a:xfrm>
            <a:off x="4565904" y="1508760"/>
            <a:ext cx="594360" cy="594360"/>
          </a:xfrm>
          <a:prstGeom prst="ellipse">
            <a:avLst/>
          </a:prstGeom>
          <a:solidFill>
            <a:srgbClr val="AD1D84"/>
          </a:solidFill>
          <a:ln/>
        </p:spPr>
      </p:sp>
      <p:pic>
        <p:nvPicPr>
          <p:cNvPr id="11" name="Feature 2 icon" descr="preencoded.png">    </p:cNvPr>
          <p:cNvPicPr>
            <a:picLocks noChangeAspect="1"/>
          </p:cNvPicPr>
          <p:nvPr/>
        </p:nvPicPr>
        <p:blipFill>
          <a:blip r:embed="rId2"/>
          <a:stretch>
            <a:fillRect/>
          </a:stretch>
        </p:blipFill>
        <p:spPr>
          <a:xfrm>
            <a:off x="4714494" y="1657350"/>
            <a:ext cx="297180" cy="297180"/>
          </a:xfrm>
          <a:prstGeom prst="rect">
            <a:avLst/>
          </a:prstGeom>
        </p:spPr>
      </p:pic>
      <p:sp>
        <p:nvSpPr>
          <p:cNvPr id="12" name="Feature heading 2"/>
          <p:cNvSpPr txBox="1"/>
          <p:nvPr/>
        </p:nvSpPr>
        <p:spPr>
          <a:xfrm>
            <a:off x="5297424" y="1508760"/>
            <a:ext cx="2371344" cy="594360"/>
          </a:xfrm>
          <a:prstGeom prst="rect">
            <a:avLst/>
          </a:prstGeom>
          <a:noFill/>
          <a:ln/>
        </p:spPr>
        <p:txBody>
          <a:bodyPr wrap="square" lIns="0" tIns="0" rIns="0" bIns="0" rtlCol="0" anchor="ctr"/>
          <a:lstStyle/>
          <a:p>
            <a:pPr indent="0" marL="0">
              <a:buNone/>
            </a:pPr>
            <a:r>
              <a:rPr lang="en-US" sz="1700" b="1" dirty="0">
                <a:solidFill>
                  <a:srgbClr val="262626"/>
                </a:solidFill>
              </a:rPr>
              <a:t>Isolated offsite copy in Canada</a:t>
            </a:r>
            <a:endParaRPr lang="en-US" sz="1700" dirty="0"/>
          </a:p>
        </p:txBody>
      </p:sp>
      <p:sp>
        <p:nvSpPr>
          <p:cNvPr id="13" name="Feature text 2"/>
          <p:cNvSpPr txBox="1"/>
          <p:nvPr/>
        </p:nvSpPr>
        <p:spPr>
          <a:xfrm>
            <a:off x="4565904" y="2194560"/>
            <a:ext cx="3057144" cy="731520"/>
          </a:xfrm>
          <a:prstGeom prst="rect">
            <a:avLst/>
          </a:prstGeom>
          <a:noFill/>
          <a:ln/>
        </p:spPr>
        <p:txBody>
          <a:bodyPr wrap="square" lIns="0" tIns="0" rIns="0" bIns="0" rtlCol="0" anchor="t"/>
          <a:lstStyle/>
          <a:p>
            <a:pPr indent="0" marL="0">
              <a:buNone/>
            </a:pPr>
            <a:r>
              <a:rPr lang="en-US" sz="1400" dirty="0">
                <a:solidFill>
                  <a:srgbClr val="404040"/>
                </a:solidFill>
              </a:rPr>
              <a:t>Immutable copy in a separate tenant, plus an optional on-premises copy</a:t>
            </a:r>
            <a:endParaRPr lang="en-US" sz="1400" dirty="0"/>
          </a:p>
        </p:txBody>
      </p:sp>
      <p:sp>
        <p:nvSpPr>
          <p:cNvPr id="14" name="Feature benefit 2"/>
          <p:cNvSpPr txBox="1"/>
          <p:nvPr/>
        </p:nvSpPr>
        <p:spPr>
          <a:xfrm>
            <a:off x="4565904" y="2816352"/>
            <a:ext cx="3057144" cy="411480"/>
          </a:xfrm>
          <a:prstGeom prst="rect">
            <a:avLst/>
          </a:prstGeom>
          <a:noFill/>
          <a:ln/>
        </p:spPr>
        <p:txBody>
          <a:bodyPr wrap="square" lIns="0" tIns="0" rIns="0" bIns="0" rtlCol="0" anchor="t"/>
          <a:lstStyle/>
          <a:p>
            <a:pPr indent="0" marL="0">
              <a:buNone/>
            </a:pPr>
            <a:r>
              <a:rPr lang="en-US" sz="1200" b="1" dirty="0">
                <a:solidFill>
                  <a:srgbClr val="2E8B88"/>
                </a:solidFill>
              </a:rPr>
              <a:t>Benefit: </a:t>
            </a:r>
            <a:pPr indent="0" marL="0">
              <a:buNone/>
            </a:pPr>
            <a:r>
              <a:rPr lang="en-US" sz="1200" i="1" dirty="0">
                <a:solidFill>
                  <a:srgbClr val="2E8B88"/>
                </a:solidFill>
              </a:rPr>
              <a:t>Recovery even if production credentials are compromised</a:t>
            </a:r>
            <a:endParaRPr lang="en-US" sz="1200" dirty="0"/>
          </a:p>
        </p:txBody>
      </p:sp>
      <p:sp>
        <p:nvSpPr>
          <p:cNvPr id="15" name="Feature card 3"/>
          <p:cNvSpPr/>
          <p:nvPr/>
        </p:nvSpPr>
        <p:spPr>
          <a:xfrm>
            <a:off x="8125968" y="1280160"/>
            <a:ext cx="3514344" cy="2057400"/>
          </a:xfrm>
          <a:prstGeom prst="roundRect">
            <a:avLst>
              <a:gd name="adj" fmla="val 4444"/>
            </a:avLst>
          </a:prstGeom>
          <a:solidFill>
            <a:srgbClr val="FFFFFF"/>
          </a:solidFill>
          <a:ln w="12700">
            <a:solidFill>
              <a:srgbClr val="E3D9EC"/>
            </a:solidFill>
            <a:prstDash val="solid"/>
          </a:ln>
          <a:effectLst>
            <a:outerShdw sx="100000" sy="100000" kx="0" ky="0" algn="bl" rotWithShape="0" blurRad="76200" dist="25400" dir="5400000">
              <a:srgbClr val="000000">
                <a:alpha val="12000"/>
              </a:srgbClr>
            </a:outerShdw>
          </a:effectLst>
        </p:spPr>
      </p:sp>
      <p:sp>
        <p:nvSpPr>
          <p:cNvPr id="16" name="Feature 3 circle"/>
          <p:cNvSpPr/>
          <p:nvPr/>
        </p:nvSpPr>
        <p:spPr>
          <a:xfrm>
            <a:off x="8354568" y="1508760"/>
            <a:ext cx="594360" cy="594360"/>
          </a:xfrm>
          <a:prstGeom prst="ellipse">
            <a:avLst/>
          </a:prstGeom>
          <a:solidFill>
            <a:srgbClr val="582873"/>
          </a:solidFill>
          <a:ln/>
        </p:spPr>
      </p:sp>
      <p:pic>
        <p:nvPicPr>
          <p:cNvPr id="17" name="Feature 3 icon" descr="preencoded.png">    </p:cNvPr>
          <p:cNvPicPr>
            <a:picLocks noChangeAspect="1"/>
          </p:cNvPicPr>
          <p:nvPr/>
        </p:nvPicPr>
        <p:blipFill>
          <a:blip r:embed="rId3"/>
          <a:stretch>
            <a:fillRect/>
          </a:stretch>
        </p:blipFill>
        <p:spPr>
          <a:xfrm>
            <a:off x="8503158" y="1657350"/>
            <a:ext cx="297180" cy="297180"/>
          </a:xfrm>
          <a:prstGeom prst="rect">
            <a:avLst/>
          </a:prstGeom>
        </p:spPr>
      </p:pic>
      <p:sp>
        <p:nvSpPr>
          <p:cNvPr id="18" name="Feature heading 3"/>
          <p:cNvSpPr txBox="1"/>
          <p:nvPr/>
        </p:nvSpPr>
        <p:spPr>
          <a:xfrm>
            <a:off x="9086088" y="1508760"/>
            <a:ext cx="2371344" cy="594360"/>
          </a:xfrm>
          <a:prstGeom prst="rect">
            <a:avLst/>
          </a:prstGeom>
          <a:noFill/>
          <a:ln/>
        </p:spPr>
        <p:txBody>
          <a:bodyPr wrap="square" lIns="0" tIns="0" rIns="0" bIns="0" rtlCol="0" anchor="ctr"/>
          <a:lstStyle/>
          <a:p>
            <a:pPr indent="0" marL="0">
              <a:buNone/>
            </a:pPr>
            <a:r>
              <a:rPr lang="en-US" sz="1700" b="1" dirty="0">
                <a:solidFill>
                  <a:srgbClr val="262626"/>
                </a:solidFill>
              </a:rPr>
              <a:t>Rebuild whole environments</a:t>
            </a:r>
            <a:endParaRPr lang="en-US" sz="1700" dirty="0"/>
          </a:p>
        </p:txBody>
      </p:sp>
      <p:sp>
        <p:nvSpPr>
          <p:cNvPr id="19" name="Feature text 3"/>
          <p:cNvSpPr txBox="1"/>
          <p:nvPr/>
        </p:nvSpPr>
        <p:spPr>
          <a:xfrm>
            <a:off x="8354568" y="2194560"/>
            <a:ext cx="3057144" cy="731520"/>
          </a:xfrm>
          <a:prstGeom prst="rect">
            <a:avLst/>
          </a:prstGeom>
          <a:noFill/>
          <a:ln/>
        </p:spPr>
        <p:txBody>
          <a:bodyPr wrap="square" lIns="0" tIns="0" rIns="0" bIns="0" rtlCol="0" anchor="t"/>
          <a:lstStyle/>
          <a:p>
            <a:pPr indent="0" marL="0">
              <a:buNone/>
            </a:pPr>
            <a:r>
              <a:rPr lang="en-US" sz="1400" dirty="0">
                <a:solidFill>
                  <a:srgbClr val="404040"/>
                </a:solidFill>
              </a:rPr>
              <a:t>Restores deleted resource groups, networks and app settings, then the data</a:t>
            </a:r>
            <a:endParaRPr lang="en-US" sz="1400" dirty="0"/>
          </a:p>
        </p:txBody>
      </p:sp>
      <p:sp>
        <p:nvSpPr>
          <p:cNvPr id="20" name="Feature benefit 3"/>
          <p:cNvSpPr txBox="1"/>
          <p:nvPr/>
        </p:nvSpPr>
        <p:spPr>
          <a:xfrm>
            <a:off x="8354568" y="2816352"/>
            <a:ext cx="3057144" cy="411480"/>
          </a:xfrm>
          <a:prstGeom prst="rect">
            <a:avLst/>
          </a:prstGeom>
          <a:noFill/>
          <a:ln/>
        </p:spPr>
        <p:txBody>
          <a:bodyPr wrap="square" lIns="0" tIns="0" rIns="0" bIns="0" rtlCol="0" anchor="t"/>
          <a:lstStyle/>
          <a:p>
            <a:pPr indent="0" marL="0">
              <a:buNone/>
            </a:pPr>
            <a:r>
              <a:rPr lang="en-US" sz="1200" b="1" dirty="0">
                <a:solidFill>
                  <a:srgbClr val="2E8B88"/>
                </a:solidFill>
              </a:rPr>
              <a:t>Benefit: </a:t>
            </a:r>
            <a:pPr indent="0" marL="0">
              <a:buNone/>
            </a:pPr>
            <a:r>
              <a:rPr lang="en-US" sz="1200" i="1" dirty="0">
                <a:solidFill>
                  <a:srgbClr val="2E8B88"/>
                </a:solidFill>
              </a:rPr>
              <a:t>Faster, predictable recovery</a:t>
            </a:r>
            <a:endParaRPr lang="en-US" sz="1200" dirty="0"/>
          </a:p>
        </p:txBody>
      </p:sp>
      <p:sp>
        <p:nvSpPr>
          <p:cNvPr id="21" name="Feature card 4"/>
          <p:cNvSpPr/>
          <p:nvPr/>
        </p:nvSpPr>
        <p:spPr>
          <a:xfrm>
            <a:off x="548640" y="3611880"/>
            <a:ext cx="3514344" cy="2057400"/>
          </a:xfrm>
          <a:prstGeom prst="roundRect">
            <a:avLst>
              <a:gd name="adj" fmla="val 4444"/>
            </a:avLst>
          </a:prstGeom>
          <a:solidFill>
            <a:srgbClr val="FFFFFF"/>
          </a:solidFill>
          <a:ln w="12700">
            <a:solidFill>
              <a:srgbClr val="E3D9EC"/>
            </a:solidFill>
            <a:prstDash val="solid"/>
          </a:ln>
          <a:effectLst>
            <a:outerShdw sx="100000" sy="100000" kx="0" ky="0" algn="bl" rotWithShape="0" blurRad="76200" dist="25400" dir="5400000">
              <a:srgbClr val="000000">
                <a:alpha val="12000"/>
              </a:srgbClr>
            </a:outerShdw>
          </a:effectLst>
        </p:spPr>
      </p:sp>
      <p:sp>
        <p:nvSpPr>
          <p:cNvPr id="22" name="Feature 4 circle"/>
          <p:cNvSpPr/>
          <p:nvPr/>
        </p:nvSpPr>
        <p:spPr>
          <a:xfrm>
            <a:off x="777240" y="3840480"/>
            <a:ext cx="594360" cy="594360"/>
          </a:xfrm>
          <a:prstGeom prst="ellipse">
            <a:avLst/>
          </a:prstGeom>
          <a:solidFill>
            <a:srgbClr val="AD1D84"/>
          </a:solidFill>
          <a:ln/>
        </p:spPr>
      </p:sp>
      <p:pic>
        <p:nvPicPr>
          <p:cNvPr id="23" name="Feature 4 icon" descr="preencoded.png">    </p:cNvPr>
          <p:cNvPicPr>
            <a:picLocks noChangeAspect="1"/>
          </p:cNvPicPr>
          <p:nvPr/>
        </p:nvPicPr>
        <p:blipFill>
          <a:blip r:embed="rId4"/>
          <a:stretch>
            <a:fillRect/>
          </a:stretch>
        </p:blipFill>
        <p:spPr>
          <a:xfrm>
            <a:off x="925830" y="3989070"/>
            <a:ext cx="297180" cy="297180"/>
          </a:xfrm>
          <a:prstGeom prst="rect">
            <a:avLst/>
          </a:prstGeom>
        </p:spPr>
      </p:pic>
      <p:sp>
        <p:nvSpPr>
          <p:cNvPr id="24" name="Feature heading 4"/>
          <p:cNvSpPr txBox="1"/>
          <p:nvPr/>
        </p:nvSpPr>
        <p:spPr>
          <a:xfrm>
            <a:off x="1508760" y="3840480"/>
            <a:ext cx="2371344" cy="594360"/>
          </a:xfrm>
          <a:prstGeom prst="rect">
            <a:avLst/>
          </a:prstGeom>
          <a:noFill/>
          <a:ln/>
        </p:spPr>
        <p:txBody>
          <a:bodyPr wrap="square" lIns="0" tIns="0" rIns="0" bIns="0" rtlCol="0" anchor="ctr"/>
          <a:lstStyle/>
          <a:p>
            <a:pPr indent="0" marL="0">
              <a:buNone/>
            </a:pPr>
            <a:r>
              <a:rPr lang="en-US" sz="1700" b="1" dirty="0">
                <a:solidFill>
                  <a:srgbClr val="262626"/>
                </a:solidFill>
              </a:rPr>
              <a:t>DevOps and GitHub protected</a:t>
            </a:r>
            <a:endParaRPr lang="en-US" sz="1700" dirty="0"/>
          </a:p>
        </p:txBody>
      </p:sp>
      <p:sp>
        <p:nvSpPr>
          <p:cNvPr id="25" name="Feature text 4"/>
          <p:cNvSpPr txBox="1"/>
          <p:nvPr/>
        </p:nvSpPr>
        <p:spPr>
          <a:xfrm>
            <a:off x="777240" y="4526280"/>
            <a:ext cx="3057144" cy="731520"/>
          </a:xfrm>
          <a:prstGeom prst="rect">
            <a:avLst/>
          </a:prstGeom>
          <a:noFill/>
          <a:ln/>
        </p:spPr>
        <p:txBody>
          <a:bodyPr wrap="square" lIns="0" tIns="0" rIns="0" bIns="0" rtlCol="0" anchor="t"/>
          <a:lstStyle/>
          <a:p>
            <a:pPr indent="0" marL="0">
              <a:buNone/>
            </a:pPr>
            <a:r>
              <a:rPr lang="en-US" sz="1400" dirty="0">
                <a:solidFill>
                  <a:srgbClr val="404040"/>
                </a:solidFill>
              </a:rPr>
              <a:t>Repositories, pull requests, pipelines and work items backed up</a:t>
            </a:r>
            <a:endParaRPr lang="en-US" sz="1400" dirty="0"/>
          </a:p>
        </p:txBody>
      </p:sp>
      <p:sp>
        <p:nvSpPr>
          <p:cNvPr id="26" name="Feature benefit 4"/>
          <p:cNvSpPr txBox="1"/>
          <p:nvPr/>
        </p:nvSpPr>
        <p:spPr>
          <a:xfrm>
            <a:off x="777240" y="5148072"/>
            <a:ext cx="3057144" cy="411480"/>
          </a:xfrm>
          <a:prstGeom prst="rect">
            <a:avLst/>
          </a:prstGeom>
          <a:noFill/>
          <a:ln/>
        </p:spPr>
        <p:txBody>
          <a:bodyPr wrap="square" lIns="0" tIns="0" rIns="0" bIns="0" rtlCol="0" anchor="t"/>
          <a:lstStyle/>
          <a:p>
            <a:pPr indent="0" marL="0">
              <a:buNone/>
            </a:pPr>
            <a:r>
              <a:rPr lang="en-US" sz="1200" b="1" dirty="0">
                <a:solidFill>
                  <a:srgbClr val="2E8B88"/>
                </a:solidFill>
              </a:rPr>
              <a:t>Benefit: </a:t>
            </a:r>
            <a:pPr indent="0" marL="0">
              <a:buNone/>
            </a:pPr>
            <a:r>
              <a:rPr lang="en-US" sz="1200" i="1" dirty="0">
                <a:solidFill>
                  <a:srgbClr val="2E8B88"/>
                </a:solidFill>
              </a:rPr>
              <a:t>Source code and IaC are recoverable</a:t>
            </a:r>
            <a:endParaRPr lang="en-US" sz="1200" dirty="0"/>
          </a:p>
        </p:txBody>
      </p:sp>
      <p:sp>
        <p:nvSpPr>
          <p:cNvPr id="27" name="Feature card 5"/>
          <p:cNvSpPr/>
          <p:nvPr/>
        </p:nvSpPr>
        <p:spPr>
          <a:xfrm>
            <a:off x="4337304" y="3611880"/>
            <a:ext cx="3514344" cy="2057400"/>
          </a:xfrm>
          <a:prstGeom prst="roundRect">
            <a:avLst>
              <a:gd name="adj" fmla="val 4444"/>
            </a:avLst>
          </a:prstGeom>
          <a:solidFill>
            <a:srgbClr val="FFFFFF"/>
          </a:solidFill>
          <a:ln w="12700">
            <a:solidFill>
              <a:srgbClr val="E3D9EC"/>
            </a:solidFill>
            <a:prstDash val="solid"/>
          </a:ln>
          <a:effectLst>
            <a:outerShdw sx="100000" sy="100000" kx="0" ky="0" algn="bl" rotWithShape="0" blurRad="76200" dist="25400" dir="5400000">
              <a:srgbClr val="000000">
                <a:alpha val="12000"/>
              </a:srgbClr>
            </a:outerShdw>
          </a:effectLst>
        </p:spPr>
      </p:sp>
      <p:sp>
        <p:nvSpPr>
          <p:cNvPr id="28" name="Feature 5 circle"/>
          <p:cNvSpPr/>
          <p:nvPr/>
        </p:nvSpPr>
        <p:spPr>
          <a:xfrm>
            <a:off x="4565904" y="3840480"/>
            <a:ext cx="594360" cy="594360"/>
          </a:xfrm>
          <a:prstGeom prst="ellipse">
            <a:avLst/>
          </a:prstGeom>
          <a:solidFill>
            <a:srgbClr val="582873"/>
          </a:solidFill>
          <a:ln/>
        </p:spPr>
      </p:sp>
      <p:pic>
        <p:nvPicPr>
          <p:cNvPr id="29" name="Feature 5 icon" descr="preencoded.png">    </p:cNvPr>
          <p:cNvPicPr>
            <a:picLocks noChangeAspect="1"/>
          </p:cNvPicPr>
          <p:nvPr/>
        </p:nvPicPr>
        <p:blipFill>
          <a:blip r:embed="rId5"/>
          <a:stretch>
            <a:fillRect/>
          </a:stretch>
        </p:blipFill>
        <p:spPr>
          <a:xfrm>
            <a:off x="4714494" y="3989070"/>
            <a:ext cx="297180" cy="297180"/>
          </a:xfrm>
          <a:prstGeom prst="rect">
            <a:avLst/>
          </a:prstGeom>
        </p:spPr>
      </p:pic>
      <p:sp>
        <p:nvSpPr>
          <p:cNvPr id="30" name="Feature heading 5"/>
          <p:cNvSpPr txBox="1"/>
          <p:nvPr/>
        </p:nvSpPr>
        <p:spPr>
          <a:xfrm>
            <a:off x="5297424" y="3840480"/>
            <a:ext cx="2371344" cy="594360"/>
          </a:xfrm>
          <a:prstGeom prst="rect">
            <a:avLst/>
          </a:prstGeom>
          <a:noFill/>
          <a:ln/>
        </p:spPr>
        <p:txBody>
          <a:bodyPr wrap="square" lIns="0" tIns="0" rIns="0" bIns="0" rtlCol="0" anchor="ctr"/>
          <a:lstStyle/>
          <a:p>
            <a:pPr indent="0" marL="0">
              <a:buNone/>
            </a:pPr>
            <a:r>
              <a:rPr lang="en-US" sz="1700" b="1" dirty="0">
                <a:solidFill>
                  <a:srgbClr val="262626"/>
                </a:solidFill>
              </a:rPr>
              <a:t>Long-term Entra ID recovery</a:t>
            </a:r>
            <a:endParaRPr lang="en-US" sz="1700" dirty="0"/>
          </a:p>
        </p:txBody>
      </p:sp>
      <p:sp>
        <p:nvSpPr>
          <p:cNvPr id="31" name="Feature text 5"/>
          <p:cNvSpPr txBox="1"/>
          <p:nvPr/>
        </p:nvSpPr>
        <p:spPr>
          <a:xfrm>
            <a:off x="4565904" y="4526280"/>
            <a:ext cx="3057144" cy="731520"/>
          </a:xfrm>
          <a:prstGeom prst="rect">
            <a:avLst/>
          </a:prstGeom>
          <a:noFill/>
          <a:ln/>
        </p:spPr>
        <p:txBody>
          <a:bodyPr wrap="square" lIns="0" tIns="0" rIns="0" bIns="0" rtlCol="0" anchor="t"/>
          <a:lstStyle/>
          <a:p>
            <a:pPr indent="0" marL="0">
              <a:buNone/>
            </a:pPr>
            <a:r>
              <a:rPr lang="en-US" sz="1400" dirty="0">
                <a:solidFill>
                  <a:srgbClr val="404040"/>
                </a:solidFill>
              </a:rPr>
              <a:t>Users, groups, apps and Conditional Access beyond the native 7 days</a:t>
            </a:r>
            <a:endParaRPr lang="en-US" sz="1400" dirty="0"/>
          </a:p>
        </p:txBody>
      </p:sp>
      <p:sp>
        <p:nvSpPr>
          <p:cNvPr id="32" name="Feature benefit 5"/>
          <p:cNvSpPr txBox="1"/>
          <p:nvPr/>
        </p:nvSpPr>
        <p:spPr>
          <a:xfrm>
            <a:off x="4565904" y="5148072"/>
            <a:ext cx="3057144" cy="411480"/>
          </a:xfrm>
          <a:prstGeom prst="rect">
            <a:avLst/>
          </a:prstGeom>
          <a:noFill/>
          <a:ln/>
        </p:spPr>
        <p:txBody>
          <a:bodyPr wrap="square" lIns="0" tIns="0" rIns="0" bIns="0" rtlCol="0" anchor="t"/>
          <a:lstStyle/>
          <a:p>
            <a:pPr indent="0" marL="0">
              <a:buNone/>
            </a:pPr>
            <a:r>
              <a:rPr lang="en-US" sz="1200" b="1" dirty="0">
                <a:solidFill>
                  <a:srgbClr val="2E8B88"/>
                </a:solidFill>
              </a:rPr>
              <a:t>Benefit: </a:t>
            </a:r>
            <a:pPr indent="0" marL="0">
              <a:buNone/>
            </a:pPr>
            <a:r>
              <a:rPr lang="en-US" sz="1200" i="1" dirty="0">
                <a:solidFill>
                  <a:srgbClr val="2E8B88"/>
                </a:solidFill>
              </a:rPr>
              <a:t>Identity restored after errors or attack</a:t>
            </a:r>
            <a:endParaRPr lang="en-US" sz="1200" dirty="0"/>
          </a:p>
        </p:txBody>
      </p:sp>
      <p:sp>
        <p:nvSpPr>
          <p:cNvPr id="33" name="Feature card 6"/>
          <p:cNvSpPr/>
          <p:nvPr/>
        </p:nvSpPr>
        <p:spPr>
          <a:xfrm>
            <a:off x="8125968" y="3611880"/>
            <a:ext cx="3514344" cy="2057400"/>
          </a:xfrm>
          <a:prstGeom prst="roundRect">
            <a:avLst>
              <a:gd name="adj" fmla="val 4444"/>
            </a:avLst>
          </a:prstGeom>
          <a:solidFill>
            <a:srgbClr val="FFFFFF"/>
          </a:solidFill>
          <a:ln w="12700">
            <a:solidFill>
              <a:srgbClr val="E3D9EC"/>
            </a:solidFill>
            <a:prstDash val="solid"/>
          </a:ln>
          <a:effectLst>
            <a:outerShdw sx="100000" sy="100000" kx="0" ky="0" algn="bl" rotWithShape="0" blurRad="76200" dist="25400" dir="5400000">
              <a:srgbClr val="000000">
                <a:alpha val="12000"/>
              </a:srgbClr>
            </a:outerShdw>
          </a:effectLst>
        </p:spPr>
      </p:sp>
      <p:sp>
        <p:nvSpPr>
          <p:cNvPr id="34" name="Feature 6 circle"/>
          <p:cNvSpPr/>
          <p:nvPr/>
        </p:nvSpPr>
        <p:spPr>
          <a:xfrm>
            <a:off x="8354568" y="3840480"/>
            <a:ext cx="594360" cy="594360"/>
          </a:xfrm>
          <a:prstGeom prst="ellipse">
            <a:avLst/>
          </a:prstGeom>
          <a:solidFill>
            <a:srgbClr val="AD1D84"/>
          </a:solidFill>
          <a:ln/>
        </p:spPr>
      </p:sp>
      <p:pic>
        <p:nvPicPr>
          <p:cNvPr id="35" name="Feature 6 icon" descr="preencoded.png">    </p:cNvPr>
          <p:cNvPicPr>
            <a:picLocks noChangeAspect="1"/>
          </p:cNvPicPr>
          <p:nvPr/>
        </p:nvPicPr>
        <p:blipFill>
          <a:blip r:embed="rId6"/>
          <a:stretch>
            <a:fillRect/>
          </a:stretch>
        </p:blipFill>
        <p:spPr>
          <a:xfrm>
            <a:off x="8503158" y="3989070"/>
            <a:ext cx="297180" cy="297180"/>
          </a:xfrm>
          <a:prstGeom prst="rect">
            <a:avLst/>
          </a:prstGeom>
        </p:spPr>
      </p:pic>
      <p:sp>
        <p:nvSpPr>
          <p:cNvPr id="36" name="Feature heading 6"/>
          <p:cNvSpPr txBox="1"/>
          <p:nvPr/>
        </p:nvSpPr>
        <p:spPr>
          <a:xfrm>
            <a:off x="9086088" y="3840480"/>
            <a:ext cx="2371344" cy="594360"/>
          </a:xfrm>
          <a:prstGeom prst="rect">
            <a:avLst/>
          </a:prstGeom>
          <a:noFill/>
          <a:ln/>
        </p:spPr>
        <p:txBody>
          <a:bodyPr wrap="square" lIns="0" tIns="0" rIns="0" bIns="0" rtlCol="0" anchor="ctr"/>
          <a:lstStyle/>
          <a:p>
            <a:pPr indent="0" marL="0">
              <a:buNone/>
            </a:pPr>
            <a:r>
              <a:rPr lang="en-US" sz="1700" b="1" dirty="0">
                <a:solidFill>
                  <a:srgbClr val="262626"/>
                </a:solidFill>
              </a:rPr>
              <a:t>Ready for AWS</a:t>
            </a:r>
            <a:endParaRPr lang="en-US" sz="1700" dirty="0"/>
          </a:p>
        </p:txBody>
      </p:sp>
      <p:sp>
        <p:nvSpPr>
          <p:cNvPr id="37" name="Feature text 6"/>
          <p:cNvSpPr txBox="1"/>
          <p:nvPr/>
        </p:nvSpPr>
        <p:spPr>
          <a:xfrm>
            <a:off x="8354568" y="4526280"/>
            <a:ext cx="3057144" cy="731520"/>
          </a:xfrm>
          <a:prstGeom prst="rect">
            <a:avLst/>
          </a:prstGeom>
          <a:noFill/>
          <a:ln/>
        </p:spPr>
        <p:txBody>
          <a:bodyPr wrap="square" lIns="0" tIns="0" rIns="0" bIns="0" rtlCol="0" anchor="t"/>
          <a:lstStyle/>
          <a:p>
            <a:pPr indent="0" marL="0">
              <a:buNone/>
            </a:pPr>
            <a:r>
              <a:rPr lang="en-US" sz="1400" dirty="0">
                <a:solidFill>
                  <a:srgbClr val="404040"/>
                </a:solidFill>
              </a:rPr>
              <a:t>Same policies and console when AWS is adopted</a:t>
            </a:r>
            <a:endParaRPr lang="en-US" sz="1400" dirty="0"/>
          </a:p>
        </p:txBody>
      </p:sp>
      <p:sp>
        <p:nvSpPr>
          <p:cNvPr id="38" name="Feature benefit 6"/>
          <p:cNvSpPr txBox="1"/>
          <p:nvPr/>
        </p:nvSpPr>
        <p:spPr>
          <a:xfrm>
            <a:off x="8354568" y="5148072"/>
            <a:ext cx="3057144" cy="411480"/>
          </a:xfrm>
          <a:prstGeom prst="rect">
            <a:avLst/>
          </a:prstGeom>
          <a:noFill/>
          <a:ln/>
        </p:spPr>
        <p:txBody>
          <a:bodyPr wrap="square" lIns="0" tIns="0" rIns="0" bIns="0" rtlCol="0" anchor="t"/>
          <a:lstStyle/>
          <a:p>
            <a:pPr indent="0" marL="0">
              <a:buNone/>
            </a:pPr>
            <a:r>
              <a:rPr lang="en-US" sz="1200" b="1" dirty="0">
                <a:solidFill>
                  <a:srgbClr val="2E8B88"/>
                </a:solidFill>
              </a:rPr>
              <a:t>Benefit: </a:t>
            </a:r>
            <a:pPr indent="0" marL="0">
              <a:buNone/>
            </a:pPr>
            <a:r>
              <a:rPr lang="en-US" sz="1200" i="1" dirty="0">
                <a:solidFill>
                  <a:srgbClr val="2E8B88"/>
                </a:solidFill>
              </a:rPr>
              <a:t>No re-platforming later</a:t>
            </a:r>
            <a:endParaRPr lang="en-US" sz="1200" dirty="0"/>
          </a:p>
        </p:txBody>
      </p:sp>
      <p:sp>
        <p:nvSpPr>
          <p:cNvPr id="39" name="Native note"/>
          <p:cNvSpPr txBox="1"/>
          <p:nvPr/>
        </p:nvSpPr>
        <p:spPr>
          <a:xfrm>
            <a:off x="548640" y="5870448"/>
            <a:ext cx="11091672" cy="320040"/>
          </a:xfrm>
          <a:prstGeom prst="rect">
            <a:avLst/>
          </a:prstGeom>
          <a:noFill/>
          <a:ln/>
        </p:spPr>
        <p:txBody>
          <a:bodyPr wrap="square" lIns="0" tIns="0" rIns="0" bIns="0" rtlCol="0" anchor="ctr"/>
          <a:lstStyle/>
          <a:p>
            <a:pPr indent="0" marL="0">
              <a:buNone/>
            </a:pPr>
            <a:r>
              <a:rPr lang="en-US" sz="1200" i="1" dirty="0">
                <a:solidFill>
                  <a:srgbClr val="595959"/>
                </a:solidFill>
              </a:rPr>
              <a:t>Microsoft-native protection stays in place: Azure PITR / LTR for PaaS databases and Entra Backup and Recovery remain enabled alongside Commvault.</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Implementation approach and next steps</a:t>
            </a:r>
            <a:endParaRPr lang="en-US" sz="3200" dirty="0"/>
          </a:p>
        </p:txBody>
      </p:sp>
      <p:sp>
        <p:nvSpPr>
          <p:cNvPr id="3" name="Phase 0"/>
          <p:cNvSpPr/>
          <p:nvPr/>
        </p:nvSpPr>
        <p:spPr>
          <a:xfrm>
            <a:off x="548640" y="1325880"/>
            <a:ext cx="2331720" cy="868680"/>
          </a:xfrm>
          <a:prstGeom prst="homePlate">
            <a:avLst/>
          </a:prstGeom>
          <a:solidFill>
            <a:srgbClr val="AD1D84"/>
          </a:solidFill>
          <a:ln w="19050">
            <a:solidFill>
              <a:srgbClr val="FFFFFF"/>
            </a:solidFill>
            <a:prstDash val="solid"/>
          </a:ln>
        </p:spPr>
      </p:sp>
      <p:sp>
        <p:nvSpPr>
          <p:cNvPr id="4" name="Phase label 0"/>
          <p:cNvSpPr txBox="1"/>
          <p:nvPr/>
        </p:nvSpPr>
        <p:spPr>
          <a:xfrm>
            <a:off x="731520" y="1325880"/>
            <a:ext cx="1600200" cy="868680"/>
          </a:xfrm>
          <a:prstGeom prst="rect">
            <a:avLst/>
          </a:prstGeom>
          <a:noFill/>
          <a:ln/>
        </p:spPr>
        <p:txBody>
          <a:bodyPr wrap="square" lIns="0" tIns="0" rIns="0" bIns="0" rtlCol="0" anchor="ctr"/>
          <a:lstStyle/>
          <a:p>
            <a:pPr indent="0" marL="0">
              <a:buNone/>
            </a:pPr>
            <a:r>
              <a:rPr lang="en-US" sz="1400" b="1" dirty="0">
                <a:solidFill>
                  <a:srgbClr val="FFFFFF"/>
                </a:solidFill>
              </a:rPr>
              <a:t>0  </a:t>
            </a:r>
            <a:pPr indent="0" marL="0">
              <a:buNone/>
            </a:pPr>
            <a:r>
              <a:rPr lang="en-US" sz="1400" b="1" dirty="0">
                <a:solidFill>
                  <a:srgbClr val="FFFFFF"/>
                </a:solidFill>
              </a:rPr>
              <a:t>Validate</a:t>
            </a:r>
            <a:endParaRPr lang="en-US" sz="1400" dirty="0"/>
          </a:p>
        </p:txBody>
      </p:sp>
      <p:sp>
        <p:nvSpPr>
          <p:cNvPr id="5" name="Phase detail 0"/>
          <p:cNvSpPr txBox="1"/>
          <p:nvPr/>
        </p:nvSpPr>
        <p:spPr>
          <a:xfrm>
            <a:off x="685800" y="2331720"/>
            <a:ext cx="2057400" cy="914400"/>
          </a:xfrm>
          <a:prstGeom prst="rect">
            <a:avLst/>
          </a:prstGeom>
          <a:noFill/>
          <a:ln/>
        </p:spPr>
        <p:txBody>
          <a:bodyPr wrap="square" lIns="0" tIns="0" rIns="0" bIns="0" rtlCol="0" anchor="t"/>
          <a:lstStyle/>
          <a:p>
            <a:pPr indent="0" marL="0">
              <a:buNone/>
            </a:pPr>
            <a:r>
              <a:rPr lang="en-US" sz="1300" b="1" dirty="0">
                <a:solidFill>
                  <a:srgbClr val="582873"/>
                </a:solidFill>
              </a:rPr>
              <a:t>Months 0–2</a:t>
            </a:r>
            <a:endParaRPr lang="en-US" sz="1300" dirty="0"/>
          </a:p>
          <a:p>
            <a:pPr indent="0" marL="0">
              <a:buNone/>
            </a:pPr>
            <a:r>
              <a:rPr lang="en-US" sz="1300" dirty="0">
                <a:solidFill>
                  <a:srgbClr val="404040"/>
                </a:solidFill>
              </a:rPr>
              <a:t>Residency confirmation, PoC, quotes</a:t>
            </a:r>
            <a:endParaRPr lang="en-US" sz="1300" dirty="0"/>
          </a:p>
        </p:txBody>
      </p:sp>
      <p:sp>
        <p:nvSpPr>
          <p:cNvPr id="6" name="Phase 1"/>
          <p:cNvSpPr/>
          <p:nvPr/>
        </p:nvSpPr>
        <p:spPr>
          <a:xfrm>
            <a:off x="2744114" y="1325880"/>
            <a:ext cx="2331720" cy="868680"/>
          </a:xfrm>
          <a:prstGeom prst="chevron">
            <a:avLst/>
          </a:prstGeom>
          <a:solidFill>
            <a:srgbClr val="AD1D84"/>
          </a:solidFill>
          <a:ln w="19050">
            <a:solidFill>
              <a:srgbClr val="FFFFFF"/>
            </a:solidFill>
            <a:prstDash val="solid"/>
          </a:ln>
        </p:spPr>
      </p:sp>
      <p:sp>
        <p:nvSpPr>
          <p:cNvPr id="7" name="Phase label 1"/>
          <p:cNvSpPr txBox="1"/>
          <p:nvPr/>
        </p:nvSpPr>
        <p:spPr>
          <a:xfrm>
            <a:off x="3201314" y="1325880"/>
            <a:ext cx="1600200" cy="868680"/>
          </a:xfrm>
          <a:prstGeom prst="rect">
            <a:avLst/>
          </a:prstGeom>
          <a:noFill/>
          <a:ln/>
        </p:spPr>
        <p:txBody>
          <a:bodyPr wrap="square" lIns="0" tIns="0" rIns="0" bIns="0" rtlCol="0" anchor="ctr"/>
          <a:lstStyle/>
          <a:p>
            <a:pPr indent="0" marL="0">
              <a:buNone/>
            </a:pPr>
            <a:r>
              <a:rPr lang="en-US" sz="1400" b="1" dirty="0">
                <a:solidFill>
                  <a:srgbClr val="FFFFFF"/>
                </a:solidFill>
              </a:rPr>
              <a:t>1  </a:t>
            </a:r>
            <a:pPr indent="0" marL="0">
              <a:buNone/>
            </a:pPr>
            <a:r>
              <a:rPr lang="en-US" sz="1400" b="1" dirty="0">
                <a:solidFill>
                  <a:srgbClr val="FFFFFF"/>
                </a:solidFill>
              </a:rPr>
              <a:t>Quick wins</a:t>
            </a:r>
            <a:endParaRPr lang="en-US" sz="1400" dirty="0"/>
          </a:p>
        </p:txBody>
      </p:sp>
      <p:sp>
        <p:nvSpPr>
          <p:cNvPr id="8" name="Phase detail 1"/>
          <p:cNvSpPr txBox="1"/>
          <p:nvPr/>
        </p:nvSpPr>
        <p:spPr>
          <a:xfrm>
            <a:off x="2881274" y="2331720"/>
            <a:ext cx="2057400" cy="914400"/>
          </a:xfrm>
          <a:prstGeom prst="rect">
            <a:avLst/>
          </a:prstGeom>
          <a:noFill/>
          <a:ln/>
        </p:spPr>
        <p:txBody>
          <a:bodyPr wrap="square" lIns="0" tIns="0" rIns="0" bIns="0" rtlCol="0" anchor="t"/>
          <a:lstStyle/>
          <a:p>
            <a:pPr indent="0" marL="0">
              <a:buNone/>
            </a:pPr>
            <a:r>
              <a:rPr lang="en-US" sz="1300" b="1" dirty="0">
                <a:solidFill>
                  <a:srgbClr val="582873"/>
                </a:solidFill>
              </a:rPr>
              <a:t>Months 0–2</a:t>
            </a:r>
            <a:endParaRPr lang="en-US" sz="1300" dirty="0"/>
          </a:p>
          <a:p>
            <a:pPr indent="0" marL="0">
              <a:buNone/>
            </a:pPr>
            <a:r>
              <a:rPr lang="en-US" sz="1300" dirty="0">
                <a:solidFill>
                  <a:srgbClr val="404040"/>
                </a:solidFill>
              </a:rPr>
              <a:t>DevOps backup, resource locks, hardening</a:t>
            </a:r>
            <a:endParaRPr lang="en-US" sz="1300" dirty="0"/>
          </a:p>
        </p:txBody>
      </p:sp>
      <p:sp>
        <p:nvSpPr>
          <p:cNvPr id="9" name="Phase 2"/>
          <p:cNvSpPr/>
          <p:nvPr/>
        </p:nvSpPr>
        <p:spPr>
          <a:xfrm>
            <a:off x="4939589" y="1325880"/>
            <a:ext cx="2331720" cy="868680"/>
          </a:xfrm>
          <a:prstGeom prst="chevron">
            <a:avLst/>
          </a:prstGeom>
          <a:solidFill>
            <a:srgbClr val="582873"/>
          </a:solidFill>
          <a:ln w="19050">
            <a:solidFill>
              <a:srgbClr val="FFFFFF"/>
            </a:solidFill>
            <a:prstDash val="solid"/>
          </a:ln>
        </p:spPr>
      </p:sp>
      <p:sp>
        <p:nvSpPr>
          <p:cNvPr id="10" name="Phase label 2"/>
          <p:cNvSpPr txBox="1"/>
          <p:nvPr/>
        </p:nvSpPr>
        <p:spPr>
          <a:xfrm>
            <a:off x="5396789" y="1325880"/>
            <a:ext cx="1600200" cy="868680"/>
          </a:xfrm>
          <a:prstGeom prst="rect">
            <a:avLst/>
          </a:prstGeom>
          <a:noFill/>
          <a:ln/>
        </p:spPr>
        <p:txBody>
          <a:bodyPr wrap="square" lIns="0" tIns="0" rIns="0" bIns="0" rtlCol="0" anchor="ctr"/>
          <a:lstStyle/>
          <a:p>
            <a:pPr indent="0" marL="0">
              <a:buNone/>
            </a:pPr>
            <a:r>
              <a:rPr lang="en-US" sz="1400" b="1" dirty="0">
                <a:solidFill>
                  <a:srgbClr val="FFFFFF"/>
                </a:solidFill>
              </a:rPr>
              <a:t>2  </a:t>
            </a:r>
            <a:pPr indent="0" marL="0">
              <a:buNone/>
            </a:pPr>
            <a:r>
              <a:rPr lang="en-US" sz="1400" b="1" dirty="0">
                <a:solidFill>
                  <a:srgbClr val="FFFFFF"/>
                </a:solidFill>
              </a:rPr>
              <a:t>Azure onboarding</a:t>
            </a:r>
            <a:endParaRPr lang="en-US" sz="1400" dirty="0"/>
          </a:p>
        </p:txBody>
      </p:sp>
      <p:sp>
        <p:nvSpPr>
          <p:cNvPr id="11" name="Phase detail 2"/>
          <p:cNvSpPr txBox="1"/>
          <p:nvPr/>
        </p:nvSpPr>
        <p:spPr>
          <a:xfrm>
            <a:off x="5076749" y="2331720"/>
            <a:ext cx="2057400" cy="914400"/>
          </a:xfrm>
          <a:prstGeom prst="rect">
            <a:avLst/>
          </a:prstGeom>
          <a:noFill/>
          <a:ln/>
        </p:spPr>
        <p:txBody>
          <a:bodyPr wrap="square" lIns="0" tIns="0" rIns="0" bIns="0" rtlCol="0" anchor="t"/>
          <a:lstStyle/>
          <a:p>
            <a:pPr indent="0" marL="0">
              <a:buNone/>
            </a:pPr>
            <a:r>
              <a:rPr lang="en-US" sz="1300" b="1" dirty="0">
                <a:solidFill>
                  <a:srgbClr val="582873"/>
                </a:solidFill>
              </a:rPr>
              <a:t>Months 2–5</a:t>
            </a:r>
            <a:endParaRPr lang="en-US" sz="1300" dirty="0"/>
          </a:p>
          <a:p>
            <a:pPr indent="0" marL="0">
              <a:buNone/>
            </a:pPr>
            <a:r>
              <a:rPr lang="en-US" sz="1300" dirty="0">
                <a:solidFill>
                  <a:srgbClr val="404040"/>
                </a:solidFill>
              </a:rPr>
              <a:t>Primary and offsite copies; onboard by tier</a:t>
            </a:r>
            <a:endParaRPr lang="en-US" sz="1300" dirty="0"/>
          </a:p>
        </p:txBody>
      </p:sp>
      <p:sp>
        <p:nvSpPr>
          <p:cNvPr id="12" name="Phase 3"/>
          <p:cNvSpPr/>
          <p:nvPr/>
        </p:nvSpPr>
        <p:spPr>
          <a:xfrm>
            <a:off x="7135063" y="1325880"/>
            <a:ext cx="2331720" cy="868680"/>
          </a:xfrm>
          <a:prstGeom prst="chevron">
            <a:avLst/>
          </a:prstGeom>
          <a:solidFill>
            <a:srgbClr val="582873"/>
          </a:solidFill>
          <a:ln w="19050">
            <a:solidFill>
              <a:srgbClr val="FFFFFF"/>
            </a:solidFill>
            <a:prstDash val="solid"/>
          </a:ln>
        </p:spPr>
      </p:sp>
      <p:sp>
        <p:nvSpPr>
          <p:cNvPr id="13" name="Phase label 3"/>
          <p:cNvSpPr txBox="1"/>
          <p:nvPr/>
        </p:nvSpPr>
        <p:spPr>
          <a:xfrm>
            <a:off x="7592263" y="1325880"/>
            <a:ext cx="1600200" cy="868680"/>
          </a:xfrm>
          <a:prstGeom prst="rect">
            <a:avLst/>
          </a:prstGeom>
          <a:noFill/>
          <a:ln/>
        </p:spPr>
        <p:txBody>
          <a:bodyPr wrap="square" lIns="0" tIns="0" rIns="0" bIns="0" rtlCol="0" anchor="ctr"/>
          <a:lstStyle/>
          <a:p>
            <a:pPr indent="0" marL="0">
              <a:buNone/>
            </a:pPr>
            <a:r>
              <a:rPr lang="en-US" sz="1400" b="1" dirty="0">
                <a:solidFill>
                  <a:srgbClr val="FFFFFF"/>
                </a:solidFill>
              </a:rPr>
              <a:t>3  </a:t>
            </a:r>
            <a:pPr indent="0" marL="0">
              <a:buNone/>
            </a:pPr>
            <a:r>
              <a:rPr lang="en-US" sz="1400" b="1" dirty="0">
                <a:solidFill>
                  <a:srgbClr val="FFFFFF"/>
                </a:solidFill>
              </a:rPr>
              <a:t>Environment recovery</a:t>
            </a:r>
            <a:endParaRPr lang="en-US" sz="1400" dirty="0"/>
          </a:p>
        </p:txBody>
      </p:sp>
      <p:sp>
        <p:nvSpPr>
          <p:cNvPr id="14" name="Phase detail 3"/>
          <p:cNvSpPr txBox="1"/>
          <p:nvPr/>
        </p:nvSpPr>
        <p:spPr>
          <a:xfrm>
            <a:off x="7272223" y="2331720"/>
            <a:ext cx="2057400" cy="914400"/>
          </a:xfrm>
          <a:prstGeom prst="rect">
            <a:avLst/>
          </a:prstGeom>
          <a:noFill/>
          <a:ln/>
        </p:spPr>
        <p:txBody>
          <a:bodyPr wrap="square" lIns="0" tIns="0" rIns="0" bIns="0" rtlCol="0" anchor="t"/>
          <a:lstStyle/>
          <a:p>
            <a:pPr indent="0" marL="0">
              <a:buNone/>
            </a:pPr>
            <a:r>
              <a:rPr lang="en-US" sz="1300" b="1" dirty="0">
                <a:solidFill>
                  <a:srgbClr val="582873"/>
                </a:solidFill>
              </a:rPr>
              <a:t>Months 3–6</a:t>
            </a:r>
            <a:endParaRPr lang="en-US" sz="1300" dirty="0"/>
          </a:p>
          <a:p>
            <a:pPr indent="0" marL="0">
              <a:buNone/>
            </a:pPr>
            <a:r>
              <a:rPr lang="en-US" sz="1300" dirty="0">
                <a:solidFill>
                  <a:srgbClr val="404040"/>
                </a:solidFill>
              </a:rPr>
              <a:t>Rebuild runbooks; retire Azure Backup policies at expiry</a:t>
            </a:r>
            <a:endParaRPr lang="en-US" sz="1300" dirty="0"/>
          </a:p>
        </p:txBody>
      </p:sp>
      <p:sp>
        <p:nvSpPr>
          <p:cNvPr id="15" name="Phase 4"/>
          <p:cNvSpPr/>
          <p:nvPr/>
        </p:nvSpPr>
        <p:spPr>
          <a:xfrm>
            <a:off x="9330538" y="1325880"/>
            <a:ext cx="2331720" cy="868680"/>
          </a:xfrm>
          <a:prstGeom prst="chevron">
            <a:avLst/>
          </a:prstGeom>
          <a:solidFill>
            <a:srgbClr val="8C8C8C"/>
          </a:solidFill>
          <a:ln w="19050">
            <a:solidFill>
              <a:srgbClr val="FFFFFF"/>
            </a:solidFill>
            <a:prstDash val="solid"/>
          </a:ln>
        </p:spPr>
      </p:sp>
      <p:sp>
        <p:nvSpPr>
          <p:cNvPr id="16" name="Phase label 4"/>
          <p:cNvSpPr txBox="1"/>
          <p:nvPr/>
        </p:nvSpPr>
        <p:spPr>
          <a:xfrm>
            <a:off x="9787738" y="1325880"/>
            <a:ext cx="1600200" cy="868680"/>
          </a:xfrm>
          <a:prstGeom prst="rect">
            <a:avLst/>
          </a:prstGeom>
          <a:noFill/>
          <a:ln/>
        </p:spPr>
        <p:txBody>
          <a:bodyPr wrap="square" lIns="0" tIns="0" rIns="0" bIns="0" rtlCol="0" anchor="ctr"/>
          <a:lstStyle/>
          <a:p>
            <a:pPr indent="0" marL="0">
              <a:buNone/>
            </a:pPr>
            <a:r>
              <a:rPr lang="en-US" sz="1400" b="1" dirty="0">
                <a:solidFill>
                  <a:srgbClr val="FFFFFF"/>
                </a:solidFill>
              </a:rPr>
              <a:t>4  </a:t>
            </a:r>
            <a:pPr indent="0" marL="0">
              <a:buNone/>
            </a:pPr>
            <a:r>
              <a:rPr lang="en-US" sz="1400" b="1" dirty="0">
                <a:solidFill>
                  <a:srgbClr val="FFFFFF"/>
                </a:solidFill>
              </a:rPr>
              <a:t>AWS</a:t>
            </a:r>
            <a:endParaRPr lang="en-US" sz="1400" dirty="0"/>
          </a:p>
        </p:txBody>
      </p:sp>
      <p:sp>
        <p:nvSpPr>
          <p:cNvPr id="17" name="Phase detail 4"/>
          <p:cNvSpPr txBox="1"/>
          <p:nvPr/>
        </p:nvSpPr>
        <p:spPr>
          <a:xfrm>
            <a:off x="9467698" y="2331720"/>
            <a:ext cx="2057400" cy="914400"/>
          </a:xfrm>
          <a:prstGeom prst="rect">
            <a:avLst/>
          </a:prstGeom>
          <a:noFill/>
          <a:ln/>
        </p:spPr>
        <p:txBody>
          <a:bodyPr wrap="square" lIns="0" tIns="0" rIns="0" bIns="0" rtlCol="0" anchor="t"/>
          <a:lstStyle/>
          <a:p>
            <a:pPr indent="0" marL="0">
              <a:buNone/>
            </a:pPr>
            <a:r>
              <a:rPr lang="en-US" sz="1300" b="1" dirty="0">
                <a:solidFill>
                  <a:srgbClr val="582873"/>
                </a:solidFill>
              </a:rPr>
              <a:t>At adoption</a:t>
            </a:r>
            <a:endParaRPr lang="en-US" sz="1300" dirty="0"/>
          </a:p>
          <a:p>
            <a:pPr indent="0" marL="0">
              <a:buNone/>
            </a:pPr>
            <a:r>
              <a:rPr lang="en-US" sz="1300" dirty="0">
                <a:solidFill>
                  <a:srgbClr val="404040"/>
                </a:solidFill>
              </a:rPr>
              <a:t>Same policies from go-live</a:t>
            </a:r>
            <a:endParaRPr lang="en-US" sz="1300" dirty="0"/>
          </a:p>
        </p:txBody>
      </p:sp>
      <p:sp>
        <p:nvSpPr>
          <p:cNvPr id="18" name="Dependencies panel"/>
          <p:cNvSpPr/>
          <p:nvPr/>
        </p:nvSpPr>
        <p:spPr>
          <a:xfrm>
            <a:off x="548640" y="3520440"/>
            <a:ext cx="6949440" cy="2606040"/>
          </a:xfrm>
          <a:prstGeom prst="roundRect">
            <a:avLst>
              <a:gd name="adj" fmla="val 3509"/>
            </a:avLst>
          </a:prstGeom>
          <a:solidFill>
            <a:schemeClr val="bg2"/>
          </a:solidFill>
          <a:ln/>
        </p:spPr>
      </p:sp>
      <p:sp>
        <p:nvSpPr>
          <p:cNvPr id="19" name="Dependencies heading"/>
          <p:cNvSpPr txBox="1"/>
          <p:nvPr/>
        </p:nvSpPr>
        <p:spPr>
          <a:xfrm>
            <a:off x="777240" y="3657600"/>
            <a:ext cx="6492240" cy="365760"/>
          </a:xfrm>
          <a:prstGeom prst="rect">
            <a:avLst/>
          </a:prstGeom>
          <a:noFill/>
          <a:ln/>
        </p:spPr>
        <p:txBody>
          <a:bodyPr wrap="square" lIns="0" tIns="0" rIns="0" bIns="0" rtlCol="0" anchor="ctr"/>
          <a:lstStyle/>
          <a:p>
            <a:pPr indent="0" marL="0">
              <a:buNone/>
            </a:pPr>
            <a:r>
              <a:rPr lang="en-US" sz="1700" b="1" dirty="0">
                <a:solidFill>
                  <a:srgbClr val="582873"/>
                </a:solidFill>
              </a:rPr>
              <a:t>Key dependencies before approval</a:t>
            </a:r>
            <a:endParaRPr lang="en-US" sz="1700" dirty="0"/>
          </a:p>
        </p:txBody>
      </p:sp>
      <p:sp>
        <p:nvSpPr>
          <p:cNvPr id="20" name="Dependencies list"/>
          <p:cNvSpPr txBox="1"/>
          <p:nvPr/>
        </p:nvSpPr>
        <p:spPr>
          <a:xfrm>
            <a:off x="777240" y="4069080"/>
            <a:ext cx="6537960" cy="1965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62626"/>
                </a:solidFill>
              </a:rPr>
              <a:t>Commvault confirms what metadata leaves Canada (SaaS control plane listed in East US 2); Compliance accepts or rejects</a:t>
            </a:r>
            <a:endParaRPr lang="en-US" sz="1400" dirty="0"/>
          </a:p>
          <a:p>
            <a:pPr marL="342900" indent="-342900">
              <a:spcAft>
                <a:spcPts val="600"/>
              </a:spcAft>
              <a:buSzPct val="100000"/>
              <a:buChar char="•"/>
            </a:pPr>
            <a:r>
              <a:rPr lang="en-US" sz="1400" dirty="0">
                <a:solidFill>
                  <a:srgbClr val="262626"/>
                </a:solidFill>
              </a:rPr>
              <a:t>PoC passes for workloads marked "confirm", including environment rebuild, DevOps and Entra ID restore</a:t>
            </a:r>
            <a:endParaRPr lang="en-US" sz="1400" dirty="0"/>
          </a:p>
          <a:p>
            <a:pPr marL="342900" indent="-342900">
              <a:spcAft>
                <a:spcPts val="600"/>
              </a:spcAft>
              <a:buSzPct val="100000"/>
              <a:buChar char="•"/>
            </a:pPr>
            <a:r>
              <a:rPr lang="en-US" sz="1400" dirty="0">
                <a:solidFill>
                  <a:srgbClr val="262626"/>
                </a:solidFill>
              </a:rPr>
              <a:t>Commvault quote compared with actual Azure Backup spend from Azure Cost Management</a:t>
            </a:r>
            <a:endParaRPr lang="en-US" sz="1400" dirty="0"/>
          </a:p>
          <a:p>
            <a:pPr marL="342900" indent="-342900">
              <a:spcAft>
                <a:spcPts val="600"/>
              </a:spcAft>
              <a:buSzPct val="100000"/>
              <a:buChar char="•"/>
            </a:pPr>
            <a:r>
              <a:rPr lang="en-US" sz="1400" dirty="0">
                <a:solidFill>
                  <a:srgbClr val="262626"/>
                </a:solidFill>
              </a:rPr>
              <a:t>Canada East compute capacity options confirmed for cross-region recovery</a:t>
            </a:r>
            <a:endParaRPr lang="en-US" sz="1400" dirty="0"/>
          </a:p>
        </p:txBody>
      </p:sp>
      <p:sp>
        <p:nvSpPr>
          <p:cNvPr id="21" name="Callout card 1"/>
          <p:cNvSpPr/>
          <p:nvPr/>
        </p:nvSpPr>
        <p:spPr>
          <a:xfrm>
            <a:off x="7772400" y="3520440"/>
            <a:ext cx="3867912" cy="1188720"/>
          </a:xfrm>
          <a:prstGeom prst="roundRect">
            <a:avLst>
              <a:gd name="adj" fmla="val 7692"/>
            </a:avLst>
          </a:prstGeom>
          <a:solidFill>
            <a:srgbClr val="3A1D52"/>
          </a:solidFill>
          <a:ln/>
        </p:spPr>
      </p:sp>
      <p:sp>
        <p:nvSpPr>
          <p:cNvPr id="22" name="Callout number 1"/>
          <p:cNvSpPr txBox="1"/>
          <p:nvPr/>
        </p:nvSpPr>
        <p:spPr>
          <a:xfrm>
            <a:off x="8001000" y="3520440"/>
            <a:ext cx="1463040" cy="1188720"/>
          </a:xfrm>
          <a:prstGeom prst="rect">
            <a:avLst/>
          </a:prstGeom>
          <a:noFill/>
          <a:ln/>
        </p:spPr>
        <p:txBody>
          <a:bodyPr wrap="square" lIns="0" tIns="0" rIns="0" bIns="0" rtlCol="0" anchor="ctr"/>
          <a:lstStyle/>
          <a:p>
            <a:pPr indent="0" marL="0">
              <a:buNone/>
            </a:pPr>
            <a:r>
              <a:rPr lang="en-US" sz="4000" b="1" dirty="0">
                <a:solidFill>
                  <a:srgbClr val="FFFFFF"/>
                </a:solidFill>
              </a:rPr>
              <a:t>~159</a:t>
            </a:r>
            <a:endParaRPr lang="en-US" sz="4000" dirty="0"/>
          </a:p>
        </p:txBody>
      </p:sp>
      <p:sp>
        <p:nvSpPr>
          <p:cNvPr id="23" name="Callout label 1"/>
          <p:cNvSpPr txBox="1"/>
          <p:nvPr/>
        </p:nvSpPr>
        <p:spPr>
          <a:xfrm>
            <a:off x="9509760" y="3520440"/>
            <a:ext cx="2011680" cy="1188720"/>
          </a:xfrm>
          <a:prstGeom prst="rect">
            <a:avLst/>
          </a:prstGeom>
          <a:noFill/>
          <a:ln/>
        </p:spPr>
        <p:txBody>
          <a:bodyPr wrap="square" lIns="0" tIns="0" rIns="0" bIns="0" rtlCol="0" anchor="ctr"/>
          <a:lstStyle/>
          <a:p>
            <a:pPr indent="0" marL="0">
              <a:buNone/>
            </a:pPr>
            <a:r>
              <a:rPr lang="en-US" sz="1400" dirty="0">
                <a:solidFill>
                  <a:srgbClr val="D9C8E8"/>
                </a:solidFill>
              </a:rPr>
              <a:t>person-days of effort (ROM)</a:t>
            </a:r>
            <a:endParaRPr lang="en-US" sz="1400" dirty="0"/>
          </a:p>
        </p:txBody>
      </p:sp>
      <p:sp>
        <p:nvSpPr>
          <p:cNvPr id="24" name="Callout card 2"/>
          <p:cNvSpPr/>
          <p:nvPr/>
        </p:nvSpPr>
        <p:spPr>
          <a:xfrm>
            <a:off x="7772400" y="4892040"/>
            <a:ext cx="3867912" cy="1188720"/>
          </a:xfrm>
          <a:prstGeom prst="roundRect">
            <a:avLst>
              <a:gd name="adj" fmla="val 7692"/>
            </a:avLst>
          </a:prstGeom>
          <a:solidFill>
            <a:srgbClr val="3A1D52"/>
          </a:solidFill>
          <a:ln/>
        </p:spPr>
      </p:sp>
      <p:sp>
        <p:nvSpPr>
          <p:cNvPr id="25" name="Callout number 2"/>
          <p:cNvSpPr txBox="1"/>
          <p:nvPr/>
        </p:nvSpPr>
        <p:spPr>
          <a:xfrm>
            <a:off x="8001000" y="4892040"/>
            <a:ext cx="1463040" cy="1188720"/>
          </a:xfrm>
          <a:prstGeom prst="rect">
            <a:avLst/>
          </a:prstGeom>
          <a:noFill/>
          <a:ln/>
        </p:spPr>
        <p:txBody>
          <a:bodyPr wrap="square" lIns="0" tIns="0" rIns="0" bIns="0" rtlCol="0" anchor="ctr"/>
          <a:lstStyle/>
          <a:p>
            <a:pPr indent="0" marL="0">
              <a:buNone/>
            </a:pPr>
            <a:r>
              <a:rPr lang="en-US" sz="4000" b="1" dirty="0">
                <a:solidFill>
                  <a:srgbClr val="FFFFFF"/>
                </a:solidFill>
              </a:rPr>
              <a:t>4–6</a:t>
            </a:r>
            <a:endParaRPr lang="en-US" sz="4000" dirty="0"/>
          </a:p>
        </p:txBody>
      </p:sp>
      <p:sp>
        <p:nvSpPr>
          <p:cNvPr id="26" name="Callout label 2"/>
          <p:cNvSpPr txBox="1"/>
          <p:nvPr/>
        </p:nvSpPr>
        <p:spPr>
          <a:xfrm>
            <a:off x="9509760" y="4892040"/>
            <a:ext cx="2011680" cy="1188720"/>
          </a:xfrm>
          <a:prstGeom prst="rect">
            <a:avLst/>
          </a:prstGeom>
          <a:noFill/>
          <a:ln/>
        </p:spPr>
        <p:txBody>
          <a:bodyPr wrap="square" lIns="0" tIns="0" rIns="0" bIns="0" rtlCol="0" anchor="ctr"/>
          <a:lstStyle/>
          <a:p>
            <a:pPr indent="0" marL="0">
              <a:buNone/>
            </a:pPr>
            <a:r>
              <a:rPr lang="en-US" sz="1400" dirty="0">
                <a:solidFill>
                  <a:srgbClr val="D9C8E8"/>
                </a:solidFill>
              </a:rPr>
              <a:t>months to full Azure protection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Key decisions and stakeholder alignment</a:t>
            </a:r>
            <a:endParaRPr lang="en-US" sz="3200" dirty="0"/>
          </a:p>
        </p:txBody>
      </p:sp>
      <p:sp>
        <p:nvSpPr>
          <p:cNvPr id="3" name="Decisions panel"/>
          <p:cNvSpPr/>
          <p:nvPr/>
        </p:nvSpPr>
        <p:spPr>
          <a:xfrm>
            <a:off x="548640" y="1280160"/>
            <a:ext cx="5212080" cy="4892040"/>
          </a:xfrm>
          <a:prstGeom prst="roundRect">
            <a:avLst>
              <a:gd name="adj" fmla="val 1869"/>
            </a:avLst>
          </a:prstGeom>
          <a:solidFill>
            <a:srgbClr val="3A1D52"/>
          </a:solidFill>
          <a:ln/>
        </p:spPr>
      </p:sp>
      <p:sp>
        <p:nvSpPr>
          <p:cNvPr id="4" name="Decisions heading"/>
          <p:cNvSpPr txBox="1"/>
          <p:nvPr/>
        </p:nvSpPr>
        <p:spPr>
          <a:xfrm>
            <a:off x="822960" y="1463040"/>
            <a:ext cx="4663440" cy="411480"/>
          </a:xfrm>
          <a:prstGeom prst="rect">
            <a:avLst/>
          </a:prstGeom>
          <a:noFill/>
          <a:ln/>
        </p:spPr>
        <p:txBody>
          <a:bodyPr wrap="square" lIns="0" tIns="0" rIns="0" bIns="0" rtlCol="0" anchor="ctr"/>
          <a:lstStyle/>
          <a:p>
            <a:pPr indent="0" marL="0">
              <a:buNone/>
            </a:pPr>
            <a:r>
              <a:rPr lang="en-US" sz="1800" b="1" dirty="0">
                <a:solidFill>
                  <a:srgbClr val="FFFFFF"/>
                </a:solidFill>
              </a:rPr>
              <a:t>Decisions required today</a:t>
            </a:r>
            <a:endParaRPr lang="en-US" sz="1800" dirty="0"/>
          </a:p>
        </p:txBody>
      </p:sp>
      <p:sp>
        <p:nvSpPr>
          <p:cNvPr id="5" name="Decision number circle 1"/>
          <p:cNvSpPr/>
          <p:nvPr/>
        </p:nvSpPr>
        <p:spPr>
          <a:xfrm>
            <a:off x="822960" y="2148840"/>
            <a:ext cx="502920" cy="502920"/>
          </a:xfrm>
          <a:prstGeom prst="ellipse">
            <a:avLst/>
          </a:prstGeom>
          <a:solidFill>
            <a:srgbClr val="AD1D84"/>
          </a:solidFill>
          <a:ln/>
        </p:spPr>
      </p:sp>
      <p:sp>
        <p:nvSpPr>
          <p:cNvPr id="6" name="Decision number 1"/>
          <p:cNvSpPr txBox="1"/>
          <p:nvPr/>
        </p:nvSpPr>
        <p:spPr>
          <a:xfrm>
            <a:off x="822960" y="21488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7" name="Decision text 1"/>
          <p:cNvSpPr txBox="1"/>
          <p:nvPr/>
        </p:nvSpPr>
        <p:spPr>
          <a:xfrm>
            <a:off x="1508760" y="2103120"/>
            <a:ext cx="4069080" cy="1188720"/>
          </a:xfrm>
          <a:prstGeom prst="rect">
            <a:avLst/>
          </a:prstGeom>
          <a:noFill/>
          <a:ln/>
        </p:spPr>
        <p:txBody>
          <a:bodyPr wrap="square" lIns="0" tIns="0" rIns="0" bIns="0" rtlCol="0" anchor="t"/>
          <a:lstStyle/>
          <a:p>
            <a:pPr indent="0" marL="0">
              <a:buNone/>
            </a:pPr>
            <a:r>
              <a:rPr lang="en-US" sz="1600" b="1" dirty="0">
                <a:solidFill>
                  <a:srgbClr val="FFFFFF"/>
                </a:solidFill>
              </a:rPr>
              <a:t>Endorse Option A</a:t>
            </a:r>
            <a:endParaRPr lang="en-US" sz="1600" dirty="0"/>
          </a:p>
          <a:p>
            <a:pPr indent="0" marL="0">
              <a:buNone/>
            </a:pPr>
            <a:r>
              <a:rPr lang="en-US" sz="1400" dirty="0">
                <a:solidFill>
                  <a:srgbClr val="D9C8E8"/>
                </a:solidFill>
              </a:rPr>
              <a:t>as the recommended direction, subject to the conditions of approval in the KDD</a:t>
            </a:r>
            <a:endParaRPr lang="en-US" sz="1600" dirty="0"/>
          </a:p>
        </p:txBody>
      </p:sp>
      <p:sp>
        <p:nvSpPr>
          <p:cNvPr id="8" name="Decision number circle 2"/>
          <p:cNvSpPr/>
          <p:nvPr/>
        </p:nvSpPr>
        <p:spPr>
          <a:xfrm>
            <a:off x="822960" y="3520440"/>
            <a:ext cx="502920" cy="502920"/>
          </a:xfrm>
          <a:prstGeom prst="ellipse">
            <a:avLst/>
          </a:prstGeom>
          <a:solidFill>
            <a:srgbClr val="AD1D84"/>
          </a:solidFill>
          <a:ln/>
        </p:spPr>
      </p:sp>
      <p:sp>
        <p:nvSpPr>
          <p:cNvPr id="9" name="Decision number 2"/>
          <p:cNvSpPr txBox="1"/>
          <p:nvPr/>
        </p:nvSpPr>
        <p:spPr>
          <a:xfrm>
            <a:off x="822960" y="35204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Decision text 2"/>
          <p:cNvSpPr txBox="1"/>
          <p:nvPr/>
        </p:nvSpPr>
        <p:spPr>
          <a:xfrm>
            <a:off x="1508760" y="3474720"/>
            <a:ext cx="4069080" cy="1188720"/>
          </a:xfrm>
          <a:prstGeom prst="rect">
            <a:avLst/>
          </a:prstGeom>
          <a:noFill/>
          <a:ln/>
        </p:spPr>
        <p:txBody>
          <a:bodyPr wrap="square" lIns="0" tIns="0" rIns="0" bIns="0" rtlCol="0" anchor="t"/>
          <a:lstStyle/>
          <a:p>
            <a:pPr indent="0" marL="0">
              <a:buNone/>
            </a:pPr>
            <a:r>
              <a:rPr lang="en-US" sz="1600" b="1" dirty="0">
                <a:solidFill>
                  <a:srgbClr val="FFFFFF"/>
                </a:solidFill>
              </a:rPr>
              <a:t>Set the residency position</a:t>
            </a:r>
            <a:endParaRPr lang="en-US" sz="1600" dirty="0"/>
          </a:p>
          <a:p>
            <a:pPr indent="0" marL="0">
              <a:buNone/>
            </a:pPr>
            <a:r>
              <a:rPr lang="en-US" sz="1400" dirty="0">
                <a:solidFill>
                  <a:srgbClr val="D9C8E8"/>
                </a:solidFill>
              </a:rPr>
              <a:t>Is Commvault’s SaaS control plane (East US 2) acceptable for metadata? If not, adopt Option C</a:t>
            </a:r>
            <a:endParaRPr lang="en-US" sz="1600" dirty="0"/>
          </a:p>
        </p:txBody>
      </p:sp>
      <p:sp>
        <p:nvSpPr>
          <p:cNvPr id="11" name="Decision number circle 3"/>
          <p:cNvSpPr/>
          <p:nvPr/>
        </p:nvSpPr>
        <p:spPr>
          <a:xfrm>
            <a:off x="822960" y="4892040"/>
            <a:ext cx="502920" cy="502920"/>
          </a:xfrm>
          <a:prstGeom prst="ellipse">
            <a:avLst/>
          </a:prstGeom>
          <a:solidFill>
            <a:srgbClr val="AD1D84"/>
          </a:solidFill>
          <a:ln/>
        </p:spPr>
      </p:sp>
      <p:sp>
        <p:nvSpPr>
          <p:cNvPr id="12" name="Decision number 3"/>
          <p:cNvSpPr txBox="1"/>
          <p:nvPr/>
        </p:nvSpPr>
        <p:spPr>
          <a:xfrm>
            <a:off x="822960" y="4892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3" name="Decision text 3"/>
          <p:cNvSpPr txBox="1"/>
          <p:nvPr/>
        </p:nvSpPr>
        <p:spPr>
          <a:xfrm>
            <a:off x="1508760" y="4846320"/>
            <a:ext cx="4069080" cy="1188720"/>
          </a:xfrm>
          <a:prstGeom prst="rect">
            <a:avLst/>
          </a:prstGeom>
          <a:noFill/>
          <a:ln/>
        </p:spPr>
        <p:txBody>
          <a:bodyPr wrap="square" lIns="0" tIns="0" rIns="0" bIns="0" rtlCol="0" anchor="t"/>
          <a:lstStyle/>
          <a:p>
            <a:pPr indent="0" marL="0">
              <a:buNone/>
            </a:pPr>
            <a:r>
              <a:rPr lang="en-US" sz="1600" b="1" dirty="0">
                <a:solidFill>
                  <a:srgbClr val="FFFFFF"/>
                </a:solidFill>
              </a:rPr>
              <a:t>Confirm planning assumptions</a:t>
            </a:r>
            <a:endParaRPr lang="en-US" sz="1600" dirty="0"/>
          </a:p>
          <a:p>
            <a:pPr indent="0" marL="0">
              <a:buNone/>
            </a:pPr>
            <a:r>
              <a:rPr lang="en-US" sz="1400" dirty="0">
                <a:solidFill>
                  <a:srgbClr val="D9C8E8"/>
                </a:solidFill>
              </a:rPr>
              <a:t>AWS adoption timing, Entra ID retention needs and the ~CAD 4.4M (ROM) budget envelope</a:t>
            </a:r>
            <a:endParaRPr lang="en-US" sz="1600" dirty="0"/>
          </a:p>
        </p:txBody>
      </p:sp>
      <p:pic>
        <p:nvPicPr>
          <p:cNvPr id="14" name="Questions icon" descr="preencoded.png">    </p:cNvPr>
          <p:cNvPicPr>
            <a:picLocks noChangeAspect="1"/>
          </p:cNvPicPr>
          <p:nvPr/>
        </p:nvPicPr>
        <p:blipFill>
          <a:blip r:embed="rId1"/>
          <a:stretch>
            <a:fillRect/>
          </a:stretch>
        </p:blipFill>
        <p:spPr>
          <a:xfrm>
            <a:off x="6035040" y="1325880"/>
            <a:ext cx="365760" cy="365760"/>
          </a:xfrm>
          <a:prstGeom prst="rect">
            <a:avLst/>
          </a:prstGeom>
        </p:spPr>
      </p:pic>
      <p:sp>
        <p:nvSpPr>
          <p:cNvPr id="15" name="Questions heading"/>
          <p:cNvSpPr txBox="1"/>
          <p:nvPr/>
        </p:nvSpPr>
        <p:spPr>
          <a:xfrm>
            <a:off x="6492240" y="1280160"/>
            <a:ext cx="5120640" cy="457200"/>
          </a:xfrm>
          <a:prstGeom prst="rect">
            <a:avLst/>
          </a:prstGeom>
          <a:noFill/>
          <a:ln/>
        </p:spPr>
        <p:txBody>
          <a:bodyPr wrap="square" lIns="0" tIns="0" rIns="0" bIns="0" rtlCol="0" anchor="ctr"/>
          <a:lstStyle/>
          <a:p>
            <a:pPr indent="0" marL="0">
              <a:buNone/>
            </a:pPr>
            <a:r>
              <a:rPr lang="en-US" sz="1800" b="1" dirty="0">
                <a:solidFill>
                  <a:srgbClr val="582873"/>
                </a:solidFill>
              </a:rPr>
              <a:t>Open questions</a:t>
            </a:r>
            <a:endParaRPr lang="en-US" sz="1800" dirty="0"/>
          </a:p>
        </p:txBody>
      </p:sp>
      <p:sp>
        <p:nvSpPr>
          <p:cNvPr id="16" name="Questions list"/>
          <p:cNvSpPr txBox="1"/>
          <p:nvPr/>
        </p:nvSpPr>
        <p:spPr>
          <a:xfrm>
            <a:off x="6035040" y="1828800"/>
            <a:ext cx="5605272"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62626"/>
                </a:solidFill>
              </a:rPr>
              <a:t>Would Security accept a same-tenant offsite copy (the deciding factor for Option C)?</a:t>
            </a:r>
            <a:endParaRPr lang="en-US" sz="1400" dirty="0"/>
          </a:p>
          <a:p>
            <a:pPr marL="342900" indent="-342900">
              <a:spcAft>
                <a:spcPts val="400"/>
              </a:spcAft>
              <a:buSzPct val="100000"/>
              <a:buChar char="•"/>
            </a:pPr>
            <a:r>
              <a:rPr lang="en-US" sz="1400" dirty="0">
                <a:solidFill>
                  <a:srgbClr val="262626"/>
                </a:solidFill>
              </a:rPr>
              <a:t>What is the actual current Azure Backup spend?</a:t>
            </a:r>
            <a:endParaRPr lang="en-US" sz="1400" dirty="0"/>
          </a:p>
          <a:p>
            <a:pPr marL="342900" indent="-342900">
              <a:spcAft>
                <a:spcPts val="400"/>
              </a:spcAft>
              <a:buSzPct val="100000"/>
              <a:buChar char="•"/>
            </a:pPr>
            <a:r>
              <a:rPr lang="en-US" sz="1400" dirty="0">
                <a:solidFill>
                  <a:srgbClr val="262626"/>
                </a:solidFill>
              </a:rPr>
              <a:t>Are IaC definitions complete for critical environments?</a:t>
            </a:r>
            <a:endParaRPr lang="en-US" sz="1400" dirty="0"/>
          </a:p>
        </p:txBody>
      </p:sp>
      <p:pic>
        <p:nvPicPr>
          <p:cNvPr id="17" name="Actions icon" descr="preencoded.png">    </p:cNvPr>
          <p:cNvPicPr>
            <a:picLocks noChangeAspect="1"/>
          </p:cNvPicPr>
          <p:nvPr/>
        </p:nvPicPr>
        <p:blipFill>
          <a:blip r:embed="rId2"/>
          <a:stretch>
            <a:fillRect/>
          </a:stretch>
        </p:blipFill>
        <p:spPr>
          <a:xfrm>
            <a:off x="6035040" y="3383280"/>
            <a:ext cx="365760" cy="365760"/>
          </a:xfrm>
          <a:prstGeom prst="rect">
            <a:avLst/>
          </a:prstGeom>
        </p:spPr>
      </p:pic>
      <p:sp>
        <p:nvSpPr>
          <p:cNvPr id="18" name="Actions heading"/>
          <p:cNvSpPr txBox="1"/>
          <p:nvPr/>
        </p:nvSpPr>
        <p:spPr>
          <a:xfrm>
            <a:off x="6492240" y="3337560"/>
            <a:ext cx="5120640" cy="457200"/>
          </a:xfrm>
          <a:prstGeom prst="rect">
            <a:avLst/>
          </a:prstGeom>
          <a:noFill/>
          <a:ln/>
        </p:spPr>
        <p:txBody>
          <a:bodyPr wrap="square" lIns="0" tIns="0" rIns="0" bIns="0" rtlCol="0" anchor="ctr"/>
          <a:lstStyle/>
          <a:p>
            <a:pPr indent="0" marL="0">
              <a:buNone/>
            </a:pPr>
            <a:r>
              <a:rPr lang="en-US" sz="1800" b="1" dirty="0">
                <a:solidFill>
                  <a:srgbClr val="582873"/>
                </a:solidFill>
              </a:rPr>
              <a:t>Action items</a:t>
            </a:r>
            <a:endParaRPr lang="en-US" sz="1800" dirty="0"/>
          </a:p>
        </p:txBody>
      </p:sp>
      <p:graphicFrame>
        <p:nvGraphicFramePr>
          <p:cNvPr id="7" name="Action items table"/>
          <p:cNvGraphicFramePr>
            <a:graphicFrameLocks noGrp="1"/>
          </p:cNvGraphicFramePr>
          <p:nvPr>
            <p:extLst>
              <p:ext uri="{D42A27DB-BD31-4B8C-83A1-F6EECF244321}">
                <p14:modId xmlns:p14="http://schemas.microsoft.com/office/powerpoint/2010/main" val="1579011935"/>
              </p:ext>
            </p:extLst>
          </p:nvPr>
        </p:nvGraphicFramePr>
        <p:xfrm>
          <a:off x="6035040" y="3886200"/>
          <a:ext cx="5605272" cy="914400"/>
        </p:xfrm>
        <a:graphic>
          <a:graphicData uri="http://schemas.openxmlformats.org/drawingml/2006/table">
            <a:tbl>
              <a:tblPr/>
              <a:tblGrid>
                <a:gridCol w="3044952"/>
                <a:gridCol w="1783080"/>
                <a:gridCol w="777240"/>
              </a:tblGrid>
              <a:tr h="438912">
                <a:tc>
                  <a:txBody>
                    <a:bodyPr/>
                    <a:lstStyle/>
                    <a:p>
                      <a:pPr indent="0" marL="0">
                        <a:buNone/>
                      </a:pPr>
                      <a:r>
                        <a:rPr lang="en-US" sz="1200" b="1" dirty="0">
                          <a:solidFill>
                            <a:srgbClr val="FFFFFF"/>
                          </a:solidFill>
                        </a:rPr>
                        <a:t>Action</a:t>
                      </a:r>
                      <a:endParaRPr lang="en-US" sz="1200" dirty="0"/>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82873"/>
                    </a:solidFill>
                  </a:tcPr>
                </a:tc>
                <a:tc>
                  <a:txBody>
                    <a:bodyPr/>
                    <a:lstStyle/>
                    <a:p>
                      <a:pPr indent="0" marL="0">
                        <a:buNone/>
                      </a:pPr>
                      <a:r>
                        <a:rPr lang="en-US" sz="1200" b="1" dirty="0">
                          <a:solidFill>
                            <a:srgbClr val="FFFFFF"/>
                          </a:solidFill>
                        </a:rPr>
                        <a:t>Owner</a:t>
                      </a:r>
                      <a:endParaRPr lang="en-US" sz="1200" dirty="0"/>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82873"/>
                    </a:solidFill>
                  </a:tcPr>
                </a:tc>
                <a:tc>
                  <a:txBody>
                    <a:bodyPr/>
                    <a:lstStyle/>
                    <a:p>
                      <a:pPr indent="0" marL="0">
                        <a:buNone/>
                      </a:pPr>
                      <a:r>
                        <a:rPr lang="en-US" sz="1200" b="1" dirty="0">
                          <a:solidFill>
                            <a:srgbClr val="FFFFFF"/>
                          </a:solidFill>
                        </a:rPr>
                        <a:t>Due</a:t>
                      </a:r>
                      <a:endParaRPr lang="en-US" sz="1200" dirty="0"/>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82873"/>
                    </a:solidFill>
                  </a:tcPr>
                </a:tc>
              </a:tr>
              <a:tr h="438912">
                <a:tc>
                  <a:txBody>
                    <a:bodyPr/>
                    <a:lstStyle/>
                    <a:p>
                      <a:pPr indent="0" marL="0">
                        <a:buNone/>
                      </a:pPr>
                      <a:r>
                        <a:rPr lang="en-US" sz="1200" dirty="0">
                          <a:solidFill>
                            <a:srgbClr val="262626"/>
                          </a:solidFill>
                        </a:rPr>
                        <a:t>Written residency confirmation from Commvault</a:t>
                      </a:r>
                      <a:endParaRPr lang="en-US" sz="1200" dirty="0"/>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62626"/>
                          </a:solidFill>
                        </a:rPr>
                        <a:t>Compliance / Procurement</a:t>
                      </a:r>
                      <a:endParaRPr lang="en-US" sz="1200" dirty="0"/>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62626"/>
                          </a:solidFill>
                        </a:rPr>
                        <a:t>[Date]</a:t>
                      </a:r>
                      <a:endParaRPr lang="en-US" sz="1200" dirty="0"/>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38912">
                <a:tc>
                  <a:txBody>
                    <a:bodyPr/>
                    <a:lstStyle/>
                    <a:p>
                      <a:pPr indent="0" marL="0">
                        <a:buNone/>
                      </a:pPr>
                      <a:r>
                        <a:rPr lang="en-US" sz="1200" dirty="0">
                          <a:solidFill>
                            <a:srgbClr val="262626"/>
                          </a:solidFill>
                        </a:rPr>
                        <a:t>Confirm workload status, data volumes and identity count</a:t>
                      </a:r>
                      <a:endParaRPr lang="en-US" sz="1200" dirty="0"/>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62626"/>
                          </a:solidFill>
                        </a:rPr>
                        <a:t>Cloud and IAM Leads</a:t>
                      </a:r>
                      <a:endParaRPr lang="en-US" sz="1200" dirty="0"/>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62626"/>
                          </a:solidFill>
                        </a:rPr>
                        <a:t>[Date]</a:t>
                      </a:r>
                      <a:endParaRPr lang="en-US" sz="1200" dirty="0"/>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38912">
                <a:tc>
                  <a:txBody>
                    <a:bodyPr/>
                    <a:lstStyle/>
                    <a:p>
                      <a:pPr indent="0" marL="0">
                        <a:buNone/>
                      </a:pPr>
                      <a:r>
                        <a:rPr lang="en-US" sz="1200" dirty="0">
                          <a:solidFill>
                            <a:srgbClr val="262626"/>
                          </a:solidFill>
                        </a:rPr>
                        <a:t>Commvault quote vs. actual Azure Backup spend</a:t>
                      </a:r>
                      <a:endParaRPr lang="en-US" sz="1200" dirty="0"/>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62626"/>
                          </a:solidFill>
                        </a:rPr>
                        <a:t>Procurement / Finance</a:t>
                      </a:r>
                      <a:endParaRPr lang="en-US" sz="1200" dirty="0"/>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62626"/>
                          </a:solidFill>
                        </a:rPr>
                        <a:t>[Date]</a:t>
                      </a:r>
                      <a:endParaRPr lang="en-US" sz="1200" dirty="0"/>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38912">
                <a:tc>
                  <a:txBody>
                    <a:bodyPr/>
                    <a:lstStyle/>
                    <a:p>
                      <a:pPr indent="0" marL="0">
                        <a:buNone/>
                      </a:pPr>
                      <a:r>
                        <a:rPr lang="en-US" sz="1200" dirty="0">
                          <a:solidFill>
                            <a:srgbClr val="262626"/>
                          </a:solidFill>
                        </a:rPr>
                        <a:t>Run the PoC and report to the Design Authority</a:t>
                      </a:r>
                      <a:endParaRPr lang="en-US" sz="1200" dirty="0"/>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62626"/>
                          </a:solidFill>
                        </a:rPr>
                        <a:t>Resilience Lead</a:t>
                      </a:r>
                      <a:endParaRPr lang="en-US" sz="1200" dirty="0"/>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62626"/>
                          </a:solidFill>
                        </a:rPr>
                        <a:t>[Date]</a:t>
                      </a:r>
                      <a:endParaRPr lang="en-US" sz="1200" dirty="0"/>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Cloud Backup KDD">
  <a:themeElements>
    <a:clrScheme name="Cloud Backup KDD">
      <a:dk1>
        <a:srgbClr val="262626"/>
      </a:dk1>
      <a:lt1>
        <a:srgbClr val="FFFFFF"/>
      </a:lt1>
      <a:dk2>
        <a:srgbClr val="3A1D52"/>
      </a:dk2>
      <a:lt2>
        <a:srgbClr val="F4EFF8"/>
      </a:lt2>
      <a:accent1>
        <a:srgbClr val="582873"/>
      </a:accent1>
      <a:accent2>
        <a:srgbClr val="AD1D84"/>
      </a:accent2>
      <a:accent3>
        <a:srgbClr val="2E8B88"/>
      </a:accent3>
      <a:accent4>
        <a:srgbClr val="4E95D9"/>
      </a:accent4>
      <a:accent5>
        <a:srgbClr val="E8913A"/>
      </a:accent5>
      <a:accent6>
        <a:srgbClr val="8C8C8C"/>
      </a:accent6>
      <a:hlink>
        <a:srgbClr val="582873"/>
      </a:hlink>
      <a:folHlink>
        <a:srgbClr val="6B5B95"/>
      </a:folHlink>
    </a:clrScheme>
    <a:fontScheme name="Cloud Backup KD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Cloud Workload Backup and Recovery: KDD walkthrough</dc:title>
  <dc:subject>Stakeholder session</dc:subject>
  <dc:creator>PptxGenJS</dc:creator>
  <cp:lastModifiedBy>PptxGenJS</cp:lastModifiedBy>
  <cp:revision>1</cp:revision>
  <dcterms:created xsi:type="dcterms:W3CDTF">2026-10-24T01:53:52Z</dcterms:created>
  <dcterms:modified xsi:type="dcterms:W3CDTF">2026-10-24T01:53:52Z</dcterms:modified>
</cp:coreProperties>
</file>