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56" r:id="rId2"/>
    <p:sldId id="258" r:id="rId4"/>
    <p:sldId id="260" r:id="rId11"/>
    <p:sldId id="263" r:id="rId1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3" Type="http://schemas.openxmlformats.org/officeDocument/2006/relationships/slide" Target="slides/slide1.xml"/><Relationship Id="rId1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WORKSTREAM  |  ENTERPRISE BACKUP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4739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KICKOFF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ptos"/>
              </a:rPr>
              <a:t>Agenda — Enterprise Backup Platform Client Kickoff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777"/>
                </a:solidFill>
                <a:latin typeface="Aptos"/>
              </a:rPr>
              <a:t>Today’s session: align the assessment scope, requirements, timeline and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10881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280160"/>
            <a:ext cx="310896" cy="310896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25880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280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1">
                <a:solidFill>
                  <a:srgbClr val="1F4E79"/>
                </a:solidFill>
                <a:latin typeface="Aptos"/>
              </a:rPr>
              <a:t>Kickoff Objective &amp; Current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289304"/>
            <a:ext cx="6995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0" b="0">
                <a:solidFill>
                  <a:srgbClr val="5B6777"/>
                </a:solidFill>
                <a:latin typeface="Aptos"/>
              </a:rPr>
              <a:t>Current Azure-native backup baseline, assessment purpose and client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84248"/>
            <a:ext cx="10881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029967"/>
            <a:ext cx="310896" cy="310896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075688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02996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1">
                <a:solidFill>
                  <a:srgbClr val="1F4E79"/>
                </a:solidFill>
                <a:latin typeface="Aptos"/>
              </a:rPr>
              <a:t>Assessment &amp; Requirements — Scope of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39112"/>
            <a:ext cx="6995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0" b="0">
                <a:solidFill>
                  <a:srgbClr val="5B6777"/>
                </a:solidFill>
                <a:latin typeface="Aptos"/>
              </a:rPr>
              <a:t>Assess third-party backup coverage and controls; define assumptions, constraints, dependencies and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734056"/>
            <a:ext cx="10881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779776"/>
            <a:ext cx="310896" cy="310896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825496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7797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1">
                <a:solidFill>
                  <a:srgbClr val="1F4E79"/>
                </a:solidFill>
                <a:latin typeface="Aptos"/>
              </a:rPr>
              <a:t>High-Level Assessment Timeline &amp;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788920"/>
            <a:ext cx="6995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0" b="0">
                <a:solidFill>
                  <a:srgbClr val="5B6777"/>
                </a:solidFill>
                <a:latin typeface="Aptos"/>
              </a:rPr>
              <a:t>Analysis, requirements gathering, recommendations and high-level schedule aligned to the approved Mid-Feb deployment timeline.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83864"/>
            <a:ext cx="10881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3529584"/>
            <a:ext cx="310896" cy="310896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75304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52958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1">
                <a:solidFill>
                  <a:srgbClr val="1F4E79"/>
                </a:solidFill>
                <a:latin typeface="Aptos"/>
              </a:rPr>
              <a:t>RACI &amp; Responsibilities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538728"/>
            <a:ext cx="6995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0" b="0">
                <a:solidFill>
                  <a:srgbClr val="5B6777"/>
                </a:solidFill>
                <a:latin typeface="Aptos"/>
              </a:rPr>
              <a:t>Clarify Resilience Support Team and HPE responsibilities for assessment, requirements, reviews, inputs and sign-off.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233672"/>
            <a:ext cx="1088136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" y="4279392"/>
            <a:ext cx="310896" cy="310896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325112"/>
            <a:ext cx="310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2793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1">
                <a:solidFill>
                  <a:srgbClr val="1F4E79"/>
                </a:solidFill>
                <a:latin typeface="Aptos"/>
              </a:rPr>
              <a:t>Kickoff Discussion &amp;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288536"/>
            <a:ext cx="6995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0" b="0">
                <a:solidFill>
                  <a:srgbClr val="5B6777"/>
                </a:solidFill>
                <a:latin typeface="Aptos"/>
              </a:rPr>
              <a:t>Confirm scope, workshop topics, required access/data, owners and immediate actions.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245352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F4E79"/>
                </a:solidFill>
                <a:latin typeface="Aptos"/>
              </a:rPr>
              <a:t>KICKOFF OUTCOME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5960" y="6144768"/>
            <a:ext cx="9573768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6236208"/>
            <a:ext cx="9235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1">
                <a:solidFill>
                  <a:srgbClr val="1F4E79"/>
                </a:solidFill>
                <a:latin typeface="Aptos"/>
              </a:rPr>
              <a:t>Agreed scope  •  Requirements baseline  •  Workshop plan  •  Client inputs / owners  •  Immediate next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77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Backup Platform — Client Kickoff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workstream | Assessment &amp; requirements gathering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124358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OBJECTIVE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Assess the current third-party backup environment, identify coverage and control gaps, and define the requirements and recommendations needed for next-step alignment.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82128" y="1225296"/>
            <a:ext cx="376732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38160" y="14813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573"/>
                </a:solidFill>
              </a:rPr>
              <a:t>REGIONAL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38160" y="1737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Canada Central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82912" y="176479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</a:rPr>
              <a:t>Primary production region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9308592" y="2084832"/>
            <a:ext cx="384048" cy="219456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38160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7864"/>
                </a:solidFill>
              </a:rPr>
              <a:t>Canada East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82912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</a:rPr>
              <a:t>Secondary DR / recovery target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852928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68096" y="31272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68096" y="31683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Current state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2971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Azure-native backup is currently in place
Third-party backup environment is the assessment focus
Existing Azure-native backup is used as the current baseline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352544" y="2852928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90288" y="3127248"/>
            <a:ext cx="420624" cy="420624"/>
          </a:xfrm>
          <a:prstGeom prst="ellipse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90288" y="31683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Assessment focus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26864" y="3566160"/>
            <a:ext cx="2971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capabilities and controls
Assumptions, constraints and dependencies
Recommended objectives, architecture considerations and proposed implementation approach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174736" y="2852928"/>
            <a:ext cx="3474720" cy="2578608"/>
          </a:xfrm>
          <a:prstGeom prst="roundRect">
            <a:avLst>
              <a:gd name="adj" fmla="val 4255"/>
            </a:avLst>
          </a:prstGeom>
          <a:solidFill>
            <a:srgbClr val="17365D"/>
          </a:solidFill>
          <a:ln w="13970">
            <a:solidFill>
              <a:srgbClr val="17365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39912" y="3136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D7F1"/>
                </a:solidFill>
              </a:rPr>
              <a:t>DESIGN PRINCIPLE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39912" y="346557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Planning objective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39912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</a:rPr>
              <a:t>Produce a high-level implementation schedule aligned to the currently approved Mid-Feb deployment timeline.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Assessment &amp; Requirements — Scope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Assessment &amp; Requirements — Scope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76656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77380"/>
                </a:solidFill>
                <a:latin typeface="Aptos"/>
              </a:rPr>
              <a:t>Current Azure-native backups are in place; this phase establishes the gaps, requirements and recommended path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0807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77380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33271"/>
            <a:ext cx="11000232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16128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Aptos"/>
              </a:rPr>
              <a:t>Primary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078992"/>
            <a:ext cx="9189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ptos"/>
              </a:rPr>
              <a:t>Assess the current backup environment, define the requirements and produce the recommendations and high-level schedule needed to align with the approved Mid-Feb deployment timeline.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83080"/>
            <a:ext cx="5376672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5376672" cy="54864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" y="1947672"/>
            <a:ext cx="393192" cy="393192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29968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194767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Aptos"/>
              </a:rPr>
              <a:t>ASSESS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231136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Current state &amp;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532888"/>
            <a:ext cx="490118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>
                <a:solidFill>
                  <a:srgbClr val="677380"/>
                </a:solidFill>
                <a:latin typeface="Aptos"/>
              </a:rPr>
              <a:t>Assess the current state of the third-party backup environment, using the existing Azure-native backup foundation as the baseline.</a:t>
            </a:r>
          </a:p>
          <a:p/>
          <a:p>
            <a:r>
              <a:rPr sz="1000">
                <a:solidFill>
                  <a:srgbClr val="677380"/>
                </a:solidFill>
                <a:latin typeface="Aptos"/>
              </a:rPr>
              <a:t>Perform a gap analysis of coverage capabilities, controls and current-state practices.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83080"/>
            <a:ext cx="5376672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376672" cy="54864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45936" y="1947672"/>
            <a:ext cx="393192" cy="393192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029968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94767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Aptos"/>
              </a:rPr>
              <a:t>DEFINE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231136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Assumptions, constraints &amp; dependencies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532888"/>
            <a:ext cx="490118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380"/>
                </a:solidFill>
                <a:latin typeface="Aptos"/>
              </a:rPr>
              <a:t>Document key assumptions, constraints and dependencies that could affect coverage, architecture, security, operations and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57600"/>
            <a:ext cx="5376672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657600"/>
            <a:ext cx="5376672" cy="54864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8" y="3822192"/>
            <a:ext cx="393192" cy="393192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904488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382219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Aptos"/>
              </a:rPr>
              <a:t>RECOMMEND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105656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Objectives &amp; architecture considerations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407408"/>
            <a:ext cx="490118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380"/>
                </a:solidFill>
                <a:latin typeface="Aptos"/>
              </a:rPr>
              <a:t>Develop recommended objectives, architecture considerations and a proposed implementation approach for the enterprise backup platform.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657600"/>
            <a:ext cx="5376672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3657600"/>
            <a:ext cx="5376672" cy="54864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45936" y="3822192"/>
            <a:ext cx="393192" cy="393192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904488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382219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Aptos"/>
              </a:rPr>
              <a:t>ALIGN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4576" y="4105656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Implementation 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407408"/>
            <a:ext cx="490118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380"/>
                </a:solidFill>
                <a:latin typeface="Aptos"/>
              </a:rPr>
              <a:t>Produce a high-level implementation schedule and identify the activities, dependencies and decision points required to align with the currently approved Mid-Feb deployment timeline.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468112"/>
            <a:ext cx="11000232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57784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DCDF6"/>
                </a:solidFill>
                <a:latin typeface="Aptos"/>
              </a:rPr>
              <a:t>CURRENT SOW OUTPUTS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5504688"/>
            <a:ext cx="8869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Current-state assessment + gap analysis  •  assumptions / constraints / dependencies  •  recommended objectives &amp; architecture considerations  •  proposed implementation approach  •  high-level schedule aligned to Mid-Feb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07161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77380"/>
                </a:solidFill>
                <a:latin typeface="Aptos"/>
              </a:rPr>
              <a:t>RESILIENCE WORKSTREAM  |  ENTERPRISE BACKUP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High-Level Assessment Timeline &amp;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High-Level Assessment Timeline &amp;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76656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77380"/>
                </a:solidFill>
                <a:latin typeface="Aptos"/>
              </a:rPr>
              <a:t>Current SOW focuses on assessment and requirements; dates below show the working sequence, with detailed planning to be confirmed.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0807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77380"/>
                </a:solidFill>
                <a:latin typeface="Apto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3017520" cy="493776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34440"/>
            <a:ext cx="28712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143000"/>
            <a:ext cx="1298448" cy="493776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234440"/>
            <a:ext cx="1152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Target Start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143000"/>
            <a:ext cx="1298448" cy="493776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234440"/>
            <a:ext cx="1152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Target 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143000"/>
            <a:ext cx="5376672" cy="493776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234440"/>
            <a:ext cx="5230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Key Milestone / 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636776"/>
            <a:ext cx="301752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1709928"/>
            <a:ext cx="287121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>
                <a:solidFill>
                  <a:srgbClr val="1F2937"/>
                </a:solidFill>
                <a:latin typeface="Aptos"/>
              </a:rPr>
              <a:t>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1636776"/>
            <a:ext cx="1298448" cy="48463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1709928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Oct 05,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1636776"/>
            <a:ext cx="1298448" cy="48463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709928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Oct 16,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636776"/>
            <a:ext cx="5376672" cy="48463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1709928"/>
            <a:ext cx="523036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Current-state assessment completed and findings documented.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21408"/>
            <a:ext cx="3017520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194560"/>
            <a:ext cx="287121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>
                <a:solidFill>
                  <a:srgbClr val="1F2937"/>
                </a:solidFill>
                <a:latin typeface="Aptos"/>
              </a:rPr>
              <a:t>Discussion on the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2121408"/>
            <a:ext cx="1298448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5032" y="2194560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0328" y="2121408"/>
            <a:ext cx="1298448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2194560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8776" y="2121408"/>
            <a:ext cx="5376672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2194560"/>
            <a:ext cx="523036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Findings reviewed; gaps, questions and priority focus areas confirmed.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606040"/>
            <a:ext cx="301752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2679192"/>
            <a:ext cx="287121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>
                <a:solidFill>
                  <a:srgbClr val="1F2937"/>
                </a:solidFill>
                <a:latin typeface="Aptos"/>
              </a:rPr>
              <a:t>Requirements Gathering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2606040"/>
            <a:ext cx="1298448" cy="48463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85032" y="2679192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10328" y="2606040"/>
            <a:ext cx="1298448" cy="48463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2679192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08776" y="2606040"/>
            <a:ext cx="5376672" cy="48463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1928" y="2679192"/>
            <a:ext cx="523036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Assumptions, constraints, dependencies and requirements captured.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090672"/>
            <a:ext cx="3017520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3163824"/>
            <a:ext cx="287121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>
                <a:solidFill>
                  <a:srgbClr val="1F2937"/>
                </a:solidFill>
                <a:latin typeface="Aptos"/>
              </a:rPr>
              <a:t>Requirements Sign-off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11880" y="3090672"/>
            <a:ext cx="1298448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85032" y="3163824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10328" y="3090672"/>
            <a:ext cx="1298448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3163824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08776" y="3090672"/>
            <a:ext cx="5376672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3163824"/>
            <a:ext cx="523036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Requirements baseline agreed and ready for recommendation / planning.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3575304"/>
            <a:ext cx="30175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3648456"/>
            <a:ext cx="2871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>
                <a:solidFill>
                  <a:srgbClr val="1F2937"/>
                </a:solidFill>
                <a:latin typeface="Aptos"/>
              </a:rPr>
              <a:t>Recommended Objectives / Architecture Considerations / Proposed Implementation Approach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11880" y="3575304"/>
            <a:ext cx="1298448" cy="585216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85032" y="3648456"/>
            <a:ext cx="11521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10328" y="3575304"/>
            <a:ext cx="1298448" cy="585216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80" y="3648456"/>
            <a:ext cx="11521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08776" y="3575304"/>
            <a:ext cx="5376672" cy="585216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1928" y="3648456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Recommended objectives and approach documented for client alignment.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160520"/>
            <a:ext cx="3017520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" y="4233672"/>
            <a:ext cx="287121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>
                <a:solidFill>
                  <a:srgbClr val="1F2937"/>
                </a:solidFill>
                <a:latin typeface="Aptos"/>
              </a:rPr>
              <a:t>High-Level Implementation Schedule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11880" y="4160520"/>
            <a:ext cx="1298448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85032" y="4233672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10328" y="4160520"/>
            <a:ext cx="1298448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3480" y="4233672"/>
            <a:ext cx="115214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TBD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08776" y="4160520"/>
            <a:ext cx="5376672" cy="484632"/>
          </a:xfrm>
          <a:prstGeom prst="rect">
            <a:avLst/>
          </a:prstGeom>
          <a:solidFill>
            <a:srgbClr val="F9FBFD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81928" y="4233672"/>
            <a:ext cx="523036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>
                <a:solidFill>
                  <a:srgbClr val="677380"/>
                </a:solidFill>
                <a:latin typeface="Aptos"/>
              </a:rPr>
              <a:t>Schedule and dependencies mapped to the approved Mid-Feb deployment timeline.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4800600"/>
            <a:ext cx="11000232" cy="713232"/>
          </a:xfrm>
          <a:prstGeom prst="roundRect">
            <a:avLst>
              <a:gd name="adj" fmla="val 8000"/>
            </a:avLst>
          </a:prstGeom>
          <a:solidFill>
            <a:srgbClr val="E9F4FB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" y="495604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Aptos"/>
              </a:rPr>
              <a:t>ALIGNMENT TARGET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40280" y="4892040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F2937"/>
                </a:solidFill>
                <a:latin typeface="Aptos"/>
              </a:rPr>
              <a:t>High-level implementation schedule to align with the currently approved Mid-Feb deployment timeline. Detailed design and implementation remain subject to the next-phase CR.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" y="607161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77380"/>
                </a:solidFill>
                <a:latin typeface="Aptos"/>
              </a:rPr>
              <a:t>RESILIENCE WORKSTREAM  |  ENTERPRISE BACKUP PLATFORM  |  CURRENT SOW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Aptos Display"/>
              </a:rPr>
              <a:t>RACI — Enterprise Backup Platform Workstream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7"/>
                </a:solidFill>
                <a:latin typeface="Aptos"/>
              </a:rPr>
              <a:t>Clear ownership for the current assessment and requirements-gathering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972800" cy="457200"/>
          </a:xfrm>
          <a:prstGeom prst="roundRect">
            <a:avLst/>
          </a:prstGeom>
          <a:solidFill>
            <a:srgbClr val="F3F6F9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1">
                <a:solidFill>
                  <a:srgbClr val="1F2937"/>
                </a:solidFill>
                <a:latin typeface="Aptos"/>
              </a:rPr>
              <a:t>HPE responsibility: provide timely access / data, participate in reviews and own procurement, licensing and subscription costs.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8308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0"/>
                <a:gridCol w="224028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Workstream / Activity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Resilience Support Team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HPE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4048">
                <a:tc gridSpan="3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CURRENT SOW — ASSESSMENT &amp; REQUIREMENTS</a:t>
                      </a:r>
                    </a:p>
                  </a:txBody>
                  <a:tcPr>
                    <a:solidFill>
                      <a:srgbClr val="315B8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ptos"/>
                        </a:rPr>
                        <a:t>Kickoff, governance &amp; schedule alignment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ptos"/>
                        </a:rPr>
                        <a:t>Provide access, inventory, documentation &amp; data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R/A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ptos"/>
                        </a:rPr>
                        <a:t>Current-state third-party backup assessment &amp; gap analysis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R/A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ptos"/>
                        </a:rPr>
                        <a:t>Assumptions, constraints &amp; dependencies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ptos"/>
                        </a:rPr>
                        <a:t>Recommended objectives &amp; architecture considerations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ptos"/>
                        </a:rPr>
                        <a:t>Proposed implementation approach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ptos"/>
                        </a:rPr>
                        <a:t>Requirements review &amp; sign-off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ptos"/>
                        </a:rPr>
                        <a:t>High-level implementation schedule / Mid-Feb alignment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73152" marR="45720" marT="27432" marB="27432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8521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F4E79"/>
                </a:solidFill>
                <a:latin typeface="Aptos"/>
              </a:rPr>
              <a:t>LEGEND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5852160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F4E79"/>
                </a:solidFill>
                <a:latin typeface="Aptos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8521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7"/>
                </a:solidFill>
                <a:latin typeface="Aptos"/>
              </a:rPr>
              <a:t>Responsible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852160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F4E79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58521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7"/>
                </a:solidFill>
                <a:latin typeface="Aptos"/>
              </a:rPr>
              <a:t>Accountable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852160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F4E79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58521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7"/>
                </a:solidFill>
                <a:latin typeface="Aptos"/>
              </a:rPr>
              <a:t>Consulted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852160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F4E79"/>
                </a:solidFill>
                <a:latin typeface="Aptos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58521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7"/>
                </a:solidFill>
                <a:latin typeface="Aptos"/>
              </a:rPr>
              <a:t>Informed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5833872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5B6777"/>
                </a:solidFill>
                <a:latin typeface="Aptos"/>
              </a:rPr>
              <a:t>Current SOW only. Detailed design and implementation are outside this phase.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Kickoff Discussion — Proposed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Kickoff Discussion — Proposed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76656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77380"/>
                </a:solidFill>
                <a:latin typeface="Aptos"/>
              </a:rPr>
              <a:t>Focus the first workshop on the revised assessment and requirements SOW.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08076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77380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523036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99616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38988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Aptos"/>
              </a:rPr>
              <a:t>Current-state assessment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691640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677380"/>
                </a:solidFill>
                <a:latin typeface="Aptos"/>
              </a:rPr>
              <a:t>Confirm the Azure-native backup foundation, third-party backup assessment scope and environments / workloads to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96312"/>
            <a:ext cx="523036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6791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6148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65176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Aptos"/>
              </a:rPr>
              <a:t>Gap analysis &amp;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953512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677380"/>
                </a:solidFill>
                <a:latin typeface="Aptos"/>
              </a:rPr>
              <a:t>Review coverage capabilities, recovery controls, security expectations and current-state gaps.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58183"/>
            <a:ext cx="523036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94106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23359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913631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Aptos"/>
              </a:rPr>
              <a:t>Assumptions, constraints &amp;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215383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677380"/>
                </a:solidFill>
                <a:latin typeface="Aptos"/>
              </a:rPr>
              <a:t>Capture technical, operational, security, data residency and delivery dependencies.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234440"/>
            <a:ext cx="523036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45936" y="141732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499616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138988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Aptos"/>
              </a:rPr>
              <a:t>Recommended objectives &amp; architecture considerations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1691640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677380"/>
                </a:solidFill>
                <a:latin typeface="Aptos"/>
              </a:rPr>
              <a:t>Align on desired outcomes, architecture considerations and the proposed implementation approach.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2496312"/>
            <a:ext cx="523036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45936" y="26791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276148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265176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Aptos"/>
              </a:rPr>
              <a:t>High-level implementation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953512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677380"/>
                </a:solidFill>
                <a:latin typeface="Aptos"/>
              </a:rPr>
              <a:t>Confirm the planning assumptions and alignment needed to target the approved Mid-Feb deployment timeline.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3758183"/>
            <a:ext cx="523036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45936" y="394106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4023359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3913631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Aptos"/>
              </a:rPr>
              <a:t>Inputs, owners &amp; next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4215383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677380"/>
                </a:solidFill>
                <a:latin typeface="Aptos"/>
              </a:rPr>
              <a:t>Agree access / data requests, workshop participants, action owners and immediate next steps.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120640"/>
            <a:ext cx="10753344" cy="530352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285232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Expected outputs: agreed assessment scope  •  gap-analysis focus  •  requirements workplan  •  client inputs / owners  •  next-step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07161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77380"/>
                </a:solidFill>
                <a:latin typeface="Aptos"/>
              </a:rPr>
              <a:t>RESILIENCE WORKSTREAM  |  ENTERPRISE BACKUP PLATFORM  |  KICKOFF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Client Resilience Workstream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Backup Platform – Client Kickoff</dc:title>
  <dc:subject>Enterprise Backup Platform Client Kickoff</dc:subject>
  <dc:creator>OpenAI</dc:creator>
  <cp:lastModifiedBy>OpenAI</cp:lastModifiedBy>
  <cp:revision>1</cp:revision>
  <dcterms:created xsi:type="dcterms:W3CDTF">2026-10-04T21:56:20Z</dcterms:created>
  <dcterms:modified xsi:type="dcterms:W3CDTF">2026-10-04T21:56:20Z</dcterms:modified>
</cp:coreProperties>
</file>