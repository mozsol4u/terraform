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11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 |  ENTERPRISE BACKUP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473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KICKOFF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Backup Platform — Client Kickoff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| Current Azure foundation with future multi-cloud expansion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435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Establish an enterprise-grade backup and recovery platform for Azure now, with a design that can extend to AWS without re-architecting the operating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82128" y="1225296"/>
            <a:ext cx="376732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481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573"/>
                </a:solidFill>
              </a:rPr>
              <a:t>REGIONAL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Canada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2912" y="17647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Primary production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9308592" y="2084832"/>
            <a:ext cx="384048" cy="219456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864"/>
                </a:solidFill>
              </a:rPr>
              <a:t>Canada East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82912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Secondary DR / recovery target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1272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Current state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is the immediate scope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Azure-native backup is currently in place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design now needs enterprise governance, security and recovery standards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52544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3127248"/>
            <a:ext cx="420624" cy="42062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Target state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coverage across IaaS, PaaS and SaaS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policy, retention, monitoring and recovery governance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critical workloads across Canada regions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174736" y="2852928"/>
            <a:ext cx="3474720" cy="2578608"/>
          </a:xfrm>
          <a:prstGeom prst="roundRect">
            <a:avLst>
              <a:gd name="adj" fmla="val 4255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3136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7F1"/>
                </a:solidFill>
              </a:rPr>
              <a:t>DESIGN PRINCIPLE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39912" y="34655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residency and security first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3991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</a:rPr>
              <a:t>Backup data should remain within Canada, with resilient copies and strong ransomware / access controls.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Current-to-Target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enterprise platform must protect and how the solution evolves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AF2F8"/>
          </a:solidFill>
          <a:ln w="1397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Azure Workloads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Primary scope 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IaaS: VMs / compute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PaaS: databases / services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SaaS: business data where supported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7980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7864"/>
                </a:solidFill>
              </a:rPr>
              <a:t>Enterprise Backup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Common operating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retention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&amp; access control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/ reporting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orchestration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3126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Canada Recovery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90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Resilience by region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Central — primary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East — secondary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testing / validation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8272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41732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4E8"/>
          </a:solidFill>
          <a:ln w="13970">
            <a:solidFill>
              <a:srgbClr val="FFF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007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</a:rPr>
              <a:t>Future AWS Expansion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608" y="205740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73"/>
                </a:solidFill>
              </a:rPr>
              <a:t>Phase 2 capability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2487168"/>
            <a:ext cx="30815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policy &amp; governance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AWS workloads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Canada-only data residency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operational reporting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64240" cy="859536"/>
          </a:xfrm>
          <a:prstGeom prst="roundRect">
            <a:avLst>
              <a:gd name="adj" fmla="val 12766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294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CBE8"/>
                </a:solidFill>
              </a:rPr>
              <a:t>Key outcome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5175504"/>
            <a:ext cx="9098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single enterprise backup strategy that meets today’s Azure requirements and can absorb AWS workloads later.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Enterprise Backup Platform — What This Workstream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DCEE"/>
                </a:solidFill>
                <a:latin typeface="Aptos"/>
              </a:rPr>
              <a:t>Assessment + requirements gathering to establish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4688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Our immediate objective is to understand the environment, capture requirements, and align on the solution direction before any design or implementation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00784"/>
            <a:ext cx="3456432" cy="7315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01952"/>
            <a:ext cx="393192" cy="39319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8D4"/>
                </a:solidFill>
                <a:latin typeface="Aptos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Inventory workloads, existing Azure-native backup, recovery practices, dependencies, gaps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700784"/>
            <a:ext cx="3456432" cy="73152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59" y="1901952"/>
            <a:ext cx="393192" cy="39319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999"/>
                </a:solidFill>
                <a:latin typeface="Aptos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Establish IaaS / PaaS / SaaS coverage, RPO/RTO, retention, security, residency, operational and recovery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3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64423" y="1700784"/>
            <a:ext cx="345643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1901952"/>
            <a:ext cx="393192" cy="393192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5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Aptos"/>
              </a:rPr>
              <a:t>ALIGN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Path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Evaluate solution options, identify changes required to existing workloads, and agree the recommended direction.</a:t>
            </a:r>
          </a:p>
        </p:txBody>
      </p:sp>
      <p:sp>
        <p:nvSpPr>
          <p:cNvPr id="25" name="Chevron 24"/>
          <p:cNvSpPr/>
          <p:nvPr/>
        </p:nvSpPr>
        <p:spPr>
          <a:xfrm>
            <a:off x="4023360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7708392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224528"/>
            <a:ext cx="11000232" cy="8229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40740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CDF6"/>
                </a:solidFill>
                <a:latin typeface="Aptos"/>
              </a:rPr>
              <a:t>SCOPE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4334256"/>
            <a:ext cx="88879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Aptos"/>
              </a:rPr>
              <a:t>Design &amp; implementation are not part of this phase. Once solution alignment is reached, a Change Request (CR) will be executed for the next phase.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Aptos"/>
              </a:rPr>
              <a:t>CLIENT INPUTS NEEDED TO KEEP THE ASSESSMENT MOVING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504688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95544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Timely access to relevant environments, tools and documentation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897880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88873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Workload / application inventory and business criticality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6291072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281928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Existing backup, recovery, retention and security standards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1208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Aptos"/>
              </a:rPr>
              <a:t>EXPECTED OUTPUTS FROM THIS WORKSTREAM</a:t>
            </a:r>
          </a:p>
        </p:txBody>
      </p:sp>
      <p:sp>
        <p:nvSpPr>
          <p:cNvPr id="38" name="Oval 37"/>
          <p:cNvSpPr/>
          <p:nvPr/>
        </p:nvSpPr>
        <p:spPr>
          <a:xfrm>
            <a:off x="6473952" y="5504688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495544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Agreed assessment findings and current-state gaps</a:t>
            </a:r>
          </a:p>
        </p:txBody>
      </p:sp>
      <p:sp>
        <p:nvSpPr>
          <p:cNvPr id="40" name="Oval 39"/>
          <p:cNvSpPr/>
          <p:nvPr/>
        </p:nvSpPr>
        <p:spPr>
          <a:xfrm>
            <a:off x="6473952" y="5897880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888736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Requirements baseline and evaluation criteria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6291072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628192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Clear recommendation / path forward for the next phase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670255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475720" y="6711696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3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2B44"/>
          </a:solidFill>
          <a:ln>
            <a:solidFill>
              <a:srgbClr val="14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595360" cy="4754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300" b="1">
                <a:solidFill>
                  <a:srgbClr val="142B44"/>
                </a:solidFill>
                <a:latin typeface="Aptos"/>
              </a:rPr>
              <a:t>Project Timeline &amp; 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86384"/>
            <a:ext cx="1097280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10" b="0">
                <a:solidFill>
                  <a:srgbClr val="737D88"/>
                </a:solidFill>
                <a:latin typeface="Aptos"/>
              </a:rPr>
              <a:t>Assessment and requirements are the current SOW; design / implementation are indicative and require CR approval after alignment.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142B44"/>
          </a:solidFill>
          <a:ln>
            <a:solidFill>
              <a:srgbClr val="14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97864"/>
            <a:ext cx="4389120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ENTERPRISE BACKUP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97864"/>
            <a:ext cx="4846320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1019" b="0">
                <a:solidFill>
                  <a:srgbClr val="FFFFFF"/>
                </a:solidFill>
                <a:latin typeface="Aptos"/>
              </a:rPr>
              <a:t>Assessment → Requirements Sign-off → CR →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315468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300837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Phase /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627632"/>
            <a:ext cx="141732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636776"/>
            <a:ext cx="127101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Target 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627632"/>
            <a:ext cx="1417320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636776"/>
            <a:ext cx="1271016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Target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27632"/>
            <a:ext cx="5010912" cy="329184"/>
          </a:xfrm>
          <a:prstGeom prst="rect">
            <a:avLst/>
          </a:prstGeom>
          <a:solidFill>
            <a:srgbClr val="E4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36776"/>
            <a:ext cx="4864608" cy="30175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40" b="1">
                <a:solidFill>
                  <a:srgbClr val="142B44"/>
                </a:solidFill>
                <a:latin typeface="Aptos"/>
              </a:rPr>
              <a:t>Key Milestone /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56816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95681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95681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56816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1965960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Analysis +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6596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196596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1965960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Current-state findings reviewed and confirmed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04288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40" y="2304288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60" y="2304288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304288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313432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Requirements gathering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2" y="2313432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Oct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2313432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313432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Business, technical, security, residency and recovery requirements captured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651760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40" y="2651760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2651760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651760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660904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Requirements sign-off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2" y="266090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266090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2660904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Approved requirements baseline • Decision gate for 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2999232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999232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66360" y="2999232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2999232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3008376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Backup Platform Design*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2" y="300837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300837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3008376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Target architecture, operating model and migration approach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346704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40" y="3346704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66360" y="3346704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0" y="3346704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3355848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POC validation*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335584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Nov 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335584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355848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Candidate platform validated against priority use cases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3694176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49040" y="3694176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66360" y="3694176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3694176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3703320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Design review &amp; approval*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22192" y="370332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3703320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Dec 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3703320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Approved solution direction / implementation readiness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041648"/>
            <a:ext cx="11000232" cy="347472"/>
          </a:xfrm>
          <a:prstGeom prst="rect">
            <a:avLst/>
          </a:prstGeom>
          <a:solidFill>
            <a:srgbClr val="FFF4E8"/>
          </a:solidFill>
          <a:ln>
            <a:solidFill>
              <a:srgbClr val="ECC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" y="4050791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0" b="1">
                <a:solidFill>
                  <a:srgbClr val="E08739"/>
                </a:solidFill>
                <a:latin typeface="Aptos"/>
              </a:rPr>
              <a:t>CLIENT HOLIDAY / OFFICE CLOSURE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4050791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30" b="1">
                <a:solidFill>
                  <a:srgbClr val="262B30"/>
                </a:solidFill>
                <a:latin typeface="Aptos"/>
              </a:rPr>
              <a:t>Dec 21,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4050791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30" b="1">
                <a:solidFill>
                  <a:srgbClr val="262B30"/>
                </a:solidFill>
                <a:latin typeface="Aptos"/>
              </a:rPr>
              <a:t>Jan 01, 2027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6832" y="4050791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Normal business activities resume Jan 04, 2027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4389120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4389120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66360" y="4389120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83680" y="4389120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" y="4398264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Implementation*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22192" y="439826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4398264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56832" y="4398264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Platform configuration, onboarding and policy implementation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" y="4736592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49040" y="4736592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66360" y="4736592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3680" y="4736592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4745736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Backup &amp; Recovery Validation*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22192" y="474573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Jan 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745736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56832" y="4745736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Recovery testing, controls validation and operational readiness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5084064"/>
            <a:ext cx="315468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49040" y="5084064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66360" y="5084064"/>
            <a:ext cx="1417320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83680" y="5084064"/>
            <a:ext cx="50109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" y="5093208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Knowledge Transfer + Transition*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22192" y="509320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9512" y="5093208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56832" y="5093208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KT, runbook walkthrough and transition to operations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" y="5431536"/>
            <a:ext cx="3154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49040" y="543153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66360" y="543153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583680" y="5431536"/>
            <a:ext cx="50109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7512" y="5440679"/>
            <a:ext cx="300837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1">
                <a:solidFill>
                  <a:srgbClr val="262B30"/>
                </a:solidFill>
                <a:latin typeface="Aptos"/>
              </a:rPr>
              <a:t>Stabilization &amp; Acceptance*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22192" y="5440679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Feb 22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39512" y="5440679"/>
            <a:ext cx="1271016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5" b="0">
                <a:solidFill>
                  <a:srgbClr val="262B30"/>
                </a:solidFill>
                <a:latin typeface="Aptos"/>
              </a:rPr>
              <a:t>Mar 06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56832" y="5440679"/>
            <a:ext cx="4864608" cy="32918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40" b="0">
                <a:solidFill>
                  <a:srgbClr val="262B30"/>
                </a:solidFill>
                <a:latin typeface="Aptos"/>
              </a:rPr>
              <a:t>Final readiness, stabilization, acceptance and project exit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94360" y="5879592"/>
            <a:ext cx="11000232" cy="310896"/>
          </a:xfrm>
          <a:prstGeom prst="roundRect">
            <a:avLst>
              <a:gd name="adj" fmla="val 12000"/>
            </a:avLst>
          </a:prstGeom>
          <a:solidFill>
            <a:srgbClr val="458061"/>
          </a:solidFill>
          <a:ln>
            <a:solidFill>
              <a:srgbClr val="458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" y="5897879"/>
            <a:ext cx="7863840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PLATFORM RECOVERY RUNBOOKS — INDICATIVE POST-CR WORKSTREAM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5897879"/>
            <a:ext cx="2880360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Jan 25 → Mar 05, 2027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7512" y="6227064"/>
            <a:ext cx="228600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19" b="1">
                <a:solidFill>
                  <a:srgbClr val="262B30"/>
                </a:solidFill>
                <a:latin typeface="Aptos"/>
              </a:rPr>
              <a:t>Recovery scenarios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34640" y="6227064"/>
            <a:ext cx="123444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80" b="0">
                <a:solidFill>
                  <a:srgbClr val="737D88"/>
                </a:solidFill>
                <a:latin typeface="Aptos"/>
              </a:rPr>
              <a:t>Jan 25–29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61104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34256" y="6227064"/>
            <a:ext cx="228600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19" b="1">
                <a:solidFill>
                  <a:srgbClr val="262B30"/>
                </a:solidFill>
                <a:latin typeface="Aptos"/>
              </a:rPr>
              <a:t>Runbook development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01384" y="6227064"/>
            <a:ext cx="123444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80" b="0">
                <a:solidFill>
                  <a:srgbClr val="737D88"/>
                </a:solidFill>
                <a:latin typeface="Aptos"/>
              </a:rPr>
              <a:t>Feb 01–12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27848" y="6217920"/>
            <a:ext cx="3593591" cy="320040"/>
          </a:xfrm>
          <a:prstGeom prst="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01000" y="6227064"/>
            <a:ext cx="228600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19" b="1">
                <a:solidFill>
                  <a:srgbClr val="262B30"/>
                </a:solidFill>
                <a:latin typeface="Aptos"/>
              </a:rPr>
              <a:t>Tabletop + feedback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68128" y="6227064"/>
            <a:ext cx="123444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80" b="0">
                <a:solidFill>
                  <a:srgbClr val="737D88"/>
                </a:solidFill>
                <a:latin typeface="Aptos"/>
              </a:rPr>
              <a:t>Feb 15–19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4360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7512" y="6501383"/>
            <a:ext cx="22402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790" b="1">
                <a:solidFill>
                  <a:srgbClr val="262B30"/>
                </a:solidFill>
                <a:latin typeface="Aptos"/>
              </a:rPr>
              <a:t>Finalization + approval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97479" y="6501383"/>
            <a:ext cx="137160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40" b="0">
                <a:solidFill>
                  <a:srgbClr val="737D88"/>
                </a:solidFill>
                <a:latin typeface="Aptos"/>
              </a:rPr>
              <a:t>Feb 22–26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61104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34256" y="6501383"/>
            <a:ext cx="22402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790" b="1">
                <a:solidFill>
                  <a:srgbClr val="262B30"/>
                </a:solidFill>
                <a:latin typeface="Aptos"/>
              </a:rPr>
              <a:t>Knowledge transfer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64224" y="6501383"/>
            <a:ext cx="137160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40" b="0">
                <a:solidFill>
                  <a:srgbClr val="737D88"/>
                </a:solidFill>
                <a:latin typeface="Aptos"/>
              </a:rPr>
              <a:t>Mar 01–05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27848" y="6492240"/>
            <a:ext cx="3593591" cy="28346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01000" y="6501383"/>
            <a:ext cx="22402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790" b="1">
                <a:solidFill>
                  <a:srgbClr val="262B30"/>
                </a:solidFill>
                <a:latin typeface="Aptos"/>
              </a:rPr>
              <a:t>Current SOW exit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30967" y="6501383"/>
            <a:ext cx="137160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40" b="0">
                <a:solidFill>
                  <a:srgbClr val="737D88"/>
                </a:solidFill>
                <a:latin typeface="Aptos"/>
              </a:rPr>
              <a:t>Requirements sign-off / alignment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2648" y="6793992"/>
            <a:ext cx="10972800" cy="457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670" b="0">
                <a:solidFill>
                  <a:srgbClr val="737D88"/>
                </a:solidFill>
                <a:latin typeface="Aptos"/>
              </a:rPr>
              <a:t>* Indicative post-CR dates require client alignment, CR approval and scheduling.  Holiday: Dec 21, 2026 – Jan 01, 2027.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Kickoff Discussion — Proposed Agenda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session to align requirements before platform evaluation / POC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07592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453896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408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Business &amp; workload scope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03320" y="1408176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Which workloads are in scope now? What is business-critical?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1792" y="2148840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41248" y="2295144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350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2249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Recovery objectives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224942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Target RPO / RTO, retention, backup frequency, recovery testing expectations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" y="2990088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" y="3136392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" y="31912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3090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Security &amp; residency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090672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Canada-only requirement, encryption, access model, immutability / cyber-recovery expectations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1792" y="3831336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1248" y="397764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" y="4032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89888" y="3931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Platform requirements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03320" y="393192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IaaS / PaaS / SaaS coverage, Azure today, AWS readiness tomorrow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1792" y="4672584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EDF5EE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41248" y="481888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" y="4873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89888" y="4773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</a:rPr>
              <a:t>Evaluation path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47731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573"/>
                </a:solidFill>
              </a:rPr>
              <a:t>Platform shortlist, POC success criteria, decision timeline, ownership and next steps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58368" y="5623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</a:rPr>
              <a:t>Expected outputs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01168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scope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4340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baseline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7512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/ evaluation criteria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0684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0684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owners &amp; next steps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Client Resilience Workstream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Backup Platform – Client Kickoff</dc:title>
  <dc:subject>Enterprise Backup Platform Client Kickoff</dc:subject>
  <dc:creator>OpenAI</dc:creator>
  <cp:lastModifiedBy>OpenAI</cp:lastModifiedBy>
  <cp:revision>1</cp:revision>
  <dcterms:created xsi:type="dcterms:W3CDTF">2026-10-04T21:56:20Z</dcterms:created>
  <dcterms:modified xsi:type="dcterms:W3CDTF">2026-10-04T21:56:20Z</dcterms:modified>
</cp:coreProperties>
</file>