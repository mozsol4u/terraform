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2"/>
  </p:notesMasterIdLst>
  <p:sldIdLst>
    <p:sldId id="256" r:id="rId5"/>
    <p:sldId id="257" r:id="rId6"/>
    <p:sldId id="258" r:id="rId7"/>
    <p:sldId id="259" r:id="rId8"/>
    <p:sldId id="260" r:id="rId9"/>
    <p:sldId id="261" r:id="rId10"/>
    <p:sldId id="262"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1" d="100"/>
          <a:sy n="101" d="100"/>
        </p:scale>
        <p:origin x="348"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5436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Frame the session as an assessment, not a proposal. We were asked whether the practice fits </a:t>
            </a:r>
            <a:r>
              <a:rPr lang="en-CA" dirty="0"/>
              <a:t>ABC</a:t>
            </a:r>
            <a:r>
              <a:rPr dirty="0"/>
              <a:t>'s environment. The method: take how users reach cloud applications today, test it against the standards the Canadian Cyber Centre, NIST and CISA publish, and see what comes out. Six slides, about twelve minutes, then discussion. The answer is on the last slide, after the evidence.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Spend a minute here so everyone has the same picture. Three parts: the user's device with a client or a browser, the policy decision made by the identity provider using the signals </a:t>
            </a:r>
            <a:r>
              <a:rPr lang="en-CA" dirty="0"/>
              <a:t>ABC</a:t>
            </a:r>
            <a:r>
              <a:rPr dirty="0"/>
              <a:t> already has, and a connector next to the application that only dials out. Then the four things it is not, because each of them is a question someone in the room is holding. The Front Door point matters most: ZTNA completes the web publishing pattern, it does not compete with it. The CyberArk point closes the privileged-access question before it is asked.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Lead with the Canadian line: this is our own Cyber Centre, and it co-sealed the 2024 guide for critical infrastructure. Then NIST and CISA for the architecture and the maturity language we use on slide five. Say the NERC line carefully: it does not apply to these applications; it is here because it is what the regulator already requires for anything that matters, and ZTNA is that pattern applied to corporate applications. The three numbers: exploitation is now the second entry vector, edge devices and VPNs went from three to twenty-two percent of targets in one year, and the September 2025 directive hit the class of appliance remote users here depend on. Do not say </a:t>
            </a:r>
            <a:r>
              <a:rPr lang="en-CA"/>
              <a:t>ABC</a:t>
            </a:r>
            <a:r>
              <a:t> was exposed; the document asks the question. The point is structural: an internet-facing gateway concentrates the consequence of one flaw on the whole network.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Walk left to right. Four of the five paths share one property: the user is admitted because of where their traffic comes from, not because a policy evaluated them for that application. The fifth, administrators through CyberArk, is already the model we are describing, which is worth saying out loud: </a:t>
            </a:r>
            <a:r>
              <a:rPr lang="en-CA" dirty="0"/>
              <a:t>ABC</a:t>
            </a:r>
            <a:r>
              <a:rPr dirty="0"/>
              <a:t> has operated a brokered access model for its most sensitive users and it works. Then the funnel: everything goes through KIDC. Finish on the verdict strip, and point to the Front Door exception as the pattern to extend rather than something to replace.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that carries the argument without any selling. Identity is advanced, approaching: </a:t>
            </a:r>
            <a:r>
              <a:rPr lang="en-CA"/>
              <a:t>ABC</a:t>
            </a:r>
            <a:r>
              <a:t> has done the expensive part. Devices and applications are at initial because the signals exist but are not used for application access. Networks is traditional, and that is CISA's own wording, not ours. Visibility is good but the firewall cannot tell you which person reached which application on which device. Land the line at the bottom: the pillars ZTNA depends on are strong; the pillar it replaces is where the gap is. That is the opposite of an organisation that is not ready.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column is the benefit case, and every line names the gap it closes; nothing generic. Right column is the honest half: six conditions, each addressable, each needing an owner before the first application is onboarded. Say the residency one plainly: application data and user traffic stay in Canada under every model; the service's own logs and policy metadata may be processed outside Canada depending on the product, and </a:t>
            </a:r>
            <a:r>
              <a:rPr lang="en-CA"/>
              <a:t>ABC</a:t>
            </a:r>
            <a:r>
              <a:t>'s standard has to be applied to that as a selection constraint. Mention that the document also lists the risks of adopting, partial adoption chief among them, and the risks of not adopting.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answer, after the evidence. Read the statement once. Three reasons, one breath each. Then the sequence, with the caveat that dates belong to the design phase. End on the falsifiability box: say the three conditions under which we would be wrong, and that we checked each. Then ask for their read. The questions we most need answered are the first four in section 10: VPN user numbers, Citrix contractor numbers, the VPN appliance versions against the September directive, and device-management coverage per population. Those four turn this from a direction into a plan.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11480"/>
          </a:xfrm>
          <a:prstGeom prst="rect">
            <a:avLst/>
          </a:prstGeom>
          <a:solidFill>
            <a:srgbClr val="55A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698480" cy="914400"/>
          </a:xfrm>
          <a:prstGeom prst="rect">
            <a:avLst/>
          </a:prstGeom>
          <a:noFill/>
        </p:spPr>
        <p:txBody>
          <a:bodyPr wrap="square" lIns="45720" tIns="27432" rIns="45720" bIns="27432" anchor="t">
            <a:spAutoFit/>
          </a:bodyPr>
          <a:lstStyle/>
          <a:p>
            <a:pPr algn="l"/>
            <a:r>
              <a:rPr sz="4400" b="1" i="0">
                <a:solidFill>
                  <a:srgbClr val="FFFFFF"/>
                </a:solidFill>
                <a:latin typeface="Calibri"/>
              </a:rPr>
              <a:t>Zero Trust Network Access</a:t>
            </a:r>
          </a:p>
        </p:txBody>
      </p:sp>
      <p:sp>
        <p:nvSpPr>
          <p:cNvPr id="5" name="TextBox 4"/>
          <p:cNvSpPr txBox="1"/>
          <p:nvPr/>
        </p:nvSpPr>
        <p:spPr>
          <a:xfrm>
            <a:off x="731520" y="2240280"/>
            <a:ext cx="10698480" cy="640080"/>
          </a:xfrm>
          <a:prstGeom prst="rect">
            <a:avLst/>
          </a:prstGeom>
          <a:noFill/>
        </p:spPr>
        <p:txBody>
          <a:bodyPr wrap="square" lIns="45720" tIns="27432" rIns="45720" bIns="27432" anchor="t">
            <a:spAutoFit/>
          </a:bodyPr>
          <a:lstStyle/>
          <a:p>
            <a:pPr algn="l"/>
            <a:r>
              <a:rPr sz="2800" b="0" i="0">
                <a:solidFill>
                  <a:srgbClr val="A9D3E8"/>
                </a:solidFill>
                <a:latin typeface="Calibri"/>
              </a:rPr>
              <a:t>Readiness Assessment and Recommendation</a:t>
            </a:r>
          </a:p>
        </p:txBody>
      </p:sp>
      <p:sp>
        <p:nvSpPr>
          <p:cNvPr id="6" name="TextBox 5"/>
          <p:cNvSpPr txBox="1"/>
          <p:nvPr/>
        </p:nvSpPr>
        <p:spPr>
          <a:xfrm>
            <a:off x="731520" y="3017520"/>
            <a:ext cx="10698480" cy="332399"/>
          </a:xfrm>
          <a:prstGeom prst="rect">
            <a:avLst/>
          </a:prstGeom>
          <a:noFill/>
        </p:spPr>
        <p:txBody>
          <a:bodyPr wrap="square" lIns="45720" tIns="27432" rIns="45720" bIns="27432" anchor="t">
            <a:spAutoFit/>
          </a:bodyPr>
          <a:lstStyle/>
          <a:p>
            <a:pPr algn="l"/>
            <a:r>
              <a:rPr lang="en-CA" sz="1800" b="0" i="0" dirty="0">
                <a:solidFill>
                  <a:srgbClr val="FFFFFF"/>
                </a:solidFill>
                <a:latin typeface="Calibri"/>
              </a:rPr>
              <a:t>ABC</a:t>
            </a:r>
            <a:r>
              <a:rPr sz="1800" b="0" i="0" dirty="0">
                <a:solidFill>
                  <a:srgbClr val="FFFFFF"/>
                </a:solidFill>
                <a:latin typeface="Calibri"/>
              </a:rPr>
              <a:t> Cloud Security, Identity &amp; Resilience Enhancements</a:t>
            </a:r>
          </a:p>
        </p:txBody>
      </p:sp>
      <p:sp>
        <p:nvSpPr>
          <p:cNvPr id="7" name="Rounded Rectangle 6"/>
          <p:cNvSpPr/>
          <p:nvPr/>
        </p:nvSpPr>
        <p:spPr>
          <a:xfrm>
            <a:off x="731520" y="3931920"/>
            <a:ext cx="10698480" cy="118872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4236970"/>
            <a:ext cx="10332720" cy="578620"/>
          </a:xfrm>
          <a:prstGeom prst="rect">
            <a:avLst/>
          </a:prstGeom>
          <a:noFill/>
        </p:spPr>
        <p:txBody>
          <a:bodyPr wrap="square" lIns="45720" tIns="27432" rIns="45720" bIns="27432" anchor="ctr">
            <a:spAutoFit/>
          </a:bodyPr>
          <a:lstStyle/>
          <a:p>
            <a:pPr algn="l"/>
            <a:r>
              <a:rPr sz="1700" b="1" i="0" dirty="0">
                <a:solidFill>
                  <a:srgbClr val="A9D3E8"/>
                </a:solidFill>
                <a:latin typeface="Calibri"/>
              </a:rPr>
              <a:t>The question: </a:t>
            </a:r>
            <a:r>
              <a:rPr sz="1700" b="0" i="0" dirty="0">
                <a:solidFill>
                  <a:srgbClr val="FFFFFF"/>
                </a:solidFill>
                <a:latin typeface="Calibri"/>
              </a:rPr>
              <a:t>is Zero Trust Network Access the right next step for user access to the internal applications </a:t>
            </a:r>
            <a:r>
              <a:rPr lang="en-CA" sz="1700" b="0" i="0" dirty="0">
                <a:solidFill>
                  <a:srgbClr val="FFFFFF"/>
                </a:solidFill>
                <a:latin typeface="Calibri"/>
              </a:rPr>
              <a:t>ABC</a:t>
            </a:r>
            <a:r>
              <a:rPr sz="1700" b="0" i="0" dirty="0">
                <a:solidFill>
                  <a:srgbClr val="FFFFFF"/>
                </a:solidFill>
                <a:latin typeface="Calibri"/>
              </a:rPr>
              <a:t> is moving into Azure? Answered from </a:t>
            </a:r>
            <a:r>
              <a:rPr lang="en-CA" sz="1700" b="0" i="0" dirty="0">
                <a:solidFill>
                  <a:srgbClr val="FFFFFF"/>
                </a:solidFill>
                <a:latin typeface="Calibri"/>
              </a:rPr>
              <a:t>ABC</a:t>
            </a:r>
            <a:r>
              <a:rPr sz="1700" b="0" i="0" dirty="0">
                <a:solidFill>
                  <a:srgbClr val="FFFFFF"/>
                </a:solidFill>
                <a:latin typeface="Calibri"/>
              </a:rPr>
              <a:t>'s own environment, measured against the published zero trust standards.</a:t>
            </a:r>
          </a:p>
        </p:txBody>
      </p:sp>
      <p:sp>
        <p:nvSpPr>
          <p:cNvPr id="9" name="TextBox 8"/>
          <p:cNvSpPr txBox="1"/>
          <p:nvPr/>
        </p:nvSpPr>
        <p:spPr>
          <a:xfrm>
            <a:off x="731520" y="5669280"/>
            <a:ext cx="10698480" cy="365760"/>
          </a:xfrm>
          <a:prstGeom prst="rect">
            <a:avLst/>
          </a:prstGeom>
          <a:noFill/>
        </p:spPr>
        <p:txBody>
          <a:bodyPr wrap="square" lIns="45720" tIns="27432" rIns="45720" bIns="27432" anchor="t">
            <a:spAutoFit/>
          </a:bodyPr>
          <a:lstStyle/>
          <a:p>
            <a:pPr algn="l"/>
            <a:r>
              <a:rPr sz="1100" b="0" i="1">
                <a:solidFill>
                  <a:srgbClr val="A9D3E8"/>
                </a:solidFill>
                <a:latin typeface="Calibri"/>
              </a:rPr>
              <a:t>Deloitte, October 2026. Reference document: Zero Trust Network Access Readiness Assessment and Recommendation, version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green band"/>
          <p:cNvSpPr/>
          <p:nvPr/>
        </p:nvSpPr>
        <p:spPr>
          <a:xfrm>
            <a:off x="0" y="0"/>
            <a:ext cx="12191695" cy="411480"/>
          </a:xfrm>
          <a:prstGeom prst="rect">
            <a:avLst/>
          </a:prstGeom>
          <a:solidFill>
            <a:srgbClr val="55A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blue band"/>
          <p:cNvSpPr/>
          <p:nvPr/>
        </p:nvSpPr>
        <p:spPr>
          <a:xfrm>
            <a:off x="0" y="475488"/>
            <a:ext cx="12191695" cy="566928"/>
          </a:xfrm>
          <a:prstGeom prst="rect">
            <a:avLst/>
          </a:prstGeom>
          <a:solidFill>
            <a:srgbClr val="2E9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lide title"/>
          <p:cNvSpPr txBox="1"/>
          <p:nvPr/>
        </p:nvSpPr>
        <p:spPr>
          <a:xfrm>
            <a:off x="411480" y="475488"/>
            <a:ext cx="11155680" cy="566928"/>
          </a:xfrm>
          <a:prstGeom prst="rect">
            <a:avLst/>
          </a:prstGeom>
          <a:noFill/>
        </p:spPr>
        <p:txBody>
          <a:bodyPr wrap="square" lIns="45720" tIns="27432" rIns="45720" bIns="27432" anchor="ctr">
            <a:spAutoFit/>
          </a:bodyPr>
          <a:lstStyle/>
          <a:p>
            <a:pPr algn="l"/>
            <a:r>
              <a:rPr sz="2400" b="1" i="0">
                <a:solidFill>
                  <a:srgbClr val="FFFFFF"/>
                </a:solidFill>
                <a:latin typeface="Calibri"/>
              </a:rPr>
              <a:t>What Zero Trust Network Access is, in one picture</a:t>
            </a:r>
          </a:p>
        </p:txBody>
      </p:sp>
      <p:sp>
        <p:nvSpPr>
          <p:cNvPr id="5" name="TextBox 4"/>
          <p:cNvSpPr txBox="1"/>
          <p:nvPr/>
        </p:nvSpPr>
        <p:spPr>
          <a:xfrm>
            <a:off x="548640" y="1143000"/>
            <a:ext cx="11064240" cy="731520"/>
          </a:xfrm>
          <a:prstGeom prst="rect">
            <a:avLst/>
          </a:prstGeom>
          <a:noFill/>
        </p:spPr>
        <p:txBody>
          <a:bodyPr wrap="square" lIns="45720" tIns="27432" rIns="45720" bIns="27432" anchor="t">
            <a:spAutoFit/>
          </a:bodyPr>
          <a:lstStyle/>
          <a:p>
            <a:pPr algn="l"/>
            <a:r>
              <a:rPr sz="1400" b="0" i="0">
                <a:solidFill>
                  <a:srgbClr val="404040"/>
                </a:solidFill>
                <a:latin typeface="Calibri"/>
              </a:rPr>
              <a:t>A practice, not a product: every request to an application is decided per user, per device and per session, from any location. The application is never exposed to the internet and the user is never placed on its network.</a:t>
            </a:r>
          </a:p>
        </p:txBody>
      </p:sp>
      <p:sp>
        <p:nvSpPr>
          <p:cNvPr id="6" name="Rounded Rectangle 5"/>
          <p:cNvSpPr/>
          <p:nvPr/>
        </p:nvSpPr>
        <p:spPr>
          <a:xfrm>
            <a:off x="548640" y="1965960"/>
            <a:ext cx="2651760" cy="155448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2039112"/>
            <a:ext cx="2432304" cy="365760"/>
          </a:xfrm>
          <a:prstGeom prst="rect">
            <a:avLst/>
          </a:prstGeom>
          <a:noFill/>
        </p:spPr>
        <p:txBody>
          <a:bodyPr wrap="square" lIns="45720" tIns="27432" rIns="45720" bIns="27432" anchor="t">
            <a:spAutoFit/>
          </a:bodyPr>
          <a:lstStyle/>
          <a:p>
            <a:pPr algn="l"/>
            <a:r>
              <a:rPr sz="1300" b="1" i="0">
                <a:solidFill>
                  <a:srgbClr val="FFFFFF"/>
                </a:solidFill>
                <a:latin typeface="Calibri"/>
              </a:rPr>
              <a:t>User and device</a:t>
            </a:r>
          </a:p>
        </p:txBody>
      </p:sp>
      <p:sp>
        <p:nvSpPr>
          <p:cNvPr id="8" name="TextBox 7"/>
          <p:cNvSpPr txBox="1"/>
          <p:nvPr/>
        </p:nvSpPr>
        <p:spPr>
          <a:xfrm>
            <a:off x="658368" y="2404872"/>
            <a:ext cx="2432304" cy="1051560"/>
          </a:xfrm>
          <a:prstGeom prst="rect">
            <a:avLst/>
          </a:prstGeom>
          <a:noFill/>
        </p:spPr>
        <p:txBody>
          <a:bodyPr wrap="square" lIns="45720" tIns="27432" rIns="45720" bIns="27432" anchor="t">
            <a:spAutoFit/>
          </a:bodyPr>
          <a:lstStyle/>
          <a:p>
            <a:pPr algn="l"/>
            <a:r>
              <a:rPr sz="1100" b="0" i="0" dirty="0">
                <a:solidFill>
                  <a:srgbClr val="FFFFFF"/>
                </a:solidFill>
                <a:latin typeface="Calibri"/>
              </a:rPr>
              <a:t>Employee, field staff, contractor or vendor engineer. Any location. A client or browser on a device whose health is known.</a:t>
            </a:r>
          </a:p>
        </p:txBody>
      </p:sp>
      <p:sp>
        <p:nvSpPr>
          <p:cNvPr id="9" name="Right Arrow 8"/>
          <p:cNvSpPr/>
          <p:nvPr/>
        </p:nvSpPr>
        <p:spPr>
          <a:xfrm>
            <a:off x="3291840" y="2514600"/>
            <a:ext cx="822960" cy="457200"/>
          </a:xfrm>
          <a:prstGeom prst="right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206240" y="1965960"/>
            <a:ext cx="3017520" cy="1554480"/>
          </a:xfrm>
          <a:prstGeom prst="roundRect">
            <a:avLst/>
          </a:prstGeom>
          <a:solidFill>
            <a:srgbClr val="007C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15968" y="2039112"/>
            <a:ext cx="2798063" cy="365760"/>
          </a:xfrm>
          <a:prstGeom prst="rect">
            <a:avLst/>
          </a:prstGeom>
          <a:noFill/>
        </p:spPr>
        <p:txBody>
          <a:bodyPr wrap="square" lIns="45720" tIns="27432" rIns="45720" bIns="27432" anchor="t">
            <a:spAutoFit/>
          </a:bodyPr>
          <a:lstStyle/>
          <a:p>
            <a:pPr algn="l"/>
            <a:r>
              <a:rPr sz="1300" b="1" i="0">
                <a:solidFill>
                  <a:srgbClr val="FFFFFF"/>
                </a:solidFill>
                <a:latin typeface="Calibri"/>
              </a:rPr>
              <a:t>Policy decision</a:t>
            </a:r>
          </a:p>
        </p:txBody>
      </p:sp>
      <p:sp>
        <p:nvSpPr>
          <p:cNvPr id="12" name="TextBox 11"/>
          <p:cNvSpPr txBox="1"/>
          <p:nvPr/>
        </p:nvSpPr>
        <p:spPr>
          <a:xfrm>
            <a:off x="4315968" y="2404872"/>
            <a:ext cx="2798063" cy="1051560"/>
          </a:xfrm>
          <a:prstGeom prst="rect">
            <a:avLst/>
          </a:prstGeom>
          <a:noFill/>
        </p:spPr>
        <p:txBody>
          <a:bodyPr wrap="square" lIns="45720" tIns="27432" rIns="45720" bIns="27432" anchor="t">
            <a:spAutoFit/>
          </a:bodyPr>
          <a:lstStyle/>
          <a:p>
            <a:pPr algn="l"/>
            <a:r>
              <a:rPr sz="1100" b="0" i="0" dirty="0">
                <a:solidFill>
                  <a:srgbClr val="FFFFFF"/>
                </a:solidFill>
                <a:latin typeface="Calibri"/>
              </a:rPr>
              <a:t>Identity provider checks who, which device, how healthy, how risky, for this application, now. Allow, deny or step up. Re-evaluated during the session.</a:t>
            </a:r>
          </a:p>
        </p:txBody>
      </p:sp>
      <p:sp>
        <p:nvSpPr>
          <p:cNvPr id="13" name="Right Arrow 12"/>
          <p:cNvSpPr/>
          <p:nvPr/>
        </p:nvSpPr>
        <p:spPr>
          <a:xfrm>
            <a:off x="7315200" y="2514600"/>
            <a:ext cx="822960" cy="457200"/>
          </a:xfrm>
          <a:prstGeom prst="right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229600" y="1965960"/>
            <a:ext cx="3383280" cy="1554480"/>
          </a:xfrm>
          <a:prstGeom prst="roundRect">
            <a:avLst/>
          </a:prstGeom>
          <a:solidFill>
            <a:srgbClr val="55A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39327" y="2039112"/>
            <a:ext cx="3163824" cy="365760"/>
          </a:xfrm>
          <a:prstGeom prst="rect">
            <a:avLst/>
          </a:prstGeom>
          <a:noFill/>
        </p:spPr>
        <p:txBody>
          <a:bodyPr wrap="square" lIns="45720" tIns="27432" rIns="45720" bIns="27432" anchor="t">
            <a:spAutoFit/>
          </a:bodyPr>
          <a:lstStyle/>
          <a:p>
            <a:pPr algn="l"/>
            <a:r>
              <a:rPr sz="1300" b="1" i="0">
                <a:solidFill>
                  <a:srgbClr val="FFFFFF"/>
                </a:solidFill>
                <a:latin typeface="Calibri"/>
              </a:rPr>
              <a:t>Connector beside the application</a:t>
            </a:r>
          </a:p>
        </p:txBody>
      </p:sp>
      <p:sp>
        <p:nvSpPr>
          <p:cNvPr id="16" name="TextBox 15"/>
          <p:cNvSpPr txBox="1"/>
          <p:nvPr/>
        </p:nvSpPr>
        <p:spPr>
          <a:xfrm>
            <a:off x="8339327" y="2404872"/>
            <a:ext cx="3163824" cy="1051560"/>
          </a:xfrm>
          <a:prstGeom prst="rect">
            <a:avLst/>
          </a:prstGeom>
          <a:noFill/>
        </p:spPr>
        <p:txBody>
          <a:bodyPr wrap="square" lIns="45720" tIns="27432" rIns="45720" bIns="27432" anchor="t">
            <a:spAutoFit/>
          </a:bodyPr>
          <a:lstStyle/>
          <a:p>
            <a:pPr algn="l"/>
            <a:r>
              <a:rPr sz="1100" b="0" i="0">
                <a:solidFill>
                  <a:srgbClr val="FFFFFF"/>
                </a:solidFill>
                <a:latin typeface="Calibri"/>
              </a:rPr>
              <a:t>Inside the landing zone. Dials out only; no inbound listener. Carries web and non-web protocols to the one application the user was allowed.</a:t>
            </a:r>
          </a:p>
        </p:txBody>
      </p:sp>
      <p:sp>
        <p:nvSpPr>
          <p:cNvPr id="17" name="TextBox 16"/>
          <p:cNvSpPr txBox="1"/>
          <p:nvPr/>
        </p:nvSpPr>
        <p:spPr>
          <a:xfrm>
            <a:off x="548640" y="3703320"/>
            <a:ext cx="11064240" cy="320040"/>
          </a:xfrm>
          <a:prstGeom prst="rect">
            <a:avLst/>
          </a:prstGeom>
          <a:noFill/>
        </p:spPr>
        <p:txBody>
          <a:bodyPr wrap="square" lIns="45720" tIns="27432" rIns="45720" bIns="27432" anchor="t">
            <a:spAutoFit/>
          </a:bodyPr>
          <a:lstStyle/>
          <a:p>
            <a:pPr algn="l"/>
            <a:r>
              <a:rPr sz="1100" b="0" i="1">
                <a:solidFill>
                  <a:srgbClr val="7F7F7F"/>
                </a:solidFill>
                <a:latin typeface="Calibri"/>
              </a:rPr>
              <a:t>Standards behind the picture: NIST SP 800-207 tenets 2, 3 and 4; the Canadian Centre for Cyber Security's definition in the 2024 joint guide.</a:t>
            </a:r>
          </a:p>
        </p:txBody>
      </p:sp>
      <p:sp>
        <p:nvSpPr>
          <p:cNvPr id="18" name="TextBox 17"/>
          <p:cNvSpPr txBox="1"/>
          <p:nvPr/>
        </p:nvSpPr>
        <p:spPr>
          <a:xfrm>
            <a:off x="548640" y="4114800"/>
            <a:ext cx="11064240" cy="365760"/>
          </a:xfrm>
          <a:prstGeom prst="rect">
            <a:avLst/>
          </a:prstGeom>
          <a:noFill/>
        </p:spPr>
        <p:txBody>
          <a:bodyPr wrap="square" lIns="45720" tIns="27432" rIns="45720" bIns="27432" anchor="t">
            <a:spAutoFit/>
          </a:bodyPr>
          <a:lstStyle/>
          <a:p>
            <a:pPr algn="l"/>
            <a:r>
              <a:rPr sz="1600" b="1" i="0">
                <a:solidFill>
                  <a:srgbClr val="1F4E79"/>
                </a:solidFill>
                <a:latin typeface="Calibri"/>
              </a:rPr>
              <a:t>What it is not</a:t>
            </a:r>
          </a:p>
        </p:txBody>
      </p:sp>
      <p:sp>
        <p:nvSpPr>
          <p:cNvPr id="19" name="Rounded Rectangle 18"/>
          <p:cNvSpPr/>
          <p:nvPr/>
        </p:nvSpPr>
        <p:spPr>
          <a:xfrm>
            <a:off x="548640" y="4526280"/>
            <a:ext cx="5394960" cy="77724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 y="4572000"/>
            <a:ext cx="5175504" cy="685800"/>
          </a:xfrm>
          <a:prstGeom prst="rect">
            <a:avLst/>
          </a:prstGeom>
          <a:noFill/>
        </p:spPr>
        <p:txBody>
          <a:bodyPr wrap="square" lIns="45720" tIns="27432" rIns="45720" bIns="27432" anchor="ctr">
            <a:spAutoFit/>
          </a:bodyPr>
          <a:lstStyle/>
          <a:p>
            <a:pPr algn="l"/>
            <a:r>
              <a:rPr sz="1050" b="1" i="0">
                <a:solidFill>
                  <a:srgbClr val="1F4E79"/>
                </a:solidFill>
                <a:latin typeface="Calibri"/>
              </a:rPr>
              <a:t>Not a VPN with a new name. </a:t>
            </a:r>
            <a:r>
              <a:rPr sz="1050" b="0" i="0">
                <a:solidFill>
                  <a:srgbClr val="404040"/>
                </a:solidFill>
                <a:latin typeface="Calibri"/>
              </a:rPr>
              <a:t>A VPN authenticates once and places the device on the network; firewall rules decide the rest. ZTNA decides per application and never places the device on the network.</a:t>
            </a:r>
          </a:p>
        </p:txBody>
      </p:sp>
      <p:sp>
        <p:nvSpPr>
          <p:cNvPr id="21" name="Rounded Rectangle 20"/>
          <p:cNvSpPr/>
          <p:nvPr/>
        </p:nvSpPr>
        <p:spPr>
          <a:xfrm>
            <a:off x="6126479" y="4526280"/>
            <a:ext cx="5394960" cy="77724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36207" y="4572000"/>
            <a:ext cx="5175504" cy="685800"/>
          </a:xfrm>
          <a:prstGeom prst="rect">
            <a:avLst/>
          </a:prstGeom>
          <a:noFill/>
        </p:spPr>
        <p:txBody>
          <a:bodyPr wrap="square" lIns="45720" tIns="27432" rIns="45720" bIns="27432" anchor="ctr">
            <a:spAutoFit/>
          </a:bodyPr>
          <a:lstStyle/>
          <a:p>
            <a:pPr algn="l"/>
            <a:r>
              <a:rPr sz="1050" b="1" i="0">
                <a:solidFill>
                  <a:srgbClr val="1F4E79"/>
                </a:solidFill>
                <a:latin typeface="Calibri"/>
              </a:rPr>
              <a:t>Not a replacement for Azure Front Door. </a:t>
            </a:r>
            <a:r>
              <a:rPr sz="1050" b="0" i="0">
                <a:solidFill>
                  <a:srgbClr val="404040"/>
                </a:solidFill>
                <a:latin typeface="Calibri"/>
              </a:rPr>
              <a:t>Front Door with Entra ID sign-in is the right path for web applications. ZTNA covers what Front Door cannot carry: database, file share, remote desktop, custom protocols, domain-joined clients.</a:t>
            </a:r>
          </a:p>
        </p:txBody>
      </p:sp>
      <p:sp>
        <p:nvSpPr>
          <p:cNvPr id="23" name="Rounded Rectangle 22"/>
          <p:cNvSpPr/>
          <p:nvPr/>
        </p:nvSpPr>
        <p:spPr>
          <a:xfrm>
            <a:off x="548640" y="5394960"/>
            <a:ext cx="5394960" cy="77724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8368" y="5440680"/>
            <a:ext cx="5175504" cy="685800"/>
          </a:xfrm>
          <a:prstGeom prst="rect">
            <a:avLst/>
          </a:prstGeom>
          <a:noFill/>
        </p:spPr>
        <p:txBody>
          <a:bodyPr wrap="square" lIns="45720" tIns="27432" rIns="45720" bIns="27432" anchor="ctr">
            <a:spAutoFit/>
          </a:bodyPr>
          <a:lstStyle/>
          <a:p>
            <a:pPr algn="l"/>
            <a:r>
              <a:rPr sz="1050" b="1" i="0">
                <a:solidFill>
                  <a:srgbClr val="1F4E79"/>
                </a:solidFill>
                <a:latin typeface="Calibri"/>
              </a:rPr>
              <a:t>Not privileged access management. </a:t>
            </a:r>
            <a:r>
              <a:rPr sz="1050" b="0" i="0">
                <a:solidFill>
                  <a:srgbClr val="404040"/>
                </a:solidFill>
                <a:latin typeface="Calibri"/>
              </a:rPr>
              <a:t>Administrator access to servers and the Azure control plane stays with CyberArk. ZTNA governs end users reaching applications.</a:t>
            </a:r>
          </a:p>
        </p:txBody>
      </p:sp>
      <p:sp>
        <p:nvSpPr>
          <p:cNvPr id="25" name="Rounded Rectangle 24"/>
          <p:cNvSpPr/>
          <p:nvPr/>
        </p:nvSpPr>
        <p:spPr>
          <a:xfrm>
            <a:off x="6126479" y="5394960"/>
            <a:ext cx="5394960" cy="77724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6207" y="5440680"/>
            <a:ext cx="5175504" cy="685800"/>
          </a:xfrm>
          <a:prstGeom prst="rect">
            <a:avLst/>
          </a:prstGeom>
          <a:noFill/>
        </p:spPr>
        <p:txBody>
          <a:bodyPr wrap="square" lIns="45720" tIns="27432" rIns="45720" bIns="27432" anchor="ctr">
            <a:spAutoFit/>
          </a:bodyPr>
          <a:lstStyle/>
          <a:p>
            <a:pPr algn="l"/>
            <a:r>
              <a:rPr sz="1050" b="1" i="0">
                <a:solidFill>
                  <a:srgbClr val="1F4E79"/>
                </a:solidFill>
                <a:latin typeface="Calibri"/>
              </a:rPr>
              <a:t>Not a network redesign. </a:t>
            </a:r>
            <a:r>
              <a:rPr sz="1050" b="0" i="0">
                <a:solidFill>
                  <a:srgbClr val="404040"/>
                </a:solidFill>
                <a:latin typeface="Calibri"/>
              </a:rPr>
              <a:t>Hubs, firewalls, ExpressRoute and private endpoints remain. ZTNA adds a connector and a policy; it removes the need for user traffic to enter through KIDC.</a:t>
            </a:r>
          </a:p>
        </p:txBody>
      </p:sp>
      <p:sp>
        <p:nvSpPr>
          <p:cNvPr id="27" name="TextBox 26"/>
          <p:cNvSpPr txBox="1"/>
          <p:nvPr/>
        </p:nvSpPr>
        <p:spPr>
          <a:xfrm>
            <a:off x="548640" y="6355080"/>
            <a:ext cx="11064240" cy="274320"/>
          </a:xfrm>
          <a:prstGeom prst="rect">
            <a:avLst/>
          </a:prstGeom>
          <a:noFill/>
        </p:spPr>
        <p:txBody>
          <a:bodyPr wrap="square" lIns="45720" tIns="27432" rIns="45720" bIns="27432" anchor="t">
            <a:spAutoFit/>
          </a:bodyPr>
          <a:lstStyle/>
          <a:p>
            <a:pPr algn="l"/>
            <a:r>
              <a:rPr sz="1050" b="0" i="1">
                <a:solidFill>
                  <a:srgbClr val="7F7F7F"/>
                </a:solidFill>
                <a:latin typeface="Calibri"/>
              </a:rPr>
              <a:t>Reference document, section 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green band"/>
          <p:cNvSpPr/>
          <p:nvPr/>
        </p:nvSpPr>
        <p:spPr>
          <a:xfrm>
            <a:off x="0" y="0"/>
            <a:ext cx="12191695" cy="411480"/>
          </a:xfrm>
          <a:prstGeom prst="rect">
            <a:avLst/>
          </a:prstGeom>
          <a:solidFill>
            <a:srgbClr val="55A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blue band"/>
          <p:cNvSpPr/>
          <p:nvPr/>
        </p:nvSpPr>
        <p:spPr>
          <a:xfrm>
            <a:off x="0" y="475488"/>
            <a:ext cx="12191695" cy="566928"/>
          </a:xfrm>
          <a:prstGeom prst="rect">
            <a:avLst/>
          </a:prstGeom>
          <a:solidFill>
            <a:srgbClr val="2E9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lide title"/>
          <p:cNvSpPr txBox="1"/>
          <p:nvPr/>
        </p:nvSpPr>
        <p:spPr>
          <a:xfrm>
            <a:off x="411480" y="475488"/>
            <a:ext cx="11155680" cy="566928"/>
          </a:xfrm>
          <a:prstGeom prst="rect">
            <a:avLst/>
          </a:prstGeom>
          <a:noFill/>
        </p:spPr>
        <p:txBody>
          <a:bodyPr wrap="square" lIns="45720" tIns="27432" rIns="45720" bIns="27432" anchor="ctr">
            <a:spAutoFit/>
          </a:bodyPr>
          <a:lstStyle/>
          <a:p>
            <a:pPr algn="l"/>
            <a:r>
              <a:rPr sz="2400" b="1" i="0">
                <a:solidFill>
                  <a:srgbClr val="FFFFFF"/>
                </a:solidFill>
                <a:latin typeface="Calibri"/>
              </a:rPr>
              <a:t>Why the standards bodies point this way</a:t>
            </a:r>
          </a:p>
        </p:txBody>
      </p:sp>
      <p:graphicFrame>
        <p:nvGraphicFramePr>
          <p:cNvPr id="5" name="Table 4"/>
          <p:cNvGraphicFramePr>
            <a:graphicFrameLocks noGrp="1"/>
          </p:cNvGraphicFramePr>
          <p:nvPr/>
        </p:nvGraphicFramePr>
        <p:xfrm>
          <a:off x="548640" y="1234440"/>
          <a:ext cx="11064240" cy="3017520"/>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7223760">
                  <a:extLst>
                    <a:ext uri="{9D8B030D-6E8A-4147-A177-3AD203B41FA5}">
                      <a16:colId xmlns:a16="http://schemas.microsoft.com/office/drawing/2014/main" val="20002"/>
                    </a:ext>
                  </a:extLst>
                </a:gridCol>
              </a:tblGrid>
              <a:tr h="502920">
                <a:tc>
                  <a:txBody>
                    <a:bodyPr/>
                    <a:lstStyle/>
                    <a:p>
                      <a:r>
                        <a:rPr sz="1050" b="1">
                          <a:solidFill>
                            <a:srgbClr val="FFFFFF"/>
                          </a:solidFill>
                          <a:latin typeface="Calibri"/>
                        </a:rPr>
                        <a:t>Authority</a:t>
                      </a:r>
                    </a:p>
                  </a:txBody>
                  <a:tcPr marL="54864" marR="54864" marT="27432" marB="27432" anchor="ctr">
                    <a:solidFill>
                      <a:srgbClr val="14305A"/>
                    </a:solidFill>
                  </a:tcPr>
                </a:tc>
                <a:tc>
                  <a:txBody>
                    <a:bodyPr/>
                    <a:lstStyle/>
                    <a:p>
                      <a:r>
                        <a:rPr sz="1050" b="1">
                          <a:solidFill>
                            <a:srgbClr val="FFFFFF"/>
                          </a:solidFill>
                          <a:latin typeface="Calibri"/>
                        </a:rPr>
                        <a:t>Date</a:t>
                      </a:r>
                    </a:p>
                  </a:txBody>
                  <a:tcPr marL="54864" marR="54864" marT="27432" marB="27432" anchor="ctr">
                    <a:solidFill>
                      <a:srgbClr val="14305A"/>
                    </a:solidFill>
                  </a:tcPr>
                </a:tc>
                <a:tc>
                  <a:txBody>
                    <a:bodyPr/>
                    <a:lstStyle/>
                    <a:p>
                      <a:r>
                        <a:rPr sz="1050" b="1">
                          <a:solidFill>
                            <a:srgbClr val="FFFFFF"/>
                          </a:solidFill>
                          <a:latin typeface="Calibri"/>
                        </a:rPr>
                        <a:t>What it establishes</a:t>
                      </a:r>
                    </a:p>
                  </a:txBody>
                  <a:tcPr marL="54864" marR="54864" marT="27432" marB="27432" anchor="ctr">
                    <a:solidFill>
                      <a:srgbClr val="14305A"/>
                    </a:solidFill>
                  </a:tcPr>
                </a:tc>
                <a:extLst>
                  <a:ext uri="{0D108BD9-81ED-4DB2-BD59-A6C34878D82A}">
                    <a16:rowId xmlns:a16="http://schemas.microsoft.com/office/drawing/2014/main" val="10000"/>
                  </a:ext>
                </a:extLst>
              </a:tr>
              <a:tr h="502920">
                <a:tc>
                  <a:txBody>
                    <a:bodyPr/>
                    <a:lstStyle/>
                    <a:p>
                      <a:r>
                        <a:rPr sz="1050" b="1">
                          <a:solidFill>
                            <a:srgbClr val="1A1A1A"/>
                          </a:solidFill>
                          <a:latin typeface="Calibri"/>
                        </a:rPr>
                        <a:t>Canadian Centre for Cyber Security, ITSM.10.008</a:t>
                      </a:r>
                    </a:p>
                  </a:txBody>
                  <a:tcPr marL="54864" marR="54864" marT="27432" marB="27432" anchor="ctr">
                    <a:solidFill>
                      <a:srgbClr val="FFFFFF"/>
                    </a:solidFill>
                  </a:tcPr>
                </a:tc>
                <a:tc>
                  <a:txBody>
                    <a:bodyPr/>
                    <a:lstStyle/>
                    <a:p>
                      <a:r>
                        <a:rPr sz="1050" b="0">
                          <a:solidFill>
                            <a:srgbClr val="1A1A1A"/>
                          </a:solidFill>
                          <a:latin typeface="Calibri"/>
                        </a:rPr>
                        <a:t>2023</a:t>
                      </a:r>
                    </a:p>
                  </a:txBody>
                  <a:tcPr marL="54864" marR="54864" marT="27432" marB="27432" anchor="ctr">
                    <a:solidFill>
                      <a:srgbClr val="FFFFFF"/>
                    </a:solidFill>
                  </a:tcPr>
                </a:tc>
                <a:tc>
                  <a:txBody>
                    <a:bodyPr/>
                    <a:lstStyle/>
                    <a:p>
                      <a:r>
                        <a:rPr sz="1050" b="0">
                          <a:solidFill>
                            <a:srgbClr val="1A1A1A"/>
                          </a:solidFill>
                          <a:latin typeface="Calibri"/>
                        </a:rPr>
                        <a:t>"Inherent trust is never granted by default to any subject." For remote and hybrid workers, perimeter defences "are no longer sufficient"; software-defined perimeters are the alternative to VPN.</a:t>
                      </a:r>
                    </a:p>
                  </a:txBody>
                  <a:tcPr marL="54864" marR="54864" marT="27432" marB="27432" anchor="ctr">
                    <a:solidFill>
                      <a:srgbClr val="FFFFFF"/>
                    </a:solidFill>
                  </a:tcPr>
                </a:tc>
                <a:extLst>
                  <a:ext uri="{0D108BD9-81ED-4DB2-BD59-A6C34878D82A}">
                    <a16:rowId xmlns:a16="http://schemas.microsoft.com/office/drawing/2014/main" val="10001"/>
                  </a:ext>
                </a:extLst>
              </a:tr>
              <a:tr h="502920">
                <a:tc>
                  <a:txBody>
                    <a:bodyPr/>
                    <a:lstStyle/>
                    <a:p>
                      <a:r>
                        <a:rPr sz="1050" b="1">
                          <a:solidFill>
                            <a:srgbClr val="1A1A1A"/>
                          </a:solidFill>
                          <a:latin typeface="Calibri"/>
                        </a:rPr>
                        <a:t>Joint guide: Cyber Centre, CISA, FBI, New Zealand agencies</a:t>
                      </a:r>
                    </a:p>
                  </a:txBody>
                  <a:tcPr marL="54864" marR="54864" marT="27432" marB="27432" anchor="ctr">
                    <a:solidFill>
                      <a:srgbClr val="F2F2F2"/>
                    </a:solidFill>
                  </a:tcPr>
                </a:tc>
                <a:tc>
                  <a:txBody>
                    <a:bodyPr/>
                    <a:lstStyle/>
                    <a:p>
                      <a:r>
                        <a:rPr sz="1050" b="0">
                          <a:solidFill>
                            <a:srgbClr val="1A1A1A"/>
                          </a:solidFill>
                          <a:latin typeface="Calibri"/>
                        </a:rPr>
                        <a:t>2024</a:t>
                      </a:r>
                    </a:p>
                  </a:txBody>
                  <a:tcPr marL="54864" marR="54864" marT="27432" marB="27432" anchor="ctr">
                    <a:solidFill>
                      <a:srgbClr val="F2F2F2"/>
                    </a:solidFill>
                  </a:tcPr>
                </a:tc>
                <a:tc>
                  <a:txBody>
                    <a:bodyPr/>
                    <a:lstStyle/>
                    <a:p>
                      <a:r>
                        <a:rPr sz="1050" b="0">
                          <a:solidFill>
                            <a:srgbClr val="1A1A1A"/>
                          </a:solidFill>
                          <a:latin typeface="Calibri"/>
                        </a:rPr>
                        <a:t>Written for critical infrastructure. Over 22 known exploited vulnerabilities in VPN products "leading to broad access to victim networks". Names ZTNA as a Cybersecurity Performance Goal.</a:t>
                      </a:r>
                    </a:p>
                  </a:txBody>
                  <a:tcPr marL="54864" marR="54864" marT="27432" marB="27432" anchor="ctr">
                    <a:solidFill>
                      <a:srgbClr val="F2F2F2"/>
                    </a:solidFill>
                  </a:tcPr>
                </a:tc>
                <a:extLst>
                  <a:ext uri="{0D108BD9-81ED-4DB2-BD59-A6C34878D82A}">
                    <a16:rowId xmlns:a16="http://schemas.microsoft.com/office/drawing/2014/main" val="10002"/>
                  </a:ext>
                </a:extLst>
              </a:tr>
              <a:tr h="502920">
                <a:tc>
                  <a:txBody>
                    <a:bodyPr/>
                    <a:lstStyle/>
                    <a:p>
                      <a:r>
                        <a:rPr sz="1050" b="1">
                          <a:solidFill>
                            <a:srgbClr val="1A1A1A"/>
                          </a:solidFill>
                          <a:latin typeface="Calibri"/>
                        </a:rPr>
                        <a:t>NIST SP 800-207 and SP 1800-35</a:t>
                      </a:r>
                    </a:p>
                  </a:txBody>
                  <a:tcPr marL="54864" marR="54864" marT="27432" marB="27432" anchor="ctr">
                    <a:solidFill>
                      <a:srgbClr val="FFFFFF"/>
                    </a:solidFill>
                  </a:tcPr>
                </a:tc>
                <a:tc>
                  <a:txBody>
                    <a:bodyPr/>
                    <a:lstStyle/>
                    <a:p>
                      <a:r>
                        <a:rPr sz="1050" b="0">
                          <a:solidFill>
                            <a:srgbClr val="1A1A1A"/>
                          </a:solidFill>
                          <a:latin typeface="Calibri"/>
                        </a:rPr>
                        <a:t>2020, 2025</a:t>
                      </a:r>
                    </a:p>
                  </a:txBody>
                  <a:tcPr marL="54864" marR="54864" marT="27432" marB="27432" anchor="ctr">
                    <a:solidFill>
                      <a:srgbClr val="FFFFFF"/>
                    </a:solidFill>
                  </a:tcPr>
                </a:tc>
                <a:tc>
                  <a:txBody>
                    <a:bodyPr/>
                    <a:lstStyle/>
                    <a:p>
                      <a:r>
                        <a:rPr sz="1050" b="0">
                          <a:solidFill>
                            <a:srgbClr val="1A1A1A"/>
                          </a:solidFill>
                          <a:latin typeface="Calibri"/>
                        </a:rPr>
                        <a:t>The reference architecture, and the practice guide proving it with 19 example builds. Identity-led deployment is the approach for enterprises with a mature identity platform.</a:t>
                      </a:r>
                    </a:p>
                  </a:txBody>
                  <a:tcPr marL="54864" marR="54864" marT="27432" marB="27432" anchor="ctr">
                    <a:solidFill>
                      <a:srgbClr val="FFFFFF"/>
                    </a:solidFill>
                  </a:tcPr>
                </a:tc>
                <a:extLst>
                  <a:ext uri="{0D108BD9-81ED-4DB2-BD59-A6C34878D82A}">
                    <a16:rowId xmlns:a16="http://schemas.microsoft.com/office/drawing/2014/main" val="10003"/>
                  </a:ext>
                </a:extLst>
              </a:tr>
              <a:tr h="502920">
                <a:tc>
                  <a:txBody>
                    <a:bodyPr/>
                    <a:lstStyle/>
                    <a:p>
                      <a:r>
                        <a:rPr sz="1050" b="1">
                          <a:solidFill>
                            <a:srgbClr val="1A1A1A"/>
                          </a:solidFill>
                          <a:latin typeface="Calibri"/>
                        </a:rPr>
                        <a:t>CISA Zero Trust Maturity Model 2.0</a:t>
                      </a:r>
                    </a:p>
                  </a:txBody>
                  <a:tcPr marL="54864" marR="54864" marT="27432" marB="27432" anchor="ctr">
                    <a:solidFill>
                      <a:srgbClr val="F2F2F2"/>
                    </a:solidFill>
                  </a:tcPr>
                </a:tc>
                <a:tc>
                  <a:txBody>
                    <a:bodyPr/>
                    <a:lstStyle/>
                    <a:p>
                      <a:r>
                        <a:rPr sz="1050" b="0">
                          <a:solidFill>
                            <a:srgbClr val="1A1A1A"/>
                          </a:solidFill>
                          <a:latin typeface="Calibri"/>
                        </a:rPr>
                        <a:t>2023</a:t>
                      </a:r>
                    </a:p>
                  </a:txBody>
                  <a:tcPr marL="54864" marR="54864" marT="27432" marB="27432" anchor="ctr">
                    <a:solidFill>
                      <a:srgbClr val="F2F2F2"/>
                    </a:solidFill>
                  </a:tcPr>
                </a:tc>
                <a:tc>
                  <a:txBody>
                    <a:bodyPr/>
                    <a:lstStyle/>
                    <a:p>
                      <a:r>
                        <a:rPr sz="1050" b="0">
                          <a:solidFill>
                            <a:srgbClr val="1A1A1A"/>
                          </a:solidFill>
                          <a:latin typeface="Calibri"/>
                        </a:rPr>
                        <a:t>Five pillars, four stages. "Traditional" networks: macro-segmentation, bulk VPN tunnels. "Optimal": just-in-time, just-enough connectivity per application.</a:t>
                      </a:r>
                    </a:p>
                  </a:txBody>
                  <a:tcPr marL="54864" marR="54864" marT="27432" marB="27432" anchor="ctr">
                    <a:solidFill>
                      <a:srgbClr val="F2F2F2"/>
                    </a:solidFill>
                  </a:tcPr>
                </a:tc>
                <a:extLst>
                  <a:ext uri="{0D108BD9-81ED-4DB2-BD59-A6C34878D82A}">
                    <a16:rowId xmlns:a16="http://schemas.microsoft.com/office/drawing/2014/main" val="10004"/>
                  </a:ext>
                </a:extLst>
              </a:tr>
              <a:tr h="502920">
                <a:tc>
                  <a:txBody>
                    <a:bodyPr/>
                    <a:lstStyle/>
                    <a:p>
                      <a:r>
                        <a:rPr sz="1050" b="1">
                          <a:solidFill>
                            <a:srgbClr val="1A1A1A"/>
                          </a:solidFill>
                          <a:latin typeface="Calibri"/>
                        </a:rPr>
                        <a:t>NERC CIP-005-7 (the sector's own benchmark)</a:t>
                      </a:r>
                    </a:p>
                  </a:txBody>
                  <a:tcPr marL="54864" marR="54864" marT="27432" marB="27432" anchor="ctr">
                    <a:solidFill>
                      <a:srgbClr val="FFFFFF"/>
                    </a:solidFill>
                  </a:tcPr>
                </a:tc>
                <a:tc>
                  <a:txBody>
                    <a:bodyPr/>
                    <a:lstStyle/>
                    <a:p>
                      <a:r>
                        <a:rPr sz="1050" b="0">
                          <a:solidFill>
                            <a:srgbClr val="1A1A1A"/>
                          </a:solidFill>
                          <a:latin typeface="Calibri"/>
                        </a:rPr>
                        <a:t>Current</a:t>
                      </a:r>
                    </a:p>
                  </a:txBody>
                  <a:tcPr marL="54864" marR="54864" marT="27432" marB="27432" anchor="ctr">
                    <a:solidFill>
                      <a:srgbClr val="FFFFFF"/>
                    </a:solidFill>
                  </a:tcPr>
                </a:tc>
                <a:tc>
                  <a:txBody>
                    <a:bodyPr/>
                    <a:lstStyle/>
                    <a:p>
                      <a:r>
                        <a:rPr sz="1050" b="0">
                          <a:solidFill>
                            <a:srgbClr val="1A1A1A"/>
                          </a:solidFill>
                          <a:latin typeface="Calibri"/>
                        </a:rPr>
                        <a:t>For BES systems: a broker between user and asset, MFA on every remote session, visibility and termination of vendor sessions. Not applicable to corporate applications; cited as the pattern the regulator considers necessary.</a:t>
                      </a:r>
                    </a:p>
                  </a:txBody>
                  <a:tcPr marL="54864" marR="54864"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48640" y="4434840"/>
            <a:ext cx="11064240" cy="365760"/>
          </a:xfrm>
          <a:prstGeom prst="rect">
            <a:avLst/>
          </a:prstGeom>
          <a:noFill/>
        </p:spPr>
        <p:txBody>
          <a:bodyPr wrap="square" lIns="45720" tIns="27432" rIns="45720" bIns="27432" anchor="t">
            <a:spAutoFit/>
          </a:bodyPr>
          <a:lstStyle/>
          <a:p>
            <a:pPr algn="l"/>
            <a:r>
              <a:rPr sz="1600" b="1" i="0">
                <a:solidFill>
                  <a:srgbClr val="1F4E79"/>
                </a:solidFill>
                <a:latin typeface="Calibri"/>
              </a:rPr>
              <a:t>The threat data behind the urgency</a:t>
            </a:r>
          </a:p>
        </p:txBody>
      </p:sp>
      <p:sp>
        <p:nvSpPr>
          <p:cNvPr id="7" name="Rounded Rectangle 6"/>
          <p:cNvSpPr/>
          <p:nvPr/>
        </p:nvSpPr>
        <p:spPr>
          <a:xfrm>
            <a:off x="548640" y="4846320"/>
            <a:ext cx="3520440" cy="1371600"/>
          </a:xfrm>
          <a:prstGeom prst="roundRect">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4892040"/>
            <a:ext cx="3246120" cy="548640"/>
          </a:xfrm>
          <a:prstGeom prst="rect">
            <a:avLst/>
          </a:prstGeom>
          <a:noFill/>
        </p:spPr>
        <p:txBody>
          <a:bodyPr wrap="square" lIns="45720" tIns="27432" rIns="45720" bIns="27432" anchor="t">
            <a:spAutoFit/>
          </a:bodyPr>
          <a:lstStyle/>
          <a:p>
            <a:pPr algn="l"/>
            <a:r>
              <a:rPr sz="2600" b="1" i="0">
                <a:solidFill>
                  <a:srgbClr val="F0B429"/>
                </a:solidFill>
                <a:latin typeface="Calibri"/>
              </a:rPr>
              <a:t>20%</a:t>
            </a:r>
          </a:p>
        </p:txBody>
      </p:sp>
      <p:sp>
        <p:nvSpPr>
          <p:cNvPr id="9" name="TextBox 8"/>
          <p:cNvSpPr txBox="1"/>
          <p:nvPr/>
        </p:nvSpPr>
        <p:spPr>
          <a:xfrm>
            <a:off x="685800" y="5440680"/>
            <a:ext cx="3246120" cy="777240"/>
          </a:xfrm>
          <a:prstGeom prst="rect">
            <a:avLst/>
          </a:prstGeom>
          <a:noFill/>
        </p:spPr>
        <p:txBody>
          <a:bodyPr wrap="square" lIns="45720" tIns="27432" rIns="45720" bIns="27432" anchor="t">
            <a:spAutoFit/>
          </a:bodyPr>
          <a:lstStyle/>
          <a:p>
            <a:pPr algn="l"/>
            <a:r>
              <a:rPr sz="1100" b="0" i="0">
                <a:solidFill>
                  <a:srgbClr val="FFFFFF"/>
                </a:solidFill>
                <a:latin typeface="Calibri"/>
              </a:rPr>
              <a:t>of breaches began with vulnerability exploitation in the 2025 Verizon DBIR, up 34 percent on the prior year</a:t>
            </a:r>
          </a:p>
        </p:txBody>
      </p:sp>
      <p:sp>
        <p:nvSpPr>
          <p:cNvPr id="10" name="Rounded Rectangle 9"/>
          <p:cNvSpPr/>
          <p:nvPr/>
        </p:nvSpPr>
        <p:spPr>
          <a:xfrm>
            <a:off x="4251959" y="4846320"/>
            <a:ext cx="3520440" cy="1371600"/>
          </a:xfrm>
          <a:prstGeom prst="roundRect">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0" y="4892040"/>
            <a:ext cx="3246120" cy="548640"/>
          </a:xfrm>
          <a:prstGeom prst="rect">
            <a:avLst/>
          </a:prstGeom>
          <a:noFill/>
        </p:spPr>
        <p:txBody>
          <a:bodyPr wrap="square" lIns="45720" tIns="27432" rIns="45720" bIns="27432" anchor="t">
            <a:spAutoFit/>
          </a:bodyPr>
          <a:lstStyle/>
          <a:p>
            <a:pPr algn="l"/>
            <a:r>
              <a:rPr sz="2600" b="1" i="0">
                <a:solidFill>
                  <a:srgbClr val="F0B429"/>
                </a:solidFill>
                <a:latin typeface="Calibri"/>
              </a:rPr>
              <a:t>3% to 22%</a:t>
            </a:r>
          </a:p>
        </p:txBody>
      </p:sp>
      <p:sp>
        <p:nvSpPr>
          <p:cNvPr id="12" name="TextBox 11"/>
          <p:cNvSpPr txBox="1"/>
          <p:nvPr/>
        </p:nvSpPr>
        <p:spPr>
          <a:xfrm>
            <a:off x="4389120" y="5440680"/>
            <a:ext cx="3246120" cy="777240"/>
          </a:xfrm>
          <a:prstGeom prst="rect">
            <a:avLst/>
          </a:prstGeom>
          <a:noFill/>
        </p:spPr>
        <p:txBody>
          <a:bodyPr wrap="square" lIns="45720" tIns="27432" rIns="45720" bIns="27432" anchor="t">
            <a:spAutoFit/>
          </a:bodyPr>
          <a:lstStyle/>
          <a:p>
            <a:pPr algn="l"/>
            <a:r>
              <a:rPr sz="1100" b="0" i="0">
                <a:solidFill>
                  <a:srgbClr val="FFFFFF"/>
                </a:solidFill>
                <a:latin typeface="Calibri"/>
              </a:rPr>
              <a:t>the share of edge devices and VPNs among exploited targets, in one year; only 54 percent remediated, median 32 days</a:t>
            </a:r>
          </a:p>
        </p:txBody>
      </p:sp>
      <p:sp>
        <p:nvSpPr>
          <p:cNvPr id="13" name="Rounded Rectangle 12"/>
          <p:cNvSpPr/>
          <p:nvPr/>
        </p:nvSpPr>
        <p:spPr>
          <a:xfrm>
            <a:off x="7955279" y="4846320"/>
            <a:ext cx="3520440" cy="1371600"/>
          </a:xfrm>
          <a:prstGeom prst="roundRect">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92440" y="4892040"/>
            <a:ext cx="3246120" cy="548640"/>
          </a:xfrm>
          <a:prstGeom prst="rect">
            <a:avLst/>
          </a:prstGeom>
          <a:noFill/>
        </p:spPr>
        <p:txBody>
          <a:bodyPr wrap="square" lIns="45720" tIns="27432" rIns="45720" bIns="27432" anchor="t">
            <a:spAutoFit/>
          </a:bodyPr>
          <a:lstStyle/>
          <a:p>
            <a:pPr algn="l"/>
            <a:r>
              <a:rPr sz="2600" b="1" i="0">
                <a:solidFill>
                  <a:srgbClr val="F0B429"/>
                </a:solidFill>
                <a:latin typeface="Calibri"/>
              </a:rPr>
              <a:t>ED 25-03</a:t>
            </a:r>
          </a:p>
        </p:txBody>
      </p:sp>
      <p:sp>
        <p:nvSpPr>
          <p:cNvPr id="15" name="TextBox 14"/>
          <p:cNvSpPr txBox="1"/>
          <p:nvPr/>
        </p:nvSpPr>
        <p:spPr>
          <a:xfrm>
            <a:off x="8092440" y="5440680"/>
            <a:ext cx="3246120" cy="777240"/>
          </a:xfrm>
          <a:prstGeom prst="rect">
            <a:avLst/>
          </a:prstGeom>
          <a:noFill/>
        </p:spPr>
        <p:txBody>
          <a:bodyPr wrap="square" lIns="45720" tIns="27432" rIns="45720" bIns="27432" anchor="t">
            <a:spAutoFit/>
          </a:bodyPr>
          <a:lstStyle/>
          <a:p>
            <a:pPr algn="l"/>
            <a:r>
              <a:rPr sz="1100" b="0" i="0">
                <a:solidFill>
                  <a:srgbClr val="FFFFFF"/>
                </a:solidFill>
                <a:latin typeface="Calibri"/>
              </a:rPr>
              <a:t>CISA emergency directive, September 2025: remote-access VPN service on Cisco firewall appliances exploited by an advanced actor</a:t>
            </a:r>
          </a:p>
        </p:txBody>
      </p:sp>
      <p:sp>
        <p:nvSpPr>
          <p:cNvPr id="16" name="TextBox 15"/>
          <p:cNvSpPr txBox="1"/>
          <p:nvPr/>
        </p:nvSpPr>
        <p:spPr>
          <a:xfrm>
            <a:off x="548640" y="6355080"/>
            <a:ext cx="11064240" cy="274320"/>
          </a:xfrm>
          <a:prstGeom prst="rect">
            <a:avLst/>
          </a:prstGeom>
          <a:noFill/>
        </p:spPr>
        <p:txBody>
          <a:bodyPr wrap="square" lIns="45720" tIns="27432" rIns="45720" bIns="27432" anchor="t">
            <a:spAutoFit/>
          </a:bodyPr>
          <a:lstStyle/>
          <a:p>
            <a:pPr algn="l"/>
            <a:r>
              <a:rPr sz="1050" b="0" i="1">
                <a:solidFill>
                  <a:srgbClr val="7F7F7F"/>
                </a:solidFill>
                <a:latin typeface="Calibri"/>
              </a:rPr>
              <a:t>Reference document, section 4 and Appendix B. Every quotation verified against the primary text.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green band"/>
          <p:cNvSpPr/>
          <p:nvPr/>
        </p:nvSpPr>
        <p:spPr>
          <a:xfrm>
            <a:off x="0" y="0"/>
            <a:ext cx="12191695" cy="411480"/>
          </a:xfrm>
          <a:prstGeom prst="rect">
            <a:avLst/>
          </a:prstGeom>
          <a:solidFill>
            <a:srgbClr val="55A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blue band"/>
          <p:cNvSpPr/>
          <p:nvPr/>
        </p:nvSpPr>
        <p:spPr>
          <a:xfrm>
            <a:off x="0" y="475488"/>
            <a:ext cx="12191695" cy="566928"/>
          </a:xfrm>
          <a:prstGeom prst="rect">
            <a:avLst/>
          </a:prstGeom>
          <a:solidFill>
            <a:srgbClr val="2E9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lide title"/>
          <p:cNvSpPr txBox="1"/>
          <p:nvPr/>
        </p:nvSpPr>
        <p:spPr>
          <a:xfrm>
            <a:off x="411480" y="475488"/>
            <a:ext cx="11155680" cy="566928"/>
          </a:xfrm>
          <a:prstGeom prst="rect">
            <a:avLst/>
          </a:prstGeom>
          <a:noFill/>
        </p:spPr>
        <p:txBody>
          <a:bodyPr wrap="square" lIns="45720" tIns="27432" rIns="45720" bIns="27432" anchor="ctr">
            <a:spAutoFit/>
          </a:bodyPr>
          <a:lstStyle/>
          <a:p>
            <a:pPr algn="l"/>
            <a:r>
              <a:rPr sz="2400" b="1" i="0">
                <a:solidFill>
                  <a:srgbClr val="FFFFFF"/>
                </a:solidFill>
                <a:latin typeface="Calibri"/>
              </a:rPr>
              <a:t>How users reach cloud applications today</a:t>
            </a:r>
          </a:p>
        </p:txBody>
      </p:sp>
      <p:sp>
        <p:nvSpPr>
          <p:cNvPr id="5" name="TextBox 4"/>
          <p:cNvSpPr txBox="1"/>
          <p:nvPr/>
        </p:nvSpPr>
        <p:spPr>
          <a:xfrm>
            <a:off x="548640" y="1188720"/>
            <a:ext cx="11064240" cy="270843"/>
          </a:xfrm>
          <a:prstGeom prst="rect">
            <a:avLst/>
          </a:prstGeom>
          <a:noFill/>
        </p:spPr>
        <p:txBody>
          <a:bodyPr wrap="square" lIns="45720" tIns="27432" rIns="45720" bIns="27432" anchor="t">
            <a:spAutoFit/>
          </a:bodyPr>
          <a:lstStyle/>
          <a:p>
            <a:pPr algn="l"/>
            <a:r>
              <a:rPr sz="1400" b="0" i="0" dirty="0">
                <a:solidFill>
                  <a:srgbClr val="404040"/>
                </a:solidFill>
                <a:latin typeface="Calibri"/>
              </a:rPr>
              <a:t>Every path to an application in Azure starts by getting onto the </a:t>
            </a:r>
            <a:r>
              <a:rPr lang="en-CA" sz="1400" b="0" i="0" dirty="0">
                <a:solidFill>
                  <a:srgbClr val="404040"/>
                </a:solidFill>
                <a:latin typeface="Calibri"/>
              </a:rPr>
              <a:t>ABC</a:t>
            </a:r>
            <a:r>
              <a:rPr sz="1400" b="0" i="0" dirty="0">
                <a:solidFill>
                  <a:srgbClr val="404040"/>
                </a:solidFill>
                <a:latin typeface="Calibri"/>
              </a:rPr>
              <a:t> network, and every path runs through KIDC.</a:t>
            </a:r>
          </a:p>
        </p:txBody>
      </p:sp>
      <p:sp>
        <p:nvSpPr>
          <p:cNvPr id="6" name="Rounded Rectangle 5"/>
          <p:cNvSpPr/>
          <p:nvPr/>
        </p:nvSpPr>
        <p:spPr>
          <a:xfrm>
            <a:off x="548640" y="1737360"/>
            <a:ext cx="2103120" cy="2057400"/>
          </a:xfrm>
          <a:prstGeom prst="round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737360"/>
            <a:ext cx="2103120" cy="384048"/>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755648"/>
            <a:ext cx="1920240" cy="365760"/>
          </a:xfrm>
          <a:prstGeom prst="rect">
            <a:avLst/>
          </a:prstGeom>
          <a:noFill/>
        </p:spPr>
        <p:txBody>
          <a:bodyPr wrap="square" lIns="45720" tIns="27432" rIns="45720" bIns="27432" anchor="ctr">
            <a:spAutoFit/>
          </a:bodyPr>
          <a:lstStyle/>
          <a:p>
            <a:pPr algn="l"/>
            <a:r>
              <a:rPr sz="1250" b="1" i="0">
                <a:solidFill>
                  <a:srgbClr val="FFFFFF"/>
                </a:solidFill>
                <a:latin typeface="Calibri"/>
              </a:rPr>
              <a:t>Employee on site</a:t>
            </a:r>
          </a:p>
        </p:txBody>
      </p:sp>
      <p:sp>
        <p:nvSpPr>
          <p:cNvPr id="9" name="TextBox 8"/>
          <p:cNvSpPr txBox="1"/>
          <p:nvPr/>
        </p:nvSpPr>
        <p:spPr>
          <a:xfrm>
            <a:off x="640080" y="2194560"/>
            <a:ext cx="1920240" cy="640080"/>
          </a:xfrm>
          <a:prstGeom prst="rect">
            <a:avLst/>
          </a:prstGeom>
          <a:noFill/>
        </p:spPr>
        <p:txBody>
          <a:bodyPr wrap="square" lIns="45720" tIns="27432" rIns="45720" bIns="27432" anchor="t">
            <a:spAutoFit/>
          </a:bodyPr>
          <a:lstStyle/>
          <a:p>
            <a:pPr algn="l"/>
            <a:r>
              <a:rPr sz="1050" b="0" i="0">
                <a:solidFill>
                  <a:srgbClr val="1A1A1A"/>
                </a:solidFill>
                <a:latin typeface="Calibri"/>
              </a:rPr>
              <a:t>Managed laptop on the corporate network</a:t>
            </a:r>
          </a:p>
        </p:txBody>
      </p:sp>
      <p:sp>
        <p:nvSpPr>
          <p:cNvPr id="10" name="TextBox 9"/>
          <p:cNvSpPr txBox="1"/>
          <p:nvPr/>
        </p:nvSpPr>
        <p:spPr>
          <a:xfrm>
            <a:off x="640080" y="2880360"/>
            <a:ext cx="1920240" cy="868680"/>
          </a:xfrm>
          <a:prstGeom prst="rect">
            <a:avLst/>
          </a:prstGeom>
          <a:noFill/>
        </p:spPr>
        <p:txBody>
          <a:bodyPr wrap="square" lIns="45720" tIns="27432" rIns="45720" bIns="27432" anchor="t">
            <a:spAutoFit/>
          </a:bodyPr>
          <a:lstStyle/>
          <a:p>
            <a:pPr algn="l"/>
            <a:r>
              <a:rPr sz="1000" b="0" i="1">
                <a:solidFill>
                  <a:srgbClr val="C0392B"/>
                </a:solidFill>
                <a:latin typeface="Calibri"/>
              </a:rPr>
              <a:t>Admitted at the Azure firewall because the source address is on premises</a:t>
            </a:r>
          </a:p>
        </p:txBody>
      </p:sp>
      <p:sp>
        <p:nvSpPr>
          <p:cNvPr id="11" name="Rounded Rectangle 10"/>
          <p:cNvSpPr/>
          <p:nvPr/>
        </p:nvSpPr>
        <p:spPr>
          <a:xfrm>
            <a:off x="2788920" y="1737360"/>
            <a:ext cx="2103120" cy="2057400"/>
          </a:xfrm>
          <a:prstGeom prst="round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788920" y="1737360"/>
            <a:ext cx="2103120" cy="384048"/>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80360" y="1755648"/>
            <a:ext cx="1920240" cy="365760"/>
          </a:xfrm>
          <a:prstGeom prst="rect">
            <a:avLst/>
          </a:prstGeom>
          <a:noFill/>
        </p:spPr>
        <p:txBody>
          <a:bodyPr wrap="square" lIns="45720" tIns="27432" rIns="45720" bIns="27432" anchor="ctr">
            <a:spAutoFit/>
          </a:bodyPr>
          <a:lstStyle/>
          <a:p>
            <a:pPr algn="l"/>
            <a:r>
              <a:rPr sz="1250" b="1" i="0">
                <a:solidFill>
                  <a:srgbClr val="FFFFFF"/>
                </a:solidFill>
                <a:latin typeface="Calibri"/>
              </a:rPr>
              <a:t>Employee off site</a:t>
            </a:r>
          </a:p>
        </p:txBody>
      </p:sp>
      <p:sp>
        <p:nvSpPr>
          <p:cNvPr id="14" name="TextBox 13"/>
          <p:cNvSpPr txBox="1"/>
          <p:nvPr/>
        </p:nvSpPr>
        <p:spPr>
          <a:xfrm>
            <a:off x="2880360" y="2194560"/>
            <a:ext cx="1920240" cy="640080"/>
          </a:xfrm>
          <a:prstGeom prst="rect">
            <a:avLst/>
          </a:prstGeom>
          <a:noFill/>
        </p:spPr>
        <p:txBody>
          <a:bodyPr wrap="square" lIns="45720" tIns="27432" rIns="45720" bIns="27432" anchor="t">
            <a:spAutoFit/>
          </a:bodyPr>
          <a:lstStyle/>
          <a:p>
            <a:pPr algn="l"/>
            <a:r>
              <a:rPr sz="1050" b="0" i="0">
                <a:solidFill>
                  <a:srgbClr val="1A1A1A"/>
                </a:solidFill>
                <a:latin typeface="Calibri"/>
              </a:rPr>
              <a:t>Remote-access VPN to firewall appliances at KIDC</a:t>
            </a:r>
          </a:p>
        </p:txBody>
      </p:sp>
      <p:sp>
        <p:nvSpPr>
          <p:cNvPr id="15" name="TextBox 14"/>
          <p:cNvSpPr txBox="1"/>
          <p:nvPr/>
        </p:nvSpPr>
        <p:spPr>
          <a:xfrm>
            <a:off x="2880360" y="2880360"/>
            <a:ext cx="1920240" cy="868680"/>
          </a:xfrm>
          <a:prstGeom prst="rect">
            <a:avLst/>
          </a:prstGeom>
          <a:noFill/>
        </p:spPr>
        <p:txBody>
          <a:bodyPr wrap="square" lIns="45720" tIns="27432" rIns="45720" bIns="27432" anchor="t">
            <a:spAutoFit/>
          </a:bodyPr>
          <a:lstStyle/>
          <a:p>
            <a:pPr algn="l"/>
            <a:r>
              <a:rPr sz="1000" b="0" i="1">
                <a:solidFill>
                  <a:srgbClr val="C0392B"/>
                </a:solidFill>
                <a:latin typeface="Calibri"/>
              </a:rPr>
              <a:t>MFA at sign-in, then the device is on the network like any other</a:t>
            </a:r>
          </a:p>
        </p:txBody>
      </p:sp>
      <p:sp>
        <p:nvSpPr>
          <p:cNvPr id="16" name="Rounded Rectangle 15"/>
          <p:cNvSpPr/>
          <p:nvPr/>
        </p:nvSpPr>
        <p:spPr>
          <a:xfrm>
            <a:off x="5029200" y="1737360"/>
            <a:ext cx="2103120" cy="2057400"/>
          </a:xfrm>
          <a:prstGeom prst="round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029200" y="1737360"/>
            <a:ext cx="2103120" cy="384048"/>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120640" y="1755648"/>
            <a:ext cx="1920240" cy="365760"/>
          </a:xfrm>
          <a:prstGeom prst="rect">
            <a:avLst/>
          </a:prstGeom>
          <a:noFill/>
        </p:spPr>
        <p:txBody>
          <a:bodyPr wrap="square" lIns="45720" tIns="27432" rIns="45720" bIns="27432" anchor="ctr">
            <a:spAutoFit/>
          </a:bodyPr>
          <a:lstStyle/>
          <a:p>
            <a:pPr algn="l"/>
            <a:r>
              <a:rPr sz="1250" b="1" i="0">
                <a:solidFill>
                  <a:srgbClr val="FFFFFF"/>
                </a:solidFill>
                <a:latin typeface="Calibri"/>
              </a:rPr>
              <a:t>Contractor</a:t>
            </a:r>
          </a:p>
        </p:txBody>
      </p:sp>
      <p:sp>
        <p:nvSpPr>
          <p:cNvPr id="19" name="TextBox 18"/>
          <p:cNvSpPr txBox="1"/>
          <p:nvPr/>
        </p:nvSpPr>
        <p:spPr>
          <a:xfrm>
            <a:off x="5120640" y="2194560"/>
            <a:ext cx="1920240" cy="640080"/>
          </a:xfrm>
          <a:prstGeom prst="rect">
            <a:avLst/>
          </a:prstGeom>
          <a:noFill/>
        </p:spPr>
        <p:txBody>
          <a:bodyPr wrap="square" lIns="45720" tIns="27432" rIns="45720" bIns="27432" anchor="t">
            <a:spAutoFit/>
          </a:bodyPr>
          <a:lstStyle/>
          <a:p>
            <a:pPr algn="l"/>
            <a:r>
              <a:rPr sz="1050" b="0" i="0">
                <a:solidFill>
                  <a:srgbClr val="1A1A1A"/>
                </a:solidFill>
                <a:latin typeface="Calibri"/>
              </a:rPr>
              <a:t>Citrix session</a:t>
            </a:r>
          </a:p>
        </p:txBody>
      </p:sp>
      <p:sp>
        <p:nvSpPr>
          <p:cNvPr id="20" name="TextBox 19"/>
          <p:cNvSpPr txBox="1"/>
          <p:nvPr/>
        </p:nvSpPr>
        <p:spPr>
          <a:xfrm>
            <a:off x="5120640" y="2880360"/>
            <a:ext cx="1920240" cy="868680"/>
          </a:xfrm>
          <a:prstGeom prst="rect">
            <a:avLst/>
          </a:prstGeom>
          <a:noFill/>
        </p:spPr>
        <p:txBody>
          <a:bodyPr wrap="square" lIns="45720" tIns="27432" rIns="45720" bIns="27432" anchor="t">
            <a:spAutoFit/>
          </a:bodyPr>
          <a:lstStyle/>
          <a:p>
            <a:pPr algn="l"/>
            <a:r>
              <a:rPr sz="1000" b="0" i="1">
                <a:solidFill>
                  <a:srgbClr val="C0392B"/>
                </a:solidFill>
                <a:latin typeface="Calibri"/>
              </a:rPr>
              <a:t>Lands on the corporate network; contractor's device not assessed</a:t>
            </a:r>
          </a:p>
        </p:txBody>
      </p:sp>
      <p:sp>
        <p:nvSpPr>
          <p:cNvPr id="21" name="Rounded Rectangle 20"/>
          <p:cNvSpPr/>
          <p:nvPr/>
        </p:nvSpPr>
        <p:spPr>
          <a:xfrm>
            <a:off x="7269480" y="1737360"/>
            <a:ext cx="2103120" cy="2057400"/>
          </a:xfrm>
          <a:prstGeom prst="round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269480" y="1737360"/>
            <a:ext cx="2103120" cy="384048"/>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60920" y="1755648"/>
            <a:ext cx="1920240" cy="365760"/>
          </a:xfrm>
          <a:prstGeom prst="rect">
            <a:avLst/>
          </a:prstGeom>
          <a:noFill/>
        </p:spPr>
        <p:txBody>
          <a:bodyPr wrap="square" lIns="45720" tIns="27432" rIns="45720" bIns="27432" anchor="ctr">
            <a:spAutoFit/>
          </a:bodyPr>
          <a:lstStyle/>
          <a:p>
            <a:pPr algn="l"/>
            <a:r>
              <a:rPr sz="1250" b="1" i="0">
                <a:solidFill>
                  <a:srgbClr val="FFFFFF"/>
                </a:solidFill>
                <a:latin typeface="Calibri"/>
              </a:rPr>
              <a:t>Vendor engineer</a:t>
            </a:r>
          </a:p>
        </p:txBody>
      </p:sp>
      <p:sp>
        <p:nvSpPr>
          <p:cNvPr id="24" name="TextBox 23"/>
          <p:cNvSpPr txBox="1"/>
          <p:nvPr/>
        </p:nvSpPr>
        <p:spPr>
          <a:xfrm>
            <a:off x="7360920" y="2194560"/>
            <a:ext cx="1920240" cy="640080"/>
          </a:xfrm>
          <a:prstGeom prst="rect">
            <a:avLst/>
          </a:prstGeom>
          <a:noFill/>
        </p:spPr>
        <p:txBody>
          <a:bodyPr wrap="square" lIns="45720" tIns="27432" rIns="45720" bIns="27432" anchor="t">
            <a:spAutoFit/>
          </a:bodyPr>
          <a:lstStyle/>
          <a:p>
            <a:pPr algn="l"/>
            <a:r>
              <a:rPr sz="1050" b="0" i="0">
                <a:solidFill>
                  <a:srgbClr val="1A1A1A"/>
                </a:solidFill>
                <a:latin typeface="Calibri"/>
              </a:rPr>
              <a:t>Jump server in KIDC over RDP</a:t>
            </a:r>
          </a:p>
        </p:txBody>
      </p:sp>
      <p:sp>
        <p:nvSpPr>
          <p:cNvPr id="25" name="TextBox 24"/>
          <p:cNvSpPr txBox="1"/>
          <p:nvPr/>
        </p:nvSpPr>
        <p:spPr>
          <a:xfrm>
            <a:off x="7360920" y="2880360"/>
            <a:ext cx="1920240" cy="868680"/>
          </a:xfrm>
          <a:prstGeom prst="rect">
            <a:avLst/>
          </a:prstGeom>
          <a:noFill/>
        </p:spPr>
        <p:txBody>
          <a:bodyPr wrap="square" lIns="45720" tIns="27432" rIns="45720" bIns="27432" anchor="t">
            <a:spAutoFit/>
          </a:bodyPr>
          <a:lstStyle/>
          <a:p>
            <a:pPr algn="l"/>
            <a:r>
              <a:rPr sz="1000" b="0" i="1">
                <a:solidFill>
                  <a:srgbClr val="C0392B"/>
                </a:solidFill>
                <a:latin typeface="Calibri"/>
              </a:rPr>
              <a:t>Network foothold; sessions not visible or revocable per application</a:t>
            </a:r>
          </a:p>
        </p:txBody>
      </p:sp>
      <p:sp>
        <p:nvSpPr>
          <p:cNvPr id="26" name="Rounded Rectangle 25"/>
          <p:cNvSpPr/>
          <p:nvPr/>
        </p:nvSpPr>
        <p:spPr>
          <a:xfrm>
            <a:off x="9509760" y="1737360"/>
            <a:ext cx="2103120" cy="2057400"/>
          </a:xfrm>
          <a:prstGeom prst="round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509760" y="1737360"/>
            <a:ext cx="2103120" cy="384048"/>
          </a:xfrm>
          <a:prstGeom prst="roundRect">
            <a:avLst/>
          </a:prstGeom>
          <a:solidFill>
            <a:srgbClr val="55A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01200" y="1755648"/>
            <a:ext cx="1920240" cy="365760"/>
          </a:xfrm>
          <a:prstGeom prst="rect">
            <a:avLst/>
          </a:prstGeom>
          <a:noFill/>
        </p:spPr>
        <p:txBody>
          <a:bodyPr wrap="square" lIns="45720" tIns="27432" rIns="45720" bIns="27432" anchor="ctr">
            <a:spAutoFit/>
          </a:bodyPr>
          <a:lstStyle/>
          <a:p>
            <a:pPr algn="l"/>
            <a:r>
              <a:rPr sz="1250" b="1" i="0">
                <a:solidFill>
                  <a:srgbClr val="FFFFFF"/>
                </a:solidFill>
                <a:latin typeface="Calibri"/>
              </a:rPr>
              <a:t>Administrator</a:t>
            </a:r>
          </a:p>
        </p:txBody>
      </p:sp>
      <p:sp>
        <p:nvSpPr>
          <p:cNvPr id="29" name="TextBox 28"/>
          <p:cNvSpPr txBox="1"/>
          <p:nvPr/>
        </p:nvSpPr>
        <p:spPr>
          <a:xfrm>
            <a:off x="9601200" y="2194560"/>
            <a:ext cx="1920240" cy="640080"/>
          </a:xfrm>
          <a:prstGeom prst="rect">
            <a:avLst/>
          </a:prstGeom>
          <a:noFill/>
        </p:spPr>
        <p:txBody>
          <a:bodyPr wrap="square" lIns="45720" tIns="27432" rIns="45720" bIns="27432" anchor="t">
            <a:spAutoFit/>
          </a:bodyPr>
          <a:lstStyle/>
          <a:p>
            <a:pPr algn="l"/>
            <a:r>
              <a:rPr sz="1050" b="0" i="0">
                <a:solidFill>
                  <a:srgbClr val="1A1A1A"/>
                </a:solidFill>
                <a:latin typeface="Calibri"/>
              </a:rPr>
              <a:t>CyberArk, just-in-time, recorded</a:t>
            </a:r>
          </a:p>
        </p:txBody>
      </p:sp>
      <p:sp>
        <p:nvSpPr>
          <p:cNvPr id="30" name="TextBox 29"/>
          <p:cNvSpPr txBox="1"/>
          <p:nvPr/>
        </p:nvSpPr>
        <p:spPr>
          <a:xfrm>
            <a:off x="9601200" y="2880360"/>
            <a:ext cx="1920240" cy="868680"/>
          </a:xfrm>
          <a:prstGeom prst="rect">
            <a:avLst/>
          </a:prstGeom>
          <a:noFill/>
        </p:spPr>
        <p:txBody>
          <a:bodyPr wrap="square" lIns="45720" tIns="27432" rIns="45720" bIns="27432" anchor="t">
            <a:spAutoFit/>
          </a:bodyPr>
          <a:lstStyle/>
          <a:p>
            <a:pPr algn="l"/>
            <a:r>
              <a:rPr sz="1000" b="0" i="1">
                <a:solidFill>
                  <a:srgbClr val="55AB45"/>
                </a:solidFill>
                <a:latin typeface="Calibri"/>
              </a:rPr>
              <a:t>Already zero trust in form. Out of ZTNA scope.</a:t>
            </a:r>
          </a:p>
        </p:txBody>
      </p:sp>
      <p:sp>
        <p:nvSpPr>
          <p:cNvPr id="31" name="Rectangle 30"/>
          <p:cNvSpPr/>
          <p:nvPr/>
        </p:nvSpPr>
        <p:spPr>
          <a:xfrm>
            <a:off x="1563624" y="3794760"/>
            <a:ext cx="73152" cy="411480"/>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803904" y="3794760"/>
            <a:ext cx="73152" cy="411480"/>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044184" y="3794760"/>
            <a:ext cx="73152" cy="411480"/>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284464" y="3794760"/>
            <a:ext cx="73152" cy="411480"/>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548640" y="4206240"/>
            <a:ext cx="8823960" cy="640080"/>
          </a:xfrm>
          <a:prstGeom prst="roundRect">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5800" y="4206240"/>
            <a:ext cx="8549640" cy="640080"/>
          </a:xfrm>
          <a:prstGeom prst="rect">
            <a:avLst/>
          </a:prstGeom>
          <a:noFill/>
        </p:spPr>
        <p:txBody>
          <a:bodyPr wrap="square" lIns="45720" tIns="27432" rIns="45720" bIns="27432" anchor="ctr">
            <a:spAutoFit/>
          </a:bodyPr>
          <a:lstStyle/>
          <a:p>
            <a:pPr algn="l"/>
            <a:r>
              <a:rPr sz="1500" b="1" i="0">
                <a:solidFill>
                  <a:srgbClr val="F0B429"/>
                </a:solidFill>
                <a:latin typeface="Calibri"/>
              </a:rPr>
              <a:t>KIDC  </a:t>
            </a:r>
            <a:r>
              <a:rPr sz="1200" b="0" i="0">
                <a:solidFill>
                  <a:srgbClr val="FFFFFF"/>
                </a:solidFill>
                <a:latin typeface="Calibri"/>
              </a:rPr>
              <a:t>both ExpressRoute circuits, the backup VPN tunnels, the remote-access VPN gateways and the jump servers. No user reaches a cloud application without it.</a:t>
            </a:r>
          </a:p>
        </p:txBody>
      </p:sp>
      <p:sp>
        <p:nvSpPr>
          <p:cNvPr id="37" name="Right Arrow 36"/>
          <p:cNvSpPr/>
          <p:nvPr/>
        </p:nvSpPr>
        <p:spPr>
          <a:xfrm>
            <a:off x="9464040" y="4297680"/>
            <a:ext cx="548640" cy="457200"/>
          </a:xfrm>
          <a:prstGeom prst="right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10058400" y="4206240"/>
            <a:ext cx="1554480" cy="640080"/>
          </a:xfrm>
          <a:prstGeom prst="roundRect">
            <a:avLst/>
          </a:prstGeom>
          <a:solidFill>
            <a:srgbClr val="007C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058400" y="4206240"/>
            <a:ext cx="1554480" cy="640080"/>
          </a:xfrm>
          <a:prstGeom prst="rect">
            <a:avLst/>
          </a:prstGeom>
          <a:noFill/>
        </p:spPr>
        <p:txBody>
          <a:bodyPr wrap="square" lIns="45720" tIns="27432" rIns="45720" bIns="27432" anchor="ctr">
            <a:spAutoFit/>
          </a:bodyPr>
          <a:lstStyle/>
          <a:p>
            <a:pPr algn="ctr"/>
            <a:r>
              <a:rPr sz="1200" b="1" i="0">
                <a:solidFill>
                  <a:srgbClr val="FFFFFF"/>
                </a:solidFill>
                <a:latin typeface="Calibri"/>
              </a:rPr>
              <a:t>Azure applications</a:t>
            </a:r>
          </a:p>
        </p:txBody>
      </p:sp>
      <p:sp>
        <p:nvSpPr>
          <p:cNvPr id="40" name="Rounded Rectangle 39"/>
          <p:cNvSpPr/>
          <p:nvPr/>
        </p:nvSpPr>
        <p:spPr>
          <a:xfrm>
            <a:off x="548640" y="5074920"/>
            <a:ext cx="11064240" cy="1143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85800" y="5120640"/>
            <a:ext cx="10789920" cy="1051560"/>
          </a:xfrm>
          <a:prstGeom prst="rect">
            <a:avLst/>
          </a:prstGeom>
          <a:noFill/>
        </p:spPr>
        <p:txBody>
          <a:bodyPr wrap="square" lIns="45720" tIns="27432" rIns="45720" bIns="27432" anchor="ctr">
            <a:spAutoFit/>
          </a:bodyPr>
          <a:lstStyle/>
          <a:p>
            <a:pPr algn="l"/>
            <a:r>
              <a:rPr sz="1150" b="1" i="0">
                <a:solidFill>
                  <a:srgbClr val="1F4E79"/>
                </a:solidFill>
                <a:latin typeface="Calibri"/>
              </a:rPr>
              <a:t>Against the standards: </a:t>
            </a:r>
            <a:r>
              <a:rPr sz="1150" b="0" i="0">
                <a:solidFill>
                  <a:srgbClr val="404040"/>
                </a:solidFill>
                <a:latin typeface="Calibri"/>
              </a:rPr>
              <a:t>NIST tenet 2, "network location alone does not imply trust", is not met on any user path. CISA's description of the traditional network stage, macro-segmentation with bulk tunnels, matches this design word for word. Application sign-in is open to every account in the tenant until each application restricts it. The web applications going behind Front Door with Entra ID sign-in from November are the exception, and the model to extend.</a:t>
            </a:r>
          </a:p>
        </p:txBody>
      </p:sp>
      <p:sp>
        <p:nvSpPr>
          <p:cNvPr id="42" name="TextBox 41"/>
          <p:cNvSpPr txBox="1"/>
          <p:nvPr/>
        </p:nvSpPr>
        <p:spPr>
          <a:xfrm>
            <a:off x="548640" y="6355080"/>
            <a:ext cx="11064240" cy="274320"/>
          </a:xfrm>
          <a:prstGeom prst="rect">
            <a:avLst/>
          </a:prstGeom>
          <a:noFill/>
        </p:spPr>
        <p:txBody>
          <a:bodyPr wrap="square" lIns="45720" tIns="27432" rIns="45720" bIns="27432" anchor="t">
            <a:spAutoFit/>
          </a:bodyPr>
          <a:lstStyle/>
          <a:p>
            <a:pPr algn="l"/>
            <a:r>
              <a:rPr sz="1050" b="0" i="1">
                <a:solidFill>
                  <a:srgbClr val="7F7F7F"/>
                </a:solidFill>
                <a:latin typeface="Calibri"/>
              </a:rPr>
              <a:t>Reference document, section 5. Sources: landing-zone design V2.0, infrastructure assessment, first-wave application discovery.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green band"/>
          <p:cNvSpPr/>
          <p:nvPr/>
        </p:nvSpPr>
        <p:spPr>
          <a:xfrm>
            <a:off x="0" y="0"/>
            <a:ext cx="12191695" cy="411480"/>
          </a:xfrm>
          <a:prstGeom prst="rect">
            <a:avLst/>
          </a:prstGeom>
          <a:solidFill>
            <a:srgbClr val="55A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blue band"/>
          <p:cNvSpPr/>
          <p:nvPr/>
        </p:nvSpPr>
        <p:spPr>
          <a:xfrm>
            <a:off x="0" y="475488"/>
            <a:ext cx="12191695" cy="566928"/>
          </a:xfrm>
          <a:prstGeom prst="rect">
            <a:avLst/>
          </a:prstGeom>
          <a:solidFill>
            <a:srgbClr val="2E9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lide title"/>
          <p:cNvSpPr txBox="1"/>
          <p:nvPr/>
        </p:nvSpPr>
        <p:spPr>
          <a:xfrm>
            <a:off x="411480" y="546586"/>
            <a:ext cx="11155680" cy="424732"/>
          </a:xfrm>
          <a:prstGeom prst="rect">
            <a:avLst/>
          </a:prstGeom>
          <a:noFill/>
        </p:spPr>
        <p:txBody>
          <a:bodyPr wrap="square" lIns="45720" tIns="27432" rIns="45720" bIns="27432" anchor="ctr">
            <a:spAutoFit/>
          </a:bodyPr>
          <a:lstStyle/>
          <a:p>
            <a:pPr algn="l"/>
            <a:r>
              <a:rPr sz="2400" b="1" i="0" dirty="0">
                <a:solidFill>
                  <a:srgbClr val="FFFFFF"/>
                </a:solidFill>
                <a:latin typeface="Calibri"/>
              </a:rPr>
              <a:t>Where </a:t>
            </a:r>
            <a:r>
              <a:rPr lang="en-CA" sz="2400" b="1" i="0" dirty="0">
                <a:solidFill>
                  <a:srgbClr val="FFFFFF"/>
                </a:solidFill>
                <a:latin typeface="Calibri"/>
              </a:rPr>
              <a:t>ABC</a:t>
            </a:r>
            <a:r>
              <a:rPr sz="2400" b="1" i="0" dirty="0">
                <a:solidFill>
                  <a:srgbClr val="FFFFFF"/>
                </a:solidFill>
                <a:latin typeface="Calibri"/>
              </a:rPr>
              <a:t> sits on the CISA maturity model</a:t>
            </a:r>
          </a:p>
        </p:txBody>
      </p:sp>
      <p:sp>
        <p:nvSpPr>
          <p:cNvPr id="5" name="TextBox 4"/>
          <p:cNvSpPr txBox="1"/>
          <p:nvPr/>
        </p:nvSpPr>
        <p:spPr>
          <a:xfrm>
            <a:off x="548640" y="1143000"/>
            <a:ext cx="11064240" cy="255455"/>
          </a:xfrm>
          <a:prstGeom prst="rect">
            <a:avLst/>
          </a:prstGeom>
          <a:noFill/>
        </p:spPr>
        <p:txBody>
          <a:bodyPr wrap="square" lIns="45720" tIns="27432" rIns="45720" bIns="27432" anchor="t">
            <a:spAutoFit/>
          </a:bodyPr>
          <a:lstStyle/>
          <a:p>
            <a:pPr algn="l"/>
            <a:r>
              <a:rPr sz="1300" b="0" i="0" dirty="0">
                <a:solidFill>
                  <a:srgbClr val="404040"/>
                </a:solidFill>
                <a:latin typeface="Calibri"/>
              </a:rPr>
              <a:t>Deloitte's placement from the evidence; </a:t>
            </a:r>
            <a:r>
              <a:rPr lang="en-CA" sz="1300" b="0" i="0" dirty="0">
                <a:solidFill>
                  <a:srgbClr val="404040"/>
                </a:solidFill>
                <a:latin typeface="Calibri"/>
              </a:rPr>
              <a:t>ABC</a:t>
            </a:r>
            <a:r>
              <a:rPr sz="1300" b="0" i="0" dirty="0">
                <a:solidFill>
                  <a:srgbClr val="404040"/>
                </a:solidFill>
                <a:latin typeface="Calibri"/>
              </a:rPr>
              <a:t> may place itself differently on any pillar. The pattern across pillars is the finding.</a:t>
            </a:r>
          </a:p>
        </p:txBody>
      </p:sp>
      <p:sp>
        <p:nvSpPr>
          <p:cNvPr id="6" name="TextBox 5"/>
          <p:cNvSpPr txBox="1"/>
          <p:nvPr/>
        </p:nvSpPr>
        <p:spPr>
          <a:xfrm>
            <a:off x="2377440" y="1645920"/>
            <a:ext cx="1920240" cy="320040"/>
          </a:xfrm>
          <a:prstGeom prst="rect">
            <a:avLst/>
          </a:prstGeom>
          <a:noFill/>
        </p:spPr>
        <p:txBody>
          <a:bodyPr wrap="square" lIns="45720" tIns="27432" rIns="45720" bIns="27432" anchor="t">
            <a:spAutoFit/>
          </a:bodyPr>
          <a:lstStyle/>
          <a:p>
            <a:pPr algn="ctr"/>
            <a:r>
              <a:rPr sz="1100" b="1" i="0">
                <a:solidFill>
                  <a:srgbClr val="7F7F7F"/>
                </a:solidFill>
                <a:latin typeface="Calibri"/>
              </a:rPr>
              <a:t>Traditional</a:t>
            </a:r>
          </a:p>
        </p:txBody>
      </p:sp>
      <p:sp>
        <p:nvSpPr>
          <p:cNvPr id="7" name="TextBox 6"/>
          <p:cNvSpPr txBox="1"/>
          <p:nvPr/>
        </p:nvSpPr>
        <p:spPr>
          <a:xfrm>
            <a:off x="4297680" y="1645920"/>
            <a:ext cx="1920240" cy="320040"/>
          </a:xfrm>
          <a:prstGeom prst="rect">
            <a:avLst/>
          </a:prstGeom>
          <a:noFill/>
        </p:spPr>
        <p:txBody>
          <a:bodyPr wrap="square" lIns="45720" tIns="27432" rIns="45720" bIns="27432" anchor="t">
            <a:spAutoFit/>
          </a:bodyPr>
          <a:lstStyle/>
          <a:p>
            <a:pPr algn="ctr"/>
            <a:r>
              <a:rPr sz="1100" b="1" i="0">
                <a:solidFill>
                  <a:srgbClr val="7F7F7F"/>
                </a:solidFill>
                <a:latin typeface="Calibri"/>
              </a:rPr>
              <a:t>Initial</a:t>
            </a:r>
          </a:p>
        </p:txBody>
      </p:sp>
      <p:sp>
        <p:nvSpPr>
          <p:cNvPr id="8" name="TextBox 7"/>
          <p:cNvSpPr txBox="1"/>
          <p:nvPr/>
        </p:nvSpPr>
        <p:spPr>
          <a:xfrm>
            <a:off x="6217920" y="1645920"/>
            <a:ext cx="1920240" cy="320040"/>
          </a:xfrm>
          <a:prstGeom prst="rect">
            <a:avLst/>
          </a:prstGeom>
          <a:noFill/>
        </p:spPr>
        <p:txBody>
          <a:bodyPr wrap="square" lIns="45720" tIns="27432" rIns="45720" bIns="27432" anchor="t">
            <a:spAutoFit/>
          </a:bodyPr>
          <a:lstStyle/>
          <a:p>
            <a:pPr algn="ctr"/>
            <a:r>
              <a:rPr sz="1100" b="1" i="0">
                <a:solidFill>
                  <a:srgbClr val="7F7F7F"/>
                </a:solidFill>
                <a:latin typeface="Calibri"/>
              </a:rPr>
              <a:t>Advanced</a:t>
            </a:r>
          </a:p>
        </p:txBody>
      </p:sp>
      <p:sp>
        <p:nvSpPr>
          <p:cNvPr id="9" name="TextBox 8"/>
          <p:cNvSpPr txBox="1"/>
          <p:nvPr/>
        </p:nvSpPr>
        <p:spPr>
          <a:xfrm>
            <a:off x="8138160" y="1645920"/>
            <a:ext cx="1920240" cy="320040"/>
          </a:xfrm>
          <a:prstGeom prst="rect">
            <a:avLst/>
          </a:prstGeom>
          <a:noFill/>
        </p:spPr>
        <p:txBody>
          <a:bodyPr wrap="square" lIns="45720" tIns="27432" rIns="45720" bIns="27432" anchor="t">
            <a:spAutoFit/>
          </a:bodyPr>
          <a:lstStyle/>
          <a:p>
            <a:pPr algn="ctr"/>
            <a:r>
              <a:rPr sz="1100" b="1" i="0">
                <a:solidFill>
                  <a:srgbClr val="7F7F7F"/>
                </a:solidFill>
                <a:latin typeface="Calibri"/>
              </a:rPr>
              <a:t>Optimal</a:t>
            </a:r>
          </a:p>
        </p:txBody>
      </p:sp>
      <p:sp>
        <p:nvSpPr>
          <p:cNvPr id="10" name="TextBox 9"/>
          <p:cNvSpPr txBox="1"/>
          <p:nvPr/>
        </p:nvSpPr>
        <p:spPr>
          <a:xfrm>
            <a:off x="548640" y="2011680"/>
            <a:ext cx="1737360" cy="365760"/>
          </a:xfrm>
          <a:prstGeom prst="rect">
            <a:avLst/>
          </a:prstGeom>
          <a:noFill/>
        </p:spPr>
        <p:txBody>
          <a:bodyPr wrap="square" lIns="45720" tIns="27432" rIns="45720" bIns="27432" anchor="ctr">
            <a:spAutoFit/>
          </a:bodyPr>
          <a:lstStyle/>
          <a:p>
            <a:pPr algn="l"/>
            <a:r>
              <a:rPr sz="1300" b="1" i="0">
                <a:solidFill>
                  <a:srgbClr val="1F4E79"/>
                </a:solidFill>
                <a:latin typeface="Calibri"/>
              </a:rPr>
              <a:t>Identity</a:t>
            </a:r>
          </a:p>
        </p:txBody>
      </p:sp>
      <p:sp>
        <p:nvSpPr>
          <p:cNvPr id="11" name="Rounded Rectangle 10"/>
          <p:cNvSpPr/>
          <p:nvPr/>
        </p:nvSpPr>
        <p:spPr>
          <a:xfrm>
            <a:off x="2377440" y="2084832"/>
            <a:ext cx="7680960" cy="2377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88536" y="2057400"/>
            <a:ext cx="18288" cy="29260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08776" y="2057400"/>
            <a:ext cx="18288" cy="29260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29016" y="2057400"/>
            <a:ext cx="18288" cy="29260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377440" y="2084832"/>
            <a:ext cx="6144768" cy="237744"/>
          </a:xfrm>
          <a:prstGeom prst="roundRect">
            <a:avLst/>
          </a:prstGeom>
          <a:solidFill>
            <a:srgbClr val="55A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2359152"/>
            <a:ext cx="11064240" cy="365760"/>
          </a:xfrm>
          <a:prstGeom prst="rect">
            <a:avLst/>
          </a:prstGeom>
          <a:noFill/>
        </p:spPr>
        <p:txBody>
          <a:bodyPr wrap="square" lIns="45720" tIns="27432" rIns="45720" bIns="27432" anchor="t">
            <a:spAutoFit/>
          </a:bodyPr>
          <a:lstStyle/>
          <a:p>
            <a:pPr algn="l"/>
            <a:r>
              <a:rPr sz="1000" b="0" i="1">
                <a:solidFill>
                  <a:srgbClr val="404040"/>
                </a:solidFill>
                <a:latin typeface="Calibri"/>
              </a:rPr>
              <a:t>MFA for all users, phishing-resistant for administrators, risk policies, about 35 Conditional Access policies</a:t>
            </a:r>
          </a:p>
        </p:txBody>
      </p:sp>
      <p:sp>
        <p:nvSpPr>
          <p:cNvPr id="17" name="TextBox 16"/>
          <p:cNvSpPr txBox="1"/>
          <p:nvPr/>
        </p:nvSpPr>
        <p:spPr>
          <a:xfrm>
            <a:off x="548640" y="2761488"/>
            <a:ext cx="1737360" cy="365760"/>
          </a:xfrm>
          <a:prstGeom prst="rect">
            <a:avLst/>
          </a:prstGeom>
          <a:noFill/>
        </p:spPr>
        <p:txBody>
          <a:bodyPr wrap="square" lIns="45720" tIns="27432" rIns="45720" bIns="27432" anchor="ctr">
            <a:spAutoFit/>
          </a:bodyPr>
          <a:lstStyle/>
          <a:p>
            <a:pPr algn="l"/>
            <a:r>
              <a:rPr sz="1300" b="1" i="0">
                <a:solidFill>
                  <a:srgbClr val="1F4E79"/>
                </a:solidFill>
                <a:latin typeface="Calibri"/>
              </a:rPr>
              <a:t>Devices</a:t>
            </a:r>
          </a:p>
        </p:txBody>
      </p:sp>
      <p:sp>
        <p:nvSpPr>
          <p:cNvPr id="18" name="Rounded Rectangle 17"/>
          <p:cNvSpPr/>
          <p:nvPr/>
        </p:nvSpPr>
        <p:spPr>
          <a:xfrm>
            <a:off x="2377440" y="2834640"/>
            <a:ext cx="7680960" cy="2377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288536" y="2807208"/>
            <a:ext cx="18288" cy="29260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08776" y="2807208"/>
            <a:ext cx="18288" cy="29260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29016" y="2807208"/>
            <a:ext cx="18288" cy="29260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377440" y="2834640"/>
            <a:ext cx="3456432" cy="237744"/>
          </a:xfrm>
          <a:prstGeom prst="round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3108960"/>
            <a:ext cx="11064240" cy="365760"/>
          </a:xfrm>
          <a:prstGeom prst="rect">
            <a:avLst/>
          </a:prstGeom>
          <a:noFill/>
        </p:spPr>
        <p:txBody>
          <a:bodyPr wrap="square" lIns="45720" tIns="27432" rIns="45720" bIns="27432" anchor="t">
            <a:spAutoFit/>
          </a:bodyPr>
          <a:lstStyle/>
          <a:p>
            <a:pPr algn="l"/>
            <a:r>
              <a:rPr sz="1000" b="0" i="1">
                <a:solidFill>
                  <a:srgbClr val="404040"/>
                </a:solidFill>
                <a:latin typeface="Calibri"/>
              </a:rPr>
              <a:t>Laptops hybrid-joined and managed; device health gates Microsoft 365, not applications in Azure</a:t>
            </a:r>
          </a:p>
        </p:txBody>
      </p:sp>
      <p:sp>
        <p:nvSpPr>
          <p:cNvPr id="24" name="TextBox 23"/>
          <p:cNvSpPr txBox="1"/>
          <p:nvPr/>
        </p:nvSpPr>
        <p:spPr>
          <a:xfrm>
            <a:off x="548640" y="3511296"/>
            <a:ext cx="1737360" cy="365760"/>
          </a:xfrm>
          <a:prstGeom prst="rect">
            <a:avLst/>
          </a:prstGeom>
          <a:noFill/>
        </p:spPr>
        <p:txBody>
          <a:bodyPr wrap="square" lIns="45720" tIns="27432" rIns="45720" bIns="27432" anchor="ctr">
            <a:spAutoFit/>
          </a:bodyPr>
          <a:lstStyle/>
          <a:p>
            <a:pPr algn="l"/>
            <a:r>
              <a:rPr sz="1300" b="1" i="0">
                <a:solidFill>
                  <a:srgbClr val="1F4E79"/>
                </a:solidFill>
                <a:latin typeface="Calibri"/>
              </a:rPr>
              <a:t>Networks</a:t>
            </a:r>
          </a:p>
        </p:txBody>
      </p:sp>
      <p:sp>
        <p:nvSpPr>
          <p:cNvPr id="25" name="Rounded Rectangle 24"/>
          <p:cNvSpPr/>
          <p:nvPr/>
        </p:nvSpPr>
        <p:spPr>
          <a:xfrm>
            <a:off x="2377440" y="3584448"/>
            <a:ext cx="7680960" cy="2377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288536" y="3557015"/>
            <a:ext cx="18288" cy="29260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08776" y="3557015"/>
            <a:ext cx="18288" cy="29260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129016" y="3557015"/>
            <a:ext cx="18288" cy="29260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2377440" y="3584448"/>
            <a:ext cx="1536192" cy="237744"/>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8640" y="3858768"/>
            <a:ext cx="11064240" cy="365760"/>
          </a:xfrm>
          <a:prstGeom prst="rect">
            <a:avLst/>
          </a:prstGeom>
          <a:noFill/>
        </p:spPr>
        <p:txBody>
          <a:bodyPr wrap="square" lIns="45720" tIns="27432" rIns="45720" bIns="27432" anchor="t">
            <a:spAutoFit/>
          </a:bodyPr>
          <a:lstStyle/>
          <a:p>
            <a:pPr algn="l"/>
            <a:r>
              <a:rPr sz="1000" b="0" i="1">
                <a:solidFill>
                  <a:srgbClr val="404040"/>
                </a:solidFill>
                <a:latin typeface="Calibri"/>
              </a:rPr>
              <a:t>Firewall network rules by on-premises address range; all user traffic through KIDC over ExpressRoute or VPN</a:t>
            </a:r>
          </a:p>
        </p:txBody>
      </p:sp>
      <p:sp>
        <p:nvSpPr>
          <p:cNvPr id="31" name="TextBox 30"/>
          <p:cNvSpPr txBox="1"/>
          <p:nvPr/>
        </p:nvSpPr>
        <p:spPr>
          <a:xfrm>
            <a:off x="548640" y="4261104"/>
            <a:ext cx="1737360" cy="365760"/>
          </a:xfrm>
          <a:prstGeom prst="rect">
            <a:avLst/>
          </a:prstGeom>
          <a:noFill/>
        </p:spPr>
        <p:txBody>
          <a:bodyPr wrap="square" lIns="45720" tIns="27432" rIns="45720" bIns="27432" anchor="ctr">
            <a:spAutoFit/>
          </a:bodyPr>
          <a:lstStyle/>
          <a:p>
            <a:pPr algn="l"/>
            <a:r>
              <a:rPr sz="1300" b="1" i="0">
                <a:solidFill>
                  <a:srgbClr val="1F4E79"/>
                </a:solidFill>
                <a:latin typeface="Calibri"/>
              </a:rPr>
              <a:t>Applications</a:t>
            </a:r>
          </a:p>
        </p:txBody>
      </p:sp>
      <p:sp>
        <p:nvSpPr>
          <p:cNvPr id="32" name="Rounded Rectangle 31"/>
          <p:cNvSpPr/>
          <p:nvPr/>
        </p:nvSpPr>
        <p:spPr>
          <a:xfrm>
            <a:off x="2377440" y="4334256"/>
            <a:ext cx="7680960" cy="2377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288536" y="4306824"/>
            <a:ext cx="18288" cy="29260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208776" y="4306824"/>
            <a:ext cx="18288" cy="29260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129016" y="4306824"/>
            <a:ext cx="18288" cy="29260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2377440" y="4334256"/>
            <a:ext cx="3072384" cy="237744"/>
          </a:xfrm>
          <a:prstGeom prst="round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48640" y="4608576"/>
            <a:ext cx="11064240" cy="365760"/>
          </a:xfrm>
          <a:prstGeom prst="rect">
            <a:avLst/>
          </a:prstGeom>
          <a:noFill/>
        </p:spPr>
        <p:txBody>
          <a:bodyPr wrap="square" lIns="45720" tIns="27432" rIns="45720" bIns="27432" anchor="t">
            <a:spAutoFit/>
          </a:bodyPr>
          <a:lstStyle/>
          <a:p>
            <a:pPr algn="l"/>
            <a:r>
              <a:rPr sz="1000" b="0" i="1">
                <a:solidFill>
                  <a:srgbClr val="404040"/>
                </a:solidFill>
                <a:latin typeface="Calibri"/>
              </a:rPr>
              <a:t>Entra ID sign-in standard for web apps; authorization in-app; sign-in open to the tenant; no path for non-web apps</a:t>
            </a:r>
          </a:p>
        </p:txBody>
      </p:sp>
      <p:sp>
        <p:nvSpPr>
          <p:cNvPr id="38" name="TextBox 37"/>
          <p:cNvSpPr txBox="1"/>
          <p:nvPr/>
        </p:nvSpPr>
        <p:spPr>
          <a:xfrm>
            <a:off x="548640" y="5010912"/>
            <a:ext cx="1737360" cy="365760"/>
          </a:xfrm>
          <a:prstGeom prst="rect">
            <a:avLst/>
          </a:prstGeom>
          <a:noFill/>
        </p:spPr>
        <p:txBody>
          <a:bodyPr wrap="square" lIns="45720" tIns="27432" rIns="45720" bIns="27432" anchor="ctr">
            <a:spAutoFit/>
          </a:bodyPr>
          <a:lstStyle/>
          <a:p>
            <a:pPr algn="l"/>
            <a:r>
              <a:rPr sz="1300" b="1" i="0">
                <a:solidFill>
                  <a:srgbClr val="1F4E79"/>
                </a:solidFill>
                <a:latin typeface="Calibri"/>
              </a:rPr>
              <a:t>Visibility</a:t>
            </a:r>
          </a:p>
        </p:txBody>
      </p:sp>
      <p:sp>
        <p:nvSpPr>
          <p:cNvPr id="39" name="Rounded Rectangle 38"/>
          <p:cNvSpPr/>
          <p:nvPr/>
        </p:nvSpPr>
        <p:spPr>
          <a:xfrm>
            <a:off x="2377440" y="5084064"/>
            <a:ext cx="7680960" cy="2377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288536" y="5056632"/>
            <a:ext cx="18288" cy="29260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208776" y="5056632"/>
            <a:ext cx="18288" cy="29260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129016" y="5056632"/>
            <a:ext cx="18288" cy="29260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2377440" y="5084064"/>
            <a:ext cx="4800600" cy="237744"/>
          </a:xfrm>
          <a:prstGeom prst="roundRect">
            <a:avLst/>
          </a:prstGeom>
          <a:solidFill>
            <a:srgbClr val="55A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48640" y="5358384"/>
            <a:ext cx="11064240" cy="365760"/>
          </a:xfrm>
          <a:prstGeom prst="rect">
            <a:avLst/>
          </a:prstGeom>
          <a:noFill/>
        </p:spPr>
        <p:txBody>
          <a:bodyPr wrap="square" lIns="45720" tIns="27432" rIns="45720" bIns="27432" anchor="t">
            <a:spAutoFit/>
          </a:bodyPr>
          <a:lstStyle/>
          <a:p>
            <a:pPr algn="l"/>
            <a:r>
              <a:rPr sz="1000" b="0" i="1">
                <a:solidFill>
                  <a:srgbClr val="404040"/>
                </a:solidFill>
                <a:latin typeface="Calibri"/>
              </a:rPr>
              <a:t>Sentinel with identity, firewall and behavioural analytics; firewall logs show flows, not who reached which application</a:t>
            </a:r>
          </a:p>
        </p:txBody>
      </p:sp>
      <p:sp>
        <p:nvSpPr>
          <p:cNvPr id="45" name="Rounded Rectangle 44"/>
          <p:cNvSpPr/>
          <p:nvPr/>
        </p:nvSpPr>
        <p:spPr>
          <a:xfrm>
            <a:off x="548640" y="5760720"/>
            <a:ext cx="11064240" cy="502920"/>
          </a:xfrm>
          <a:prstGeom prst="roundRect">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85800" y="5760720"/>
            <a:ext cx="10789920" cy="502920"/>
          </a:xfrm>
          <a:prstGeom prst="rect">
            <a:avLst/>
          </a:prstGeom>
          <a:noFill/>
        </p:spPr>
        <p:txBody>
          <a:bodyPr wrap="square" lIns="45720" tIns="27432" rIns="45720" bIns="27432" anchor="ctr">
            <a:spAutoFit/>
          </a:bodyPr>
          <a:lstStyle/>
          <a:p>
            <a:pPr algn="l"/>
            <a:r>
              <a:rPr sz="1300" b="1" i="0">
                <a:solidFill>
                  <a:srgbClr val="F0B429"/>
                </a:solidFill>
                <a:latin typeface="Calibri"/>
              </a:rPr>
              <a:t>The asymmetry is the finding: </a:t>
            </a:r>
            <a:r>
              <a:rPr sz="1300" b="0" i="0">
                <a:solidFill>
                  <a:srgbClr val="FFFFFF"/>
                </a:solidFill>
                <a:latin typeface="Calibri"/>
              </a:rPr>
              <a:t>the pillars ZTNA depends on are advanced; the pillar ZTNA replaces is traditional.</a:t>
            </a:r>
          </a:p>
        </p:txBody>
      </p:sp>
      <p:sp>
        <p:nvSpPr>
          <p:cNvPr id="47" name="TextBox 46"/>
          <p:cNvSpPr txBox="1"/>
          <p:nvPr/>
        </p:nvSpPr>
        <p:spPr>
          <a:xfrm>
            <a:off x="548640" y="6355080"/>
            <a:ext cx="11064240" cy="274320"/>
          </a:xfrm>
          <a:prstGeom prst="rect">
            <a:avLst/>
          </a:prstGeom>
          <a:noFill/>
        </p:spPr>
        <p:txBody>
          <a:bodyPr wrap="square" lIns="45720" tIns="27432" rIns="45720" bIns="27432" anchor="t">
            <a:spAutoFit/>
          </a:bodyPr>
          <a:lstStyle/>
          <a:p>
            <a:pPr algn="l"/>
            <a:r>
              <a:rPr sz="1050" b="0" i="1">
                <a:solidFill>
                  <a:srgbClr val="7F7F7F"/>
                </a:solidFill>
                <a:latin typeface="Calibri"/>
              </a:rPr>
              <a:t>Reference document, section 5 and Appendix A. CISA Zero Trust Maturity Model 2.0, Tables 2 to 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green band"/>
          <p:cNvSpPr/>
          <p:nvPr/>
        </p:nvSpPr>
        <p:spPr>
          <a:xfrm>
            <a:off x="0" y="0"/>
            <a:ext cx="12191695" cy="411480"/>
          </a:xfrm>
          <a:prstGeom prst="rect">
            <a:avLst/>
          </a:prstGeom>
          <a:solidFill>
            <a:srgbClr val="55A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blue band"/>
          <p:cNvSpPr/>
          <p:nvPr/>
        </p:nvSpPr>
        <p:spPr>
          <a:xfrm>
            <a:off x="0" y="475488"/>
            <a:ext cx="12191695" cy="566928"/>
          </a:xfrm>
          <a:prstGeom prst="rect">
            <a:avLst/>
          </a:prstGeom>
          <a:solidFill>
            <a:srgbClr val="2E9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lide title"/>
          <p:cNvSpPr txBox="1"/>
          <p:nvPr/>
        </p:nvSpPr>
        <p:spPr>
          <a:xfrm>
            <a:off x="411480" y="475488"/>
            <a:ext cx="11155680" cy="566928"/>
          </a:xfrm>
          <a:prstGeom prst="rect">
            <a:avLst/>
          </a:prstGeom>
          <a:noFill/>
        </p:spPr>
        <p:txBody>
          <a:bodyPr wrap="square" lIns="45720" tIns="27432" rIns="45720" bIns="27432" anchor="ctr">
            <a:spAutoFit/>
          </a:bodyPr>
          <a:lstStyle/>
          <a:p>
            <a:pPr algn="l"/>
            <a:r>
              <a:rPr sz="2400" b="1" i="0">
                <a:solidFill>
                  <a:srgbClr val="FFFFFF"/>
                </a:solidFill>
                <a:latin typeface="Calibri"/>
              </a:rPr>
              <a:t>What would change, and on what conditions</a:t>
            </a:r>
          </a:p>
        </p:txBody>
      </p:sp>
      <p:sp>
        <p:nvSpPr>
          <p:cNvPr id="5" name="TextBox 4"/>
          <p:cNvSpPr txBox="1"/>
          <p:nvPr/>
        </p:nvSpPr>
        <p:spPr>
          <a:xfrm>
            <a:off x="548640" y="1188720"/>
            <a:ext cx="5394960" cy="365760"/>
          </a:xfrm>
          <a:prstGeom prst="rect">
            <a:avLst/>
          </a:prstGeom>
          <a:noFill/>
        </p:spPr>
        <p:txBody>
          <a:bodyPr wrap="square" lIns="45720" tIns="27432" rIns="45720" bIns="27432" anchor="t">
            <a:spAutoFit/>
          </a:bodyPr>
          <a:lstStyle/>
          <a:p>
            <a:pPr algn="l"/>
            <a:r>
              <a:rPr sz="1600" b="1" i="0">
                <a:solidFill>
                  <a:srgbClr val="1F4E79"/>
                </a:solidFill>
                <a:latin typeface="Calibri"/>
              </a:rPr>
              <a:t>What ZTNA changes, tied to a gap</a:t>
            </a:r>
          </a:p>
        </p:txBody>
      </p:sp>
      <p:sp>
        <p:nvSpPr>
          <p:cNvPr id="6" name="Rounded Rectangle 5"/>
          <p:cNvSpPr/>
          <p:nvPr/>
        </p:nvSpPr>
        <p:spPr>
          <a:xfrm>
            <a:off x="548640" y="1600200"/>
            <a:ext cx="5394960" cy="676656"/>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600200"/>
            <a:ext cx="109728" cy="676656"/>
          </a:xfrm>
          <a:prstGeom prst="rect">
            <a:avLst/>
          </a:prstGeom>
          <a:solidFill>
            <a:srgbClr val="55A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627632"/>
            <a:ext cx="5120640" cy="640080"/>
          </a:xfrm>
          <a:prstGeom prst="rect">
            <a:avLst/>
          </a:prstGeom>
          <a:noFill/>
        </p:spPr>
        <p:txBody>
          <a:bodyPr wrap="square" lIns="45720" tIns="27432" rIns="45720" bIns="27432" anchor="ctr">
            <a:spAutoFit/>
          </a:bodyPr>
          <a:lstStyle/>
          <a:p>
            <a:pPr algn="l"/>
            <a:r>
              <a:rPr sz="1050" b="1" i="0">
                <a:solidFill>
                  <a:srgbClr val="1F4E79"/>
                </a:solidFill>
                <a:latin typeface="Calibri"/>
              </a:rPr>
              <a:t>Location no longer decides access. </a:t>
            </a:r>
            <a:r>
              <a:rPr sz="1050" b="0" i="0">
                <a:solidFill>
                  <a:srgbClr val="404040"/>
                </a:solidFill>
                <a:latin typeface="Calibri"/>
              </a:rPr>
              <a:t>Every request decided per user, device and session; on-site and off-site treated the same.</a:t>
            </a:r>
          </a:p>
        </p:txBody>
      </p:sp>
      <p:sp>
        <p:nvSpPr>
          <p:cNvPr id="9" name="Rounded Rectangle 8"/>
          <p:cNvSpPr/>
          <p:nvPr/>
        </p:nvSpPr>
        <p:spPr>
          <a:xfrm>
            <a:off x="548640" y="2350008"/>
            <a:ext cx="5394960" cy="676656"/>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350008"/>
            <a:ext cx="109728" cy="676656"/>
          </a:xfrm>
          <a:prstGeom prst="rect">
            <a:avLst/>
          </a:prstGeom>
          <a:solidFill>
            <a:srgbClr val="55A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8" y="2377439"/>
            <a:ext cx="5120640" cy="640080"/>
          </a:xfrm>
          <a:prstGeom prst="rect">
            <a:avLst/>
          </a:prstGeom>
          <a:noFill/>
        </p:spPr>
        <p:txBody>
          <a:bodyPr wrap="square" lIns="45720" tIns="27432" rIns="45720" bIns="27432" anchor="ctr">
            <a:spAutoFit/>
          </a:bodyPr>
          <a:lstStyle/>
          <a:p>
            <a:pPr algn="l"/>
            <a:r>
              <a:rPr sz="1050" b="1" i="0">
                <a:solidFill>
                  <a:srgbClr val="1F4E79"/>
                </a:solidFill>
                <a:latin typeface="Calibri"/>
              </a:rPr>
              <a:t>KIDC leaves the user path. </a:t>
            </a:r>
            <a:r>
              <a:rPr sz="1050" b="0" i="0">
                <a:solidFill>
                  <a:srgbClr val="404040"/>
                </a:solidFill>
                <a:latin typeface="Calibri"/>
              </a:rPr>
              <a:t>Applications reached over the internet through the service; KIDC remains for on-premises applications and integration.</a:t>
            </a:r>
          </a:p>
        </p:txBody>
      </p:sp>
      <p:sp>
        <p:nvSpPr>
          <p:cNvPr id="12" name="Rounded Rectangle 11"/>
          <p:cNvSpPr/>
          <p:nvPr/>
        </p:nvSpPr>
        <p:spPr>
          <a:xfrm>
            <a:off x="548640" y="3099815"/>
            <a:ext cx="5394960" cy="676656"/>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3099815"/>
            <a:ext cx="109728" cy="676656"/>
          </a:xfrm>
          <a:prstGeom prst="rect">
            <a:avLst/>
          </a:prstGeom>
          <a:solidFill>
            <a:srgbClr val="55A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9808" y="3127247"/>
            <a:ext cx="5120640" cy="640080"/>
          </a:xfrm>
          <a:prstGeom prst="rect">
            <a:avLst/>
          </a:prstGeom>
          <a:noFill/>
        </p:spPr>
        <p:txBody>
          <a:bodyPr wrap="square" lIns="45720" tIns="27432" rIns="45720" bIns="27432" anchor="ctr">
            <a:spAutoFit/>
          </a:bodyPr>
          <a:lstStyle/>
          <a:p>
            <a:pPr algn="l"/>
            <a:r>
              <a:rPr sz="1050" b="1" i="0">
                <a:solidFill>
                  <a:srgbClr val="1F4E79"/>
                </a:solidFill>
                <a:latin typeface="Calibri"/>
              </a:rPr>
              <a:t>No internet-facing gateway for users. </a:t>
            </a:r>
            <a:r>
              <a:rPr sz="1050" b="0" i="0">
                <a:solidFill>
                  <a:srgbClr val="404040"/>
                </a:solidFill>
                <a:latin typeface="Calibri"/>
              </a:rPr>
              <a:t>Connectors dial out only. The VPN shrinks to on-premises applications.</a:t>
            </a:r>
          </a:p>
        </p:txBody>
      </p:sp>
      <p:sp>
        <p:nvSpPr>
          <p:cNvPr id="15" name="Rounded Rectangle 14"/>
          <p:cNvSpPr/>
          <p:nvPr/>
        </p:nvSpPr>
        <p:spPr>
          <a:xfrm>
            <a:off x="548640" y="3849624"/>
            <a:ext cx="5394960" cy="676656"/>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3849624"/>
            <a:ext cx="109728" cy="676656"/>
          </a:xfrm>
          <a:prstGeom prst="rect">
            <a:avLst/>
          </a:prstGeom>
          <a:solidFill>
            <a:srgbClr val="55A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3877056"/>
            <a:ext cx="5120640" cy="640080"/>
          </a:xfrm>
          <a:prstGeom prst="rect">
            <a:avLst/>
          </a:prstGeom>
          <a:noFill/>
        </p:spPr>
        <p:txBody>
          <a:bodyPr wrap="square" lIns="45720" tIns="27432" rIns="45720" bIns="27432" anchor="ctr">
            <a:spAutoFit/>
          </a:bodyPr>
          <a:lstStyle/>
          <a:p>
            <a:pPr algn="l"/>
            <a:r>
              <a:rPr sz="1050" b="1" i="0">
                <a:solidFill>
                  <a:srgbClr val="1F4E79"/>
                </a:solidFill>
                <a:latin typeface="Calibri"/>
              </a:rPr>
              <a:t>Non-web applications get an identity-aware path. </a:t>
            </a:r>
            <a:r>
              <a:rPr sz="1050" b="0" i="0">
                <a:solidFill>
                  <a:srgbClr val="404040"/>
                </a:solidFill>
                <a:latin typeface="Calibri"/>
              </a:rPr>
              <a:t>Oracle, SQL Server, SMB, SVN, RDP and domain-joined clients under the same policy as web apps.</a:t>
            </a:r>
          </a:p>
        </p:txBody>
      </p:sp>
      <p:sp>
        <p:nvSpPr>
          <p:cNvPr id="18" name="Rounded Rectangle 17"/>
          <p:cNvSpPr/>
          <p:nvPr/>
        </p:nvSpPr>
        <p:spPr>
          <a:xfrm>
            <a:off x="548640" y="4599431"/>
            <a:ext cx="5394960" cy="676656"/>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48640" y="4599431"/>
            <a:ext cx="109728" cy="676656"/>
          </a:xfrm>
          <a:prstGeom prst="rect">
            <a:avLst/>
          </a:prstGeom>
          <a:solidFill>
            <a:srgbClr val="55A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9808" y="4626864"/>
            <a:ext cx="5120640" cy="640080"/>
          </a:xfrm>
          <a:prstGeom prst="rect">
            <a:avLst/>
          </a:prstGeom>
          <a:noFill/>
        </p:spPr>
        <p:txBody>
          <a:bodyPr wrap="square" lIns="45720" tIns="27432" rIns="45720" bIns="27432" anchor="ctr">
            <a:spAutoFit/>
          </a:bodyPr>
          <a:lstStyle/>
          <a:p>
            <a:pPr algn="l"/>
            <a:r>
              <a:rPr sz="1050" b="1" i="0">
                <a:solidFill>
                  <a:srgbClr val="1F4E79"/>
                </a:solidFill>
                <a:latin typeface="Calibri"/>
              </a:rPr>
              <a:t>Third parties get applications, not the network. </a:t>
            </a:r>
            <a:r>
              <a:rPr sz="1050" b="0" i="0">
                <a:solidFill>
                  <a:srgbClr val="404040"/>
                </a:solidFill>
                <a:latin typeface="Calibri"/>
              </a:rPr>
              <a:t>Contractors and vendor engineers entitled per application, from assessed devices, with sessions visible and revocable.</a:t>
            </a:r>
          </a:p>
        </p:txBody>
      </p:sp>
      <p:sp>
        <p:nvSpPr>
          <p:cNvPr id="21" name="Rounded Rectangle 20"/>
          <p:cNvSpPr/>
          <p:nvPr/>
        </p:nvSpPr>
        <p:spPr>
          <a:xfrm>
            <a:off x="548640" y="5349240"/>
            <a:ext cx="5394960" cy="676656"/>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48640" y="5349240"/>
            <a:ext cx="109728" cy="676656"/>
          </a:xfrm>
          <a:prstGeom prst="rect">
            <a:avLst/>
          </a:prstGeom>
          <a:solidFill>
            <a:srgbClr val="55A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9808" y="5376672"/>
            <a:ext cx="5120640" cy="640080"/>
          </a:xfrm>
          <a:prstGeom prst="rect">
            <a:avLst/>
          </a:prstGeom>
          <a:noFill/>
        </p:spPr>
        <p:txBody>
          <a:bodyPr wrap="square" lIns="45720" tIns="27432" rIns="45720" bIns="27432" anchor="ctr">
            <a:spAutoFit/>
          </a:bodyPr>
          <a:lstStyle/>
          <a:p>
            <a:pPr algn="l"/>
            <a:r>
              <a:rPr sz="1050" b="1" i="0">
                <a:solidFill>
                  <a:srgbClr val="1F4E79"/>
                </a:solidFill>
                <a:latin typeface="Calibri"/>
              </a:rPr>
              <a:t>Every allow and deny is logged by person. </a:t>
            </a:r>
            <a:r>
              <a:rPr sz="1050" b="0" i="0">
                <a:solidFill>
                  <a:srgbClr val="404040"/>
                </a:solidFill>
                <a:latin typeface="Calibri"/>
              </a:rPr>
              <a:t>User, device, application and reason, into Sentinel beside the sign-in logs.</a:t>
            </a:r>
          </a:p>
        </p:txBody>
      </p:sp>
      <p:sp>
        <p:nvSpPr>
          <p:cNvPr id="24" name="TextBox 23"/>
          <p:cNvSpPr txBox="1"/>
          <p:nvPr/>
        </p:nvSpPr>
        <p:spPr>
          <a:xfrm>
            <a:off x="6263640" y="1188720"/>
            <a:ext cx="5394960" cy="365760"/>
          </a:xfrm>
          <a:prstGeom prst="rect">
            <a:avLst/>
          </a:prstGeom>
          <a:noFill/>
        </p:spPr>
        <p:txBody>
          <a:bodyPr wrap="square" lIns="45720" tIns="27432" rIns="45720" bIns="27432" anchor="t">
            <a:spAutoFit/>
          </a:bodyPr>
          <a:lstStyle/>
          <a:p>
            <a:pPr algn="l"/>
            <a:r>
              <a:rPr sz="1600" b="1" i="0">
                <a:solidFill>
                  <a:srgbClr val="1F4E79"/>
                </a:solidFill>
                <a:latin typeface="Calibri"/>
              </a:rPr>
              <a:t>Conditions that need an owner first</a:t>
            </a:r>
          </a:p>
        </p:txBody>
      </p:sp>
      <p:sp>
        <p:nvSpPr>
          <p:cNvPr id="25" name="Rounded Rectangle 24"/>
          <p:cNvSpPr/>
          <p:nvPr/>
        </p:nvSpPr>
        <p:spPr>
          <a:xfrm>
            <a:off x="6263640" y="1600200"/>
            <a:ext cx="5394960" cy="676656"/>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63640" y="1600200"/>
            <a:ext cx="109728" cy="676656"/>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64808" y="1627632"/>
            <a:ext cx="5120640" cy="640080"/>
          </a:xfrm>
          <a:prstGeom prst="rect">
            <a:avLst/>
          </a:prstGeom>
          <a:noFill/>
        </p:spPr>
        <p:txBody>
          <a:bodyPr wrap="square" lIns="45720" tIns="27432" rIns="45720" bIns="27432" anchor="ctr">
            <a:spAutoFit/>
          </a:bodyPr>
          <a:lstStyle/>
          <a:p>
            <a:pPr algn="l"/>
            <a:r>
              <a:rPr sz="1050" b="1" i="0">
                <a:solidFill>
                  <a:srgbClr val="1F4E79"/>
                </a:solidFill>
                <a:latin typeface="Calibri"/>
              </a:rPr>
              <a:t>Device compliance for every population. </a:t>
            </a:r>
            <a:r>
              <a:rPr sz="1050" b="0" i="0">
                <a:solidFill>
                  <a:srgbClr val="404040"/>
                </a:solidFill>
                <a:latin typeface="Calibri"/>
              </a:rPr>
              <a:t>Employees, field staff, contractors, vendor engineers; a policy for unmanaged devices.</a:t>
            </a:r>
          </a:p>
        </p:txBody>
      </p:sp>
      <p:sp>
        <p:nvSpPr>
          <p:cNvPr id="28" name="Rounded Rectangle 27"/>
          <p:cNvSpPr/>
          <p:nvPr/>
        </p:nvSpPr>
        <p:spPr>
          <a:xfrm>
            <a:off x="6263640" y="2350008"/>
            <a:ext cx="5394960" cy="676656"/>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63640" y="2350008"/>
            <a:ext cx="109728" cy="676656"/>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64808" y="2377439"/>
            <a:ext cx="5120640" cy="640080"/>
          </a:xfrm>
          <a:prstGeom prst="rect">
            <a:avLst/>
          </a:prstGeom>
          <a:noFill/>
        </p:spPr>
        <p:txBody>
          <a:bodyPr wrap="square" lIns="45720" tIns="27432" rIns="45720" bIns="27432" anchor="ctr">
            <a:spAutoFit/>
          </a:bodyPr>
          <a:lstStyle/>
          <a:p>
            <a:pPr algn="l"/>
            <a:r>
              <a:rPr sz="1050" b="1" i="0">
                <a:solidFill>
                  <a:srgbClr val="1F4E79"/>
                </a:solidFill>
                <a:latin typeface="Calibri"/>
              </a:rPr>
              <a:t>Applications needing a domain-joined client. </a:t>
            </a:r>
            <a:r>
              <a:rPr sz="1050" b="0" i="0">
                <a:solidFill>
                  <a:srgbClr val="404040"/>
                </a:solidFill>
                <a:latin typeface="Calibri"/>
              </a:rPr>
              <a:t>Identified before onboarding; domain traffic carried or the application changed.</a:t>
            </a:r>
          </a:p>
        </p:txBody>
      </p:sp>
      <p:sp>
        <p:nvSpPr>
          <p:cNvPr id="31" name="Rounded Rectangle 30"/>
          <p:cNvSpPr/>
          <p:nvPr/>
        </p:nvSpPr>
        <p:spPr>
          <a:xfrm>
            <a:off x="6263640" y="3099815"/>
            <a:ext cx="5394960" cy="676656"/>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63640" y="3099815"/>
            <a:ext cx="109728" cy="676656"/>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64808" y="3127247"/>
            <a:ext cx="5120640" cy="640080"/>
          </a:xfrm>
          <a:prstGeom prst="rect">
            <a:avLst/>
          </a:prstGeom>
          <a:noFill/>
        </p:spPr>
        <p:txBody>
          <a:bodyPr wrap="square" lIns="45720" tIns="27432" rIns="45720" bIns="27432" anchor="ctr">
            <a:spAutoFit/>
          </a:bodyPr>
          <a:lstStyle/>
          <a:p>
            <a:pPr algn="l"/>
            <a:r>
              <a:rPr sz="1050" b="1" i="0">
                <a:solidFill>
                  <a:srgbClr val="1F4E79"/>
                </a:solidFill>
                <a:latin typeface="Calibri"/>
              </a:rPr>
              <a:t>Residency of the service's own logs. </a:t>
            </a:r>
            <a:r>
              <a:rPr sz="1050" b="0" i="0">
                <a:solidFill>
                  <a:srgbClr val="404040"/>
                </a:solidFill>
                <a:latin typeface="Calibri"/>
              </a:rPr>
              <a:t>Application data and traffic stay in Canada under every model; the service's logs may not. A stated position, applied as a selection constraint.</a:t>
            </a:r>
          </a:p>
        </p:txBody>
      </p:sp>
      <p:sp>
        <p:nvSpPr>
          <p:cNvPr id="34" name="Rounded Rectangle 33"/>
          <p:cNvSpPr/>
          <p:nvPr/>
        </p:nvSpPr>
        <p:spPr>
          <a:xfrm>
            <a:off x="6263640" y="3849624"/>
            <a:ext cx="5394960" cy="676656"/>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63640" y="3849624"/>
            <a:ext cx="109728" cy="676656"/>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64808" y="4007813"/>
            <a:ext cx="5120640" cy="378565"/>
          </a:xfrm>
          <a:prstGeom prst="rect">
            <a:avLst/>
          </a:prstGeom>
          <a:noFill/>
        </p:spPr>
        <p:txBody>
          <a:bodyPr wrap="square" lIns="45720" tIns="27432" rIns="45720" bIns="27432" anchor="ctr">
            <a:spAutoFit/>
          </a:bodyPr>
          <a:lstStyle/>
          <a:p>
            <a:pPr algn="l"/>
            <a:r>
              <a:rPr sz="1050" b="1" i="0" dirty="0">
                <a:solidFill>
                  <a:srgbClr val="1F4E79"/>
                </a:solidFill>
                <a:latin typeface="Calibri"/>
              </a:rPr>
              <a:t>Operating model. </a:t>
            </a:r>
            <a:r>
              <a:rPr lang="en-CA" sz="1050" b="0" i="0" dirty="0">
                <a:solidFill>
                  <a:srgbClr val="404040"/>
                </a:solidFill>
                <a:latin typeface="Calibri"/>
              </a:rPr>
              <a:t>ABC</a:t>
            </a:r>
            <a:r>
              <a:rPr sz="1050" b="0" i="0" dirty="0">
                <a:solidFill>
                  <a:srgbClr val="404040"/>
                </a:solidFill>
                <a:latin typeface="Calibri"/>
              </a:rPr>
              <a:t> identity, network operations, </a:t>
            </a:r>
            <a:r>
              <a:rPr sz="1050" b="0" i="0" dirty="0" err="1">
                <a:solidFill>
                  <a:srgbClr val="404040"/>
                </a:solidFill>
                <a:latin typeface="Calibri"/>
              </a:rPr>
              <a:t>Telus</a:t>
            </a:r>
            <a:r>
              <a:rPr sz="1050" b="0" i="0" dirty="0">
                <a:solidFill>
                  <a:srgbClr val="404040"/>
                </a:solidFill>
                <a:latin typeface="Calibri"/>
              </a:rPr>
              <a:t>: who runs the service, connectors, policies and on-call.</a:t>
            </a:r>
          </a:p>
        </p:txBody>
      </p:sp>
      <p:sp>
        <p:nvSpPr>
          <p:cNvPr id="37" name="Rounded Rectangle 36"/>
          <p:cNvSpPr/>
          <p:nvPr/>
        </p:nvSpPr>
        <p:spPr>
          <a:xfrm>
            <a:off x="6263640" y="4599431"/>
            <a:ext cx="5394960" cy="676656"/>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263640" y="4599431"/>
            <a:ext cx="109728" cy="676656"/>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64808" y="4626864"/>
            <a:ext cx="5120640" cy="640080"/>
          </a:xfrm>
          <a:prstGeom prst="rect">
            <a:avLst/>
          </a:prstGeom>
          <a:noFill/>
        </p:spPr>
        <p:txBody>
          <a:bodyPr wrap="square" lIns="45720" tIns="27432" rIns="45720" bIns="27432" anchor="ctr">
            <a:spAutoFit/>
          </a:bodyPr>
          <a:lstStyle/>
          <a:p>
            <a:pPr algn="l"/>
            <a:r>
              <a:rPr sz="1050" b="1" i="0">
                <a:solidFill>
                  <a:srgbClr val="1F4E79"/>
                </a:solidFill>
                <a:latin typeface="Calibri"/>
              </a:rPr>
              <a:t>Coexistence and user change. </a:t>
            </a:r>
            <a:r>
              <a:rPr sz="1050" b="0" i="0">
                <a:solidFill>
                  <a:srgbClr val="404040"/>
                </a:solidFill>
                <a:latin typeface="Calibri"/>
              </a:rPr>
              <a:t>Tested device build with the Cisco clients; help-desk scripts and guidance per wave.</a:t>
            </a:r>
          </a:p>
        </p:txBody>
      </p:sp>
      <p:sp>
        <p:nvSpPr>
          <p:cNvPr id="40" name="Rounded Rectangle 39"/>
          <p:cNvSpPr/>
          <p:nvPr/>
        </p:nvSpPr>
        <p:spPr>
          <a:xfrm>
            <a:off x="6263640" y="5349240"/>
            <a:ext cx="5394960" cy="676656"/>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263640" y="5349240"/>
            <a:ext cx="109728" cy="676656"/>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64808" y="5588221"/>
            <a:ext cx="5120640" cy="216982"/>
          </a:xfrm>
          <a:prstGeom prst="rect">
            <a:avLst/>
          </a:prstGeom>
          <a:noFill/>
        </p:spPr>
        <p:txBody>
          <a:bodyPr wrap="square" lIns="45720" tIns="27432" rIns="45720" bIns="27432" anchor="ctr">
            <a:spAutoFit/>
          </a:bodyPr>
          <a:lstStyle/>
          <a:p>
            <a:pPr algn="l"/>
            <a:r>
              <a:rPr sz="1050" b="1" i="0" dirty="0">
                <a:solidFill>
                  <a:srgbClr val="1F4E79"/>
                </a:solidFill>
                <a:latin typeface="Calibri"/>
              </a:rPr>
              <a:t>Cost ownership. </a:t>
            </a:r>
            <a:r>
              <a:rPr sz="1050" b="0" i="0" dirty="0">
                <a:solidFill>
                  <a:srgbClr val="404040"/>
                </a:solidFill>
                <a:latin typeface="Calibri"/>
              </a:rPr>
              <a:t>Per-user licensing is </a:t>
            </a:r>
            <a:r>
              <a:rPr lang="en-CA" sz="1050" b="0" i="0" dirty="0">
                <a:solidFill>
                  <a:srgbClr val="404040"/>
                </a:solidFill>
                <a:latin typeface="Calibri"/>
              </a:rPr>
              <a:t>ABC</a:t>
            </a:r>
            <a:r>
              <a:rPr sz="1050" b="0" i="0" dirty="0">
                <a:solidFill>
                  <a:srgbClr val="404040"/>
                </a:solidFill>
                <a:latin typeface="Calibri"/>
              </a:rPr>
              <a:t>'s cost; user count agreed before selection.</a:t>
            </a:r>
          </a:p>
        </p:txBody>
      </p:sp>
      <p:sp>
        <p:nvSpPr>
          <p:cNvPr id="43" name="TextBox 42"/>
          <p:cNvSpPr txBox="1"/>
          <p:nvPr/>
        </p:nvSpPr>
        <p:spPr>
          <a:xfrm>
            <a:off x="548640" y="6355080"/>
            <a:ext cx="11064240" cy="274320"/>
          </a:xfrm>
          <a:prstGeom prst="rect">
            <a:avLst/>
          </a:prstGeom>
          <a:noFill/>
        </p:spPr>
        <p:txBody>
          <a:bodyPr wrap="square" lIns="45720" tIns="27432" rIns="45720" bIns="27432" anchor="t">
            <a:spAutoFit/>
          </a:bodyPr>
          <a:lstStyle/>
          <a:p>
            <a:pPr algn="l"/>
            <a:r>
              <a:rPr sz="1050" b="0" i="1">
                <a:solidFill>
                  <a:srgbClr val="7F7F7F"/>
                </a:solidFill>
                <a:latin typeface="Calibri"/>
              </a:rPr>
              <a:t>Reference document, sections 7 and 8. Risks of adopting and of not adopting are set out in section 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green band"/>
          <p:cNvSpPr/>
          <p:nvPr/>
        </p:nvSpPr>
        <p:spPr>
          <a:xfrm>
            <a:off x="0" y="0"/>
            <a:ext cx="12191695" cy="411480"/>
          </a:xfrm>
          <a:prstGeom prst="rect">
            <a:avLst/>
          </a:prstGeom>
          <a:solidFill>
            <a:srgbClr val="55A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blue band"/>
          <p:cNvSpPr/>
          <p:nvPr/>
        </p:nvSpPr>
        <p:spPr>
          <a:xfrm>
            <a:off x="0" y="475488"/>
            <a:ext cx="12191695" cy="566928"/>
          </a:xfrm>
          <a:prstGeom prst="rect">
            <a:avLst/>
          </a:prstGeom>
          <a:solidFill>
            <a:srgbClr val="2E9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lide title"/>
          <p:cNvSpPr txBox="1"/>
          <p:nvPr/>
        </p:nvSpPr>
        <p:spPr>
          <a:xfrm>
            <a:off x="411480" y="475488"/>
            <a:ext cx="11155680" cy="566928"/>
          </a:xfrm>
          <a:prstGeom prst="rect">
            <a:avLst/>
          </a:prstGeom>
          <a:noFill/>
        </p:spPr>
        <p:txBody>
          <a:bodyPr wrap="square" lIns="45720" tIns="27432" rIns="45720" bIns="27432" anchor="ctr">
            <a:spAutoFit/>
          </a:bodyPr>
          <a:lstStyle/>
          <a:p>
            <a:pPr algn="l"/>
            <a:r>
              <a:rPr sz="2400" b="1" i="0">
                <a:solidFill>
                  <a:srgbClr val="FFFFFF"/>
                </a:solidFill>
                <a:latin typeface="Calibri"/>
              </a:rPr>
              <a:t>Recommendation</a:t>
            </a:r>
          </a:p>
        </p:txBody>
      </p:sp>
      <p:sp>
        <p:nvSpPr>
          <p:cNvPr id="5" name="Rounded Rectangle 4"/>
          <p:cNvSpPr/>
          <p:nvPr/>
        </p:nvSpPr>
        <p:spPr>
          <a:xfrm>
            <a:off x="548640" y="1188720"/>
            <a:ext cx="11064240" cy="868680"/>
          </a:xfrm>
          <a:prstGeom prst="roundRect">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33750"/>
            <a:ext cx="10698480" cy="578620"/>
          </a:xfrm>
          <a:prstGeom prst="rect">
            <a:avLst/>
          </a:prstGeom>
          <a:noFill/>
        </p:spPr>
        <p:txBody>
          <a:bodyPr wrap="square" lIns="45720" tIns="27432" rIns="45720" bIns="27432" anchor="ctr">
            <a:spAutoFit/>
          </a:bodyPr>
          <a:lstStyle/>
          <a:p>
            <a:pPr algn="l"/>
            <a:r>
              <a:rPr sz="1700" b="1" i="0" dirty="0">
                <a:solidFill>
                  <a:srgbClr val="FFFFFF"/>
                </a:solidFill>
                <a:latin typeface="Calibri"/>
              </a:rPr>
              <a:t>Proceed with Zero Trust Network Access, in phases, </a:t>
            </a:r>
            <a:r>
              <a:rPr sz="1700" b="0" i="0" dirty="0">
                <a:solidFill>
                  <a:srgbClr val="A9D3E8"/>
                </a:solidFill>
                <a:latin typeface="Calibri"/>
              </a:rPr>
              <a:t>using Entra ID as the policy engine and building on the identity, device and monitoring controls </a:t>
            </a:r>
            <a:r>
              <a:rPr lang="en-CA" sz="1700" b="0" i="0" dirty="0">
                <a:solidFill>
                  <a:srgbClr val="A9D3E8"/>
                </a:solidFill>
                <a:latin typeface="Calibri"/>
              </a:rPr>
              <a:t>ABC</a:t>
            </a:r>
            <a:r>
              <a:rPr sz="1700" b="0" i="0" dirty="0">
                <a:solidFill>
                  <a:srgbClr val="A9D3E8"/>
                </a:solidFill>
                <a:latin typeface="Calibri"/>
              </a:rPr>
              <a:t> already operates.</a:t>
            </a:r>
          </a:p>
        </p:txBody>
      </p:sp>
      <p:sp>
        <p:nvSpPr>
          <p:cNvPr id="7" name="Rounded Rectangle 6"/>
          <p:cNvSpPr/>
          <p:nvPr/>
        </p:nvSpPr>
        <p:spPr>
          <a:xfrm>
            <a:off x="548640" y="2194560"/>
            <a:ext cx="3520440" cy="1325880"/>
          </a:xfrm>
          <a:prstGeom prst="round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240280"/>
            <a:ext cx="3246120" cy="365760"/>
          </a:xfrm>
          <a:prstGeom prst="rect">
            <a:avLst/>
          </a:prstGeom>
          <a:noFill/>
        </p:spPr>
        <p:txBody>
          <a:bodyPr wrap="square" lIns="45720" tIns="27432" rIns="45720" bIns="27432" anchor="t">
            <a:spAutoFit/>
          </a:bodyPr>
          <a:lstStyle/>
          <a:p>
            <a:pPr algn="l"/>
            <a:r>
              <a:rPr sz="1350" b="1" i="0">
                <a:solidFill>
                  <a:srgbClr val="1F4E79"/>
                </a:solidFill>
                <a:latin typeface="Calibri"/>
              </a:rPr>
              <a:t>The hard part is done</a:t>
            </a:r>
          </a:p>
        </p:txBody>
      </p:sp>
      <p:sp>
        <p:nvSpPr>
          <p:cNvPr id="9" name="TextBox 8"/>
          <p:cNvSpPr txBox="1"/>
          <p:nvPr/>
        </p:nvSpPr>
        <p:spPr>
          <a:xfrm>
            <a:off x="685800" y="2606040"/>
            <a:ext cx="3246120" cy="868680"/>
          </a:xfrm>
          <a:prstGeom prst="rect">
            <a:avLst/>
          </a:prstGeom>
          <a:noFill/>
        </p:spPr>
        <p:txBody>
          <a:bodyPr wrap="square" lIns="45720" tIns="27432" rIns="45720" bIns="27432" anchor="t">
            <a:spAutoFit/>
          </a:bodyPr>
          <a:lstStyle/>
          <a:p>
            <a:pPr algn="l"/>
            <a:r>
              <a:rPr sz="1050" b="0" i="0">
                <a:solidFill>
                  <a:srgbClr val="404040"/>
                </a:solidFill>
                <a:latin typeface="Calibri"/>
              </a:rPr>
              <a:t>The identity and device controls every standard lists as prerequisites are in place. ZTNA is the step that lets them govern application access.</a:t>
            </a:r>
          </a:p>
        </p:txBody>
      </p:sp>
      <p:sp>
        <p:nvSpPr>
          <p:cNvPr id="10" name="Rounded Rectangle 9"/>
          <p:cNvSpPr/>
          <p:nvPr/>
        </p:nvSpPr>
        <p:spPr>
          <a:xfrm>
            <a:off x="4251959" y="2194560"/>
            <a:ext cx="3520440" cy="1325880"/>
          </a:xfrm>
          <a:prstGeom prst="round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0" y="2240280"/>
            <a:ext cx="3246120" cy="365760"/>
          </a:xfrm>
          <a:prstGeom prst="rect">
            <a:avLst/>
          </a:prstGeom>
          <a:noFill/>
        </p:spPr>
        <p:txBody>
          <a:bodyPr wrap="square" lIns="45720" tIns="27432" rIns="45720" bIns="27432" anchor="t">
            <a:spAutoFit/>
          </a:bodyPr>
          <a:lstStyle/>
          <a:p>
            <a:pPr algn="l"/>
            <a:r>
              <a:rPr sz="1350" b="1" i="0">
                <a:solidFill>
                  <a:srgbClr val="1F4E79"/>
                </a:solidFill>
                <a:latin typeface="Calibri"/>
              </a:rPr>
              <a:t>The gaps are structural</a:t>
            </a:r>
          </a:p>
        </p:txBody>
      </p:sp>
      <p:sp>
        <p:nvSpPr>
          <p:cNvPr id="12" name="TextBox 11"/>
          <p:cNvSpPr txBox="1"/>
          <p:nvPr/>
        </p:nvSpPr>
        <p:spPr>
          <a:xfrm>
            <a:off x="4389120" y="2606040"/>
            <a:ext cx="3246120" cy="868680"/>
          </a:xfrm>
          <a:prstGeom prst="rect">
            <a:avLst/>
          </a:prstGeom>
          <a:noFill/>
        </p:spPr>
        <p:txBody>
          <a:bodyPr wrap="square" lIns="45720" tIns="27432" rIns="45720" bIns="27432" anchor="t">
            <a:spAutoFit/>
          </a:bodyPr>
          <a:lstStyle/>
          <a:p>
            <a:pPr algn="l"/>
            <a:r>
              <a:rPr sz="1050" b="0" i="0">
                <a:solidFill>
                  <a:srgbClr val="404040"/>
                </a:solidFill>
                <a:latin typeface="Calibri"/>
              </a:rPr>
              <a:t>Location trust, the KIDC dependency and network-level third-party access are properties of the design. They cannot be closed by tuning firewall rules.</a:t>
            </a:r>
          </a:p>
        </p:txBody>
      </p:sp>
      <p:sp>
        <p:nvSpPr>
          <p:cNvPr id="13" name="Rounded Rectangle 12"/>
          <p:cNvSpPr/>
          <p:nvPr/>
        </p:nvSpPr>
        <p:spPr>
          <a:xfrm>
            <a:off x="7955279" y="2194560"/>
            <a:ext cx="3520440" cy="1325880"/>
          </a:xfrm>
          <a:prstGeom prst="round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92440" y="2240280"/>
            <a:ext cx="3246120" cy="365760"/>
          </a:xfrm>
          <a:prstGeom prst="rect">
            <a:avLst/>
          </a:prstGeom>
          <a:noFill/>
        </p:spPr>
        <p:txBody>
          <a:bodyPr wrap="square" lIns="45720" tIns="27432" rIns="45720" bIns="27432" anchor="t">
            <a:spAutoFit/>
          </a:bodyPr>
          <a:lstStyle/>
          <a:p>
            <a:pPr algn="l"/>
            <a:r>
              <a:rPr sz="1350" b="1" i="0">
                <a:solidFill>
                  <a:srgbClr val="1F4E79"/>
                </a:solidFill>
                <a:latin typeface="Calibri"/>
              </a:rPr>
              <a:t>The objective requires it</a:t>
            </a:r>
          </a:p>
        </p:txBody>
      </p:sp>
      <p:sp>
        <p:nvSpPr>
          <p:cNvPr id="15" name="TextBox 14"/>
          <p:cNvSpPr txBox="1"/>
          <p:nvPr/>
        </p:nvSpPr>
        <p:spPr>
          <a:xfrm>
            <a:off x="8092440" y="2606040"/>
            <a:ext cx="3246120" cy="868680"/>
          </a:xfrm>
          <a:prstGeom prst="rect">
            <a:avLst/>
          </a:prstGeom>
          <a:noFill/>
        </p:spPr>
        <p:txBody>
          <a:bodyPr wrap="square" lIns="45720" tIns="27432" rIns="45720" bIns="27432" anchor="t">
            <a:spAutoFit/>
          </a:bodyPr>
          <a:lstStyle/>
          <a:p>
            <a:pPr algn="l"/>
            <a:r>
              <a:rPr sz="1050" b="0" i="0">
                <a:solidFill>
                  <a:srgbClr val="404040"/>
                </a:solidFill>
                <a:latin typeface="Calibri"/>
              </a:rPr>
              <a:t>Secure access to cloud applications over the internet without dependency on the on-premises data centre is what ZTNA provides and what a VPN cannot.</a:t>
            </a:r>
          </a:p>
        </p:txBody>
      </p:sp>
      <p:sp>
        <p:nvSpPr>
          <p:cNvPr id="16" name="TextBox 15"/>
          <p:cNvSpPr txBox="1"/>
          <p:nvPr/>
        </p:nvSpPr>
        <p:spPr>
          <a:xfrm>
            <a:off x="548640" y="3657600"/>
            <a:ext cx="11064240" cy="365760"/>
          </a:xfrm>
          <a:prstGeom prst="rect">
            <a:avLst/>
          </a:prstGeom>
          <a:noFill/>
        </p:spPr>
        <p:txBody>
          <a:bodyPr wrap="square" lIns="45720" tIns="27432" rIns="45720" bIns="27432" anchor="t">
            <a:spAutoFit/>
          </a:bodyPr>
          <a:lstStyle/>
          <a:p>
            <a:pPr algn="l"/>
            <a:r>
              <a:rPr sz="1400" b="1" i="0">
                <a:solidFill>
                  <a:srgbClr val="1F4E79"/>
                </a:solidFill>
                <a:latin typeface="Calibri"/>
              </a:rPr>
              <a:t>What "go" means: an indicative sequence, dates belong to the design phase</a:t>
            </a:r>
          </a:p>
        </p:txBody>
      </p:sp>
      <p:sp>
        <p:nvSpPr>
          <p:cNvPr id="17" name="Pentagon 16"/>
          <p:cNvSpPr/>
          <p:nvPr/>
        </p:nvSpPr>
        <p:spPr>
          <a:xfrm>
            <a:off x="548640" y="4069080"/>
            <a:ext cx="2286000" cy="502920"/>
          </a:xfrm>
          <a:prstGeom prst="homePlat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069080"/>
            <a:ext cx="1920240" cy="502920"/>
          </a:xfrm>
          <a:prstGeom prst="rect">
            <a:avLst/>
          </a:prstGeom>
          <a:noFill/>
        </p:spPr>
        <p:txBody>
          <a:bodyPr wrap="square" lIns="45720" tIns="27432" rIns="45720" bIns="27432" anchor="ctr">
            <a:spAutoFit/>
          </a:bodyPr>
          <a:lstStyle/>
          <a:p>
            <a:pPr algn="l"/>
            <a:r>
              <a:rPr sz="1100" b="1" i="0">
                <a:solidFill>
                  <a:srgbClr val="FFFFFF"/>
                </a:solidFill>
                <a:latin typeface="Calibri"/>
              </a:rPr>
              <a:t>0  Prerequisites</a:t>
            </a:r>
          </a:p>
        </p:txBody>
      </p:sp>
      <p:sp>
        <p:nvSpPr>
          <p:cNvPr id="19" name="TextBox 18"/>
          <p:cNvSpPr txBox="1"/>
          <p:nvPr/>
        </p:nvSpPr>
        <p:spPr>
          <a:xfrm>
            <a:off x="594360" y="4617720"/>
            <a:ext cx="2103120" cy="731520"/>
          </a:xfrm>
          <a:prstGeom prst="rect">
            <a:avLst/>
          </a:prstGeom>
          <a:noFill/>
        </p:spPr>
        <p:txBody>
          <a:bodyPr wrap="square" lIns="45720" tIns="27432" rIns="45720" bIns="27432" anchor="t">
            <a:spAutoFit/>
          </a:bodyPr>
          <a:lstStyle/>
          <a:p>
            <a:pPr algn="l"/>
            <a:r>
              <a:rPr sz="950" b="0" i="0">
                <a:solidFill>
                  <a:srgbClr val="404040"/>
                </a:solidFill>
                <a:latin typeface="Calibri"/>
              </a:rPr>
              <a:t>Owners for the six conditions; policy tiers; application groups</a:t>
            </a:r>
          </a:p>
        </p:txBody>
      </p:sp>
      <p:sp>
        <p:nvSpPr>
          <p:cNvPr id="20" name="Chevron 19"/>
          <p:cNvSpPr/>
          <p:nvPr/>
        </p:nvSpPr>
        <p:spPr>
          <a:xfrm>
            <a:off x="2788920" y="4069080"/>
            <a:ext cx="2286000" cy="502920"/>
          </a:xfrm>
          <a:prstGeom prst="chevron">
            <a:avLst/>
          </a:prstGeom>
          <a:solidFill>
            <a:srgbClr val="007C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017520" y="4069080"/>
            <a:ext cx="1920240" cy="502920"/>
          </a:xfrm>
          <a:prstGeom prst="rect">
            <a:avLst/>
          </a:prstGeom>
          <a:noFill/>
        </p:spPr>
        <p:txBody>
          <a:bodyPr wrap="square" lIns="45720" tIns="27432" rIns="45720" bIns="27432" anchor="ctr">
            <a:spAutoFit/>
          </a:bodyPr>
          <a:lstStyle/>
          <a:p>
            <a:pPr algn="l"/>
            <a:r>
              <a:rPr sz="1100" b="1" i="0">
                <a:solidFill>
                  <a:srgbClr val="FFFFFF"/>
                </a:solidFill>
                <a:latin typeface="Calibri"/>
              </a:rPr>
              <a:t>1  First-wave non-web apps</a:t>
            </a:r>
          </a:p>
        </p:txBody>
      </p:sp>
      <p:sp>
        <p:nvSpPr>
          <p:cNvPr id="22" name="TextBox 21"/>
          <p:cNvSpPr txBox="1"/>
          <p:nvPr/>
        </p:nvSpPr>
        <p:spPr>
          <a:xfrm>
            <a:off x="2834640" y="4617720"/>
            <a:ext cx="2103120" cy="731520"/>
          </a:xfrm>
          <a:prstGeom prst="rect">
            <a:avLst/>
          </a:prstGeom>
          <a:noFill/>
        </p:spPr>
        <p:txBody>
          <a:bodyPr wrap="square" lIns="45720" tIns="27432" rIns="45720" bIns="27432" anchor="t">
            <a:spAutoFit/>
          </a:bodyPr>
          <a:lstStyle/>
          <a:p>
            <a:pPr algn="l"/>
            <a:r>
              <a:rPr sz="950" b="0" i="0">
                <a:solidFill>
                  <a:srgbClr val="404040"/>
                </a:solidFill>
                <a:latin typeface="Calibri"/>
              </a:rPr>
              <a:t>Apps Front Door cannot carry, on managed devices; user firewall rules removed</a:t>
            </a:r>
          </a:p>
        </p:txBody>
      </p:sp>
      <p:sp>
        <p:nvSpPr>
          <p:cNvPr id="23" name="Chevron 22"/>
          <p:cNvSpPr/>
          <p:nvPr/>
        </p:nvSpPr>
        <p:spPr>
          <a:xfrm>
            <a:off x="5029200" y="4069080"/>
            <a:ext cx="2286000" cy="502920"/>
          </a:xfrm>
          <a:prstGeom prst="chevron">
            <a:avLst/>
          </a:prstGeom>
          <a:solidFill>
            <a:srgbClr val="007C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257800" y="4069080"/>
            <a:ext cx="1920240" cy="502920"/>
          </a:xfrm>
          <a:prstGeom prst="rect">
            <a:avLst/>
          </a:prstGeom>
          <a:noFill/>
        </p:spPr>
        <p:txBody>
          <a:bodyPr wrap="square" lIns="45720" tIns="27432" rIns="45720" bIns="27432" anchor="ctr">
            <a:spAutoFit/>
          </a:bodyPr>
          <a:lstStyle/>
          <a:p>
            <a:pPr algn="l"/>
            <a:r>
              <a:rPr sz="1100" b="1" i="0">
                <a:solidFill>
                  <a:srgbClr val="FFFFFF"/>
                </a:solidFill>
                <a:latin typeface="Calibri"/>
              </a:rPr>
              <a:t>2  Contractors and vendors</a:t>
            </a:r>
          </a:p>
        </p:txBody>
      </p:sp>
      <p:sp>
        <p:nvSpPr>
          <p:cNvPr id="25" name="TextBox 24"/>
          <p:cNvSpPr txBox="1"/>
          <p:nvPr/>
        </p:nvSpPr>
        <p:spPr>
          <a:xfrm>
            <a:off x="5074920" y="4617720"/>
            <a:ext cx="2103120" cy="731520"/>
          </a:xfrm>
          <a:prstGeom prst="rect">
            <a:avLst/>
          </a:prstGeom>
          <a:noFill/>
        </p:spPr>
        <p:txBody>
          <a:bodyPr wrap="square" lIns="45720" tIns="27432" rIns="45720" bIns="27432" anchor="t">
            <a:spAutoFit/>
          </a:bodyPr>
          <a:lstStyle/>
          <a:p>
            <a:pPr algn="l"/>
            <a:r>
              <a:rPr sz="950" b="0" i="0">
                <a:solidFill>
                  <a:srgbClr val="404040"/>
                </a:solidFill>
                <a:latin typeface="Calibri"/>
              </a:rPr>
              <a:t>Per-application access replaces jump servers and network-level Citrix</a:t>
            </a:r>
          </a:p>
        </p:txBody>
      </p:sp>
      <p:sp>
        <p:nvSpPr>
          <p:cNvPr id="26" name="Chevron 25"/>
          <p:cNvSpPr/>
          <p:nvPr/>
        </p:nvSpPr>
        <p:spPr>
          <a:xfrm>
            <a:off x="7269480" y="4069080"/>
            <a:ext cx="2286000" cy="502920"/>
          </a:xfrm>
          <a:prstGeom prst="chevron">
            <a:avLst/>
          </a:prstGeom>
          <a:solidFill>
            <a:srgbClr val="007C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498079" y="4069080"/>
            <a:ext cx="1920240" cy="502920"/>
          </a:xfrm>
          <a:prstGeom prst="rect">
            <a:avLst/>
          </a:prstGeom>
          <a:noFill/>
        </p:spPr>
        <p:txBody>
          <a:bodyPr wrap="square" lIns="45720" tIns="27432" rIns="45720" bIns="27432" anchor="ctr">
            <a:spAutoFit/>
          </a:bodyPr>
          <a:lstStyle/>
          <a:p>
            <a:pPr algn="l"/>
            <a:r>
              <a:rPr sz="1100" b="1" i="0">
                <a:solidFill>
                  <a:srgbClr val="FFFFFF"/>
                </a:solidFill>
                <a:latin typeface="Calibri"/>
              </a:rPr>
              <a:t>3  Remote employees</a:t>
            </a:r>
          </a:p>
        </p:txBody>
      </p:sp>
      <p:sp>
        <p:nvSpPr>
          <p:cNvPr id="28" name="TextBox 27"/>
          <p:cNvSpPr txBox="1"/>
          <p:nvPr/>
        </p:nvSpPr>
        <p:spPr>
          <a:xfrm>
            <a:off x="7315200" y="4617720"/>
            <a:ext cx="2103120" cy="731520"/>
          </a:xfrm>
          <a:prstGeom prst="rect">
            <a:avLst/>
          </a:prstGeom>
          <a:noFill/>
        </p:spPr>
        <p:txBody>
          <a:bodyPr wrap="square" lIns="45720" tIns="27432" rIns="45720" bIns="27432" anchor="t">
            <a:spAutoFit/>
          </a:bodyPr>
          <a:lstStyle/>
          <a:p>
            <a:pPr algn="l"/>
            <a:r>
              <a:rPr sz="950" b="0" i="0">
                <a:solidFill>
                  <a:srgbClr val="404040"/>
                </a:solidFill>
                <a:latin typeface="Calibri"/>
              </a:rPr>
              <a:t>All Azure application access via ZTNA; VPN for on-premises only</a:t>
            </a:r>
          </a:p>
        </p:txBody>
      </p:sp>
      <p:sp>
        <p:nvSpPr>
          <p:cNvPr id="29" name="Chevron 28"/>
          <p:cNvSpPr/>
          <p:nvPr/>
        </p:nvSpPr>
        <p:spPr>
          <a:xfrm>
            <a:off x="9509760" y="4069080"/>
            <a:ext cx="2286000" cy="502920"/>
          </a:xfrm>
          <a:prstGeom prst="chevron">
            <a:avLst/>
          </a:prstGeom>
          <a:solidFill>
            <a:srgbClr val="55A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738360" y="4069080"/>
            <a:ext cx="1920240" cy="502920"/>
          </a:xfrm>
          <a:prstGeom prst="rect">
            <a:avLst/>
          </a:prstGeom>
          <a:noFill/>
        </p:spPr>
        <p:txBody>
          <a:bodyPr wrap="square" lIns="45720" tIns="27432" rIns="45720" bIns="27432" anchor="ctr">
            <a:spAutoFit/>
          </a:bodyPr>
          <a:lstStyle/>
          <a:p>
            <a:pPr algn="l"/>
            <a:r>
              <a:rPr sz="1100" b="1" i="0">
                <a:solidFill>
                  <a:srgbClr val="FFFFFF"/>
                </a:solidFill>
                <a:latin typeface="Calibri"/>
              </a:rPr>
              <a:t>4  Extend</a:t>
            </a:r>
          </a:p>
        </p:txBody>
      </p:sp>
      <p:sp>
        <p:nvSpPr>
          <p:cNvPr id="31" name="TextBox 30"/>
          <p:cNvSpPr txBox="1"/>
          <p:nvPr/>
        </p:nvSpPr>
        <p:spPr>
          <a:xfrm>
            <a:off x="9555480" y="4617720"/>
            <a:ext cx="2103120" cy="731520"/>
          </a:xfrm>
          <a:prstGeom prst="rect">
            <a:avLst/>
          </a:prstGeom>
          <a:noFill/>
        </p:spPr>
        <p:txBody>
          <a:bodyPr wrap="square" lIns="45720" tIns="27432" rIns="45720" bIns="27432" anchor="t">
            <a:spAutoFit/>
          </a:bodyPr>
          <a:lstStyle/>
          <a:p>
            <a:pPr algn="l"/>
            <a:r>
              <a:rPr sz="950" b="0" i="0">
                <a:solidFill>
                  <a:srgbClr val="404040"/>
                </a:solidFill>
                <a:latin typeface="Calibri"/>
              </a:rPr>
              <a:t>Each migration wave onboards with ZTNA as the default path</a:t>
            </a:r>
          </a:p>
        </p:txBody>
      </p:sp>
      <p:sp>
        <p:nvSpPr>
          <p:cNvPr id="32" name="Rounded Rectangle 31"/>
          <p:cNvSpPr/>
          <p:nvPr/>
        </p:nvSpPr>
        <p:spPr>
          <a:xfrm>
            <a:off x="548640" y="5394960"/>
            <a:ext cx="11064240" cy="8686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5800" y="5394960"/>
            <a:ext cx="10789920" cy="868680"/>
          </a:xfrm>
          <a:prstGeom prst="rect">
            <a:avLst/>
          </a:prstGeom>
          <a:noFill/>
        </p:spPr>
        <p:txBody>
          <a:bodyPr wrap="square" lIns="45720" tIns="27432" rIns="45720" bIns="27432" anchor="ctr">
            <a:spAutoFit/>
          </a:bodyPr>
          <a:lstStyle/>
          <a:p>
            <a:pPr algn="l"/>
            <a:r>
              <a:rPr sz="1150" b="1" i="0">
                <a:solidFill>
                  <a:srgbClr val="1F4E79"/>
                </a:solidFill>
                <a:latin typeface="Calibri"/>
              </a:rPr>
              <a:t>What would make "no" the right answer: </a:t>
            </a:r>
            <a:r>
              <a:rPr sz="1150" b="0" i="0">
                <a:solidFill>
                  <a:srgbClr val="404040"/>
                </a:solidFill>
                <a:latin typeface="Calibri"/>
              </a:rPr>
              <a:t>every in-scope application a web application behind Front Door with Entra ID sign-in; no contractor, vendor or unmanaged device needing access; and the dependency of cloud access on KIDC acceptable to the business. The assessment found none of the three holds. If your review shows otherwise, the recommendation should be revisited.</a:t>
            </a:r>
          </a:p>
        </p:txBody>
      </p:sp>
      <p:sp>
        <p:nvSpPr>
          <p:cNvPr id="34" name="TextBox 33"/>
          <p:cNvSpPr txBox="1"/>
          <p:nvPr/>
        </p:nvSpPr>
        <p:spPr>
          <a:xfrm>
            <a:off x="548640" y="6355080"/>
            <a:ext cx="11064240" cy="274320"/>
          </a:xfrm>
          <a:prstGeom prst="rect">
            <a:avLst/>
          </a:prstGeom>
          <a:noFill/>
        </p:spPr>
        <p:txBody>
          <a:bodyPr wrap="square" lIns="45720" tIns="27432" rIns="45720" bIns="27432" anchor="t">
            <a:spAutoFit/>
          </a:bodyPr>
          <a:lstStyle/>
          <a:p>
            <a:pPr algn="l"/>
            <a:r>
              <a:rPr sz="1050" b="0" i="1">
                <a:solidFill>
                  <a:srgbClr val="7F7F7F"/>
                </a:solidFill>
                <a:latin typeface="Calibri"/>
              </a:rPr>
              <a:t>Reference document, sections 9 and 10. Fifteen open questions are listed in section 10; the first four are sizing and exposure.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0AFB8BFB112D446A82B6FD21EA3322E" ma:contentTypeVersion="14" ma:contentTypeDescription="Create a new document." ma:contentTypeScope="" ma:versionID="00991bfdc7a8d60216374e85f9239802">
  <xsd:schema xmlns:xsd="http://www.w3.org/2001/XMLSchema" xmlns:xs="http://www.w3.org/2001/XMLSchema" xmlns:p="http://schemas.microsoft.com/office/2006/metadata/properties" xmlns:ns2="a514f6a8-4dc4-4752-9c9f-3e7a63838f4d" xmlns:ns3="c13da237-a938-459e-8ce3-f573962a9e07" targetNamespace="http://schemas.microsoft.com/office/2006/metadata/properties" ma:root="true" ma:fieldsID="6bc557c5d3a483ed07fec31cf927d941" ns2:_="" ns3:_="">
    <xsd:import namespace="a514f6a8-4dc4-4752-9c9f-3e7a63838f4d"/>
    <xsd:import namespace="c13da237-a938-459e-8ce3-f573962a9e0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14f6a8-4dc4-4752-9c9f-3e7a63838f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13da237-a938-459e-8ce3-f573962a9e0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f8b9e838-4ac9-4c93-85cf-cd16d521c9b2}" ma:internalName="TaxCatchAll" ma:showField="CatchAllData" ma:web="c13da237-a938-459e-8ce3-f573962a9e0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514f6a8-4dc4-4752-9c9f-3e7a63838f4d">
      <Terms xmlns="http://schemas.microsoft.com/office/infopath/2007/PartnerControls"/>
    </lcf76f155ced4ddcb4097134ff3c332f>
    <TaxCatchAll xmlns="c13da237-a938-459e-8ce3-f573962a9e07" xsi:nil="true"/>
  </documentManagement>
</p:properties>
</file>

<file path=customXml/itemProps1.xml><?xml version="1.0" encoding="utf-8"?>
<ds:datastoreItem xmlns:ds="http://schemas.openxmlformats.org/officeDocument/2006/customXml" ds:itemID="{7ABB1C30-5F55-403B-A42C-FFB6684EC174}">
  <ds:schemaRefs>
    <ds:schemaRef ds:uri="http://schemas.microsoft.com/sharepoint/v3/contenttype/forms"/>
  </ds:schemaRefs>
</ds:datastoreItem>
</file>

<file path=customXml/itemProps2.xml><?xml version="1.0" encoding="utf-8"?>
<ds:datastoreItem xmlns:ds="http://schemas.openxmlformats.org/officeDocument/2006/customXml" ds:itemID="{2CB1FF75-CF8B-4385-85DB-B5B8D88EDB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514f6a8-4dc4-4752-9c9f-3e7a63838f4d"/>
    <ds:schemaRef ds:uri="c13da237-a938-459e-8ce3-f573962a9e0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5BC269A-7165-4CD2-84BD-971D5A1AC2AD}">
  <ds:schemaRefs>
    <ds:schemaRef ds:uri="http://schemas.microsoft.com/office/2006/metadata/properties"/>
    <ds:schemaRef ds:uri="http://schemas.microsoft.com/office/infopath/2007/PartnerControls"/>
    <ds:schemaRef ds:uri="a514f6a8-4dc4-4752-9c9f-3e7a63838f4d"/>
    <ds:schemaRef ds:uri="c13da237-a938-459e-8ce3-f573962a9e07"/>
  </ds:schemaRefs>
</ds:datastoreItem>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3</TotalTime>
  <Words>2544</Words>
  <Application>Microsoft Office PowerPoint</Application>
  <PresentationFormat>Widescreen</PresentationFormat>
  <Paragraphs>130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Ayodele, Kayode Ayotunde</dc:creator>
  <cp:keywords/>
  <dc:description>generated using python-pptx</dc:description>
  <cp:lastModifiedBy>Mohammed, Omer Zubair</cp:lastModifiedBy>
  <cp:revision>2</cp:revision>
  <dcterms:created xsi:type="dcterms:W3CDTF">2013-01-27T09:14:16Z</dcterms:created>
  <dcterms:modified xsi:type="dcterms:W3CDTF">2026-10-30T15:02:57Z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0x01010080AFB8BFB112D446A82B6FD21EA3322E</vt:lpwstr>
  </property>
</Properties>
</file>