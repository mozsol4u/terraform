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147483233" r:id="rId3"/>
    <p:sldId id="2147483234" r:id="rId4"/>
    <p:sldId id="2147483235" r:id="rId5"/>
    <p:sldId id="2147483236" r:id="rId6"/>
    <p:sldId id="2147483237" r:id="rId7"/>
    <p:sldId id="2147483238" r:id="rId8"/>
    <p:sldId id="2147483239" r:id="rId9"/>
    <p:sldId id="2076137596" r:id="rId10"/>
    <p:sldId id="2147483240" r:id="rId11"/>
    <p:sldId id="2147483241" r:id="rId12"/>
    <p:sldId id="2147483250" r:id="rId13"/>
    <p:sldId id="2147483251" r:id="rId14"/>
    <p:sldId id="2147483252" r:id="rId15"/>
    <p:sldId id="2147483248" r:id="rId16"/>
    <p:sldId id="2147483249" r:id="rId17"/>
    <p:sldId id="2147483247" r:id="rId18"/>
    <p:sldId id="2147483242" r:id="rId19"/>
    <p:sldId id="2147483253" r:id="rId20"/>
    <p:sldId id="2147483254" r:id="rId21"/>
    <p:sldId id="2147483255" r:id="rId22"/>
    <p:sldId id="2147483256" r:id="rId23"/>
    <p:sldId id="2147483257" r:id="rId24"/>
    <p:sldId id="2147483258" r:id="rId25"/>
    <p:sldId id="2145705981" r:id="rId26"/>
    <p:sldId id="2147483244" r:id="rId27"/>
    <p:sldId id="2147483245" r:id="rId28"/>
    <p:sldId id="2147483246" r:id="rId29"/>
    <p:sldId id="2147483259" r:id="rId30"/>
    <p:sldId id="2147483260" r:id="rId31"/>
    <p:sldId id="2147483261" r:id="rId32"/>
    <p:sldId id="2147483262" r:id="rId33"/>
    <p:sldId id="2147483263" r:id="rId34"/>
    <p:sldId id="2147483264" r:id="rId35"/>
    <p:sldId id="2147483265" r:id="rId36"/>
    <p:sldId id="2147483266" r:id="rId37"/>
    <p:sldId id="2147483267" r:id="rId38"/>
    <p:sldId id="2147483275" r:id="rId39"/>
    <p:sldId id="2147483268" r:id="rId40"/>
    <p:sldId id="2147483269" r:id="rId41"/>
    <p:sldId id="2147483270" r:id="rId42"/>
    <p:sldId id="2147483271" r:id="rId43"/>
    <p:sldId id="2147483272" r:id="rId44"/>
    <p:sldId id="2147483273" r:id="rId45"/>
    <p:sldId id="214748327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520" autoAdjust="0"/>
  </p:normalViewPr>
  <p:slideViewPr>
    <p:cSldViewPr snapToGrid="0">
      <p:cViewPr varScale="1">
        <p:scale>
          <a:sx n="82" d="100"/>
          <a:sy n="82" d="100"/>
        </p:scale>
        <p:origin x="3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ata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E232F3-2EDE-416D-A213-D65499F914B2}"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B675835A-55F7-4F3B-B94A-3B36FF5F7B96}">
      <dgm:prSet/>
      <dgm:spPr/>
      <dgm:t>
        <a:bodyPr/>
        <a:lstStyle/>
        <a:p>
          <a:r>
            <a:rPr lang="en-CA" b="1" dirty="0"/>
            <a:t>Compliance and Data Residency</a:t>
          </a:r>
          <a:endParaRPr lang="en-US" dirty="0"/>
        </a:p>
      </dgm:t>
    </dgm:pt>
    <dgm:pt modelId="{9F5DEA9B-F127-4F21-BE72-61846016E766}" type="parTrans" cxnId="{7C65A2DD-F3CB-4FD6-AA96-74421F81F6D2}">
      <dgm:prSet/>
      <dgm:spPr/>
      <dgm:t>
        <a:bodyPr/>
        <a:lstStyle/>
        <a:p>
          <a:endParaRPr lang="en-US"/>
        </a:p>
      </dgm:t>
    </dgm:pt>
    <dgm:pt modelId="{229084D5-86B9-4D2B-87F6-D08FD8B7E519}" type="sibTrans" cxnId="{7C65A2DD-F3CB-4FD6-AA96-74421F81F6D2}">
      <dgm:prSet/>
      <dgm:spPr/>
      <dgm:t>
        <a:bodyPr/>
        <a:lstStyle/>
        <a:p>
          <a:endParaRPr lang="en-US"/>
        </a:p>
      </dgm:t>
    </dgm:pt>
    <dgm:pt modelId="{76273DA2-29C9-4E97-BF98-5FD4AB11C6F0}">
      <dgm:prSet/>
      <dgm:spPr/>
      <dgm:t>
        <a:bodyPr/>
        <a:lstStyle/>
        <a:p>
          <a:r>
            <a:rPr lang="en-CA" b="1" dirty="0"/>
            <a:t>Service Availability + Availability Zones</a:t>
          </a:r>
          <a:endParaRPr lang="en-US" dirty="0"/>
        </a:p>
      </dgm:t>
    </dgm:pt>
    <dgm:pt modelId="{6C8BFE88-9297-4689-A2C1-FE5597F3275F}" type="parTrans" cxnId="{A48FF42E-4F7B-4296-BFF0-44D7C09450FE}">
      <dgm:prSet/>
      <dgm:spPr/>
      <dgm:t>
        <a:bodyPr/>
        <a:lstStyle/>
        <a:p>
          <a:endParaRPr lang="en-US"/>
        </a:p>
      </dgm:t>
    </dgm:pt>
    <dgm:pt modelId="{39E249DE-674A-4CA6-B287-F46B0E494E0F}" type="sibTrans" cxnId="{A48FF42E-4F7B-4296-BFF0-44D7C09450FE}">
      <dgm:prSet/>
      <dgm:spPr/>
      <dgm:t>
        <a:bodyPr/>
        <a:lstStyle/>
        <a:p>
          <a:endParaRPr lang="en-US"/>
        </a:p>
      </dgm:t>
    </dgm:pt>
    <dgm:pt modelId="{B12F784F-D041-46BD-8A82-8CA0C092B7D4}">
      <dgm:prSet/>
      <dgm:spPr/>
      <dgm:t>
        <a:bodyPr/>
        <a:lstStyle/>
        <a:p>
          <a:r>
            <a:rPr lang="en-CA" b="1" dirty="0"/>
            <a:t>Latency</a:t>
          </a:r>
          <a:endParaRPr lang="en-US" dirty="0"/>
        </a:p>
      </dgm:t>
    </dgm:pt>
    <dgm:pt modelId="{06425800-33D4-452F-BA21-DEF1B1DF49A5}" type="parTrans" cxnId="{459C9C36-AEAF-4774-9B44-713D199EF268}">
      <dgm:prSet/>
      <dgm:spPr/>
      <dgm:t>
        <a:bodyPr/>
        <a:lstStyle/>
        <a:p>
          <a:endParaRPr lang="en-US"/>
        </a:p>
      </dgm:t>
    </dgm:pt>
    <dgm:pt modelId="{7C45FC78-107C-44B8-8A10-F4D7340BFA5C}" type="sibTrans" cxnId="{459C9C36-AEAF-4774-9B44-713D199EF268}">
      <dgm:prSet/>
      <dgm:spPr/>
      <dgm:t>
        <a:bodyPr/>
        <a:lstStyle/>
        <a:p>
          <a:endParaRPr lang="en-US"/>
        </a:p>
      </dgm:t>
    </dgm:pt>
    <dgm:pt modelId="{61BCC6EC-A816-4420-AF5E-602585D31F2B}">
      <dgm:prSet/>
      <dgm:spPr/>
      <dgm:t>
        <a:bodyPr/>
        <a:lstStyle/>
        <a:p>
          <a:r>
            <a:rPr lang="en-CA" b="1" dirty="0"/>
            <a:t>Pricing</a:t>
          </a:r>
          <a:endParaRPr lang="en-US" dirty="0"/>
        </a:p>
      </dgm:t>
    </dgm:pt>
    <dgm:pt modelId="{FDEC27F7-12F0-45DE-9975-4807CF8B80B3}" type="parTrans" cxnId="{755F72E3-F6D9-4A9E-B3FB-E17033D472E8}">
      <dgm:prSet/>
      <dgm:spPr/>
      <dgm:t>
        <a:bodyPr/>
        <a:lstStyle/>
        <a:p>
          <a:endParaRPr lang="en-US"/>
        </a:p>
      </dgm:t>
    </dgm:pt>
    <dgm:pt modelId="{9FCB5239-096C-457D-9DCC-CBCFC7180BD1}" type="sibTrans" cxnId="{755F72E3-F6D9-4A9E-B3FB-E17033D472E8}">
      <dgm:prSet/>
      <dgm:spPr/>
      <dgm:t>
        <a:bodyPr/>
        <a:lstStyle/>
        <a:p>
          <a:endParaRPr lang="en-US"/>
        </a:p>
      </dgm:t>
    </dgm:pt>
    <dgm:pt modelId="{99F0045D-01C4-4A10-8E3E-ED43E99D24B9}" type="pres">
      <dgm:prSet presAssocID="{0EE232F3-2EDE-416D-A213-D65499F914B2}" presName="root" presStyleCnt="0">
        <dgm:presLayoutVars>
          <dgm:dir/>
          <dgm:resizeHandles val="exact"/>
        </dgm:presLayoutVars>
      </dgm:prSet>
      <dgm:spPr/>
    </dgm:pt>
    <dgm:pt modelId="{F4068D4D-160C-4B9B-95ED-5E28D37333C2}" type="pres">
      <dgm:prSet presAssocID="{B675835A-55F7-4F3B-B94A-3B36FF5F7B96}" presName="compNode" presStyleCnt="0"/>
      <dgm:spPr/>
    </dgm:pt>
    <dgm:pt modelId="{897DA804-EBC3-4DDE-932E-A239437891C1}" type="pres">
      <dgm:prSet presAssocID="{B675835A-55F7-4F3B-B94A-3B36FF5F7B9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A8EEB096-EE79-4488-85E7-FCCA08B5CAD9}" type="pres">
      <dgm:prSet presAssocID="{B675835A-55F7-4F3B-B94A-3B36FF5F7B96}" presName="spaceRect" presStyleCnt="0"/>
      <dgm:spPr/>
    </dgm:pt>
    <dgm:pt modelId="{8F3EA16E-EC47-418B-A46F-E88BD14D9DBA}" type="pres">
      <dgm:prSet presAssocID="{B675835A-55F7-4F3B-B94A-3B36FF5F7B96}" presName="textRect" presStyleLbl="revTx" presStyleIdx="0" presStyleCnt="4" custLinFactNeighborX="1171" custLinFactNeighborY="88166">
        <dgm:presLayoutVars>
          <dgm:chMax val="1"/>
          <dgm:chPref val="1"/>
        </dgm:presLayoutVars>
      </dgm:prSet>
      <dgm:spPr/>
    </dgm:pt>
    <dgm:pt modelId="{4ECBFB70-1D3F-4881-B0DF-B94A36258787}" type="pres">
      <dgm:prSet presAssocID="{229084D5-86B9-4D2B-87F6-D08FD8B7E519}" presName="sibTrans" presStyleCnt="0"/>
      <dgm:spPr/>
    </dgm:pt>
    <dgm:pt modelId="{5966833A-E590-4069-B97F-E3082879EB36}" type="pres">
      <dgm:prSet presAssocID="{76273DA2-29C9-4E97-BF98-5FD4AB11C6F0}" presName="compNode" presStyleCnt="0"/>
      <dgm:spPr/>
    </dgm:pt>
    <dgm:pt modelId="{5CEF0CA3-A0E3-43AE-9576-ACC0E1150DD6}" type="pres">
      <dgm:prSet presAssocID="{76273DA2-29C9-4E97-BF98-5FD4AB11C6F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BBBA1B8-311B-4D0C-AD8B-EBF39D9C8C7C}" type="pres">
      <dgm:prSet presAssocID="{76273DA2-29C9-4E97-BF98-5FD4AB11C6F0}" presName="spaceRect" presStyleCnt="0"/>
      <dgm:spPr/>
    </dgm:pt>
    <dgm:pt modelId="{219797A2-B606-4F78-A32B-6AA79132DCBD}" type="pres">
      <dgm:prSet presAssocID="{76273DA2-29C9-4E97-BF98-5FD4AB11C6F0}" presName="textRect" presStyleLbl="revTx" presStyleIdx="1" presStyleCnt="4" custLinFactNeighborX="-651" custLinFactNeighborY="88166">
        <dgm:presLayoutVars>
          <dgm:chMax val="1"/>
          <dgm:chPref val="1"/>
        </dgm:presLayoutVars>
      </dgm:prSet>
      <dgm:spPr/>
    </dgm:pt>
    <dgm:pt modelId="{31D43DB9-837B-494E-B896-795BAE0A841E}" type="pres">
      <dgm:prSet presAssocID="{39E249DE-674A-4CA6-B287-F46B0E494E0F}" presName="sibTrans" presStyleCnt="0"/>
      <dgm:spPr/>
    </dgm:pt>
    <dgm:pt modelId="{084DD655-AE40-467D-B878-BAA0DAE25BB0}" type="pres">
      <dgm:prSet presAssocID="{B12F784F-D041-46BD-8A82-8CA0C092B7D4}" presName="compNode" presStyleCnt="0"/>
      <dgm:spPr/>
    </dgm:pt>
    <dgm:pt modelId="{96F57EF6-9AF2-4C6E-BFB8-380EF8916F3B}" type="pres">
      <dgm:prSet presAssocID="{B12F784F-D041-46BD-8A82-8CA0C092B7D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E36F6B3A-C2DA-44E4-8A84-03A66099B15F}" type="pres">
      <dgm:prSet presAssocID="{B12F784F-D041-46BD-8A82-8CA0C092B7D4}" presName="spaceRect" presStyleCnt="0"/>
      <dgm:spPr/>
    </dgm:pt>
    <dgm:pt modelId="{DACFD560-B3EA-469E-A6EF-33161D1CA92E}" type="pres">
      <dgm:prSet presAssocID="{B12F784F-D041-46BD-8A82-8CA0C092B7D4}" presName="textRect" presStyleLbl="revTx" presStyleIdx="2" presStyleCnt="4" custLinFactNeighborX="651" custLinFactNeighborY="88166">
        <dgm:presLayoutVars>
          <dgm:chMax val="1"/>
          <dgm:chPref val="1"/>
        </dgm:presLayoutVars>
      </dgm:prSet>
      <dgm:spPr/>
    </dgm:pt>
    <dgm:pt modelId="{CE44953B-14BC-4EBC-BEC4-862E7EAA7064}" type="pres">
      <dgm:prSet presAssocID="{7C45FC78-107C-44B8-8A10-F4D7340BFA5C}" presName="sibTrans" presStyleCnt="0"/>
      <dgm:spPr/>
    </dgm:pt>
    <dgm:pt modelId="{18286AE8-A66D-486A-B6DA-0CB95DF28FC2}" type="pres">
      <dgm:prSet presAssocID="{61BCC6EC-A816-4420-AF5E-602585D31F2B}" presName="compNode" presStyleCnt="0"/>
      <dgm:spPr/>
    </dgm:pt>
    <dgm:pt modelId="{BC1242DF-4F6A-443E-BB90-4C5FB612C751}" type="pres">
      <dgm:prSet presAssocID="{61BCC6EC-A816-4420-AF5E-602585D31F2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g"/>
        </a:ext>
      </dgm:extLst>
    </dgm:pt>
    <dgm:pt modelId="{3955A63C-1732-4F36-A91A-697CB18F37EA}" type="pres">
      <dgm:prSet presAssocID="{61BCC6EC-A816-4420-AF5E-602585D31F2B}" presName="spaceRect" presStyleCnt="0"/>
      <dgm:spPr/>
    </dgm:pt>
    <dgm:pt modelId="{DB3565EF-01F0-4C17-B9DB-874F74AAE440}" type="pres">
      <dgm:prSet presAssocID="{61BCC6EC-A816-4420-AF5E-602585D31F2B}" presName="textRect" presStyleLbl="revTx" presStyleIdx="3" presStyleCnt="4" custLinFactNeighborX="-1954" custLinFactNeighborY="88111">
        <dgm:presLayoutVars>
          <dgm:chMax val="1"/>
          <dgm:chPref val="1"/>
        </dgm:presLayoutVars>
      </dgm:prSet>
      <dgm:spPr/>
    </dgm:pt>
  </dgm:ptLst>
  <dgm:cxnLst>
    <dgm:cxn modelId="{A48FF42E-4F7B-4296-BFF0-44D7C09450FE}" srcId="{0EE232F3-2EDE-416D-A213-D65499F914B2}" destId="{76273DA2-29C9-4E97-BF98-5FD4AB11C6F0}" srcOrd="1" destOrd="0" parTransId="{6C8BFE88-9297-4689-A2C1-FE5597F3275F}" sibTransId="{39E249DE-674A-4CA6-B287-F46B0E494E0F}"/>
    <dgm:cxn modelId="{459C9C36-AEAF-4774-9B44-713D199EF268}" srcId="{0EE232F3-2EDE-416D-A213-D65499F914B2}" destId="{B12F784F-D041-46BD-8A82-8CA0C092B7D4}" srcOrd="2" destOrd="0" parTransId="{06425800-33D4-452F-BA21-DEF1B1DF49A5}" sibTransId="{7C45FC78-107C-44B8-8A10-F4D7340BFA5C}"/>
    <dgm:cxn modelId="{9B846D48-C93A-4DFD-A636-1AFD12BA69CB}" type="presOf" srcId="{61BCC6EC-A816-4420-AF5E-602585D31F2B}" destId="{DB3565EF-01F0-4C17-B9DB-874F74AAE440}" srcOrd="0" destOrd="0" presId="urn:microsoft.com/office/officeart/2018/2/layout/IconLabelList"/>
    <dgm:cxn modelId="{EEDE3A7C-6885-4EFE-8D14-228017E63810}" type="presOf" srcId="{B675835A-55F7-4F3B-B94A-3B36FF5F7B96}" destId="{8F3EA16E-EC47-418B-A46F-E88BD14D9DBA}" srcOrd="0" destOrd="0" presId="urn:microsoft.com/office/officeart/2018/2/layout/IconLabelList"/>
    <dgm:cxn modelId="{C8B7E37C-1E34-43FE-9225-C130EE29D42D}" type="presOf" srcId="{0EE232F3-2EDE-416D-A213-D65499F914B2}" destId="{99F0045D-01C4-4A10-8E3E-ED43E99D24B9}" srcOrd="0" destOrd="0" presId="urn:microsoft.com/office/officeart/2018/2/layout/IconLabelList"/>
    <dgm:cxn modelId="{C1972E91-2767-4A22-A4F2-F7B54AE7638C}" type="presOf" srcId="{B12F784F-D041-46BD-8A82-8CA0C092B7D4}" destId="{DACFD560-B3EA-469E-A6EF-33161D1CA92E}" srcOrd="0" destOrd="0" presId="urn:microsoft.com/office/officeart/2018/2/layout/IconLabelList"/>
    <dgm:cxn modelId="{7C65A2DD-F3CB-4FD6-AA96-74421F81F6D2}" srcId="{0EE232F3-2EDE-416D-A213-D65499F914B2}" destId="{B675835A-55F7-4F3B-B94A-3B36FF5F7B96}" srcOrd="0" destOrd="0" parTransId="{9F5DEA9B-F127-4F21-BE72-61846016E766}" sibTransId="{229084D5-86B9-4D2B-87F6-D08FD8B7E519}"/>
    <dgm:cxn modelId="{755F72E3-F6D9-4A9E-B3FB-E17033D472E8}" srcId="{0EE232F3-2EDE-416D-A213-D65499F914B2}" destId="{61BCC6EC-A816-4420-AF5E-602585D31F2B}" srcOrd="3" destOrd="0" parTransId="{FDEC27F7-12F0-45DE-9975-4807CF8B80B3}" sibTransId="{9FCB5239-096C-457D-9DCC-CBCFC7180BD1}"/>
    <dgm:cxn modelId="{51354BF2-CDF7-4E20-B02B-CFE3DF1B248B}" type="presOf" srcId="{76273DA2-29C9-4E97-BF98-5FD4AB11C6F0}" destId="{219797A2-B606-4F78-A32B-6AA79132DCBD}" srcOrd="0" destOrd="0" presId="urn:microsoft.com/office/officeart/2018/2/layout/IconLabelList"/>
    <dgm:cxn modelId="{50675497-71B3-4B62-A7E8-D112C4FCD08E}" type="presParOf" srcId="{99F0045D-01C4-4A10-8E3E-ED43E99D24B9}" destId="{F4068D4D-160C-4B9B-95ED-5E28D37333C2}" srcOrd="0" destOrd="0" presId="urn:microsoft.com/office/officeart/2018/2/layout/IconLabelList"/>
    <dgm:cxn modelId="{CC92D117-4EC4-4B1F-B045-335E2CDD1774}" type="presParOf" srcId="{F4068D4D-160C-4B9B-95ED-5E28D37333C2}" destId="{897DA804-EBC3-4DDE-932E-A239437891C1}" srcOrd="0" destOrd="0" presId="urn:microsoft.com/office/officeart/2018/2/layout/IconLabelList"/>
    <dgm:cxn modelId="{63E1FED1-1938-44B2-9170-21FACBF31EE8}" type="presParOf" srcId="{F4068D4D-160C-4B9B-95ED-5E28D37333C2}" destId="{A8EEB096-EE79-4488-85E7-FCCA08B5CAD9}" srcOrd="1" destOrd="0" presId="urn:microsoft.com/office/officeart/2018/2/layout/IconLabelList"/>
    <dgm:cxn modelId="{569C6880-C84A-4268-A859-9E143C4012B1}" type="presParOf" srcId="{F4068D4D-160C-4B9B-95ED-5E28D37333C2}" destId="{8F3EA16E-EC47-418B-A46F-E88BD14D9DBA}" srcOrd="2" destOrd="0" presId="urn:microsoft.com/office/officeart/2018/2/layout/IconLabelList"/>
    <dgm:cxn modelId="{2DFD1C1C-B6B6-4A47-8770-148F0286F6DF}" type="presParOf" srcId="{99F0045D-01C4-4A10-8E3E-ED43E99D24B9}" destId="{4ECBFB70-1D3F-4881-B0DF-B94A36258787}" srcOrd="1" destOrd="0" presId="urn:microsoft.com/office/officeart/2018/2/layout/IconLabelList"/>
    <dgm:cxn modelId="{24E7B3C3-9A6F-49BD-AA60-C5D5FE6A5CA1}" type="presParOf" srcId="{99F0045D-01C4-4A10-8E3E-ED43E99D24B9}" destId="{5966833A-E590-4069-B97F-E3082879EB36}" srcOrd="2" destOrd="0" presId="urn:microsoft.com/office/officeart/2018/2/layout/IconLabelList"/>
    <dgm:cxn modelId="{C403AD16-194A-452F-8BE8-6EBFB1830CB0}" type="presParOf" srcId="{5966833A-E590-4069-B97F-E3082879EB36}" destId="{5CEF0CA3-A0E3-43AE-9576-ACC0E1150DD6}" srcOrd="0" destOrd="0" presId="urn:microsoft.com/office/officeart/2018/2/layout/IconLabelList"/>
    <dgm:cxn modelId="{74C6BA3B-FDC7-49E7-BEDD-50E4DB5F918A}" type="presParOf" srcId="{5966833A-E590-4069-B97F-E3082879EB36}" destId="{7BBBA1B8-311B-4D0C-AD8B-EBF39D9C8C7C}" srcOrd="1" destOrd="0" presId="urn:microsoft.com/office/officeart/2018/2/layout/IconLabelList"/>
    <dgm:cxn modelId="{FAF855CC-1577-4CAD-9970-58EF5C1DEE66}" type="presParOf" srcId="{5966833A-E590-4069-B97F-E3082879EB36}" destId="{219797A2-B606-4F78-A32B-6AA79132DCBD}" srcOrd="2" destOrd="0" presId="urn:microsoft.com/office/officeart/2018/2/layout/IconLabelList"/>
    <dgm:cxn modelId="{3A94CE8F-8659-47C6-A286-55A1B292B0E7}" type="presParOf" srcId="{99F0045D-01C4-4A10-8E3E-ED43E99D24B9}" destId="{31D43DB9-837B-494E-B896-795BAE0A841E}" srcOrd="3" destOrd="0" presId="urn:microsoft.com/office/officeart/2018/2/layout/IconLabelList"/>
    <dgm:cxn modelId="{968370F8-EB54-4AAE-B7AE-44508978D2B3}" type="presParOf" srcId="{99F0045D-01C4-4A10-8E3E-ED43E99D24B9}" destId="{084DD655-AE40-467D-B878-BAA0DAE25BB0}" srcOrd="4" destOrd="0" presId="urn:microsoft.com/office/officeart/2018/2/layout/IconLabelList"/>
    <dgm:cxn modelId="{B14ACEA6-53DC-43CE-9857-ED5AC441C040}" type="presParOf" srcId="{084DD655-AE40-467D-B878-BAA0DAE25BB0}" destId="{96F57EF6-9AF2-4C6E-BFB8-380EF8916F3B}" srcOrd="0" destOrd="0" presId="urn:microsoft.com/office/officeart/2018/2/layout/IconLabelList"/>
    <dgm:cxn modelId="{7FE66E61-4EDF-4A5A-8FCF-66815D244817}" type="presParOf" srcId="{084DD655-AE40-467D-B878-BAA0DAE25BB0}" destId="{E36F6B3A-C2DA-44E4-8A84-03A66099B15F}" srcOrd="1" destOrd="0" presId="urn:microsoft.com/office/officeart/2018/2/layout/IconLabelList"/>
    <dgm:cxn modelId="{8B8026E1-FB7E-437D-B484-BFFF66E431DA}" type="presParOf" srcId="{084DD655-AE40-467D-B878-BAA0DAE25BB0}" destId="{DACFD560-B3EA-469E-A6EF-33161D1CA92E}" srcOrd="2" destOrd="0" presId="urn:microsoft.com/office/officeart/2018/2/layout/IconLabelList"/>
    <dgm:cxn modelId="{78A48D01-F0EF-4E51-9543-E803399EEEB7}" type="presParOf" srcId="{99F0045D-01C4-4A10-8E3E-ED43E99D24B9}" destId="{CE44953B-14BC-4EBC-BEC4-862E7EAA7064}" srcOrd="5" destOrd="0" presId="urn:microsoft.com/office/officeart/2018/2/layout/IconLabelList"/>
    <dgm:cxn modelId="{2BB1F913-CC7B-472C-BAC2-4ACE3739E4A2}" type="presParOf" srcId="{99F0045D-01C4-4A10-8E3E-ED43E99D24B9}" destId="{18286AE8-A66D-486A-B6DA-0CB95DF28FC2}" srcOrd="6" destOrd="0" presId="urn:microsoft.com/office/officeart/2018/2/layout/IconLabelList"/>
    <dgm:cxn modelId="{A2D918EF-142F-45F4-B8F5-15FF0961286A}" type="presParOf" srcId="{18286AE8-A66D-486A-B6DA-0CB95DF28FC2}" destId="{BC1242DF-4F6A-443E-BB90-4C5FB612C751}" srcOrd="0" destOrd="0" presId="urn:microsoft.com/office/officeart/2018/2/layout/IconLabelList"/>
    <dgm:cxn modelId="{7BA43890-D58C-43F7-A618-419A642FD5FD}" type="presParOf" srcId="{18286AE8-A66D-486A-B6DA-0CB95DF28FC2}" destId="{3955A63C-1732-4F36-A91A-697CB18F37EA}" srcOrd="1" destOrd="0" presId="urn:microsoft.com/office/officeart/2018/2/layout/IconLabelList"/>
    <dgm:cxn modelId="{5202CB13-E381-4C04-971C-628C61DC05BB}" type="presParOf" srcId="{18286AE8-A66D-486A-B6DA-0CB95DF28FC2}" destId="{DB3565EF-01F0-4C17-B9DB-874F74AAE44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2B3694-D1DD-4EE1-B47B-EFFEC7EDB0A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DE52AE-1D22-4784-A8CC-84EC5D73130D}">
      <dgm:prSet/>
      <dgm:spPr>
        <a:xfrm>
          <a:off x="696809" y="2832"/>
          <a:ext cx="3217965" cy="603298"/>
        </a:xfrm>
        <a:prstGeom prst="rect">
          <a:avLst/>
        </a:prstGeom>
        <a:noFill/>
        <a:ln>
          <a:noFill/>
        </a:ln>
        <a:effectLst/>
      </dgm:spPr>
      <dgm:t>
        <a:bodyPr/>
        <a:lstStyle/>
        <a:p>
          <a:pPr>
            <a:lnSpc>
              <a:spcPct val="100000"/>
            </a:lnSpc>
            <a:buNone/>
          </a:pPr>
          <a:r>
            <a:rPr lang="en-GB" baseline="0" dirty="0">
              <a:solidFill>
                <a:srgbClr val="FFFFFF"/>
              </a:solidFill>
              <a:latin typeface="Arial" panose="020B0604020202020204"/>
              <a:ea typeface="+mn-ea"/>
              <a:cs typeface="+mn-cs"/>
            </a:rPr>
            <a:t>Subscription Democratization</a:t>
          </a:r>
          <a:endParaRPr lang="en-US" dirty="0">
            <a:solidFill>
              <a:srgbClr val="FFFFFF"/>
            </a:solidFill>
            <a:latin typeface="Arial" panose="020B0604020202020204"/>
            <a:ea typeface="+mn-ea"/>
            <a:cs typeface="+mn-cs"/>
          </a:endParaRPr>
        </a:p>
      </dgm:t>
    </dgm:pt>
    <dgm:pt modelId="{326E8C2D-FA30-4B57-A743-B654837C8C3D}" type="parTrans" cxnId="{234FF479-7261-4BA9-98DE-9246ED83E27F}">
      <dgm:prSet/>
      <dgm:spPr/>
      <dgm:t>
        <a:bodyPr/>
        <a:lstStyle/>
        <a:p>
          <a:endParaRPr lang="en-US"/>
        </a:p>
      </dgm:t>
    </dgm:pt>
    <dgm:pt modelId="{0910813C-59E3-4B73-A8C1-8D42AB67D0FC}" type="sibTrans" cxnId="{234FF479-7261-4BA9-98DE-9246ED83E27F}">
      <dgm:prSet/>
      <dgm:spPr/>
      <dgm:t>
        <a:bodyPr/>
        <a:lstStyle/>
        <a:p>
          <a:endParaRPr lang="en-US"/>
        </a:p>
      </dgm:t>
    </dgm:pt>
    <dgm:pt modelId="{4AC920C4-EEFB-4687-BF70-3E24BC780F59}">
      <dgm:prSet/>
      <dgm:spPr>
        <a:xfrm>
          <a:off x="696809" y="756955"/>
          <a:ext cx="3217965" cy="603298"/>
        </a:xfrm>
        <a:prstGeom prst="rect">
          <a:avLst/>
        </a:prstGeom>
        <a:noFill/>
        <a:ln>
          <a:noFill/>
        </a:ln>
        <a:effectLst/>
      </dgm:spPr>
      <dgm:t>
        <a:bodyPr/>
        <a:lstStyle/>
        <a:p>
          <a:pPr>
            <a:lnSpc>
              <a:spcPct val="100000"/>
            </a:lnSpc>
            <a:buNone/>
          </a:pPr>
          <a:r>
            <a:rPr lang="en-GB" baseline="0" dirty="0">
              <a:solidFill>
                <a:srgbClr val="FFFFFF"/>
              </a:solidFill>
              <a:latin typeface="Arial" panose="020B0604020202020204"/>
              <a:ea typeface="+mn-ea"/>
              <a:cs typeface="+mn-cs"/>
            </a:rPr>
            <a:t>Policy Driven Governance</a:t>
          </a:r>
          <a:endParaRPr lang="en-US" dirty="0">
            <a:solidFill>
              <a:srgbClr val="FFFFFF"/>
            </a:solidFill>
            <a:latin typeface="Arial" panose="020B0604020202020204"/>
            <a:ea typeface="+mn-ea"/>
            <a:cs typeface="+mn-cs"/>
          </a:endParaRPr>
        </a:p>
      </dgm:t>
    </dgm:pt>
    <dgm:pt modelId="{4FFE03E1-86ED-483A-BAA6-6B4EE83C8C5B}" type="parTrans" cxnId="{C39D6109-B873-4960-B2B5-A72B71B8E2B5}">
      <dgm:prSet/>
      <dgm:spPr/>
      <dgm:t>
        <a:bodyPr/>
        <a:lstStyle/>
        <a:p>
          <a:endParaRPr lang="en-US"/>
        </a:p>
      </dgm:t>
    </dgm:pt>
    <dgm:pt modelId="{8A0DA557-03D4-47F7-839B-9424955ADA78}" type="sibTrans" cxnId="{C39D6109-B873-4960-B2B5-A72B71B8E2B5}">
      <dgm:prSet/>
      <dgm:spPr/>
      <dgm:t>
        <a:bodyPr/>
        <a:lstStyle/>
        <a:p>
          <a:endParaRPr lang="en-US"/>
        </a:p>
      </dgm:t>
    </dgm:pt>
    <dgm:pt modelId="{143FA6F0-001A-4374-9F35-878F6758C03F}">
      <dgm:prSet/>
      <dgm:spPr>
        <a:xfrm>
          <a:off x="696809" y="1511077"/>
          <a:ext cx="3217965" cy="603298"/>
        </a:xfrm>
        <a:prstGeom prst="rect">
          <a:avLst/>
        </a:prstGeom>
        <a:noFill/>
        <a:ln>
          <a:noFill/>
        </a:ln>
        <a:effectLst/>
      </dgm:spPr>
      <dgm:t>
        <a:bodyPr/>
        <a:lstStyle/>
        <a:p>
          <a:pPr>
            <a:lnSpc>
              <a:spcPct val="100000"/>
            </a:lnSpc>
            <a:buNone/>
          </a:pPr>
          <a:r>
            <a:rPr lang="en-GB" baseline="0">
              <a:solidFill>
                <a:srgbClr val="FFFFFF"/>
              </a:solidFill>
              <a:latin typeface="Arial" panose="020B0604020202020204"/>
              <a:ea typeface="+mn-ea"/>
              <a:cs typeface="+mn-cs"/>
            </a:rPr>
            <a:t>Single Control and Management Plane</a:t>
          </a:r>
          <a:endParaRPr lang="en-US">
            <a:solidFill>
              <a:srgbClr val="FFFFFF"/>
            </a:solidFill>
            <a:latin typeface="Arial" panose="020B0604020202020204"/>
            <a:ea typeface="+mn-ea"/>
            <a:cs typeface="+mn-cs"/>
          </a:endParaRPr>
        </a:p>
      </dgm:t>
    </dgm:pt>
    <dgm:pt modelId="{5FB9C714-029C-478B-9807-59CE4E8FEB23}" type="parTrans" cxnId="{A965FBAB-2277-4A9C-AFFA-C2A6E5B937E8}">
      <dgm:prSet/>
      <dgm:spPr/>
      <dgm:t>
        <a:bodyPr/>
        <a:lstStyle/>
        <a:p>
          <a:endParaRPr lang="en-US"/>
        </a:p>
      </dgm:t>
    </dgm:pt>
    <dgm:pt modelId="{5C9B53C3-C852-444A-AF6A-ADA39BCB558C}" type="sibTrans" cxnId="{A965FBAB-2277-4A9C-AFFA-C2A6E5B937E8}">
      <dgm:prSet/>
      <dgm:spPr/>
      <dgm:t>
        <a:bodyPr/>
        <a:lstStyle/>
        <a:p>
          <a:endParaRPr lang="en-US"/>
        </a:p>
      </dgm:t>
    </dgm:pt>
    <dgm:pt modelId="{A82F75FA-BC81-473F-8AC1-7D6529EB5401}">
      <dgm:prSet/>
      <dgm:spPr>
        <a:xfrm>
          <a:off x="696809" y="2265200"/>
          <a:ext cx="3217965" cy="603298"/>
        </a:xfrm>
        <a:prstGeom prst="rect">
          <a:avLst/>
        </a:prstGeom>
        <a:noFill/>
        <a:ln>
          <a:noFill/>
        </a:ln>
        <a:effectLst/>
      </dgm:spPr>
      <dgm:t>
        <a:bodyPr/>
        <a:lstStyle/>
        <a:p>
          <a:pPr>
            <a:lnSpc>
              <a:spcPct val="100000"/>
            </a:lnSpc>
            <a:buNone/>
          </a:pPr>
          <a:r>
            <a:rPr lang="en-GB" baseline="0">
              <a:solidFill>
                <a:srgbClr val="FFFFFF"/>
              </a:solidFill>
              <a:latin typeface="Arial" panose="020B0604020202020204"/>
              <a:ea typeface="+mn-ea"/>
              <a:cs typeface="+mn-cs"/>
            </a:rPr>
            <a:t>Application Centric and Archetype-Neutral </a:t>
          </a:r>
          <a:endParaRPr lang="en-US">
            <a:solidFill>
              <a:srgbClr val="FFFFFF"/>
            </a:solidFill>
            <a:latin typeface="Arial" panose="020B0604020202020204"/>
            <a:ea typeface="+mn-ea"/>
            <a:cs typeface="+mn-cs"/>
          </a:endParaRPr>
        </a:p>
      </dgm:t>
    </dgm:pt>
    <dgm:pt modelId="{F9A177A8-5CBA-4E28-8EDF-838A735AFF37}" type="parTrans" cxnId="{2A19C78A-EA15-4E48-B460-8CC68BAEBC3C}">
      <dgm:prSet/>
      <dgm:spPr/>
      <dgm:t>
        <a:bodyPr/>
        <a:lstStyle/>
        <a:p>
          <a:endParaRPr lang="en-US"/>
        </a:p>
      </dgm:t>
    </dgm:pt>
    <dgm:pt modelId="{06FA89E2-6D33-4CDB-8074-D0CFC1D1C003}" type="sibTrans" cxnId="{2A19C78A-EA15-4E48-B460-8CC68BAEBC3C}">
      <dgm:prSet/>
      <dgm:spPr/>
      <dgm:t>
        <a:bodyPr/>
        <a:lstStyle/>
        <a:p>
          <a:endParaRPr lang="en-US"/>
        </a:p>
      </dgm:t>
    </dgm:pt>
    <dgm:pt modelId="{76FEDE56-0724-48EC-B8A5-CE2636DDED3A}">
      <dgm:prSet/>
      <dgm:spPr>
        <a:xfrm>
          <a:off x="696809" y="3019323"/>
          <a:ext cx="3217965" cy="603298"/>
        </a:xfrm>
        <a:prstGeom prst="rect">
          <a:avLst/>
        </a:prstGeom>
        <a:noFill/>
        <a:ln>
          <a:noFill/>
        </a:ln>
        <a:effectLst/>
      </dgm:spPr>
      <dgm:t>
        <a:bodyPr/>
        <a:lstStyle/>
        <a:p>
          <a:pPr>
            <a:lnSpc>
              <a:spcPct val="100000"/>
            </a:lnSpc>
            <a:buNone/>
          </a:pPr>
          <a:r>
            <a:rPr lang="en-GB" baseline="0" dirty="0">
              <a:solidFill>
                <a:srgbClr val="FFFFFF"/>
              </a:solidFill>
              <a:latin typeface="Arial" panose="020B0604020202020204"/>
              <a:ea typeface="+mn-ea"/>
              <a:cs typeface="+mn-cs"/>
            </a:rPr>
            <a:t>Azure Native Design and Platform Roadmap Alignment</a:t>
          </a:r>
          <a:endParaRPr lang="en-US" dirty="0">
            <a:solidFill>
              <a:srgbClr val="FFFFFF"/>
            </a:solidFill>
            <a:latin typeface="Arial" panose="020B0604020202020204"/>
            <a:ea typeface="+mn-ea"/>
            <a:cs typeface="+mn-cs"/>
          </a:endParaRPr>
        </a:p>
      </dgm:t>
    </dgm:pt>
    <dgm:pt modelId="{6F2D9017-1CD9-45F8-928D-BDDDD84B354D}" type="parTrans" cxnId="{09F40515-5599-410E-862C-40EF1F9B3E85}">
      <dgm:prSet/>
      <dgm:spPr/>
      <dgm:t>
        <a:bodyPr/>
        <a:lstStyle/>
        <a:p>
          <a:endParaRPr lang="en-US"/>
        </a:p>
      </dgm:t>
    </dgm:pt>
    <dgm:pt modelId="{C70EC7D9-23AF-4707-80FC-3C435B0D12DD}" type="sibTrans" cxnId="{09F40515-5599-410E-862C-40EF1F9B3E85}">
      <dgm:prSet/>
      <dgm:spPr/>
      <dgm:t>
        <a:bodyPr/>
        <a:lstStyle/>
        <a:p>
          <a:endParaRPr lang="en-US"/>
        </a:p>
      </dgm:t>
    </dgm:pt>
    <dgm:pt modelId="{9DC86312-8471-4595-81CC-E810C10CE363}" type="pres">
      <dgm:prSet presAssocID="{E72B3694-D1DD-4EE1-B47B-EFFEC7EDB0AA}" presName="root" presStyleCnt="0">
        <dgm:presLayoutVars>
          <dgm:dir/>
          <dgm:resizeHandles val="exact"/>
        </dgm:presLayoutVars>
      </dgm:prSet>
      <dgm:spPr/>
    </dgm:pt>
    <dgm:pt modelId="{738D436B-183F-44A6-B5AB-12F2D8B9804E}" type="pres">
      <dgm:prSet presAssocID="{FFDE52AE-1D22-4784-A8CC-84EC5D73130D}" presName="compNode" presStyleCnt="0"/>
      <dgm:spPr/>
    </dgm:pt>
    <dgm:pt modelId="{FBA1EFB4-1D21-47C7-A630-9ACE0C0BC95C}" type="pres">
      <dgm:prSet presAssocID="{FFDE52AE-1D22-4784-A8CC-84EC5D73130D}" presName="bgRect" presStyleLbl="bgShp" presStyleIdx="0" presStyleCnt="5" custLinFactNeighborX="299"/>
      <dgm:spPr>
        <a:xfrm>
          <a:off x="0" y="2832"/>
          <a:ext cx="3914775" cy="603298"/>
        </a:xfrm>
        <a:prstGeom prst="roundRect">
          <a:avLst>
            <a:gd name="adj" fmla="val 10000"/>
          </a:avLst>
        </a:prstGeom>
        <a:solidFill>
          <a:schemeClr val="accent2"/>
        </a:solidFill>
        <a:ln>
          <a:noFill/>
        </a:ln>
        <a:effectLst/>
      </dgm:spPr>
    </dgm:pt>
    <dgm:pt modelId="{51145009-1BA3-45CD-AFCD-EF9913C854E0}" type="pres">
      <dgm:prSet presAssocID="{FFDE52AE-1D22-4784-A8CC-84EC5D73130D}" presName="iconRect" presStyleLbl="node1" presStyleIdx="0" presStyleCnt="5"/>
      <dgm: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Syncing Cloud"/>
        </a:ext>
      </dgm:extLst>
    </dgm:pt>
    <dgm:pt modelId="{D2E5CEC3-2419-474D-859B-400EFB3F8702}" type="pres">
      <dgm:prSet presAssocID="{FFDE52AE-1D22-4784-A8CC-84EC5D73130D}" presName="spaceRect" presStyleCnt="0"/>
      <dgm:spPr/>
    </dgm:pt>
    <dgm:pt modelId="{154EC152-9BCD-4E93-93DE-AB93FEB2C8A8}" type="pres">
      <dgm:prSet presAssocID="{FFDE52AE-1D22-4784-A8CC-84EC5D73130D}" presName="parTx" presStyleLbl="revTx" presStyleIdx="0" presStyleCnt="5">
        <dgm:presLayoutVars>
          <dgm:chMax val="0"/>
          <dgm:chPref val="0"/>
        </dgm:presLayoutVars>
      </dgm:prSet>
      <dgm:spPr/>
    </dgm:pt>
    <dgm:pt modelId="{E204948E-D977-4B7B-BB66-1CC2BC1A72CE}" type="pres">
      <dgm:prSet presAssocID="{0910813C-59E3-4B73-A8C1-8D42AB67D0FC}" presName="sibTrans" presStyleCnt="0"/>
      <dgm:spPr/>
    </dgm:pt>
    <dgm:pt modelId="{B0BBD148-8D02-43B7-8FF2-78E4B4B2AF54}" type="pres">
      <dgm:prSet presAssocID="{4AC920C4-EEFB-4687-BF70-3E24BC780F59}" presName="compNode" presStyleCnt="0"/>
      <dgm:spPr/>
    </dgm:pt>
    <dgm:pt modelId="{841DA7F5-DBEC-48A2-8207-FA74CA80C581}" type="pres">
      <dgm:prSet presAssocID="{4AC920C4-EEFB-4687-BF70-3E24BC780F59}" presName="bgRect" presStyleLbl="bgShp" presStyleIdx="1" presStyleCnt="5"/>
      <dgm:spPr>
        <a:xfrm>
          <a:off x="0" y="756955"/>
          <a:ext cx="3914775" cy="603298"/>
        </a:xfrm>
        <a:prstGeom prst="roundRect">
          <a:avLst/>
        </a:prstGeom>
        <a:solidFill>
          <a:srgbClr val="7D716D">
            <a:lumMod val="40000"/>
            <a:lumOff val="60000"/>
          </a:srgbClr>
        </a:solidFill>
        <a:ln>
          <a:noFill/>
        </a:ln>
        <a:effectLst/>
      </dgm:spPr>
    </dgm:pt>
    <dgm:pt modelId="{B6CA4A77-9A1D-43CC-A4ED-0479197E21E7}" type="pres">
      <dgm:prSet presAssocID="{4AC920C4-EEFB-4687-BF70-3E24BC780F59}" presName="iconRect" presStyleLbl="node1" presStyleIdx="1" presStyleCnt="5"/>
      <dgm: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Meeting"/>
        </a:ext>
      </dgm:extLst>
    </dgm:pt>
    <dgm:pt modelId="{B8364E9D-7A4F-4566-A3F2-14268914112C}" type="pres">
      <dgm:prSet presAssocID="{4AC920C4-EEFB-4687-BF70-3E24BC780F59}" presName="spaceRect" presStyleCnt="0"/>
      <dgm:spPr/>
    </dgm:pt>
    <dgm:pt modelId="{8C45CCB6-2EA1-439C-933F-E64FE5909B0A}" type="pres">
      <dgm:prSet presAssocID="{4AC920C4-EEFB-4687-BF70-3E24BC780F59}" presName="parTx" presStyleLbl="revTx" presStyleIdx="1" presStyleCnt="5">
        <dgm:presLayoutVars>
          <dgm:chMax val="0"/>
          <dgm:chPref val="0"/>
        </dgm:presLayoutVars>
      </dgm:prSet>
      <dgm:spPr/>
    </dgm:pt>
    <dgm:pt modelId="{DD72BAAD-7850-4CFA-9A1A-4902E8AB18A4}" type="pres">
      <dgm:prSet presAssocID="{8A0DA557-03D4-47F7-839B-9424955ADA78}" presName="sibTrans" presStyleCnt="0"/>
      <dgm:spPr/>
    </dgm:pt>
    <dgm:pt modelId="{02966E9B-C56A-4A2C-89E7-1F63E93CD870}" type="pres">
      <dgm:prSet presAssocID="{143FA6F0-001A-4374-9F35-878F6758C03F}" presName="compNode" presStyleCnt="0"/>
      <dgm:spPr/>
    </dgm:pt>
    <dgm:pt modelId="{DC46849B-4671-441A-AE42-53F3115AF42C}" type="pres">
      <dgm:prSet presAssocID="{143FA6F0-001A-4374-9F35-878F6758C03F}" presName="bgRect" presStyleLbl="bgShp" presStyleIdx="2" presStyleCnt="5"/>
      <dgm:spPr>
        <a:xfrm>
          <a:off x="0" y="1511077"/>
          <a:ext cx="3914775" cy="603298"/>
        </a:xfrm>
        <a:prstGeom prst="roundRect">
          <a:avLst>
            <a:gd name="adj" fmla="val 10000"/>
          </a:avLst>
        </a:prstGeom>
        <a:solidFill>
          <a:srgbClr val="7D716D">
            <a:lumMod val="40000"/>
            <a:lumOff val="60000"/>
          </a:srgbClr>
        </a:solidFill>
        <a:ln>
          <a:noFill/>
        </a:ln>
        <a:effectLst/>
      </dgm:spPr>
    </dgm:pt>
    <dgm:pt modelId="{DF4DAF69-1CF3-4319-B01D-9DA860A3FAF8}" type="pres">
      <dgm:prSet presAssocID="{143FA6F0-001A-4374-9F35-878F6758C03F}" presName="iconRect" presStyleLbl="node1" presStyleIdx="2" presStyleCnt="5"/>
      <dgm: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Airplane"/>
        </a:ext>
      </dgm:extLst>
    </dgm:pt>
    <dgm:pt modelId="{3C32CCE5-4154-4641-8A55-7A571EEAAFBA}" type="pres">
      <dgm:prSet presAssocID="{143FA6F0-001A-4374-9F35-878F6758C03F}" presName="spaceRect" presStyleCnt="0"/>
      <dgm:spPr/>
    </dgm:pt>
    <dgm:pt modelId="{07674314-471B-49AF-8329-39732970D0BD}" type="pres">
      <dgm:prSet presAssocID="{143FA6F0-001A-4374-9F35-878F6758C03F}" presName="parTx" presStyleLbl="revTx" presStyleIdx="2" presStyleCnt="5">
        <dgm:presLayoutVars>
          <dgm:chMax val="0"/>
          <dgm:chPref val="0"/>
        </dgm:presLayoutVars>
      </dgm:prSet>
      <dgm:spPr/>
    </dgm:pt>
    <dgm:pt modelId="{00FE8F1F-63B8-4869-8C10-6D3B00EF642C}" type="pres">
      <dgm:prSet presAssocID="{5C9B53C3-C852-444A-AF6A-ADA39BCB558C}" presName="sibTrans" presStyleCnt="0"/>
      <dgm:spPr/>
    </dgm:pt>
    <dgm:pt modelId="{D0335B81-0D29-4396-A6A3-FB98F11EBE58}" type="pres">
      <dgm:prSet presAssocID="{A82F75FA-BC81-473F-8AC1-7D6529EB5401}" presName="compNode" presStyleCnt="0"/>
      <dgm:spPr/>
    </dgm:pt>
    <dgm:pt modelId="{3991FB7D-8E95-4461-8715-145F84D84788}" type="pres">
      <dgm:prSet presAssocID="{A82F75FA-BC81-473F-8AC1-7D6529EB5401}" presName="bgRect" presStyleLbl="bgShp" presStyleIdx="3" presStyleCnt="5"/>
      <dgm:spPr>
        <a:xfrm>
          <a:off x="0" y="2265200"/>
          <a:ext cx="3914775" cy="603298"/>
        </a:xfrm>
        <a:prstGeom prst="roundRect">
          <a:avLst>
            <a:gd name="adj" fmla="val 10000"/>
          </a:avLst>
        </a:prstGeom>
        <a:solidFill>
          <a:srgbClr val="7D716D">
            <a:lumMod val="40000"/>
            <a:lumOff val="60000"/>
          </a:srgbClr>
        </a:solidFill>
        <a:ln>
          <a:noFill/>
        </a:ln>
        <a:effectLst/>
      </dgm:spPr>
    </dgm:pt>
    <dgm:pt modelId="{F19F6C5F-588B-4C7B-A883-15F45617186C}" type="pres">
      <dgm:prSet presAssocID="{A82F75FA-BC81-473F-8AC1-7D6529EB5401}" presName="iconRect" presStyleLbl="node1" presStyleIdx="3" presStyleCnt="5"/>
      <dgm: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gm:spPr>
      <dgm:extLst>
        <a:ext uri="{E40237B7-FDA0-4F09-8148-C483321AD2D9}">
          <dgm14:cNvPr xmlns:dgm14="http://schemas.microsoft.com/office/drawing/2010/diagram" id="0" name="" descr="Box"/>
        </a:ext>
      </dgm:extLst>
    </dgm:pt>
    <dgm:pt modelId="{93831B17-60B1-487F-A4BA-7264D9C564C4}" type="pres">
      <dgm:prSet presAssocID="{A82F75FA-BC81-473F-8AC1-7D6529EB5401}" presName="spaceRect" presStyleCnt="0"/>
      <dgm:spPr/>
    </dgm:pt>
    <dgm:pt modelId="{E1016185-5A65-49F3-B45C-2DEB44B20D41}" type="pres">
      <dgm:prSet presAssocID="{A82F75FA-BC81-473F-8AC1-7D6529EB5401}" presName="parTx" presStyleLbl="revTx" presStyleIdx="3" presStyleCnt="5">
        <dgm:presLayoutVars>
          <dgm:chMax val="0"/>
          <dgm:chPref val="0"/>
        </dgm:presLayoutVars>
      </dgm:prSet>
      <dgm:spPr/>
    </dgm:pt>
    <dgm:pt modelId="{D7CF5F14-6C74-4AAC-9066-40674C5A40D6}" type="pres">
      <dgm:prSet presAssocID="{06FA89E2-6D33-4CDB-8074-D0CFC1D1C003}" presName="sibTrans" presStyleCnt="0"/>
      <dgm:spPr/>
    </dgm:pt>
    <dgm:pt modelId="{AFC0E0A4-4D9A-4F58-9430-14914CD833CB}" type="pres">
      <dgm:prSet presAssocID="{76FEDE56-0724-48EC-B8A5-CE2636DDED3A}" presName="compNode" presStyleCnt="0"/>
      <dgm:spPr/>
    </dgm:pt>
    <dgm:pt modelId="{2F66CAA5-C063-4817-A38F-3DE932897A47}" type="pres">
      <dgm:prSet presAssocID="{76FEDE56-0724-48EC-B8A5-CE2636DDED3A}" presName="bgRect" presStyleLbl="bgShp" presStyleIdx="4" presStyleCnt="5"/>
      <dgm:spPr>
        <a:xfrm>
          <a:off x="0" y="3019323"/>
          <a:ext cx="3914775" cy="603298"/>
        </a:xfrm>
        <a:prstGeom prst="roundRect">
          <a:avLst>
            <a:gd name="adj" fmla="val 10000"/>
          </a:avLst>
        </a:prstGeom>
        <a:solidFill>
          <a:srgbClr val="7D716D">
            <a:lumMod val="40000"/>
            <a:lumOff val="60000"/>
          </a:srgbClr>
        </a:solidFill>
        <a:ln>
          <a:noFill/>
        </a:ln>
        <a:effectLst/>
      </dgm:spPr>
    </dgm:pt>
    <dgm:pt modelId="{2A360208-127A-4D51-A423-56AB6D5AED5D}" type="pres">
      <dgm:prSet presAssocID="{76FEDE56-0724-48EC-B8A5-CE2636DDED3A}" presName="iconRect" presStyleLbl="node1" presStyleIdx="4" presStyleCnt="5"/>
      <dgm: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Checkmark"/>
        </a:ext>
      </dgm:extLst>
    </dgm:pt>
    <dgm:pt modelId="{388B6B73-4442-4282-830D-C05303C42A14}" type="pres">
      <dgm:prSet presAssocID="{76FEDE56-0724-48EC-B8A5-CE2636DDED3A}" presName="spaceRect" presStyleCnt="0"/>
      <dgm:spPr/>
    </dgm:pt>
    <dgm:pt modelId="{A53306D9-8CFF-4681-B489-4DA19301FBED}" type="pres">
      <dgm:prSet presAssocID="{76FEDE56-0724-48EC-B8A5-CE2636DDED3A}" presName="parTx" presStyleLbl="revTx" presStyleIdx="4" presStyleCnt="5">
        <dgm:presLayoutVars>
          <dgm:chMax val="0"/>
          <dgm:chPref val="0"/>
        </dgm:presLayoutVars>
      </dgm:prSet>
      <dgm:spPr/>
    </dgm:pt>
  </dgm:ptLst>
  <dgm:cxnLst>
    <dgm:cxn modelId="{C39D6109-B873-4960-B2B5-A72B71B8E2B5}" srcId="{E72B3694-D1DD-4EE1-B47B-EFFEC7EDB0AA}" destId="{4AC920C4-EEFB-4687-BF70-3E24BC780F59}" srcOrd="1" destOrd="0" parTransId="{4FFE03E1-86ED-483A-BAA6-6B4EE83C8C5B}" sibTransId="{8A0DA557-03D4-47F7-839B-9424955ADA78}"/>
    <dgm:cxn modelId="{09F40515-5599-410E-862C-40EF1F9B3E85}" srcId="{E72B3694-D1DD-4EE1-B47B-EFFEC7EDB0AA}" destId="{76FEDE56-0724-48EC-B8A5-CE2636DDED3A}" srcOrd="4" destOrd="0" parTransId="{6F2D9017-1CD9-45F8-928D-BDDDD84B354D}" sibTransId="{C70EC7D9-23AF-4707-80FC-3C435B0D12DD}"/>
    <dgm:cxn modelId="{6525101B-CA09-428C-A203-5C5C7321C253}" type="presOf" srcId="{143FA6F0-001A-4374-9F35-878F6758C03F}" destId="{07674314-471B-49AF-8329-39732970D0BD}" srcOrd="0" destOrd="0" presId="urn:microsoft.com/office/officeart/2018/2/layout/IconVerticalSolidList"/>
    <dgm:cxn modelId="{7A892322-26CA-4336-BC63-56B0858B226A}" type="presOf" srcId="{A82F75FA-BC81-473F-8AC1-7D6529EB5401}" destId="{E1016185-5A65-49F3-B45C-2DEB44B20D41}" srcOrd="0" destOrd="0" presId="urn:microsoft.com/office/officeart/2018/2/layout/IconVerticalSolidList"/>
    <dgm:cxn modelId="{D1D56830-02B0-4CD9-89DF-DB5316C97527}" type="presOf" srcId="{4AC920C4-EEFB-4687-BF70-3E24BC780F59}" destId="{8C45CCB6-2EA1-439C-933F-E64FE5909B0A}" srcOrd="0" destOrd="0" presId="urn:microsoft.com/office/officeart/2018/2/layout/IconVerticalSolidList"/>
    <dgm:cxn modelId="{234FF479-7261-4BA9-98DE-9246ED83E27F}" srcId="{E72B3694-D1DD-4EE1-B47B-EFFEC7EDB0AA}" destId="{FFDE52AE-1D22-4784-A8CC-84EC5D73130D}" srcOrd="0" destOrd="0" parTransId="{326E8C2D-FA30-4B57-A743-B654837C8C3D}" sibTransId="{0910813C-59E3-4B73-A8C1-8D42AB67D0FC}"/>
    <dgm:cxn modelId="{2A19C78A-EA15-4E48-B460-8CC68BAEBC3C}" srcId="{E72B3694-D1DD-4EE1-B47B-EFFEC7EDB0AA}" destId="{A82F75FA-BC81-473F-8AC1-7D6529EB5401}" srcOrd="3" destOrd="0" parTransId="{F9A177A8-5CBA-4E28-8EDF-838A735AFF37}" sibTransId="{06FA89E2-6D33-4CDB-8074-D0CFC1D1C003}"/>
    <dgm:cxn modelId="{A965FBAB-2277-4A9C-AFFA-C2A6E5B937E8}" srcId="{E72B3694-D1DD-4EE1-B47B-EFFEC7EDB0AA}" destId="{143FA6F0-001A-4374-9F35-878F6758C03F}" srcOrd="2" destOrd="0" parTransId="{5FB9C714-029C-478B-9807-59CE4E8FEB23}" sibTransId="{5C9B53C3-C852-444A-AF6A-ADA39BCB558C}"/>
    <dgm:cxn modelId="{6EC917B4-FC1B-4F1F-94F5-BDF38B238D88}" type="presOf" srcId="{E72B3694-D1DD-4EE1-B47B-EFFEC7EDB0AA}" destId="{9DC86312-8471-4595-81CC-E810C10CE363}" srcOrd="0" destOrd="0" presId="urn:microsoft.com/office/officeart/2018/2/layout/IconVerticalSolidList"/>
    <dgm:cxn modelId="{BC39CFE5-D9B1-4CF0-88ED-C6876D9126A0}" type="presOf" srcId="{76FEDE56-0724-48EC-B8A5-CE2636DDED3A}" destId="{A53306D9-8CFF-4681-B489-4DA19301FBED}" srcOrd="0" destOrd="0" presId="urn:microsoft.com/office/officeart/2018/2/layout/IconVerticalSolidList"/>
    <dgm:cxn modelId="{279596F6-A434-4EB6-AE71-803D3F9D0D7E}" type="presOf" srcId="{FFDE52AE-1D22-4784-A8CC-84EC5D73130D}" destId="{154EC152-9BCD-4E93-93DE-AB93FEB2C8A8}" srcOrd="0" destOrd="0" presId="urn:microsoft.com/office/officeart/2018/2/layout/IconVerticalSolidList"/>
    <dgm:cxn modelId="{C8641579-8B62-4336-B4D7-7679AD676DD2}" type="presParOf" srcId="{9DC86312-8471-4595-81CC-E810C10CE363}" destId="{738D436B-183F-44A6-B5AB-12F2D8B9804E}" srcOrd="0" destOrd="0" presId="urn:microsoft.com/office/officeart/2018/2/layout/IconVerticalSolidList"/>
    <dgm:cxn modelId="{1122927E-F496-4E89-B272-9CBE2160FAD5}" type="presParOf" srcId="{738D436B-183F-44A6-B5AB-12F2D8B9804E}" destId="{FBA1EFB4-1D21-47C7-A630-9ACE0C0BC95C}" srcOrd="0" destOrd="0" presId="urn:microsoft.com/office/officeart/2018/2/layout/IconVerticalSolidList"/>
    <dgm:cxn modelId="{9CEA9E3E-2E41-4F63-A77B-8C8FBD7510BE}" type="presParOf" srcId="{738D436B-183F-44A6-B5AB-12F2D8B9804E}" destId="{51145009-1BA3-45CD-AFCD-EF9913C854E0}" srcOrd="1" destOrd="0" presId="urn:microsoft.com/office/officeart/2018/2/layout/IconVerticalSolidList"/>
    <dgm:cxn modelId="{3F05A4E1-A690-4AD9-8701-2485127CCBA8}" type="presParOf" srcId="{738D436B-183F-44A6-B5AB-12F2D8B9804E}" destId="{D2E5CEC3-2419-474D-859B-400EFB3F8702}" srcOrd="2" destOrd="0" presId="urn:microsoft.com/office/officeart/2018/2/layout/IconVerticalSolidList"/>
    <dgm:cxn modelId="{91EF53F0-D25F-4813-9C4E-1009D72DC041}" type="presParOf" srcId="{738D436B-183F-44A6-B5AB-12F2D8B9804E}" destId="{154EC152-9BCD-4E93-93DE-AB93FEB2C8A8}" srcOrd="3" destOrd="0" presId="urn:microsoft.com/office/officeart/2018/2/layout/IconVerticalSolidList"/>
    <dgm:cxn modelId="{360036AD-CD16-459E-BA7E-516A11665A27}" type="presParOf" srcId="{9DC86312-8471-4595-81CC-E810C10CE363}" destId="{E204948E-D977-4B7B-BB66-1CC2BC1A72CE}" srcOrd="1" destOrd="0" presId="urn:microsoft.com/office/officeart/2018/2/layout/IconVerticalSolidList"/>
    <dgm:cxn modelId="{EDBF54D3-0E28-441E-AC54-BC253684436F}" type="presParOf" srcId="{9DC86312-8471-4595-81CC-E810C10CE363}" destId="{B0BBD148-8D02-43B7-8FF2-78E4B4B2AF54}" srcOrd="2" destOrd="0" presId="urn:microsoft.com/office/officeart/2018/2/layout/IconVerticalSolidList"/>
    <dgm:cxn modelId="{70B7F705-0021-446F-BA83-E9A633351315}" type="presParOf" srcId="{B0BBD148-8D02-43B7-8FF2-78E4B4B2AF54}" destId="{841DA7F5-DBEC-48A2-8207-FA74CA80C581}" srcOrd="0" destOrd="0" presId="urn:microsoft.com/office/officeart/2018/2/layout/IconVerticalSolidList"/>
    <dgm:cxn modelId="{1D0ADF95-795B-4CEC-B4F1-86334B48B4EF}" type="presParOf" srcId="{B0BBD148-8D02-43B7-8FF2-78E4B4B2AF54}" destId="{B6CA4A77-9A1D-43CC-A4ED-0479197E21E7}" srcOrd="1" destOrd="0" presId="urn:microsoft.com/office/officeart/2018/2/layout/IconVerticalSolidList"/>
    <dgm:cxn modelId="{40B97329-9DDF-452B-B0CD-FAEC04D00F6F}" type="presParOf" srcId="{B0BBD148-8D02-43B7-8FF2-78E4B4B2AF54}" destId="{B8364E9D-7A4F-4566-A3F2-14268914112C}" srcOrd="2" destOrd="0" presId="urn:microsoft.com/office/officeart/2018/2/layout/IconVerticalSolidList"/>
    <dgm:cxn modelId="{43389F73-26E6-4112-8235-081A69A814C4}" type="presParOf" srcId="{B0BBD148-8D02-43B7-8FF2-78E4B4B2AF54}" destId="{8C45CCB6-2EA1-439C-933F-E64FE5909B0A}" srcOrd="3" destOrd="0" presId="urn:microsoft.com/office/officeart/2018/2/layout/IconVerticalSolidList"/>
    <dgm:cxn modelId="{D3151F06-3A77-4615-9886-1C674674AFC3}" type="presParOf" srcId="{9DC86312-8471-4595-81CC-E810C10CE363}" destId="{DD72BAAD-7850-4CFA-9A1A-4902E8AB18A4}" srcOrd="3" destOrd="0" presId="urn:microsoft.com/office/officeart/2018/2/layout/IconVerticalSolidList"/>
    <dgm:cxn modelId="{76B5A225-4465-453C-AC2B-2DA46F22A227}" type="presParOf" srcId="{9DC86312-8471-4595-81CC-E810C10CE363}" destId="{02966E9B-C56A-4A2C-89E7-1F63E93CD870}" srcOrd="4" destOrd="0" presId="urn:microsoft.com/office/officeart/2018/2/layout/IconVerticalSolidList"/>
    <dgm:cxn modelId="{C117F138-BD34-4372-AE7C-CA4450DD17F4}" type="presParOf" srcId="{02966E9B-C56A-4A2C-89E7-1F63E93CD870}" destId="{DC46849B-4671-441A-AE42-53F3115AF42C}" srcOrd="0" destOrd="0" presId="urn:microsoft.com/office/officeart/2018/2/layout/IconVerticalSolidList"/>
    <dgm:cxn modelId="{B9601C6E-DB98-4389-A51C-98441C52392F}" type="presParOf" srcId="{02966E9B-C56A-4A2C-89E7-1F63E93CD870}" destId="{DF4DAF69-1CF3-4319-B01D-9DA860A3FAF8}" srcOrd="1" destOrd="0" presId="urn:microsoft.com/office/officeart/2018/2/layout/IconVerticalSolidList"/>
    <dgm:cxn modelId="{E4F7FBE5-9C37-4A9C-A122-496A991B0455}" type="presParOf" srcId="{02966E9B-C56A-4A2C-89E7-1F63E93CD870}" destId="{3C32CCE5-4154-4641-8A55-7A571EEAAFBA}" srcOrd="2" destOrd="0" presId="urn:microsoft.com/office/officeart/2018/2/layout/IconVerticalSolidList"/>
    <dgm:cxn modelId="{BEAF0FBE-C591-42DE-B12B-CACC05854176}" type="presParOf" srcId="{02966E9B-C56A-4A2C-89E7-1F63E93CD870}" destId="{07674314-471B-49AF-8329-39732970D0BD}" srcOrd="3" destOrd="0" presId="urn:microsoft.com/office/officeart/2018/2/layout/IconVerticalSolidList"/>
    <dgm:cxn modelId="{F8576172-5FBE-46F3-B327-6B6126C95498}" type="presParOf" srcId="{9DC86312-8471-4595-81CC-E810C10CE363}" destId="{00FE8F1F-63B8-4869-8C10-6D3B00EF642C}" srcOrd="5" destOrd="0" presId="urn:microsoft.com/office/officeart/2018/2/layout/IconVerticalSolidList"/>
    <dgm:cxn modelId="{9F96C3B1-3479-4B61-9BD0-A39A3C033396}" type="presParOf" srcId="{9DC86312-8471-4595-81CC-E810C10CE363}" destId="{D0335B81-0D29-4396-A6A3-FB98F11EBE58}" srcOrd="6" destOrd="0" presId="urn:microsoft.com/office/officeart/2018/2/layout/IconVerticalSolidList"/>
    <dgm:cxn modelId="{E06A77CB-444F-4E5C-A004-D2CA1C617F57}" type="presParOf" srcId="{D0335B81-0D29-4396-A6A3-FB98F11EBE58}" destId="{3991FB7D-8E95-4461-8715-145F84D84788}" srcOrd="0" destOrd="0" presId="urn:microsoft.com/office/officeart/2018/2/layout/IconVerticalSolidList"/>
    <dgm:cxn modelId="{6F77F174-C343-4E2F-A255-227F554F1414}" type="presParOf" srcId="{D0335B81-0D29-4396-A6A3-FB98F11EBE58}" destId="{F19F6C5F-588B-4C7B-A883-15F45617186C}" srcOrd="1" destOrd="0" presId="urn:microsoft.com/office/officeart/2018/2/layout/IconVerticalSolidList"/>
    <dgm:cxn modelId="{C41578C2-95D3-4E91-814B-F5E8BE53C62C}" type="presParOf" srcId="{D0335B81-0D29-4396-A6A3-FB98F11EBE58}" destId="{93831B17-60B1-487F-A4BA-7264D9C564C4}" srcOrd="2" destOrd="0" presId="urn:microsoft.com/office/officeart/2018/2/layout/IconVerticalSolidList"/>
    <dgm:cxn modelId="{DE30AF32-A0DE-4F44-9367-CBBE830FEA2E}" type="presParOf" srcId="{D0335B81-0D29-4396-A6A3-FB98F11EBE58}" destId="{E1016185-5A65-49F3-B45C-2DEB44B20D41}" srcOrd="3" destOrd="0" presId="urn:microsoft.com/office/officeart/2018/2/layout/IconVerticalSolidList"/>
    <dgm:cxn modelId="{FC9B01C0-F7D4-4C9D-89EB-80BAC8B93102}" type="presParOf" srcId="{9DC86312-8471-4595-81CC-E810C10CE363}" destId="{D7CF5F14-6C74-4AAC-9066-40674C5A40D6}" srcOrd="7" destOrd="0" presId="urn:microsoft.com/office/officeart/2018/2/layout/IconVerticalSolidList"/>
    <dgm:cxn modelId="{1920CE34-6A7B-4EE8-91A7-D9D18958DEDC}" type="presParOf" srcId="{9DC86312-8471-4595-81CC-E810C10CE363}" destId="{AFC0E0A4-4D9A-4F58-9430-14914CD833CB}" srcOrd="8" destOrd="0" presId="urn:microsoft.com/office/officeart/2018/2/layout/IconVerticalSolidList"/>
    <dgm:cxn modelId="{6F98B944-3731-42EA-AACB-185A71066E7E}" type="presParOf" srcId="{AFC0E0A4-4D9A-4F58-9430-14914CD833CB}" destId="{2F66CAA5-C063-4817-A38F-3DE932897A47}" srcOrd="0" destOrd="0" presId="urn:microsoft.com/office/officeart/2018/2/layout/IconVerticalSolidList"/>
    <dgm:cxn modelId="{0E254997-427F-4586-B761-CEEFC5CC8D6B}" type="presParOf" srcId="{AFC0E0A4-4D9A-4F58-9430-14914CD833CB}" destId="{2A360208-127A-4D51-A423-56AB6D5AED5D}" srcOrd="1" destOrd="0" presId="urn:microsoft.com/office/officeart/2018/2/layout/IconVerticalSolidList"/>
    <dgm:cxn modelId="{F24C0A0E-9A89-4367-835F-649E884A7EBE}" type="presParOf" srcId="{AFC0E0A4-4D9A-4F58-9430-14914CD833CB}" destId="{388B6B73-4442-4282-830D-C05303C42A14}" srcOrd="2" destOrd="0" presId="urn:microsoft.com/office/officeart/2018/2/layout/IconVerticalSolidList"/>
    <dgm:cxn modelId="{89AF6C26-BD0C-4079-B1FB-D94E1C109D46}" type="presParOf" srcId="{AFC0E0A4-4D9A-4F58-9430-14914CD833CB}" destId="{A53306D9-8CFF-4681-B489-4DA19301FB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E72B3694-D1DD-4EE1-B47B-EFFEC7EDB0A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DE52AE-1D22-4784-A8CC-84EC5D73130D}">
      <dgm:prSet/>
      <dgm:spPr>
        <a:xfrm>
          <a:off x="696809" y="2832"/>
          <a:ext cx="3217965" cy="603298"/>
        </a:xfrm>
        <a:prstGeom prst="rect">
          <a:avLst/>
        </a:prstGeom>
        <a:noFill/>
        <a:ln>
          <a:noFill/>
        </a:ln>
        <a:effectLst/>
      </dgm:spPr>
      <dgm:t>
        <a:bodyPr/>
        <a:lstStyle/>
        <a:p>
          <a:pPr>
            <a:lnSpc>
              <a:spcPct val="100000"/>
            </a:lnSpc>
            <a:buNone/>
          </a:pPr>
          <a:r>
            <a:rPr lang="en-GB" baseline="0" dirty="0">
              <a:solidFill>
                <a:srgbClr val="FFFFFF"/>
              </a:solidFill>
              <a:latin typeface="Arial" panose="020B0604020202020204"/>
              <a:ea typeface="+mn-ea"/>
              <a:cs typeface="+mn-cs"/>
            </a:rPr>
            <a:t>Subscription Democratisation</a:t>
          </a:r>
          <a:endParaRPr lang="en-US" dirty="0">
            <a:solidFill>
              <a:srgbClr val="FFFFFF"/>
            </a:solidFill>
            <a:latin typeface="Arial" panose="020B0604020202020204"/>
            <a:ea typeface="+mn-ea"/>
            <a:cs typeface="+mn-cs"/>
          </a:endParaRPr>
        </a:p>
      </dgm:t>
    </dgm:pt>
    <dgm:pt modelId="{326E8C2D-FA30-4B57-A743-B654837C8C3D}" type="parTrans" cxnId="{234FF479-7261-4BA9-98DE-9246ED83E27F}">
      <dgm:prSet/>
      <dgm:spPr/>
      <dgm:t>
        <a:bodyPr/>
        <a:lstStyle/>
        <a:p>
          <a:endParaRPr lang="en-US"/>
        </a:p>
      </dgm:t>
    </dgm:pt>
    <dgm:pt modelId="{0910813C-59E3-4B73-A8C1-8D42AB67D0FC}" type="sibTrans" cxnId="{234FF479-7261-4BA9-98DE-9246ED83E27F}">
      <dgm:prSet/>
      <dgm:spPr/>
      <dgm:t>
        <a:bodyPr/>
        <a:lstStyle/>
        <a:p>
          <a:endParaRPr lang="en-US"/>
        </a:p>
      </dgm:t>
    </dgm:pt>
    <dgm:pt modelId="{4AC920C4-EEFB-4687-BF70-3E24BC780F59}">
      <dgm:prSet/>
      <dgm:spPr>
        <a:xfrm>
          <a:off x="696809" y="756955"/>
          <a:ext cx="3217965" cy="603298"/>
        </a:xfrm>
        <a:prstGeom prst="rect">
          <a:avLst/>
        </a:prstGeom>
        <a:noFill/>
        <a:ln>
          <a:noFill/>
        </a:ln>
        <a:effectLst/>
      </dgm:spPr>
      <dgm:t>
        <a:bodyPr/>
        <a:lstStyle/>
        <a:p>
          <a:pPr>
            <a:lnSpc>
              <a:spcPct val="100000"/>
            </a:lnSpc>
            <a:buNone/>
          </a:pPr>
          <a:r>
            <a:rPr lang="en-GB" baseline="0">
              <a:solidFill>
                <a:srgbClr val="FFFFFF"/>
              </a:solidFill>
              <a:latin typeface="Arial" panose="020B0604020202020204"/>
              <a:ea typeface="+mn-ea"/>
              <a:cs typeface="+mn-cs"/>
            </a:rPr>
            <a:t>Policy Driven Governance</a:t>
          </a:r>
          <a:endParaRPr lang="en-US">
            <a:solidFill>
              <a:srgbClr val="FFFFFF"/>
            </a:solidFill>
            <a:latin typeface="Arial" panose="020B0604020202020204"/>
            <a:ea typeface="+mn-ea"/>
            <a:cs typeface="+mn-cs"/>
          </a:endParaRPr>
        </a:p>
      </dgm:t>
    </dgm:pt>
    <dgm:pt modelId="{4FFE03E1-86ED-483A-BAA6-6B4EE83C8C5B}" type="parTrans" cxnId="{C39D6109-B873-4960-B2B5-A72B71B8E2B5}">
      <dgm:prSet/>
      <dgm:spPr/>
      <dgm:t>
        <a:bodyPr/>
        <a:lstStyle/>
        <a:p>
          <a:endParaRPr lang="en-US"/>
        </a:p>
      </dgm:t>
    </dgm:pt>
    <dgm:pt modelId="{8A0DA557-03D4-47F7-839B-9424955ADA78}" type="sibTrans" cxnId="{C39D6109-B873-4960-B2B5-A72B71B8E2B5}">
      <dgm:prSet/>
      <dgm:spPr/>
      <dgm:t>
        <a:bodyPr/>
        <a:lstStyle/>
        <a:p>
          <a:endParaRPr lang="en-US"/>
        </a:p>
      </dgm:t>
    </dgm:pt>
    <dgm:pt modelId="{143FA6F0-001A-4374-9F35-878F6758C03F}">
      <dgm:prSet/>
      <dgm:spPr>
        <a:xfrm>
          <a:off x="696809" y="1511077"/>
          <a:ext cx="3217965" cy="603298"/>
        </a:xfrm>
        <a:prstGeom prst="rect">
          <a:avLst/>
        </a:prstGeom>
        <a:noFill/>
        <a:ln>
          <a:noFill/>
        </a:ln>
        <a:effectLst/>
      </dgm:spPr>
      <dgm:t>
        <a:bodyPr/>
        <a:lstStyle/>
        <a:p>
          <a:pPr>
            <a:lnSpc>
              <a:spcPct val="100000"/>
            </a:lnSpc>
            <a:buNone/>
          </a:pPr>
          <a:r>
            <a:rPr lang="en-GB" baseline="0">
              <a:solidFill>
                <a:srgbClr val="FFFFFF"/>
              </a:solidFill>
              <a:latin typeface="Arial" panose="020B0604020202020204"/>
              <a:ea typeface="+mn-ea"/>
              <a:cs typeface="+mn-cs"/>
            </a:rPr>
            <a:t>Single Control and Management Plane</a:t>
          </a:r>
          <a:endParaRPr lang="en-US">
            <a:solidFill>
              <a:srgbClr val="FFFFFF"/>
            </a:solidFill>
            <a:latin typeface="Arial" panose="020B0604020202020204"/>
            <a:ea typeface="+mn-ea"/>
            <a:cs typeface="+mn-cs"/>
          </a:endParaRPr>
        </a:p>
      </dgm:t>
    </dgm:pt>
    <dgm:pt modelId="{5FB9C714-029C-478B-9807-59CE4E8FEB23}" type="parTrans" cxnId="{A965FBAB-2277-4A9C-AFFA-C2A6E5B937E8}">
      <dgm:prSet/>
      <dgm:spPr/>
      <dgm:t>
        <a:bodyPr/>
        <a:lstStyle/>
        <a:p>
          <a:endParaRPr lang="en-US"/>
        </a:p>
      </dgm:t>
    </dgm:pt>
    <dgm:pt modelId="{5C9B53C3-C852-444A-AF6A-ADA39BCB558C}" type="sibTrans" cxnId="{A965FBAB-2277-4A9C-AFFA-C2A6E5B937E8}">
      <dgm:prSet/>
      <dgm:spPr/>
      <dgm:t>
        <a:bodyPr/>
        <a:lstStyle/>
        <a:p>
          <a:endParaRPr lang="en-US"/>
        </a:p>
      </dgm:t>
    </dgm:pt>
    <dgm:pt modelId="{A82F75FA-BC81-473F-8AC1-7D6529EB5401}">
      <dgm:prSet/>
      <dgm:spPr>
        <a:xfrm>
          <a:off x="696809" y="2265200"/>
          <a:ext cx="3217965" cy="603298"/>
        </a:xfrm>
        <a:prstGeom prst="rect">
          <a:avLst/>
        </a:prstGeom>
        <a:noFill/>
        <a:ln>
          <a:noFill/>
        </a:ln>
        <a:effectLst/>
      </dgm:spPr>
      <dgm:t>
        <a:bodyPr/>
        <a:lstStyle/>
        <a:p>
          <a:pPr>
            <a:lnSpc>
              <a:spcPct val="100000"/>
            </a:lnSpc>
            <a:buNone/>
          </a:pPr>
          <a:r>
            <a:rPr lang="en-GB" baseline="0">
              <a:solidFill>
                <a:srgbClr val="FFFFFF"/>
              </a:solidFill>
              <a:latin typeface="Arial" panose="020B0604020202020204"/>
              <a:ea typeface="+mn-ea"/>
              <a:cs typeface="+mn-cs"/>
            </a:rPr>
            <a:t>Application Centric and Archetype-Neutral </a:t>
          </a:r>
          <a:endParaRPr lang="en-US">
            <a:solidFill>
              <a:srgbClr val="FFFFFF"/>
            </a:solidFill>
            <a:latin typeface="Arial" panose="020B0604020202020204"/>
            <a:ea typeface="+mn-ea"/>
            <a:cs typeface="+mn-cs"/>
          </a:endParaRPr>
        </a:p>
      </dgm:t>
    </dgm:pt>
    <dgm:pt modelId="{F9A177A8-5CBA-4E28-8EDF-838A735AFF37}" type="parTrans" cxnId="{2A19C78A-EA15-4E48-B460-8CC68BAEBC3C}">
      <dgm:prSet/>
      <dgm:spPr/>
      <dgm:t>
        <a:bodyPr/>
        <a:lstStyle/>
        <a:p>
          <a:endParaRPr lang="en-US"/>
        </a:p>
      </dgm:t>
    </dgm:pt>
    <dgm:pt modelId="{06FA89E2-6D33-4CDB-8074-D0CFC1D1C003}" type="sibTrans" cxnId="{2A19C78A-EA15-4E48-B460-8CC68BAEBC3C}">
      <dgm:prSet/>
      <dgm:spPr/>
      <dgm:t>
        <a:bodyPr/>
        <a:lstStyle/>
        <a:p>
          <a:endParaRPr lang="en-US"/>
        </a:p>
      </dgm:t>
    </dgm:pt>
    <dgm:pt modelId="{76FEDE56-0724-48EC-B8A5-CE2636DDED3A}">
      <dgm:prSet/>
      <dgm:spPr>
        <a:xfrm>
          <a:off x="696809" y="3019323"/>
          <a:ext cx="3217965" cy="603298"/>
        </a:xfrm>
        <a:prstGeom prst="rect">
          <a:avLst/>
        </a:prstGeom>
        <a:noFill/>
        <a:ln>
          <a:noFill/>
        </a:ln>
        <a:effectLst/>
      </dgm:spPr>
      <dgm:t>
        <a:bodyPr/>
        <a:lstStyle/>
        <a:p>
          <a:pPr>
            <a:lnSpc>
              <a:spcPct val="100000"/>
            </a:lnSpc>
            <a:buNone/>
          </a:pPr>
          <a:r>
            <a:rPr lang="en-GB" baseline="0" dirty="0">
              <a:solidFill>
                <a:srgbClr val="FFFFFF"/>
              </a:solidFill>
              <a:latin typeface="Arial" panose="020B0604020202020204"/>
              <a:ea typeface="+mn-ea"/>
              <a:cs typeface="+mn-cs"/>
            </a:rPr>
            <a:t>Azure Native Design and Platform Roadmap Alignment</a:t>
          </a:r>
          <a:endParaRPr lang="en-US" dirty="0">
            <a:solidFill>
              <a:srgbClr val="FFFFFF"/>
            </a:solidFill>
            <a:latin typeface="Arial" panose="020B0604020202020204"/>
            <a:ea typeface="+mn-ea"/>
            <a:cs typeface="+mn-cs"/>
          </a:endParaRPr>
        </a:p>
      </dgm:t>
    </dgm:pt>
    <dgm:pt modelId="{6F2D9017-1CD9-45F8-928D-BDDDD84B354D}" type="parTrans" cxnId="{09F40515-5599-410E-862C-40EF1F9B3E85}">
      <dgm:prSet/>
      <dgm:spPr/>
      <dgm:t>
        <a:bodyPr/>
        <a:lstStyle/>
        <a:p>
          <a:endParaRPr lang="en-US"/>
        </a:p>
      </dgm:t>
    </dgm:pt>
    <dgm:pt modelId="{C70EC7D9-23AF-4707-80FC-3C435B0D12DD}" type="sibTrans" cxnId="{09F40515-5599-410E-862C-40EF1F9B3E85}">
      <dgm:prSet/>
      <dgm:spPr/>
      <dgm:t>
        <a:bodyPr/>
        <a:lstStyle/>
        <a:p>
          <a:endParaRPr lang="en-US"/>
        </a:p>
      </dgm:t>
    </dgm:pt>
    <dgm:pt modelId="{9DC86312-8471-4595-81CC-E810C10CE363}" type="pres">
      <dgm:prSet presAssocID="{E72B3694-D1DD-4EE1-B47B-EFFEC7EDB0AA}" presName="root" presStyleCnt="0">
        <dgm:presLayoutVars>
          <dgm:dir/>
          <dgm:resizeHandles val="exact"/>
        </dgm:presLayoutVars>
      </dgm:prSet>
      <dgm:spPr/>
    </dgm:pt>
    <dgm:pt modelId="{738D436B-183F-44A6-B5AB-12F2D8B9804E}" type="pres">
      <dgm:prSet presAssocID="{FFDE52AE-1D22-4784-A8CC-84EC5D73130D}" presName="compNode" presStyleCnt="0"/>
      <dgm:spPr/>
    </dgm:pt>
    <dgm:pt modelId="{FBA1EFB4-1D21-47C7-A630-9ACE0C0BC95C}" type="pres">
      <dgm:prSet presAssocID="{FFDE52AE-1D22-4784-A8CC-84EC5D73130D}" presName="bgRect" presStyleLbl="bgShp" presStyleIdx="0" presStyleCnt="5"/>
      <dgm:spPr>
        <a:xfrm>
          <a:off x="0" y="2832"/>
          <a:ext cx="3914775" cy="603298"/>
        </a:xfrm>
        <a:prstGeom prst="roundRect">
          <a:avLst>
            <a:gd name="adj" fmla="val 10000"/>
          </a:avLst>
        </a:prstGeom>
        <a:solidFill>
          <a:schemeClr val="bg2"/>
        </a:solidFill>
        <a:ln>
          <a:noFill/>
        </a:ln>
        <a:effectLst/>
      </dgm:spPr>
    </dgm:pt>
    <dgm:pt modelId="{51145009-1BA3-45CD-AFCD-EF9913C854E0}" type="pres">
      <dgm:prSet presAssocID="{FFDE52AE-1D22-4784-A8CC-84EC5D73130D}" presName="iconRect" presStyleLbl="node1" presStyleIdx="0" presStyleCnt="5"/>
      <dgm: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Syncing Cloud"/>
        </a:ext>
      </dgm:extLst>
    </dgm:pt>
    <dgm:pt modelId="{D2E5CEC3-2419-474D-859B-400EFB3F8702}" type="pres">
      <dgm:prSet presAssocID="{FFDE52AE-1D22-4784-A8CC-84EC5D73130D}" presName="spaceRect" presStyleCnt="0"/>
      <dgm:spPr/>
    </dgm:pt>
    <dgm:pt modelId="{154EC152-9BCD-4E93-93DE-AB93FEB2C8A8}" type="pres">
      <dgm:prSet presAssocID="{FFDE52AE-1D22-4784-A8CC-84EC5D73130D}" presName="parTx" presStyleLbl="revTx" presStyleIdx="0" presStyleCnt="5">
        <dgm:presLayoutVars>
          <dgm:chMax val="0"/>
          <dgm:chPref val="0"/>
        </dgm:presLayoutVars>
      </dgm:prSet>
      <dgm:spPr/>
    </dgm:pt>
    <dgm:pt modelId="{E204948E-D977-4B7B-BB66-1CC2BC1A72CE}" type="pres">
      <dgm:prSet presAssocID="{0910813C-59E3-4B73-A8C1-8D42AB67D0FC}" presName="sibTrans" presStyleCnt="0"/>
      <dgm:spPr/>
    </dgm:pt>
    <dgm:pt modelId="{B0BBD148-8D02-43B7-8FF2-78E4B4B2AF54}" type="pres">
      <dgm:prSet presAssocID="{4AC920C4-EEFB-4687-BF70-3E24BC780F59}" presName="compNode" presStyleCnt="0"/>
      <dgm:spPr/>
    </dgm:pt>
    <dgm:pt modelId="{841DA7F5-DBEC-48A2-8207-FA74CA80C581}" type="pres">
      <dgm:prSet presAssocID="{4AC920C4-EEFB-4687-BF70-3E24BC780F59}" presName="bgRect" presStyleLbl="bgShp" presStyleIdx="1" presStyleCnt="5"/>
      <dgm:spPr>
        <a:xfrm>
          <a:off x="0" y="756955"/>
          <a:ext cx="3914775" cy="603298"/>
        </a:xfrm>
        <a:prstGeom prst="roundRect">
          <a:avLst/>
        </a:prstGeom>
        <a:solidFill>
          <a:schemeClr val="accent2"/>
        </a:solidFill>
        <a:ln>
          <a:noFill/>
        </a:ln>
        <a:effectLst/>
      </dgm:spPr>
    </dgm:pt>
    <dgm:pt modelId="{B6CA4A77-9A1D-43CC-A4ED-0479197E21E7}" type="pres">
      <dgm:prSet presAssocID="{4AC920C4-EEFB-4687-BF70-3E24BC780F59}" presName="iconRect" presStyleLbl="node1" presStyleIdx="1" presStyleCnt="5"/>
      <dgm: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Meeting"/>
        </a:ext>
      </dgm:extLst>
    </dgm:pt>
    <dgm:pt modelId="{B8364E9D-7A4F-4566-A3F2-14268914112C}" type="pres">
      <dgm:prSet presAssocID="{4AC920C4-EEFB-4687-BF70-3E24BC780F59}" presName="spaceRect" presStyleCnt="0"/>
      <dgm:spPr/>
    </dgm:pt>
    <dgm:pt modelId="{8C45CCB6-2EA1-439C-933F-E64FE5909B0A}" type="pres">
      <dgm:prSet presAssocID="{4AC920C4-EEFB-4687-BF70-3E24BC780F59}" presName="parTx" presStyleLbl="revTx" presStyleIdx="1" presStyleCnt="5">
        <dgm:presLayoutVars>
          <dgm:chMax val="0"/>
          <dgm:chPref val="0"/>
        </dgm:presLayoutVars>
      </dgm:prSet>
      <dgm:spPr/>
    </dgm:pt>
    <dgm:pt modelId="{DD72BAAD-7850-4CFA-9A1A-4902E8AB18A4}" type="pres">
      <dgm:prSet presAssocID="{8A0DA557-03D4-47F7-839B-9424955ADA78}" presName="sibTrans" presStyleCnt="0"/>
      <dgm:spPr/>
    </dgm:pt>
    <dgm:pt modelId="{02966E9B-C56A-4A2C-89E7-1F63E93CD870}" type="pres">
      <dgm:prSet presAssocID="{143FA6F0-001A-4374-9F35-878F6758C03F}" presName="compNode" presStyleCnt="0"/>
      <dgm:spPr/>
    </dgm:pt>
    <dgm:pt modelId="{DC46849B-4671-441A-AE42-53F3115AF42C}" type="pres">
      <dgm:prSet presAssocID="{143FA6F0-001A-4374-9F35-878F6758C03F}" presName="bgRect" presStyleLbl="bgShp" presStyleIdx="2" presStyleCnt="5"/>
      <dgm:spPr>
        <a:xfrm>
          <a:off x="0" y="1511077"/>
          <a:ext cx="3914775" cy="603298"/>
        </a:xfrm>
        <a:prstGeom prst="roundRect">
          <a:avLst>
            <a:gd name="adj" fmla="val 10000"/>
          </a:avLst>
        </a:prstGeom>
        <a:solidFill>
          <a:srgbClr val="7D716D">
            <a:lumMod val="40000"/>
            <a:lumOff val="60000"/>
          </a:srgbClr>
        </a:solidFill>
        <a:ln>
          <a:noFill/>
        </a:ln>
        <a:effectLst/>
      </dgm:spPr>
    </dgm:pt>
    <dgm:pt modelId="{DF4DAF69-1CF3-4319-B01D-9DA860A3FAF8}" type="pres">
      <dgm:prSet presAssocID="{143FA6F0-001A-4374-9F35-878F6758C03F}" presName="iconRect" presStyleLbl="node1" presStyleIdx="2" presStyleCnt="5"/>
      <dgm: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Airplane"/>
        </a:ext>
      </dgm:extLst>
    </dgm:pt>
    <dgm:pt modelId="{3C32CCE5-4154-4641-8A55-7A571EEAAFBA}" type="pres">
      <dgm:prSet presAssocID="{143FA6F0-001A-4374-9F35-878F6758C03F}" presName="spaceRect" presStyleCnt="0"/>
      <dgm:spPr/>
    </dgm:pt>
    <dgm:pt modelId="{07674314-471B-49AF-8329-39732970D0BD}" type="pres">
      <dgm:prSet presAssocID="{143FA6F0-001A-4374-9F35-878F6758C03F}" presName="parTx" presStyleLbl="revTx" presStyleIdx="2" presStyleCnt="5">
        <dgm:presLayoutVars>
          <dgm:chMax val="0"/>
          <dgm:chPref val="0"/>
        </dgm:presLayoutVars>
      </dgm:prSet>
      <dgm:spPr/>
    </dgm:pt>
    <dgm:pt modelId="{00FE8F1F-63B8-4869-8C10-6D3B00EF642C}" type="pres">
      <dgm:prSet presAssocID="{5C9B53C3-C852-444A-AF6A-ADA39BCB558C}" presName="sibTrans" presStyleCnt="0"/>
      <dgm:spPr/>
    </dgm:pt>
    <dgm:pt modelId="{D0335B81-0D29-4396-A6A3-FB98F11EBE58}" type="pres">
      <dgm:prSet presAssocID="{A82F75FA-BC81-473F-8AC1-7D6529EB5401}" presName="compNode" presStyleCnt="0"/>
      <dgm:spPr/>
    </dgm:pt>
    <dgm:pt modelId="{3991FB7D-8E95-4461-8715-145F84D84788}" type="pres">
      <dgm:prSet presAssocID="{A82F75FA-BC81-473F-8AC1-7D6529EB5401}" presName="bgRect" presStyleLbl="bgShp" presStyleIdx="3" presStyleCnt="5"/>
      <dgm:spPr>
        <a:xfrm>
          <a:off x="0" y="2265200"/>
          <a:ext cx="3914775" cy="603298"/>
        </a:xfrm>
        <a:prstGeom prst="roundRect">
          <a:avLst>
            <a:gd name="adj" fmla="val 10000"/>
          </a:avLst>
        </a:prstGeom>
        <a:solidFill>
          <a:srgbClr val="7D716D">
            <a:lumMod val="40000"/>
            <a:lumOff val="60000"/>
          </a:srgbClr>
        </a:solidFill>
        <a:ln>
          <a:noFill/>
        </a:ln>
        <a:effectLst/>
      </dgm:spPr>
    </dgm:pt>
    <dgm:pt modelId="{F19F6C5F-588B-4C7B-A883-15F45617186C}" type="pres">
      <dgm:prSet presAssocID="{A82F75FA-BC81-473F-8AC1-7D6529EB5401}" presName="iconRect" presStyleLbl="node1" presStyleIdx="3" presStyleCnt="5"/>
      <dgm: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gm:spPr>
      <dgm:extLst>
        <a:ext uri="{E40237B7-FDA0-4F09-8148-C483321AD2D9}">
          <dgm14:cNvPr xmlns:dgm14="http://schemas.microsoft.com/office/drawing/2010/diagram" id="0" name="" descr="Box"/>
        </a:ext>
      </dgm:extLst>
    </dgm:pt>
    <dgm:pt modelId="{93831B17-60B1-487F-A4BA-7264D9C564C4}" type="pres">
      <dgm:prSet presAssocID="{A82F75FA-BC81-473F-8AC1-7D6529EB5401}" presName="spaceRect" presStyleCnt="0"/>
      <dgm:spPr/>
    </dgm:pt>
    <dgm:pt modelId="{E1016185-5A65-49F3-B45C-2DEB44B20D41}" type="pres">
      <dgm:prSet presAssocID="{A82F75FA-BC81-473F-8AC1-7D6529EB5401}" presName="parTx" presStyleLbl="revTx" presStyleIdx="3" presStyleCnt="5">
        <dgm:presLayoutVars>
          <dgm:chMax val="0"/>
          <dgm:chPref val="0"/>
        </dgm:presLayoutVars>
      </dgm:prSet>
      <dgm:spPr/>
    </dgm:pt>
    <dgm:pt modelId="{D7CF5F14-6C74-4AAC-9066-40674C5A40D6}" type="pres">
      <dgm:prSet presAssocID="{06FA89E2-6D33-4CDB-8074-D0CFC1D1C003}" presName="sibTrans" presStyleCnt="0"/>
      <dgm:spPr/>
    </dgm:pt>
    <dgm:pt modelId="{AFC0E0A4-4D9A-4F58-9430-14914CD833CB}" type="pres">
      <dgm:prSet presAssocID="{76FEDE56-0724-48EC-B8A5-CE2636DDED3A}" presName="compNode" presStyleCnt="0"/>
      <dgm:spPr/>
    </dgm:pt>
    <dgm:pt modelId="{2F66CAA5-C063-4817-A38F-3DE932897A47}" type="pres">
      <dgm:prSet presAssocID="{76FEDE56-0724-48EC-B8A5-CE2636DDED3A}" presName="bgRect" presStyleLbl="bgShp" presStyleIdx="4" presStyleCnt="5"/>
      <dgm:spPr>
        <a:xfrm>
          <a:off x="0" y="3019323"/>
          <a:ext cx="3914775" cy="603298"/>
        </a:xfrm>
        <a:prstGeom prst="roundRect">
          <a:avLst>
            <a:gd name="adj" fmla="val 10000"/>
          </a:avLst>
        </a:prstGeom>
        <a:solidFill>
          <a:srgbClr val="7D716D">
            <a:lumMod val="40000"/>
            <a:lumOff val="60000"/>
          </a:srgbClr>
        </a:solidFill>
        <a:ln>
          <a:noFill/>
        </a:ln>
        <a:effectLst/>
      </dgm:spPr>
    </dgm:pt>
    <dgm:pt modelId="{2A360208-127A-4D51-A423-56AB6D5AED5D}" type="pres">
      <dgm:prSet presAssocID="{76FEDE56-0724-48EC-B8A5-CE2636DDED3A}" presName="iconRect" presStyleLbl="node1" presStyleIdx="4" presStyleCnt="5"/>
      <dgm: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Checkmark"/>
        </a:ext>
      </dgm:extLst>
    </dgm:pt>
    <dgm:pt modelId="{388B6B73-4442-4282-830D-C05303C42A14}" type="pres">
      <dgm:prSet presAssocID="{76FEDE56-0724-48EC-B8A5-CE2636DDED3A}" presName="spaceRect" presStyleCnt="0"/>
      <dgm:spPr/>
    </dgm:pt>
    <dgm:pt modelId="{A53306D9-8CFF-4681-B489-4DA19301FBED}" type="pres">
      <dgm:prSet presAssocID="{76FEDE56-0724-48EC-B8A5-CE2636DDED3A}" presName="parTx" presStyleLbl="revTx" presStyleIdx="4" presStyleCnt="5">
        <dgm:presLayoutVars>
          <dgm:chMax val="0"/>
          <dgm:chPref val="0"/>
        </dgm:presLayoutVars>
      </dgm:prSet>
      <dgm:spPr/>
    </dgm:pt>
  </dgm:ptLst>
  <dgm:cxnLst>
    <dgm:cxn modelId="{C39D6109-B873-4960-B2B5-A72B71B8E2B5}" srcId="{E72B3694-D1DD-4EE1-B47B-EFFEC7EDB0AA}" destId="{4AC920C4-EEFB-4687-BF70-3E24BC780F59}" srcOrd="1" destOrd="0" parTransId="{4FFE03E1-86ED-483A-BAA6-6B4EE83C8C5B}" sibTransId="{8A0DA557-03D4-47F7-839B-9424955ADA78}"/>
    <dgm:cxn modelId="{09F40515-5599-410E-862C-40EF1F9B3E85}" srcId="{E72B3694-D1DD-4EE1-B47B-EFFEC7EDB0AA}" destId="{76FEDE56-0724-48EC-B8A5-CE2636DDED3A}" srcOrd="4" destOrd="0" parTransId="{6F2D9017-1CD9-45F8-928D-BDDDD84B354D}" sibTransId="{C70EC7D9-23AF-4707-80FC-3C435B0D12DD}"/>
    <dgm:cxn modelId="{6525101B-CA09-428C-A203-5C5C7321C253}" type="presOf" srcId="{143FA6F0-001A-4374-9F35-878F6758C03F}" destId="{07674314-471B-49AF-8329-39732970D0BD}" srcOrd="0" destOrd="0" presId="urn:microsoft.com/office/officeart/2018/2/layout/IconVerticalSolidList"/>
    <dgm:cxn modelId="{7A892322-26CA-4336-BC63-56B0858B226A}" type="presOf" srcId="{A82F75FA-BC81-473F-8AC1-7D6529EB5401}" destId="{E1016185-5A65-49F3-B45C-2DEB44B20D41}" srcOrd="0" destOrd="0" presId="urn:microsoft.com/office/officeart/2018/2/layout/IconVerticalSolidList"/>
    <dgm:cxn modelId="{D1D56830-02B0-4CD9-89DF-DB5316C97527}" type="presOf" srcId="{4AC920C4-EEFB-4687-BF70-3E24BC780F59}" destId="{8C45CCB6-2EA1-439C-933F-E64FE5909B0A}" srcOrd="0" destOrd="0" presId="urn:microsoft.com/office/officeart/2018/2/layout/IconVerticalSolidList"/>
    <dgm:cxn modelId="{234FF479-7261-4BA9-98DE-9246ED83E27F}" srcId="{E72B3694-D1DD-4EE1-B47B-EFFEC7EDB0AA}" destId="{FFDE52AE-1D22-4784-A8CC-84EC5D73130D}" srcOrd="0" destOrd="0" parTransId="{326E8C2D-FA30-4B57-A743-B654837C8C3D}" sibTransId="{0910813C-59E3-4B73-A8C1-8D42AB67D0FC}"/>
    <dgm:cxn modelId="{2A19C78A-EA15-4E48-B460-8CC68BAEBC3C}" srcId="{E72B3694-D1DD-4EE1-B47B-EFFEC7EDB0AA}" destId="{A82F75FA-BC81-473F-8AC1-7D6529EB5401}" srcOrd="3" destOrd="0" parTransId="{F9A177A8-5CBA-4E28-8EDF-838A735AFF37}" sibTransId="{06FA89E2-6D33-4CDB-8074-D0CFC1D1C003}"/>
    <dgm:cxn modelId="{A965FBAB-2277-4A9C-AFFA-C2A6E5B937E8}" srcId="{E72B3694-D1DD-4EE1-B47B-EFFEC7EDB0AA}" destId="{143FA6F0-001A-4374-9F35-878F6758C03F}" srcOrd="2" destOrd="0" parTransId="{5FB9C714-029C-478B-9807-59CE4E8FEB23}" sibTransId="{5C9B53C3-C852-444A-AF6A-ADA39BCB558C}"/>
    <dgm:cxn modelId="{6EC917B4-FC1B-4F1F-94F5-BDF38B238D88}" type="presOf" srcId="{E72B3694-D1DD-4EE1-B47B-EFFEC7EDB0AA}" destId="{9DC86312-8471-4595-81CC-E810C10CE363}" srcOrd="0" destOrd="0" presId="urn:microsoft.com/office/officeart/2018/2/layout/IconVerticalSolidList"/>
    <dgm:cxn modelId="{BC39CFE5-D9B1-4CF0-88ED-C6876D9126A0}" type="presOf" srcId="{76FEDE56-0724-48EC-B8A5-CE2636DDED3A}" destId="{A53306D9-8CFF-4681-B489-4DA19301FBED}" srcOrd="0" destOrd="0" presId="urn:microsoft.com/office/officeart/2018/2/layout/IconVerticalSolidList"/>
    <dgm:cxn modelId="{279596F6-A434-4EB6-AE71-803D3F9D0D7E}" type="presOf" srcId="{FFDE52AE-1D22-4784-A8CC-84EC5D73130D}" destId="{154EC152-9BCD-4E93-93DE-AB93FEB2C8A8}" srcOrd="0" destOrd="0" presId="urn:microsoft.com/office/officeart/2018/2/layout/IconVerticalSolidList"/>
    <dgm:cxn modelId="{C8641579-8B62-4336-B4D7-7679AD676DD2}" type="presParOf" srcId="{9DC86312-8471-4595-81CC-E810C10CE363}" destId="{738D436B-183F-44A6-B5AB-12F2D8B9804E}" srcOrd="0" destOrd="0" presId="urn:microsoft.com/office/officeart/2018/2/layout/IconVerticalSolidList"/>
    <dgm:cxn modelId="{1122927E-F496-4E89-B272-9CBE2160FAD5}" type="presParOf" srcId="{738D436B-183F-44A6-B5AB-12F2D8B9804E}" destId="{FBA1EFB4-1D21-47C7-A630-9ACE0C0BC95C}" srcOrd="0" destOrd="0" presId="urn:microsoft.com/office/officeart/2018/2/layout/IconVerticalSolidList"/>
    <dgm:cxn modelId="{9CEA9E3E-2E41-4F63-A77B-8C8FBD7510BE}" type="presParOf" srcId="{738D436B-183F-44A6-B5AB-12F2D8B9804E}" destId="{51145009-1BA3-45CD-AFCD-EF9913C854E0}" srcOrd="1" destOrd="0" presId="urn:microsoft.com/office/officeart/2018/2/layout/IconVerticalSolidList"/>
    <dgm:cxn modelId="{3F05A4E1-A690-4AD9-8701-2485127CCBA8}" type="presParOf" srcId="{738D436B-183F-44A6-B5AB-12F2D8B9804E}" destId="{D2E5CEC3-2419-474D-859B-400EFB3F8702}" srcOrd="2" destOrd="0" presId="urn:microsoft.com/office/officeart/2018/2/layout/IconVerticalSolidList"/>
    <dgm:cxn modelId="{91EF53F0-D25F-4813-9C4E-1009D72DC041}" type="presParOf" srcId="{738D436B-183F-44A6-B5AB-12F2D8B9804E}" destId="{154EC152-9BCD-4E93-93DE-AB93FEB2C8A8}" srcOrd="3" destOrd="0" presId="urn:microsoft.com/office/officeart/2018/2/layout/IconVerticalSolidList"/>
    <dgm:cxn modelId="{360036AD-CD16-459E-BA7E-516A11665A27}" type="presParOf" srcId="{9DC86312-8471-4595-81CC-E810C10CE363}" destId="{E204948E-D977-4B7B-BB66-1CC2BC1A72CE}" srcOrd="1" destOrd="0" presId="urn:microsoft.com/office/officeart/2018/2/layout/IconVerticalSolidList"/>
    <dgm:cxn modelId="{EDBF54D3-0E28-441E-AC54-BC253684436F}" type="presParOf" srcId="{9DC86312-8471-4595-81CC-E810C10CE363}" destId="{B0BBD148-8D02-43B7-8FF2-78E4B4B2AF54}" srcOrd="2" destOrd="0" presId="urn:microsoft.com/office/officeart/2018/2/layout/IconVerticalSolidList"/>
    <dgm:cxn modelId="{70B7F705-0021-446F-BA83-E9A633351315}" type="presParOf" srcId="{B0BBD148-8D02-43B7-8FF2-78E4B4B2AF54}" destId="{841DA7F5-DBEC-48A2-8207-FA74CA80C581}" srcOrd="0" destOrd="0" presId="urn:microsoft.com/office/officeart/2018/2/layout/IconVerticalSolidList"/>
    <dgm:cxn modelId="{1D0ADF95-795B-4CEC-B4F1-86334B48B4EF}" type="presParOf" srcId="{B0BBD148-8D02-43B7-8FF2-78E4B4B2AF54}" destId="{B6CA4A77-9A1D-43CC-A4ED-0479197E21E7}" srcOrd="1" destOrd="0" presId="urn:microsoft.com/office/officeart/2018/2/layout/IconVerticalSolidList"/>
    <dgm:cxn modelId="{40B97329-9DDF-452B-B0CD-FAEC04D00F6F}" type="presParOf" srcId="{B0BBD148-8D02-43B7-8FF2-78E4B4B2AF54}" destId="{B8364E9D-7A4F-4566-A3F2-14268914112C}" srcOrd="2" destOrd="0" presId="urn:microsoft.com/office/officeart/2018/2/layout/IconVerticalSolidList"/>
    <dgm:cxn modelId="{43389F73-26E6-4112-8235-081A69A814C4}" type="presParOf" srcId="{B0BBD148-8D02-43B7-8FF2-78E4B4B2AF54}" destId="{8C45CCB6-2EA1-439C-933F-E64FE5909B0A}" srcOrd="3" destOrd="0" presId="urn:microsoft.com/office/officeart/2018/2/layout/IconVerticalSolidList"/>
    <dgm:cxn modelId="{D3151F06-3A77-4615-9886-1C674674AFC3}" type="presParOf" srcId="{9DC86312-8471-4595-81CC-E810C10CE363}" destId="{DD72BAAD-7850-4CFA-9A1A-4902E8AB18A4}" srcOrd="3" destOrd="0" presId="urn:microsoft.com/office/officeart/2018/2/layout/IconVerticalSolidList"/>
    <dgm:cxn modelId="{76B5A225-4465-453C-AC2B-2DA46F22A227}" type="presParOf" srcId="{9DC86312-8471-4595-81CC-E810C10CE363}" destId="{02966E9B-C56A-4A2C-89E7-1F63E93CD870}" srcOrd="4" destOrd="0" presId="urn:microsoft.com/office/officeart/2018/2/layout/IconVerticalSolidList"/>
    <dgm:cxn modelId="{C117F138-BD34-4372-AE7C-CA4450DD17F4}" type="presParOf" srcId="{02966E9B-C56A-4A2C-89E7-1F63E93CD870}" destId="{DC46849B-4671-441A-AE42-53F3115AF42C}" srcOrd="0" destOrd="0" presId="urn:microsoft.com/office/officeart/2018/2/layout/IconVerticalSolidList"/>
    <dgm:cxn modelId="{B9601C6E-DB98-4389-A51C-98441C52392F}" type="presParOf" srcId="{02966E9B-C56A-4A2C-89E7-1F63E93CD870}" destId="{DF4DAF69-1CF3-4319-B01D-9DA860A3FAF8}" srcOrd="1" destOrd="0" presId="urn:microsoft.com/office/officeart/2018/2/layout/IconVerticalSolidList"/>
    <dgm:cxn modelId="{E4F7FBE5-9C37-4A9C-A122-496A991B0455}" type="presParOf" srcId="{02966E9B-C56A-4A2C-89E7-1F63E93CD870}" destId="{3C32CCE5-4154-4641-8A55-7A571EEAAFBA}" srcOrd="2" destOrd="0" presId="urn:microsoft.com/office/officeart/2018/2/layout/IconVerticalSolidList"/>
    <dgm:cxn modelId="{BEAF0FBE-C591-42DE-B12B-CACC05854176}" type="presParOf" srcId="{02966E9B-C56A-4A2C-89E7-1F63E93CD870}" destId="{07674314-471B-49AF-8329-39732970D0BD}" srcOrd="3" destOrd="0" presId="urn:microsoft.com/office/officeart/2018/2/layout/IconVerticalSolidList"/>
    <dgm:cxn modelId="{F8576172-5FBE-46F3-B327-6B6126C95498}" type="presParOf" srcId="{9DC86312-8471-4595-81CC-E810C10CE363}" destId="{00FE8F1F-63B8-4869-8C10-6D3B00EF642C}" srcOrd="5" destOrd="0" presId="urn:microsoft.com/office/officeart/2018/2/layout/IconVerticalSolidList"/>
    <dgm:cxn modelId="{9F96C3B1-3479-4B61-9BD0-A39A3C033396}" type="presParOf" srcId="{9DC86312-8471-4595-81CC-E810C10CE363}" destId="{D0335B81-0D29-4396-A6A3-FB98F11EBE58}" srcOrd="6" destOrd="0" presId="urn:microsoft.com/office/officeart/2018/2/layout/IconVerticalSolidList"/>
    <dgm:cxn modelId="{E06A77CB-444F-4E5C-A004-D2CA1C617F57}" type="presParOf" srcId="{D0335B81-0D29-4396-A6A3-FB98F11EBE58}" destId="{3991FB7D-8E95-4461-8715-145F84D84788}" srcOrd="0" destOrd="0" presId="urn:microsoft.com/office/officeart/2018/2/layout/IconVerticalSolidList"/>
    <dgm:cxn modelId="{6F77F174-C343-4E2F-A255-227F554F1414}" type="presParOf" srcId="{D0335B81-0D29-4396-A6A3-FB98F11EBE58}" destId="{F19F6C5F-588B-4C7B-A883-15F45617186C}" srcOrd="1" destOrd="0" presId="urn:microsoft.com/office/officeart/2018/2/layout/IconVerticalSolidList"/>
    <dgm:cxn modelId="{C41578C2-95D3-4E91-814B-F5E8BE53C62C}" type="presParOf" srcId="{D0335B81-0D29-4396-A6A3-FB98F11EBE58}" destId="{93831B17-60B1-487F-A4BA-7264D9C564C4}" srcOrd="2" destOrd="0" presId="urn:microsoft.com/office/officeart/2018/2/layout/IconVerticalSolidList"/>
    <dgm:cxn modelId="{DE30AF32-A0DE-4F44-9367-CBBE830FEA2E}" type="presParOf" srcId="{D0335B81-0D29-4396-A6A3-FB98F11EBE58}" destId="{E1016185-5A65-49F3-B45C-2DEB44B20D41}" srcOrd="3" destOrd="0" presId="urn:microsoft.com/office/officeart/2018/2/layout/IconVerticalSolidList"/>
    <dgm:cxn modelId="{FC9B01C0-F7D4-4C9D-89EB-80BAC8B93102}" type="presParOf" srcId="{9DC86312-8471-4595-81CC-E810C10CE363}" destId="{D7CF5F14-6C74-4AAC-9066-40674C5A40D6}" srcOrd="7" destOrd="0" presId="urn:microsoft.com/office/officeart/2018/2/layout/IconVerticalSolidList"/>
    <dgm:cxn modelId="{1920CE34-6A7B-4EE8-91A7-D9D18958DEDC}" type="presParOf" srcId="{9DC86312-8471-4595-81CC-E810C10CE363}" destId="{AFC0E0A4-4D9A-4F58-9430-14914CD833CB}" srcOrd="8" destOrd="0" presId="urn:microsoft.com/office/officeart/2018/2/layout/IconVerticalSolidList"/>
    <dgm:cxn modelId="{6F98B944-3731-42EA-AACB-185A71066E7E}" type="presParOf" srcId="{AFC0E0A4-4D9A-4F58-9430-14914CD833CB}" destId="{2F66CAA5-C063-4817-A38F-3DE932897A47}" srcOrd="0" destOrd="0" presId="urn:microsoft.com/office/officeart/2018/2/layout/IconVerticalSolidList"/>
    <dgm:cxn modelId="{0E254997-427F-4586-B761-CEEFC5CC8D6B}" type="presParOf" srcId="{AFC0E0A4-4D9A-4F58-9430-14914CD833CB}" destId="{2A360208-127A-4D51-A423-56AB6D5AED5D}" srcOrd="1" destOrd="0" presId="urn:microsoft.com/office/officeart/2018/2/layout/IconVerticalSolidList"/>
    <dgm:cxn modelId="{F24C0A0E-9A89-4367-835F-649E884A7EBE}" type="presParOf" srcId="{AFC0E0A4-4D9A-4F58-9430-14914CD833CB}" destId="{388B6B73-4442-4282-830D-C05303C42A14}" srcOrd="2" destOrd="0" presId="urn:microsoft.com/office/officeart/2018/2/layout/IconVerticalSolidList"/>
    <dgm:cxn modelId="{89AF6C26-BD0C-4079-B1FB-D94E1C109D46}" type="presParOf" srcId="{AFC0E0A4-4D9A-4F58-9430-14914CD833CB}" destId="{A53306D9-8CFF-4681-B489-4DA19301FB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E72B3694-D1DD-4EE1-B47B-EFFEC7EDB0A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DE52AE-1D22-4784-A8CC-84EC5D73130D}">
      <dgm:prSet/>
      <dgm:spPr/>
      <dgm:t>
        <a:bodyPr/>
        <a:lstStyle/>
        <a:p>
          <a:pPr>
            <a:lnSpc>
              <a:spcPct val="100000"/>
            </a:lnSpc>
          </a:pPr>
          <a:r>
            <a:rPr lang="en-GB" baseline="0" dirty="0">
              <a:solidFill>
                <a:schemeClr val="bg1"/>
              </a:solidFill>
            </a:rPr>
            <a:t>Subscription Democratisation</a:t>
          </a:r>
          <a:endParaRPr lang="en-US" dirty="0">
            <a:solidFill>
              <a:schemeClr val="bg1"/>
            </a:solidFill>
          </a:endParaRPr>
        </a:p>
      </dgm:t>
    </dgm:pt>
    <dgm:pt modelId="{326E8C2D-FA30-4B57-A743-B654837C8C3D}" type="parTrans" cxnId="{234FF479-7261-4BA9-98DE-9246ED83E27F}">
      <dgm:prSet/>
      <dgm:spPr/>
      <dgm:t>
        <a:bodyPr/>
        <a:lstStyle/>
        <a:p>
          <a:endParaRPr lang="en-US"/>
        </a:p>
      </dgm:t>
    </dgm:pt>
    <dgm:pt modelId="{0910813C-59E3-4B73-A8C1-8D42AB67D0FC}" type="sibTrans" cxnId="{234FF479-7261-4BA9-98DE-9246ED83E27F}">
      <dgm:prSet/>
      <dgm:spPr/>
      <dgm:t>
        <a:bodyPr/>
        <a:lstStyle/>
        <a:p>
          <a:endParaRPr lang="en-US"/>
        </a:p>
      </dgm:t>
    </dgm:pt>
    <dgm:pt modelId="{4AC920C4-EEFB-4687-BF70-3E24BC780F59}">
      <dgm:prSet/>
      <dgm:spPr>
        <a:noFill/>
      </dgm:spPr>
      <dgm:t>
        <a:bodyPr/>
        <a:lstStyle/>
        <a:p>
          <a:pPr>
            <a:lnSpc>
              <a:spcPct val="100000"/>
            </a:lnSpc>
          </a:pPr>
          <a:r>
            <a:rPr lang="en-GB" baseline="0">
              <a:solidFill>
                <a:schemeClr val="bg1"/>
              </a:solidFill>
            </a:rPr>
            <a:t>Policy Driven Governance</a:t>
          </a:r>
          <a:endParaRPr lang="en-US">
            <a:solidFill>
              <a:schemeClr val="bg1"/>
            </a:solidFill>
          </a:endParaRPr>
        </a:p>
      </dgm:t>
    </dgm:pt>
    <dgm:pt modelId="{4FFE03E1-86ED-483A-BAA6-6B4EE83C8C5B}" type="parTrans" cxnId="{C39D6109-B873-4960-B2B5-A72B71B8E2B5}">
      <dgm:prSet/>
      <dgm:spPr/>
      <dgm:t>
        <a:bodyPr/>
        <a:lstStyle/>
        <a:p>
          <a:endParaRPr lang="en-US"/>
        </a:p>
      </dgm:t>
    </dgm:pt>
    <dgm:pt modelId="{8A0DA557-03D4-47F7-839B-9424955ADA78}" type="sibTrans" cxnId="{C39D6109-B873-4960-B2B5-A72B71B8E2B5}">
      <dgm:prSet/>
      <dgm:spPr/>
      <dgm:t>
        <a:bodyPr/>
        <a:lstStyle/>
        <a:p>
          <a:endParaRPr lang="en-US"/>
        </a:p>
      </dgm:t>
    </dgm:pt>
    <dgm:pt modelId="{143FA6F0-001A-4374-9F35-878F6758C03F}">
      <dgm:prSet/>
      <dgm:spPr/>
      <dgm:t>
        <a:bodyPr/>
        <a:lstStyle/>
        <a:p>
          <a:pPr>
            <a:lnSpc>
              <a:spcPct val="100000"/>
            </a:lnSpc>
          </a:pPr>
          <a:r>
            <a:rPr lang="en-GB" baseline="0">
              <a:solidFill>
                <a:schemeClr val="bg1"/>
              </a:solidFill>
            </a:rPr>
            <a:t>Single Control and Management Plane</a:t>
          </a:r>
          <a:endParaRPr lang="en-US">
            <a:solidFill>
              <a:schemeClr val="bg1"/>
            </a:solidFill>
          </a:endParaRPr>
        </a:p>
      </dgm:t>
    </dgm:pt>
    <dgm:pt modelId="{5FB9C714-029C-478B-9807-59CE4E8FEB23}" type="parTrans" cxnId="{A965FBAB-2277-4A9C-AFFA-C2A6E5B937E8}">
      <dgm:prSet/>
      <dgm:spPr/>
      <dgm:t>
        <a:bodyPr/>
        <a:lstStyle/>
        <a:p>
          <a:endParaRPr lang="en-US"/>
        </a:p>
      </dgm:t>
    </dgm:pt>
    <dgm:pt modelId="{5C9B53C3-C852-444A-AF6A-ADA39BCB558C}" type="sibTrans" cxnId="{A965FBAB-2277-4A9C-AFFA-C2A6E5B937E8}">
      <dgm:prSet/>
      <dgm:spPr/>
      <dgm:t>
        <a:bodyPr/>
        <a:lstStyle/>
        <a:p>
          <a:endParaRPr lang="en-US"/>
        </a:p>
      </dgm:t>
    </dgm:pt>
    <dgm:pt modelId="{A82F75FA-BC81-473F-8AC1-7D6529EB5401}">
      <dgm:prSet/>
      <dgm:spPr/>
      <dgm:t>
        <a:bodyPr/>
        <a:lstStyle/>
        <a:p>
          <a:pPr>
            <a:lnSpc>
              <a:spcPct val="100000"/>
            </a:lnSpc>
          </a:pPr>
          <a:r>
            <a:rPr lang="en-GB" baseline="0" dirty="0">
              <a:solidFill>
                <a:schemeClr val="bg1"/>
              </a:solidFill>
            </a:rPr>
            <a:t>Application Centric and Archetype-Neutral </a:t>
          </a:r>
          <a:endParaRPr lang="en-US" dirty="0">
            <a:solidFill>
              <a:schemeClr val="bg1"/>
            </a:solidFill>
          </a:endParaRPr>
        </a:p>
      </dgm:t>
    </dgm:pt>
    <dgm:pt modelId="{F9A177A8-5CBA-4E28-8EDF-838A735AFF37}" type="parTrans" cxnId="{2A19C78A-EA15-4E48-B460-8CC68BAEBC3C}">
      <dgm:prSet/>
      <dgm:spPr/>
      <dgm:t>
        <a:bodyPr/>
        <a:lstStyle/>
        <a:p>
          <a:endParaRPr lang="en-US"/>
        </a:p>
      </dgm:t>
    </dgm:pt>
    <dgm:pt modelId="{06FA89E2-6D33-4CDB-8074-D0CFC1D1C003}" type="sibTrans" cxnId="{2A19C78A-EA15-4E48-B460-8CC68BAEBC3C}">
      <dgm:prSet/>
      <dgm:spPr/>
      <dgm:t>
        <a:bodyPr/>
        <a:lstStyle/>
        <a:p>
          <a:endParaRPr lang="en-US"/>
        </a:p>
      </dgm:t>
    </dgm:pt>
    <dgm:pt modelId="{76FEDE56-0724-48EC-B8A5-CE2636DDED3A}">
      <dgm:prSet/>
      <dgm:spPr/>
      <dgm:t>
        <a:bodyPr/>
        <a:lstStyle/>
        <a:p>
          <a:pPr>
            <a:lnSpc>
              <a:spcPct val="100000"/>
            </a:lnSpc>
          </a:pPr>
          <a:r>
            <a:rPr lang="en-GB" baseline="0" dirty="0">
              <a:solidFill>
                <a:schemeClr val="bg1"/>
              </a:solidFill>
            </a:rPr>
            <a:t>Azure Native Design and Platform Roadmap Alignment</a:t>
          </a:r>
          <a:endParaRPr lang="en-US" dirty="0">
            <a:solidFill>
              <a:schemeClr val="bg1"/>
            </a:solidFill>
          </a:endParaRPr>
        </a:p>
      </dgm:t>
    </dgm:pt>
    <dgm:pt modelId="{6F2D9017-1CD9-45F8-928D-BDDDD84B354D}" type="parTrans" cxnId="{09F40515-5599-410E-862C-40EF1F9B3E85}">
      <dgm:prSet/>
      <dgm:spPr/>
      <dgm:t>
        <a:bodyPr/>
        <a:lstStyle/>
        <a:p>
          <a:endParaRPr lang="en-US"/>
        </a:p>
      </dgm:t>
    </dgm:pt>
    <dgm:pt modelId="{C70EC7D9-23AF-4707-80FC-3C435B0D12DD}" type="sibTrans" cxnId="{09F40515-5599-410E-862C-40EF1F9B3E85}">
      <dgm:prSet/>
      <dgm:spPr/>
      <dgm:t>
        <a:bodyPr/>
        <a:lstStyle/>
        <a:p>
          <a:endParaRPr lang="en-US"/>
        </a:p>
      </dgm:t>
    </dgm:pt>
    <dgm:pt modelId="{9DC86312-8471-4595-81CC-E810C10CE363}" type="pres">
      <dgm:prSet presAssocID="{E72B3694-D1DD-4EE1-B47B-EFFEC7EDB0AA}" presName="root" presStyleCnt="0">
        <dgm:presLayoutVars>
          <dgm:dir/>
          <dgm:resizeHandles val="exact"/>
        </dgm:presLayoutVars>
      </dgm:prSet>
      <dgm:spPr/>
    </dgm:pt>
    <dgm:pt modelId="{738D436B-183F-44A6-B5AB-12F2D8B9804E}" type="pres">
      <dgm:prSet presAssocID="{FFDE52AE-1D22-4784-A8CC-84EC5D73130D}" presName="compNode" presStyleCnt="0"/>
      <dgm:spPr/>
    </dgm:pt>
    <dgm:pt modelId="{FBA1EFB4-1D21-47C7-A630-9ACE0C0BC95C}" type="pres">
      <dgm:prSet presAssocID="{FFDE52AE-1D22-4784-A8CC-84EC5D73130D}" presName="bgRect" presStyleLbl="bgShp" presStyleIdx="0" presStyleCnt="5"/>
      <dgm:spPr>
        <a:solidFill>
          <a:schemeClr val="bg2"/>
        </a:solidFill>
      </dgm:spPr>
    </dgm:pt>
    <dgm:pt modelId="{51145009-1BA3-45CD-AFCD-EF9913C854E0}" type="pres">
      <dgm:prSet presAssocID="{FFDE52AE-1D22-4784-A8CC-84EC5D73130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D2E5CEC3-2419-474D-859B-400EFB3F8702}" type="pres">
      <dgm:prSet presAssocID="{FFDE52AE-1D22-4784-A8CC-84EC5D73130D}" presName="spaceRect" presStyleCnt="0"/>
      <dgm:spPr/>
    </dgm:pt>
    <dgm:pt modelId="{154EC152-9BCD-4E93-93DE-AB93FEB2C8A8}" type="pres">
      <dgm:prSet presAssocID="{FFDE52AE-1D22-4784-A8CC-84EC5D73130D}" presName="parTx" presStyleLbl="revTx" presStyleIdx="0" presStyleCnt="5">
        <dgm:presLayoutVars>
          <dgm:chMax val="0"/>
          <dgm:chPref val="0"/>
        </dgm:presLayoutVars>
      </dgm:prSet>
      <dgm:spPr/>
    </dgm:pt>
    <dgm:pt modelId="{E204948E-D977-4B7B-BB66-1CC2BC1A72CE}" type="pres">
      <dgm:prSet presAssocID="{0910813C-59E3-4B73-A8C1-8D42AB67D0FC}" presName="sibTrans" presStyleCnt="0"/>
      <dgm:spPr/>
    </dgm:pt>
    <dgm:pt modelId="{B0BBD148-8D02-43B7-8FF2-78E4B4B2AF54}" type="pres">
      <dgm:prSet presAssocID="{4AC920C4-EEFB-4687-BF70-3E24BC780F59}" presName="compNode" presStyleCnt="0"/>
      <dgm:spPr/>
    </dgm:pt>
    <dgm:pt modelId="{841DA7F5-DBEC-48A2-8207-FA74CA80C581}" type="pres">
      <dgm:prSet presAssocID="{4AC920C4-EEFB-4687-BF70-3E24BC780F59}" presName="bgRect" presStyleLbl="bgShp" presStyleIdx="1" presStyleCnt="5"/>
      <dgm:spPr>
        <a:prstGeom prst="roundRect">
          <a:avLst/>
        </a:prstGeom>
        <a:solidFill>
          <a:schemeClr val="bg2"/>
        </a:solidFill>
      </dgm:spPr>
    </dgm:pt>
    <dgm:pt modelId="{B6CA4A77-9A1D-43CC-A4ED-0479197E21E7}" type="pres">
      <dgm:prSet presAssocID="{4AC920C4-EEFB-4687-BF70-3E24BC780F5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B8364E9D-7A4F-4566-A3F2-14268914112C}" type="pres">
      <dgm:prSet presAssocID="{4AC920C4-EEFB-4687-BF70-3E24BC780F59}" presName="spaceRect" presStyleCnt="0"/>
      <dgm:spPr/>
    </dgm:pt>
    <dgm:pt modelId="{8C45CCB6-2EA1-439C-933F-E64FE5909B0A}" type="pres">
      <dgm:prSet presAssocID="{4AC920C4-EEFB-4687-BF70-3E24BC780F59}" presName="parTx" presStyleLbl="revTx" presStyleIdx="1" presStyleCnt="5">
        <dgm:presLayoutVars>
          <dgm:chMax val="0"/>
          <dgm:chPref val="0"/>
        </dgm:presLayoutVars>
      </dgm:prSet>
      <dgm:spPr/>
    </dgm:pt>
    <dgm:pt modelId="{DD72BAAD-7850-4CFA-9A1A-4902E8AB18A4}" type="pres">
      <dgm:prSet presAssocID="{8A0DA557-03D4-47F7-839B-9424955ADA78}" presName="sibTrans" presStyleCnt="0"/>
      <dgm:spPr/>
    </dgm:pt>
    <dgm:pt modelId="{02966E9B-C56A-4A2C-89E7-1F63E93CD870}" type="pres">
      <dgm:prSet presAssocID="{143FA6F0-001A-4374-9F35-878F6758C03F}" presName="compNode" presStyleCnt="0"/>
      <dgm:spPr/>
    </dgm:pt>
    <dgm:pt modelId="{DC46849B-4671-441A-AE42-53F3115AF42C}" type="pres">
      <dgm:prSet presAssocID="{143FA6F0-001A-4374-9F35-878F6758C03F}" presName="bgRect" presStyleLbl="bgShp" presStyleIdx="2" presStyleCnt="5"/>
      <dgm:spPr>
        <a:solidFill>
          <a:schemeClr val="accent2"/>
        </a:solidFill>
      </dgm:spPr>
    </dgm:pt>
    <dgm:pt modelId="{DF4DAF69-1CF3-4319-B01D-9DA860A3FAF8}" type="pres">
      <dgm:prSet presAssocID="{143FA6F0-001A-4374-9F35-878F6758C03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irplane"/>
        </a:ext>
      </dgm:extLst>
    </dgm:pt>
    <dgm:pt modelId="{3C32CCE5-4154-4641-8A55-7A571EEAAFBA}" type="pres">
      <dgm:prSet presAssocID="{143FA6F0-001A-4374-9F35-878F6758C03F}" presName="spaceRect" presStyleCnt="0"/>
      <dgm:spPr/>
    </dgm:pt>
    <dgm:pt modelId="{07674314-471B-49AF-8329-39732970D0BD}" type="pres">
      <dgm:prSet presAssocID="{143FA6F0-001A-4374-9F35-878F6758C03F}" presName="parTx" presStyleLbl="revTx" presStyleIdx="2" presStyleCnt="5">
        <dgm:presLayoutVars>
          <dgm:chMax val="0"/>
          <dgm:chPref val="0"/>
        </dgm:presLayoutVars>
      </dgm:prSet>
      <dgm:spPr/>
    </dgm:pt>
    <dgm:pt modelId="{00FE8F1F-63B8-4869-8C10-6D3B00EF642C}" type="pres">
      <dgm:prSet presAssocID="{5C9B53C3-C852-444A-AF6A-ADA39BCB558C}" presName="sibTrans" presStyleCnt="0"/>
      <dgm:spPr/>
    </dgm:pt>
    <dgm:pt modelId="{D0335B81-0D29-4396-A6A3-FB98F11EBE58}" type="pres">
      <dgm:prSet presAssocID="{A82F75FA-BC81-473F-8AC1-7D6529EB5401}" presName="compNode" presStyleCnt="0"/>
      <dgm:spPr/>
    </dgm:pt>
    <dgm:pt modelId="{3991FB7D-8E95-4461-8715-145F84D84788}" type="pres">
      <dgm:prSet presAssocID="{A82F75FA-BC81-473F-8AC1-7D6529EB5401}" presName="bgRect" presStyleLbl="bgShp" presStyleIdx="3" presStyleCnt="5"/>
      <dgm:spPr>
        <a:solidFill>
          <a:schemeClr val="bg2"/>
        </a:solidFill>
      </dgm:spPr>
    </dgm:pt>
    <dgm:pt modelId="{F19F6C5F-588B-4C7B-A883-15F45617186C}" type="pres">
      <dgm:prSet presAssocID="{A82F75FA-BC81-473F-8AC1-7D6529EB5401}"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ox"/>
        </a:ext>
      </dgm:extLst>
    </dgm:pt>
    <dgm:pt modelId="{93831B17-60B1-487F-A4BA-7264D9C564C4}" type="pres">
      <dgm:prSet presAssocID="{A82F75FA-BC81-473F-8AC1-7D6529EB5401}" presName="spaceRect" presStyleCnt="0"/>
      <dgm:spPr/>
    </dgm:pt>
    <dgm:pt modelId="{E1016185-5A65-49F3-B45C-2DEB44B20D41}" type="pres">
      <dgm:prSet presAssocID="{A82F75FA-BC81-473F-8AC1-7D6529EB5401}" presName="parTx" presStyleLbl="revTx" presStyleIdx="3" presStyleCnt="5">
        <dgm:presLayoutVars>
          <dgm:chMax val="0"/>
          <dgm:chPref val="0"/>
        </dgm:presLayoutVars>
      </dgm:prSet>
      <dgm:spPr/>
    </dgm:pt>
    <dgm:pt modelId="{D7CF5F14-6C74-4AAC-9066-40674C5A40D6}" type="pres">
      <dgm:prSet presAssocID="{06FA89E2-6D33-4CDB-8074-D0CFC1D1C003}" presName="sibTrans" presStyleCnt="0"/>
      <dgm:spPr/>
    </dgm:pt>
    <dgm:pt modelId="{AFC0E0A4-4D9A-4F58-9430-14914CD833CB}" type="pres">
      <dgm:prSet presAssocID="{76FEDE56-0724-48EC-B8A5-CE2636DDED3A}" presName="compNode" presStyleCnt="0"/>
      <dgm:spPr/>
    </dgm:pt>
    <dgm:pt modelId="{2F66CAA5-C063-4817-A38F-3DE932897A47}" type="pres">
      <dgm:prSet presAssocID="{76FEDE56-0724-48EC-B8A5-CE2636DDED3A}" presName="bgRect" presStyleLbl="bgShp" presStyleIdx="4" presStyleCnt="5"/>
      <dgm:spPr>
        <a:solidFill>
          <a:schemeClr val="bg2"/>
        </a:solidFill>
      </dgm:spPr>
    </dgm:pt>
    <dgm:pt modelId="{2A360208-127A-4D51-A423-56AB6D5AED5D}" type="pres">
      <dgm:prSet presAssocID="{76FEDE56-0724-48EC-B8A5-CE2636DDED3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388B6B73-4442-4282-830D-C05303C42A14}" type="pres">
      <dgm:prSet presAssocID="{76FEDE56-0724-48EC-B8A5-CE2636DDED3A}" presName="spaceRect" presStyleCnt="0"/>
      <dgm:spPr/>
    </dgm:pt>
    <dgm:pt modelId="{A53306D9-8CFF-4681-B489-4DA19301FBED}" type="pres">
      <dgm:prSet presAssocID="{76FEDE56-0724-48EC-B8A5-CE2636DDED3A}" presName="parTx" presStyleLbl="revTx" presStyleIdx="4" presStyleCnt="5">
        <dgm:presLayoutVars>
          <dgm:chMax val="0"/>
          <dgm:chPref val="0"/>
        </dgm:presLayoutVars>
      </dgm:prSet>
      <dgm:spPr/>
    </dgm:pt>
  </dgm:ptLst>
  <dgm:cxnLst>
    <dgm:cxn modelId="{C39D6109-B873-4960-B2B5-A72B71B8E2B5}" srcId="{E72B3694-D1DD-4EE1-B47B-EFFEC7EDB0AA}" destId="{4AC920C4-EEFB-4687-BF70-3E24BC780F59}" srcOrd="1" destOrd="0" parTransId="{4FFE03E1-86ED-483A-BAA6-6B4EE83C8C5B}" sibTransId="{8A0DA557-03D4-47F7-839B-9424955ADA78}"/>
    <dgm:cxn modelId="{09F40515-5599-410E-862C-40EF1F9B3E85}" srcId="{E72B3694-D1DD-4EE1-B47B-EFFEC7EDB0AA}" destId="{76FEDE56-0724-48EC-B8A5-CE2636DDED3A}" srcOrd="4" destOrd="0" parTransId="{6F2D9017-1CD9-45F8-928D-BDDDD84B354D}" sibTransId="{C70EC7D9-23AF-4707-80FC-3C435B0D12DD}"/>
    <dgm:cxn modelId="{6525101B-CA09-428C-A203-5C5C7321C253}" type="presOf" srcId="{143FA6F0-001A-4374-9F35-878F6758C03F}" destId="{07674314-471B-49AF-8329-39732970D0BD}" srcOrd="0" destOrd="0" presId="urn:microsoft.com/office/officeart/2018/2/layout/IconVerticalSolidList"/>
    <dgm:cxn modelId="{7A892322-26CA-4336-BC63-56B0858B226A}" type="presOf" srcId="{A82F75FA-BC81-473F-8AC1-7D6529EB5401}" destId="{E1016185-5A65-49F3-B45C-2DEB44B20D41}" srcOrd="0" destOrd="0" presId="urn:microsoft.com/office/officeart/2018/2/layout/IconVerticalSolidList"/>
    <dgm:cxn modelId="{D1D56830-02B0-4CD9-89DF-DB5316C97527}" type="presOf" srcId="{4AC920C4-EEFB-4687-BF70-3E24BC780F59}" destId="{8C45CCB6-2EA1-439C-933F-E64FE5909B0A}" srcOrd="0" destOrd="0" presId="urn:microsoft.com/office/officeart/2018/2/layout/IconVerticalSolidList"/>
    <dgm:cxn modelId="{234FF479-7261-4BA9-98DE-9246ED83E27F}" srcId="{E72B3694-D1DD-4EE1-B47B-EFFEC7EDB0AA}" destId="{FFDE52AE-1D22-4784-A8CC-84EC5D73130D}" srcOrd="0" destOrd="0" parTransId="{326E8C2D-FA30-4B57-A743-B654837C8C3D}" sibTransId="{0910813C-59E3-4B73-A8C1-8D42AB67D0FC}"/>
    <dgm:cxn modelId="{2A19C78A-EA15-4E48-B460-8CC68BAEBC3C}" srcId="{E72B3694-D1DD-4EE1-B47B-EFFEC7EDB0AA}" destId="{A82F75FA-BC81-473F-8AC1-7D6529EB5401}" srcOrd="3" destOrd="0" parTransId="{F9A177A8-5CBA-4E28-8EDF-838A735AFF37}" sibTransId="{06FA89E2-6D33-4CDB-8074-D0CFC1D1C003}"/>
    <dgm:cxn modelId="{A965FBAB-2277-4A9C-AFFA-C2A6E5B937E8}" srcId="{E72B3694-D1DD-4EE1-B47B-EFFEC7EDB0AA}" destId="{143FA6F0-001A-4374-9F35-878F6758C03F}" srcOrd="2" destOrd="0" parTransId="{5FB9C714-029C-478B-9807-59CE4E8FEB23}" sibTransId="{5C9B53C3-C852-444A-AF6A-ADA39BCB558C}"/>
    <dgm:cxn modelId="{6EC917B4-FC1B-4F1F-94F5-BDF38B238D88}" type="presOf" srcId="{E72B3694-D1DD-4EE1-B47B-EFFEC7EDB0AA}" destId="{9DC86312-8471-4595-81CC-E810C10CE363}" srcOrd="0" destOrd="0" presId="urn:microsoft.com/office/officeart/2018/2/layout/IconVerticalSolidList"/>
    <dgm:cxn modelId="{BC39CFE5-D9B1-4CF0-88ED-C6876D9126A0}" type="presOf" srcId="{76FEDE56-0724-48EC-B8A5-CE2636DDED3A}" destId="{A53306D9-8CFF-4681-B489-4DA19301FBED}" srcOrd="0" destOrd="0" presId="urn:microsoft.com/office/officeart/2018/2/layout/IconVerticalSolidList"/>
    <dgm:cxn modelId="{279596F6-A434-4EB6-AE71-803D3F9D0D7E}" type="presOf" srcId="{FFDE52AE-1D22-4784-A8CC-84EC5D73130D}" destId="{154EC152-9BCD-4E93-93DE-AB93FEB2C8A8}" srcOrd="0" destOrd="0" presId="urn:microsoft.com/office/officeart/2018/2/layout/IconVerticalSolidList"/>
    <dgm:cxn modelId="{C8641579-8B62-4336-B4D7-7679AD676DD2}" type="presParOf" srcId="{9DC86312-8471-4595-81CC-E810C10CE363}" destId="{738D436B-183F-44A6-B5AB-12F2D8B9804E}" srcOrd="0" destOrd="0" presId="urn:microsoft.com/office/officeart/2018/2/layout/IconVerticalSolidList"/>
    <dgm:cxn modelId="{1122927E-F496-4E89-B272-9CBE2160FAD5}" type="presParOf" srcId="{738D436B-183F-44A6-B5AB-12F2D8B9804E}" destId="{FBA1EFB4-1D21-47C7-A630-9ACE0C0BC95C}" srcOrd="0" destOrd="0" presId="urn:microsoft.com/office/officeart/2018/2/layout/IconVerticalSolidList"/>
    <dgm:cxn modelId="{9CEA9E3E-2E41-4F63-A77B-8C8FBD7510BE}" type="presParOf" srcId="{738D436B-183F-44A6-B5AB-12F2D8B9804E}" destId="{51145009-1BA3-45CD-AFCD-EF9913C854E0}" srcOrd="1" destOrd="0" presId="urn:microsoft.com/office/officeart/2018/2/layout/IconVerticalSolidList"/>
    <dgm:cxn modelId="{3F05A4E1-A690-4AD9-8701-2485127CCBA8}" type="presParOf" srcId="{738D436B-183F-44A6-B5AB-12F2D8B9804E}" destId="{D2E5CEC3-2419-474D-859B-400EFB3F8702}" srcOrd="2" destOrd="0" presId="urn:microsoft.com/office/officeart/2018/2/layout/IconVerticalSolidList"/>
    <dgm:cxn modelId="{91EF53F0-D25F-4813-9C4E-1009D72DC041}" type="presParOf" srcId="{738D436B-183F-44A6-B5AB-12F2D8B9804E}" destId="{154EC152-9BCD-4E93-93DE-AB93FEB2C8A8}" srcOrd="3" destOrd="0" presId="urn:microsoft.com/office/officeart/2018/2/layout/IconVerticalSolidList"/>
    <dgm:cxn modelId="{360036AD-CD16-459E-BA7E-516A11665A27}" type="presParOf" srcId="{9DC86312-8471-4595-81CC-E810C10CE363}" destId="{E204948E-D977-4B7B-BB66-1CC2BC1A72CE}" srcOrd="1" destOrd="0" presId="urn:microsoft.com/office/officeart/2018/2/layout/IconVerticalSolidList"/>
    <dgm:cxn modelId="{EDBF54D3-0E28-441E-AC54-BC253684436F}" type="presParOf" srcId="{9DC86312-8471-4595-81CC-E810C10CE363}" destId="{B0BBD148-8D02-43B7-8FF2-78E4B4B2AF54}" srcOrd="2" destOrd="0" presId="urn:microsoft.com/office/officeart/2018/2/layout/IconVerticalSolidList"/>
    <dgm:cxn modelId="{70B7F705-0021-446F-BA83-E9A633351315}" type="presParOf" srcId="{B0BBD148-8D02-43B7-8FF2-78E4B4B2AF54}" destId="{841DA7F5-DBEC-48A2-8207-FA74CA80C581}" srcOrd="0" destOrd="0" presId="urn:microsoft.com/office/officeart/2018/2/layout/IconVerticalSolidList"/>
    <dgm:cxn modelId="{1D0ADF95-795B-4CEC-B4F1-86334B48B4EF}" type="presParOf" srcId="{B0BBD148-8D02-43B7-8FF2-78E4B4B2AF54}" destId="{B6CA4A77-9A1D-43CC-A4ED-0479197E21E7}" srcOrd="1" destOrd="0" presId="urn:microsoft.com/office/officeart/2018/2/layout/IconVerticalSolidList"/>
    <dgm:cxn modelId="{40B97329-9DDF-452B-B0CD-FAEC04D00F6F}" type="presParOf" srcId="{B0BBD148-8D02-43B7-8FF2-78E4B4B2AF54}" destId="{B8364E9D-7A4F-4566-A3F2-14268914112C}" srcOrd="2" destOrd="0" presId="urn:microsoft.com/office/officeart/2018/2/layout/IconVerticalSolidList"/>
    <dgm:cxn modelId="{43389F73-26E6-4112-8235-081A69A814C4}" type="presParOf" srcId="{B0BBD148-8D02-43B7-8FF2-78E4B4B2AF54}" destId="{8C45CCB6-2EA1-439C-933F-E64FE5909B0A}" srcOrd="3" destOrd="0" presId="urn:microsoft.com/office/officeart/2018/2/layout/IconVerticalSolidList"/>
    <dgm:cxn modelId="{D3151F06-3A77-4615-9886-1C674674AFC3}" type="presParOf" srcId="{9DC86312-8471-4595-81CC-E810C10CE363}" destId="{DD72BAAD-7850-4CFA-9A1A-4902E8AB18A4}" srcOrd="3" destOrd="0" presId="urn:microsoft.com/office/officeart/2018/2/layout/IconVerticalSolidList"/>
    <dgm:cxn modelId="{76B5A225-4465-453C-AC2B-2DA46F22A227}" type="presParOf" srcId="{9DC86312-8471-4595-81CC-E810C10CE363}" destId="{02966E9B-C56A-4A2C-89E7-1F63E93CD870}" srcOrd="4" destOrd="0" presId="urn:microsoft.com/office/officeart/2018/2/layout/IconVerticalSolidList"/>
    <dgm:cxn modelId="{C117F138-BD34-4372-AE7C-CA4450DD17F4}" type="presParOf" srcId="{02966E9B-C56A-4A2C-89E7-1F63E93CD870}" destId="{DC46849B-4671-441A-AE42-53F3115AF42C}" srcOrd="0" destOrd="0" presId="urn:microsoft.com/office/officeart/2018/2/layout/IconVerticalSolidList"/>
    <dgm:cxn modelId="{B9601C6E-DB98-4389-A51C-98441C52392F}" type="presParOf" srcId="{02966E9B-C56A-4A2C-89E7-1F63E93CD870}" destId="{DF4DAF69-1CF3-4319-B01D-9DA860A3FAF8}" srcOrd="1" destOrd="0" presId="urn:microsoft.com/office/officeart/2018/2/layout/IconVerticalSolidList"/>
    <dgm:cxn modelId="{E4F7FBE5-9C37-4A9C-A122-496A991B0455}" type="presParOf" srcId="{02966E9B-C56A-4A2C-89E7-1F63E93CD870}" destId="{3C32CCE5-4154-4641-8A55-7A571EEAAFBA}" srcOrd="2" destOrd="0" presId="urn:microsoft.com/office/officeart/2018/2/layout/IconVerticalSolidList"/>
    <dgm:cxn modelId="{BEAF0FBE-C591-42DE-B12B-CACC05854176}" type="presParOf" srcId="{02966E9B-C56A-4A2C-89E7-1F63E93CD870}" destId="{07674314-471B-49AF-8329-39732970D0BD}" srcOrd="3" destOrd="0" presId="urn:microsoft.com/office/officeart/2018/2/layout/IconVerticalSolidList"/>
    <dgm:cxn modelId="{F8576172-5FBE-46F3-B327-6B6126C95498}" type="presParOf" srcId="{9DC86312-8471-4595-81CC-E810C10CE363}" destId="{00FE8F1F-63B8-4869-8C10-6D3B00EF642C}" srcOrd="5" destOrd="0" presId="urn:microsoft.com/office/officeart/2018/2/layout/IconVerticalSolidList"/>
    <dgm:cxn modelId="{9F96C3B1-3479-4B61-9BD0-A39A3C033396}" type="presParOf" srcId="{9DC86312-8471-4595-81CC-E810C10CE363}" destId="{D0335B81-0D29-4396-A6A3-FB98F11EBE58}" srcOrd="6" destOrd="0" presId="urn:microsoft.com/office/officeart/2018/2/layout/IconVerticalSolidList"/>
    <dgm:cxn modelId="{E06A77CB-444F-4E5C-A004-D2CA1C617F57}" type="presParOf" srcId="{D0335B81-0D29-4396-A6A3-FB98F11EBE58}" destId="{3991FB7D-8E95-4461-8715-145F84D84788}" srcOrd="0" destOrd="0" presId="urn:microsoft.com/office/officeart/2018/2/layout/IconVerticalSolidList"/>
    <dgm:cxn modelId="{6F77F174-C343-4E2F-A255-227F554F1414}" type="presParOf" srcId="{D0335B81-0D29-4396-A6A3-FB98F11EBE58}" destId="{F19F6C5F-588B-4C7B-A883-15F45617186C}" srcOrd="1" destOrd="0" presId="urn:microsoft.com/office/officeart/2018/2/layout/IconVerticalSolidList"/>
    <dgm:cxn modelId="{C41578C2-95D3-4E91-814B-F5E8BE53C62C}" type="presParOf" srcId="{D0335B81-0D29-4396-A6A3-FB98F11EBE58}" destId="{93831B17-60B1-487F-A4BA-7264D9C564C4}" srcOrd="2" destOrd="0" presId="urn:microsoft.com/office/officeart/2018/2/layout/IconVerticalSolidList"/>
    <dgm:cxn modelId="{DE30AF32-A0DE-4F44-9367-CBBE830FEA2E}" type="presParOf" srcId="{D0335B81-0D29-4396-A6A3-FB98F11EBE58}" destId="{E1016185-5A65-49F3-B45C-2DEB44B20D41}" srcOrd="3" destOrd="0" presId="urn:microsoft.com/office/officeart/2018/2/layout/IconVerticalSolidList"/>
    <dgm:cxn modelId="{FC9B01C0-F7D4-4C9D-89EB-80BAC8B93102}" type="presParOf" srcId="{9DC86312-8471-4595-81CC-E810C10CE363}" destId="{D7CF5F14-6C74-4AAC-9066-40674C5A40D6}" srcOrd="7" destOrd="0" presId="urn:microsoft.com/office/officeart/2018/2/layout/IconVerticalSolidList"/>
    <dgm:cxn modelId="{1920CE34-6A7B-4EE8-91A7-D9D18958DEDC}" type="presParOf" srcId="{9DC86312-8471-4595-81CC-E810C10CE363}" destId="{AFC0E0A4-4D9A-4F58-9430-14914CD833CB}" srcOrd="8" destOrd="0" presId="urn:microsoft.com/office/officeart/2018/2/layout/IconVerticalSolidList"/>
    <dgm:cxn modelId="{6F98B944-3731-42EA-AACB-185A71066E7E}" type="presParOf" srcId="{AFC0E0A4-4D9A-4F58-9430-14914CD833CB}" destId="{2F66CAA5-C063-4817-A38F-3DE932897A47}" srcOrd="0" destOrd="0" presId="urn:microsoft.com/office/officeart/2018/2/layout/IconVerticalSolidList"/>
    <dgm:cxn modelId="{0E254997-427F-4586-B761-CEEFC5CC8D6B}" type="presParOf" srcId="{AFC0E0A4-4D9A-4F58-9430-14914CD833CB}" destId="{2A360208-127A-4D51-A423-56AB6D5AED5D}" srcOrd="1" destOrd="0" presId="urn:microsoft.com/office/officeart/2018/2/layout/IconVerticalSolidList"/>
    <dgm:cxn modelId="{F24C0A0E-9A89-4367-835F-649E884A7EBE}" type="presParOf" srcId="{AFC0E0A4-4D9A-4F58-9430-14914CD833CB}" destId="{388B6B73-4442-4282-830D-C05303C42A14}" srcOrd="2" destOrd="0" presId="urn:microsoft.com/office/officeart/2018/2/layout/IconVerticalSolidList"/>
    <dgm:cxn modelId="{89AF6C26-BD0C-4079-B1FB-D94E1C109D46}" type="presParOf" srcId="{AFC0E0A4-4D9A-4F58-9430-14914CD833CB}" destId="{A53306D9-8CFF-4681-B489-4DA19301FB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E72B3694-D1DD-4EE1-B47B-EFFEC7EDB0A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DE52AE-1D22-4784-A8CC-84EC5D73130D}">
      <dgm:prSet/>
      <dgm:spPr/>
      <dgm:t>
        <a:bodyPr/>
        <a:lstStyle/>
        <a:p>
          <a:pPr>
            <a:lnSpc>
              <a:spcPct val="100000"/>
            </a:lnSpc>
          </a:pPr>
          <a:r>
            <a:rPr lang="en-GB" baseline="0" dirty="0">
              <a:solidFill>
                <a:schemeClr val="bg1"/>
              </a:solidFill>
            </a:rPr>
            <a:t>Subscription Democratisation</a:t>
          </a:r>
          <a:endParaRPr lang="en-US" dirty="0">
            <a:solidFill>
              <a:schemeClr val="bg1"/>
            </a:solidFill>
          </a:endParaRPr>
        </a:p>
      </dgm:t>
    </dgm:pt>
    <dgm:pt modelId="{326E8C2D-FA30-4B57-A743-B654837C8C3D}" type="parTrans" cxnId="{234FF479-7261-4BA9-98DE-9246ED83E27F}">
      <dgm:prSet/>
      <dgm:spPr/>
      <dgm:t>
        <a:bodyPr/>
        <a:lstStyle/>
        <a:p>
          <a:endParaRPr lang="en-US"/>
        </a:p>
      </dgm:t>
    </dgm:pt>
    <dgm:pt modelId="{0910813C-59E3-4B73-A8C1-8D42AB67D0FC}" type="sibTrans" cxnId="{234FF479-7261-4BA9-98DE-9246ED83E27F}">
      <dgm:prSet/>
      <dgm:spPr/>
      <dgm:t>
        <a:bodyPr/>
        <a:lstStyle/>
        <a:p>
          <a:endParaRPr lang="en-US"/>
        </a:p>
      </dgm:t>
    </dgm:pt>
    <dgm:pt modelId="{4AC920C4-EEFB-4687-BF70-3E24BC780F59}">
      <dgm:prSet/>
      <dgm:spPr>
        <a:noFill/>
      </dgm:spPr>
      <dgm:t>
        <a:bodyPr/>
        <a:lstStyle/>
        <a:p>
          <a:pPr>
            <a:lnSpc>
              <a:spcPct val="100000"/>
            </a:lnSpc>
          </a:pPr>
          <a:r>
            <a:rPr lang="en-GB" baseline="0">
              <a:solidFill>
                <a:schemeClr val="bg1"/>
              </a:solidFill>
            </a:rPr>
            <a:t>Policy Driven Governance</a:t>
          </a:r>
          <a:endParaRPr lang="en-US">
            <a:solidFill>
              <a:schemeClr val="bg1"/>
            </a:solidFill>
          </a:endParaRPr>
        </a:p>
      </dgm:t>
    </dgm:pt>
    <dgm:pt modelId="{4FFE03E1-86ED-483A-BAA6-6B4EE83C8C5B}" type="parTrans" cxnId="{C39D6109-B873-4960-B2B5-A72B71B8E2B5}">
      <dgm:prSet/>
      <dgm:spPr/>
      <dgm:t>
        <a:bodyPr/>
        <a:lstStyle/>
        <a:p>
          <a:endParaRPr lang="en-US"/>
        </a:p>
      </dgm:t>
    </dgm:pt>
    <dgm:pt modelId="{8A0DA557-03D4-47F7-839B-9424955ADA78}" type="sibTrans" cxnId="{C39D6109-B873-4960-B2B5-A72B71B8E2B5}">
      <dgm:prSet/>
      <dgm:spPr/>
      <dgm:t>
        <a:bodyPr/>
        <a:lstStyle/>
        <a:p>
          <a:endParaRPr lang="en-US"/>
        </a:p>
      </dgm:t>
    </dgm:pt>
    <dgm:pt modelId="{143FA6F0-001A-4374-9F35-878F6758C03F}">
      <dgm:prSet/>
      <dgm:spPr/>
      <dgm:t>
        <a:bodyPr/>
        <a:lstStyle/>
        <a:p>
          <a:pPr>
            <a:lnSpc>
              <a:spcPct val="100000"/>
            </a:lnSpc>
          </a:pPr>
          <a:r>
            <a:rPr lang="en-GB" baseline="0">
              <a:solidFill>
                <a:schemeClr val="bg1"/>
              </a:solidFill>
            </a:rPr>
            <a:t>Single Control and Management Plane</a:t>
          </a:r>
          <a:endParaRPr lang="en-US">
            <a:solidFill>
              <a:schemeClr val="bg1"/>
            </a:solidFill>
          </a:endParaRPr>
        </a:p>
      </dgm:t>
    </dgm:pt>
    <dgm:pt modelId="{5FB9C714-029C-478B-9807-59CE4E8FEB23}" type="parTrans" cxnId="{A965FBAB-2277-4A9C-AFFA-C2A6E5B937E8}">
      <dgm:prSet/>
      <dgm:spPr/>
      <dgm:t>
        <a:bodyPr/>
        <a:lstStyle/>
        <a:p>
          <a:endParaRPr lang="en-US"/>
        </a:p>
      </dgm:t>
    </dgm:pt>
    <dgm:pt modelId="{5C9B53C3-C852-444A-AF6A-ADA39BCB558C}" type="sibTrans" cxnId="{A965FBAB-2277-4A9C-AFFA-C2A6E5B937E8}">
      <dgm:prSet/>
      <dgm:spPr/>
      <dgm:t>
        <a:bodyPr/>
        <a:lstStyle/>
        <a:p>
          <a:endParaRPr lang="en-US"/>
        </a:p>
      </dgm:t>
    </dgm:pt>
    <dgm:pt modelId="{A82F75FA-BC81-473F-8AC1-7D6529EB5401}">
      <dgm:prSet/>
      <dgm:spPr/>
      <dgm:t>
        <a:bodyPr/>
        <a:lstStyle/>
        <a:p>
          <a:pPr>
            <a:lnSpc>
              <a:spcPct val="100000"/>
            </a:lnSpc>
          </a:pPr>
          <a:r>
            <a:rPr lang="en-GB" baseline="0" dirty="0">
              <a:solidFill>
                <a:schemeClr val="bg1"/>
              </a:solidFill>
            </a:rPr>
            <a:t>Application Centric and Archetype-Neutral </a:t>
          </a:r>
          <a:endParaRPr lang="en-US" dirty="0">
            <a:solidFill>
              <a:schemeClr val="bg1"/>
            </a:solidFill>
          </a:endParaRPr>
        </a:p>
      </dgm:t>
    </dgm:pt>
    <dgm:pt modelId="{F9A177A8-5CBA-4E28-8EDF-838A735AFF37}" type="parTrans" cxnId="{2A19C78A-EA15-4E48-B460-8CC68BAEBC3C}">
      <dgm:prSet/>
      <dgm:spPr/>
      <dgm:t>
        <a:bodyPr/>
        <a:lstStyle/>
        <a:p>
          <a:endParaRPr lang="en-US"/>
        </a:p>
      </dgm:t>
    </dgm:pt>
    <dgm:pt modelId="{06FA89E2-6D33-4CDB-8074-D0CFC1D1C003}" type="sibTrans" cxnId="{2A19C78A-EA15-4E48-B460-8CC68BAEBC3C}">
      <dgm:prSet/>
      <dgm:spPr/>
      <dgm:t>
        <a:bodyPr/>
        <a:lstStyle/>
        <a:p>
          <a:endParaRPr lang="en-US"/>
        </a:p>
      </dgm:t>
    </dgm:pt>
    <dgm:pt modelId="{76FEDE56-0724-48EC-B8A5-CE2636DDED3A}">
      <dgm:prSet/>
      <dgm:spPr/>
      <dgm:t>
        <a:bodyPr/>
        <a:lstStyle/>
        <a:p>
          <a:pPr>
            <a:lnSpc>
              <a:spcPct val="100000"/>
            </a:lnSpc>
          </a:pPr>
          <a:r>
            <a:rPr lang="en-GB" baseline="0" dirty="0">
              <a:solidFill>
                <a:schemeClr val="bg1"/>
              </a:solidFill>
            </a:rPr>
            <a:t>Azure Native Design and Platform Roadmap Alignment</a:t>
          </a:r>
          <a:endParaRPr lang="en-US" dirty="0">
            <a:solidFill>
              <a:schemeClr val="bg1"/>
            </a:solidFill>
          </a:endParaRPr>
        </a:p>
      </dgm:t>
    </dgm:pt>
    <dgm:pt modelId="{6F2D9017-1CD9-45F8-928D-BDDDD84B354D}" type="parTrans" cxnId="{09F40515-5599-410E-862C-40EF1F9B3E85}">
      <dgm:prSet/>
      <dgm:spPr/>
      <dgm:t>
        <a:bodyPr/>
        <a:lstStyle/>
        <a:p>
          <a:endParaRPr lang="en-US"/>
        </a:p>
      </dgm:t>
    </dgm:pt>
    <dgm:pt modelId="{C70EC7D9-23AF-4707-80FC-3C435B0D12DD}" type="sibTrans" cxnId="{09F40515-5599-410E-862C-40EF1F9B3E85}">
      <dgm:prSet/>
      <dgm:spPr/>
      <dgm:t>
        <a:bodyPr/>
        <a:lstStyle/>
        <a:p>
          <a:endParaRPr lang="en-US"/>
        </a:p>
      </dgm:t>
    </dgm:pt>
    <dgm:pt modelId="{9DC86312-8471-4595-81CC-E810C10CE363}" type="pres">
      <dgm:prSet presAssocID="{E72B3694-D1DD-4EE1-B47B-EFFEC7EDB0AA}" presName="root" presStyleCnt="0">
        <dgm:presLayoutVars>
          <dgm:dir/>
          <dgm:resizeHandles val="exact"/>
        </dgm:presLayoutVars>
      </dgm:prSet>
      <dgm:spPr/>
    </dgm:pt>
    <dgm:pt modelId="{738D436B-183F-44A6-B5AB-12F2D8B9804E}" type="pres">
      <dgm:prSet presAssocID="{FFDE52AE-1D22-4784-A8CC-84EC5D73130D}" presName="compNode" presStyleCnt="0"/>
      <dgm:spPr/>
    </dgm:pt>
    <dgm:pt modelId="{FBA1EFB4-1D21-47C7-A630-9ACE0C0BC95C}" type="pres">
      <dgm:prSet presAssocID="{FFDE52AE-1D22-4784-A8CC-84EC5D73130D}" presName="bgRect" presStyleLbl="bgShp" presStyleIdx="0" presStyleCnt="5"/>
      <dgm:spPr>
        <a:solidFill>
          <a:schemeClr val="bg2"/>
        </a:solidFill>
      </dgm:spPr>
    </dgm:pt>
    <dgm:pt modelId="{51145009-1BA3-45CD-AFCD-EF9913C854E0}" type="pres">
      <dgm:prSet presAssocID="{FFDE52AE-1D22-4784-A8CC-84EC5D73130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D2E5CEC3-2419-474D-859B-400EFB3F8702}" type="pres">
      <dgm:prSet presAssocID="{FFDE52AE-1D22-4784-A8CC-84EC5D73130D}" presName="spaceRect" presStyleCnt="0"/>
      <dgm:spPr/>
    </dgm:pt>
    <dgm:pt modelId="{154EC152-9BCD-4E93-93DE-AB93FEB2C8A8}" type="pres">
      <dgm:prSet presAssocID="{FFDE52AE-1D22-4784-A8CC-84EC5D73130D}" presName="parTx" presStyleLbl="revTx" presStyleIdx="0" presStyleCnt="5">
        <dgm:presLayoutVars>
          <dgm:chMax val="0"/>
          <dgm:chPref val="0"/>
        </dgm:presLayoutVars>
      </dgm:prSet>
      <dgm:spPr/>
    </dgm:pt>
    <dgm:pt modelId="{E204948E-D977-4B7B-BB66-1CC2BC1A72CE}" type="pres">
      <dgm:prSet presAssocID="{0910813C-59E3-4B73-A8C1-8D42AB67D0FC}" presName="sibTrans" presStyleCnt="0"/>
      <dgm:spPr/>
    </dgm:pt>
    <dgm:pt modelId="{B0BBD148-8D02-43B7-8FF2-78E4B4B2AF54}" type="pres">
      <dgm:prSet presAssocID="{4AC920C4-EEFB-4687-BF70-3E24BC780F59}" presName="compNode" presStyleCnt="0"/>
      <dgm:spPr/>
    </dgm:pt>
    <dgm:pt modelId="{841DA7F5-DBEC-48A2-8207-FA74CA80C581}" type="pres">
      <dgm:prSet presAssocID="{4AC920C4-EEFB-4687-BF70-3E24BC780F59}" presName="bgRect" presStyleLbl="bgShp" presStyleIdx="1" presStyleCnt="5"/>
      <dgm:spPr>
        <a:prstGeom prst="roundRect">
          <a:avLst/>
        </a:prstGeom>
        <a:solidFill>
          <a:schemeClr val="bg2"/>
        </a:solidFill>
      </dgm:spPr>
    </dgm:pt>
    <dgm:pt modelId="{B6CA4A77-9A1D-43CC-A4ED-0479197E21E7}" type="pres">
      <dgm:prSet presAssocID="{4AC920C4-EEFB-4687-BF70-3E24BC780F5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B8364E9D-7A4F-4566-A3F2-14268914112C}" type="pres">
      <dgm:prSet presAssocID="{4AC920C4-EEFB-4687-BF70-3E24BC780F59}" presName="spaceRect" presStyleCnt="0"/>
      <dgm:spPr/>
    </dgm:pt>
    <dgm:pt modelId="{8C45CCB6-2EA1-439C-933F-E64FE5909B0A}" type="pres">
      <dgm:prSet presAssocID="{4AC920C4-EEFB-4687-BF70-3E24BC780F59}" presName="parTx" presStyleLbl="revTx" presStyleIdx="1" presStyleCnt="5">
        <dgm:presLayoutVars>
          <dgm:chMax val="0"/>
          <dgm:chPref val="0"/>
        </dgm:presLayoutVars>
      </dgm:prSet>
      <dgm:spPr/>
    </dgm:pt>
    <dgm:pt modelId="{DD72BAAD-7850-4CFA-9A1A-4902E8AB18A4}" type="pres">
      <dgm:prSet presAssocID="{8A0DA557-03D4-47F7-839B-9424955ADA78}" presName="sibTrans" presStyleCnt="0"/>
      <dgm:spPr/>
    </dgm:pt>
    <dgm:pt modelId="{02966E9B-C56A-4A2C-89E7-1F63E93CD870}" type="pres">
      <dgm:prSet presAssocID="{143FA6F0-001A-4374-9F35-878F6758C03F}" presName="compNode" presStyleCnt="0"/>
      <dgm:spPr/>
    </dgm:pt>
    <dgm:pt modelId="{DC46849B-4671-441A-AE42-53F3115AF42C}" type="pres">
      <dgm:prSet presAssocID="{143FA6F0-001A-4374-9F35-878F6758C03F}" presName="bgRect" presStyleLbl="bgShp" presStyleIdx="2" presStyleCnt="5"/>
      <dgm:spPr>
        <a:solidFill>
          <a:schemeClr val="bg2"/>
        </a:solidFill>
      </dgm:spPr>
    </dgm:pt>
    <dgm:pt modelId="{DF4DAF69-1CF3-4319-B01D-9DA860A3FAF8}" type="pres">
      <dgm:prSet presAssocID="{143FA6F0-001A-4374-9F35-878F6758C03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irplane"/>
        </a:ext>
      </dgm:extLst>
    </dgm:pt>
    <dgm:pt modelId="{3C32CCE5-4154-4641-8A55-7A571EEAAFBA}" type="pres">
      <dgm:prSet presAssocID="{143FA6F0-001A-4374-9F35-878F6758C03F}" presName="spaceRect" presStyleCnt="0"/>
      <dgm:spPr/>
    </dgm:pt>
    <dgm:pt modelId="{07674314-471B-49AF-8329-39732970D0BD}" type="pres">
      <dgm:prSet presAssocID="{143FA6F0-001A-4374-9F35-878F6758C03F}" presName="parTx" presStyleLbl="revTx" presStyleIdx="2" presStyleCnt="5">
        <dgm:presLayoutVars>
          <dgm:chMax val="0"/>
          <dgm:chPref val="0"/>
        </dgm:presLayoutVars>
      </dgm:prSet>
      <dgm:spPr/>
    </dgm:pt>
    <dgm:pt modelId="{00FE8F1F-63B8-4869-8C10-6D3B00EF642C}" type="pres">
      <dgm:prSet presAssocID="{5C9B53C3-C852-444A-AF6A-ADA39BCB558C}" presName="sibTrans" presStyleCnt="0"/>
      <dgm:spPr/>
    </dgm:pt>
    <dgm:pt modelId="{D0335B81-0D29-4396-A6A3-FB98F11EBE58}" type="pres">
      <dgm:prSet presAssocID="{A82F75FA-BC81-473F-8AC1-7D6529EB5401}" presName="compNode" presStyleCnt="0"/>
      <dgm:spPr/>
    </dgm:pt>
    <dgm:pt modelId="{3991FB7D-8E95-4461-8715-145F84D84788}" type="pres">
      <dgm:prSet presAssocID="{A82F75FA-BC81-473F-8AC1-7D6529EB5401}" presName="bgRect" presStyleLbl="bgShp" presStyleIdx="3" presStyleCnt="5"/>
      <dgm:spPr>
        <a:solidFill>
          <a:schemeClr val="accent2"/>
        </a:solidFill>
      </dgm:spPr>
    </dgm:pt>
    <dgm:pt modelId="{F19F6C5F-588B-4C7B-A883-15F45617186C}" type="pres">
      <dgm:prSet presAssocID="{A82F75FA-BC81-473F-8AC1-7D6529EB5401}"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ox"/>
        </a:ext>
      </dgm:extLst>
    </dgm:pt>
    <dgm:pt modelId="{93831B17-60B1-487F-A4BA-7264D9C564C4}" type="pres">
      <dgm:prSet presAssocID="{A82F75FA-BC81-473F-8AC1-7D6529EB5401}" presName="spaceRect" presStyleCnt="0"/>
      <dgm:spPr/>
    </dgm:pt>
    <dgm:pt modelId="{E1016185-5A65-49F3-B45C-2DEB44B20D41}" type="pres">
      <dgm:prSet presAssocID="{A82F75FA-BC81-473F-8AC1-7D6529EB5401}" presName="parTx" presStyleLbl="revTx" presStyleIdx="3" presStyleCnt="5">
        <dgm:presLayoutVars>
          <dgm:chMax val="0"/>
          <dgm:chPref val="0"/>
        </dgm:presLayoutVars>
      </dgm:prSet>
      <dgm:spPr/>
    </dgm:pt>
    <dgm:pt modelId="{D7CF5F14-6C74-4AAC-9066-40674C5A40D6}" type="pres">
      <dgm:prSet presAssocID="{06FA89E2-6D33-4CDB-8074-D0CFC1D1C003}" presName="sibTrans" presStyleCnt="0"/>
      <dgm:spPr/>
    </dgm:pt>
    <dgm:pt modelId="{AFC0E0A4-4D9A-4F58-9430-14914CD833CB}" type="pres">
      <dgm:prSet presAssocID="{76FEDE56-0724-48EC-B8A5-CE2636DDED3A}" presName="compNode" presStyleCnt="0"/>
      <dgm:spPr/>
    </dgm:pt>
    <dgm:pt modelId="{2F66CAA5-C063-4817-A38F-3DE932897A47}" type="pres">
      <dgm:prSet presAssocID="{76FEDE56-0724-48EC-B8A5-CE2636DDED3A}" presName="bgRect" presStyleLbl="bgShp" presStyleIdx="4" presStyleCnt="5"/>
      <dgm:spPr>
        <a:solidFill>
          <a:schemeClr val="bg2"/>
        </a:solidFill>
      </dgm:spPr>
    </dgm:pt>
    <dgm:pt modelId="{2A360208-127A-4D51-A423-56AB6D5AED5D}" type="pres">
      <dgm:prSet presAssocID="{76FEDE56-0724-48EC-B8A5-CE2636DDED3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388B6B73-4442-4282-830D-C05303C42A14}" type="pres">
      <dgm:prSet presAssocID="{76FEDE56-0724-48EC-B8A5-CE2636DDED3A}" presName="spaceRect" presStyleCnt="0"/>
      <dgm:spPr/>
    </dgm:pt>
    <dgm:pt modelId="{A53306D9-8CFF-4681-B489-4DA19301FBED}" type="pres">
      <dgm:prSet presAssocID="{76FEDE56-0724-48EC-B8A5-CE2636DDED3A}" presName="parTx" presStyleLbl="revTx" presStyleIdx="4" presStyleCnt="5">
        <dgm:presLayoutVars>
          <dgm:chMax val="0"/>
          <dgm:chPref val="0"/>
        </dgm:presLayoutVars>
      </dgm:prSet>
      <dgm:spPr/>
    </dgm:pt>
  </dgm:ptLst>
  <dgm:cxnLst>
    <dgm:cxn modelId="{C39D6109-B873-4960-B2B5-A72B71B8E2B5}" srcId="{E72B3694-D1DD-4EE1-B47B-EFFEC7EDB0AA}" destId="{4AC920C4-EEFB-4687-BF70-3E24BC780F59}" srcOrd="1" destOrd="0" parTransId="{4FFE03E1-86ED-483A-BAA6-6B4EE83C8C5B}" sibTransId="{8A0DA557-03D4-47F7-839B-9424955ADA78}"/>
    <dgm:cxn modelId="{09F40515-5599-410E-862C-40EF1F9B3E85}" srcId="{E72B3694-D1DD-4EE1-B47B-EFFEC7EDB0AA}" destId="{76FEDE56-0724-48EC-B8A5-CE2636DDED3A}" srcOrd="4" destOrd="0" parTransId="{6F2D9017-1CD9-45F8-928D-BDDDD84B354D}" sibTransId="{C70EC7D9-23AF-4707-80FC-3C435B0D12DD}"/>
    <dgm:cxn modelId="{6525101B-CA09-428C-A203-5C5C7321C253}" type="presOf" srcId="{143FA6F0-001A-4374-9F35-878F6758C03F}" destId="{07674314-471B-49AF-8329-39732970D0BD}" srcOrd="0" destOrd="0" presId="urn:microsoft.com/office/officeart/2018/2/layout/IconVerticalSolidList"/>
    <dgm:cxn modelId="{7A892322-26CA-4336-BC63-56B0858B226A}" type="presOf" srcId="{A82F75FA-BC81-473F-8AC1-7D6529EB5401}" destId="{E1016185-5A65-49F3-B45C-2DEB44B20D41}" srcOrd="0" destOrd="0" presId="urn:microsoft.com/office/officeart/2018/2/layout/IconVerticalSolidList"/>
    <dgm:cxn modelId="{D1D56830-02B0-4CD9-89DF-DB5316C97527}" type="presOf" srcId="{4AC920C4-EEFB-4687-BF70-3E24BC780F59}" destId="{8C45CCB6-2EA1-439C-933F-E64FE5909B0A}" srcOrd="0" destOrd="0" presId="urn:microsoft.com/office/officeart/2018/2/layout/IconVerticalSolidList"/>
    <dgm:cxn modelId="{234FF479-7261-4BA9-98DE-9246ED83E27F}" srcId="{E72B3694-D1DD-4EE1-B47B-EFFEC7EDB0AA}" destId="{FFDE52AE-1D22-4784-A8CC-84EC5D73130D}" srcOrd="0" destOrd="0" parTransId="{326E8C2D-FA30-4B57-A743-B654837C8C3D}" sibTransId="{0910813C-59E3-4B73-A8C1-8D42AB67D0FC}"/>
    <dgm:cxn modelId="{2A19C78A-EA15-4E48-B460-8CC68BAEBC3C}" srcId="{E72B3694-D1DD-4EE1-B47B-EFFEC7EDB0AA}" destId="{A82F75FA-BC81-473F-8AC1-7D6529EB5401}" srcOrd="3" destOrd="0" parTransId="{F9A177A8-5CBA-4E28-8EDF-838A735AFF37}" sibTransId="{06FA89E2-6D33-4CDB-8074-D0CFC1D1C003}"/>
    <dgm:cxn modelId="{A965FBAB-2277-4A9C-AFFA-C2A6E5B937E8}" srcId="{E72B3694-D1DD-4EE1-B47B-EFFEC7EDB0AA}" destId="{143FA6F0-001A-4374-9F35-878F6758C03F}" srcOrd="2" destOrd="0" parTransId="{5FB9C714-029C-478B-9807-59CE4E8FEB23}" sibTransId="{5C9B53C3-C852-444A-AF6A-ADA39BCB558C}"/>
    <dgm:cxn modelId="{6EC917B4-FC1B-4F1F-94F5-BDF38B238D88}" type="presOf" srcId="{E72B3694-D1DD-4EE1-B47B-EFFEC7EDB0AA}" destId="{9DC86312-8471-4595-81CC-E810C10CE363}" srcOrd="0" destOrd="0" presId="urn:microsoft.com/office/officeart/2018/2/layout/IconVerticalSolidList"/>
    <dgm:cxn modelId="{BC39CFE5-D9B1-4CF0-88ED-C6876D9126A0}" type="presOf" srcId="{76FEDE56-0724-48EC-B8A5-CE2636DDED3A}" destId="{A53306D9-8CFF-4681-B489-4DA19301FBED}" srcOrd="0" destOrd="0" presId="urn:microsoft.com/office/officeart/2018/2/layout/IconVerticalSolidList"/>
    <dgm:cxn modelId="{279596F6-A434-4EB6-AE71-803D3F9D0D7E}" type="presOf" srcId="{FFDE52AE-1D22-4784-A8CC-84EC5D73130D}" destId="{154EC152-9BCD-4E93-93DE-AB93FEB2C8A8}" srcOrd="0" destOrd="0" presId="urn:microsoft.com/office/officeart/2018/2/layout/IconVerticalSolidList"/>
    <dgm:cxn modelId="{C8641579-8B62-4336-B4D7-7679AD676DD2}" type="presParOf" srcId="{9DC86312-8471-4595-81CC-E810C10CE363}" destId="{738D436B-183F-44A6-B5AB-12F2D8B9804E}" srcOrd="0" destOrd="0" presId="urn:microsoft.com/office/officeart/2018/2/layout/IconVerticalSolidList"/>
    <dgm:cxn modelId="{1122927E-F496-4E89-B272-9CBE2160FAD5}" type="presParOf" srcId="{738D436B-183F-44A6-B5AB-12F2D8B9804E}" destId="{FBA1EFB4-1D21-47C7-A630-9ACE0C0BC95C}" srcOrd="0" destOrd="0" presId="urn:microsoft.com/office/officeart/2018/2/layout/IconVerticalSolidList"/>
    <dgm:cxn modelId="{9CEA9E3E-2E41-4F63-A77B-8C8FBD7510BE}" type="presParOf" srcId="{738D436B-183F-44A6-B5AB-12F2D8B9804E}" destId="{51145009-1BA3-45CD-AFCD-EF9913C854E0}" srcOrd="1" destOrd="0" presId="urn:microsoft.com/office/officeart/2018/2/layout/IconVerticalSolidList"/>
    <dgm:cxn modelId="{3F05A4E1-A690-4AD9-8701-2485127CCBA8}" type="presParOf" srcId="{738D436B-183F-44A6-B5AB-12F2D8B9804E}" destId="{D2E5CEC3-2419-474D-859B-400EFB3F8702}" srcOrd="2" destOrd="0" presId="urn:microsoft.com/office/officeart/2018/2/layout/IconVerticalSolidList"/>
    <dgm:cxn modelId="{91EF53F0-D25F-4813-9C4E-1009D72DC041}" type="presParOf" srcId="{738D436B-183F-44A6-B5AB-12F2D8B9804E}" destId="{154EC152-9BCD-4E93-93DE-AB93FEB2C8A8}" srcOrd="3" destOrd="0" presId="urn:microsoft.com/office/officeart/2018/2/layout/IconVerticalSolidList"/>
    <dgm:cxn modelId="{360036AD-CD16-459E-BA7E-516A11665A27}" type="presParOf" srcId="{9DC86312-8471-4595-81CC-E810C10CE363}" destId="{E204948E-D977-4B7B-BB66-1CC2BC1A72CE}" srcOrd="1" destOrd="0" presId="urn:microsoft.com/office/officeart/2018/2/layout/IconVerticalSolidList"/>
    <dgm:cxn modelId="{EDBF54D3-0E28-441E-AC54-BC253684436F}" type="presParOf" srcId="{9DC86312-8471-4595-81CC-E810C10CE363}" destId="{B0BBD148-8D02-43B7-8FF2-78E4B4B2AF54}" srcOrd="2" destOrd="0" presId="urn:microsoft.com/office/officeart/2018/2/layout/IconVerticalSolidList"/>
    <dgm:cxn modelId="{70B7F705-0021-446F-BA83-E9A633351315}" type="presParOf" srcId="{B0BBD148-8D02-43B7-8FF2-78E4B4B2AF54}" destId="{841DA7F5-DBEC-48A2-8207-FA74CA80C581}" srcOrd="0" destOrd="0" presId="urn:microsoft.com/office/officeart/2018/2/layout/IconVerticalSolidList"/>
    <dgm:cxn modelId="{1D0ADF95-795B-4CEC-B4F1-86334B48B4EF}" type="presParOf" srcId="{B0BBD148-8D02-43B7-8FF2-78E4B4B2AF54}" destId="{B6CA4A77-9A1D-43CC-A4ED-0479197E21E7}" srcOrd="1" destOrd="0" presId="urn:microsoft.com/office/officeart/2018/2/layout/IconVerticalSolidList"/>
    <dgm:cxn modelId="{40B97329-9DDF-452B-B0CD-FAEC04D00F6F}" type="presParOf" srcId="{B0BBD148-8D02-43B7-8FF2-78E4B4B2AF54}" destId="{B8364E9D-7A4F-4566-A3F2-14268914112C}" srcOrd="2" destOrd="0" presId="urn:microsoft.com/office/officeart/2018/2/layout/IconVerticalSolidList"/>
    <dgm:cxn modelId="{43389F73-26E6-4112-8235-081A69A814C4}" type="presParOf" srcId="{B0BBD148-8D02-43B7-8FF2-78E4B4B2AF54}" destId="{8C45CCB6-2EA1-439C-933F-E64FE5909B0A}" srcOrd="3" destOrd="0" presId="urn:microsoft.com/office/officeart/2018/2/layout/IconVerticalSolidList"/>
    <dgm:cxn modelId="{D3151F06-3A77-4615-9886-1C674674AFC3}" type="presParOf" srcId="{9DC86312-8471-4595-81CC-E810C10CE363}" destId="{DD72BAAD-7850-4CFA-9A1A-4902E8AB18A4}" srcOrd="3" destOrd="0" presId="urn:microsoft.com/office/officeart/2018/2/layout/IconVerticalSolidList"/>
    <dgm:cxn modelId="{76B5A225-4465-453C-AC2B-2DA46F22A227}" type="presParOf" srcId="{9DC86312-8471-4595-81CC-E810C10CE363}" destId="{02966E9B-C56A-4A2C-89E7-1F63E93CD870}" srcOrd="4" destOrd="0" presId="urn:microsoft.com/office/officeart/2018/2/layout/IconVerticalSolidList"/>
    <dgm:cxn modelId="{C117F138-BD34-4372-AE7C-CA4450DD17F4}" type="presParOf" srcId="{02966E9B-C56A-4A2C-89E7-1F63E93CD870}" destId="{DC46849B-4671-441A-AE42-53F3115AF42C}" srcOrd="0" destOrd="0" presId="urn:microsoft.com/office/officeart/2018/2/layout/IconVerticalSolidList"/>
    <dgm:cxn modelId="{B9601C6E-DB98-4389-A51C-98441C52392F}" type="presParOf" srcId="{02966E9B-C56A-4A2C-89E7-1F63E93CD870}" destId="{DF4DAF69-1CF3-4319-B01D-9DA860A3FAF8}" srcOrd="1" destOrd="0" presId="urn:microsoft.com/office/officeart/2018/2/layout/IconVerticalSolidList"/>
    <dgm:cxn modelId="{E4F7FBE5-9C37-4A9C-A122-496A991B0455}" type="presParOf" srcId="{02966E9B-C56A-4A2C-89E7-1F63E93CD870}" destId="{3C32CCE5-4154-4641-8A55-7A571EEAAFBA}" srcOrd="2" destOrd="0" presId="urn:microsoft.com/office/officeart/2018/2/layout/IconVerticalSolidList"/>
    <dgm:cxn modelId="{BEAF0FBE-C591-42DE-B12B-CACC05854176}" type="presParOf" srcId="{02966E9B-C56A-4A2C-89E7-1F63E93CD870}" destId="{07674314-471B-49AF-8329-39732970D0BD}" srcOrd="3" destOrd="0" presId="urn:microsoft.com/office/officeart/2018/2/layout/IconVerticalSolidList"/>
    <dgm:cxn modelId="{F8576172-5FBE-46F3-B327-6B6126C95498}" type="presParOf" srcId="{9DC86312-8471-4595-81CC-E810C10CE363}" destId="{00FE8F1F-63B8-4869-8C10-6D3B00EF642C}" srcOrd="5" destOrd="0" presId="urn:microsoft.com/office/officeart/2018/2/layout/IconVerticalSolidList"/>
    <dgm:cxn modelId="{9F96C3B1-3479-4B61-9BD0-A39A3C033396}" type="presParOf" srcId="{9DC86312-8471-4595-81CC-E810C10CE363}" destId="{D0335B81-0D29-4396-A6A3-FB98F11EBE58}" srcOrd="6" destOrd="0" presId="urn:microsoft.com/office/officeart/2018/2/layout/IconVerticalSolidList"/>
    <dgm:cxn modelId="{E06A77CB-444F-4E5C-A004-D2CA1C617F57}" type="presParOf" srcId="{D0335B81-0D29-4396-A6A3-FB98F11EBE58}" destId="{3991FB7D-8E95-4461-8715-145F84D84788}" srcOrd="0" destOrd="0" presId="urn:microsoft.com/office/officeart/2018/2/layout/IconVerticalSolidList"/>
    <dgm:cxn modelId="{6F77F174-C343-4E2F-A255-227F554F1414}" type="presParOf" srcId="{D0335B81-0D29-4396-A6A3-FB98F11EBE58}" destId="{F19F6C5F-588B-4C7B-A883-15F45617186C}" srcOrd="1" destOrd="0" presId="urn:microsoft.com/office/officeart/2018/2/layout/IconVerticalSolidList"/>
    <dgm:cxn modelId="{C41578C2-95D3-4E91-814B-F5E8BE53C62C}" type="presParOf" srcId="{D0335B81-0D29-4396-A6A3-FB98F11EBE58}" destId="{93831B17-60B1-487F-A4BA-7264D9C564C4}" srcOrd="2" destOrd="0" presId="urn:microsoft.com/office/officeart/2018/2/layout/IconVerticalSolidList"/>
    <dgm:cxn modelId="{DE30AF32-A0DE-4F44-9367-CBBE830FEA2E}" type="presParOf" srcId="{D0335B81-0D29-4396-A6A3-FB98F11EBE58}" destId="{E1016185-5A65-49F3-B45C-2DEB44B20D41}" srcOrd="3" destOrd="0" presId="urn:microsoft.com/office/officeart/2018/2/layout/IconVerticalSolidList"/>
    <dgm:cxn modelId="{FC9B01C0-F7D4-4C9D-89EB-80BAC8B93102}" type="presParOf" srcId="{9DC86312-8471-4595-81CC-E810C10CE363}" destId="{D7CF5F14-6C74-4AAC-9066-40674C5A40D6}" srcOrd="7" destOrd="0" presId="urn:microsoft.com/office/officeart/2018/2/layout/IconVerticalSolidList"/>
    <dgm:cxn modelId="{1920CE34-6A7B-4EE8-91A7-D9D18958DEDC}" type="presParOf" srcId="{9DC86312-8471-4595-81CC-E810C10CE363}" destId="{AFC0E0A4-4D9A-4F58-9430-14914CD833CB}" srcOrd="8" destOrd="0" presId="urn:microsoft.com/office/officeart/2018/2/layout/IconVerticalSolidList"/>
    <dgm:cxn modelId="{6F98B944-3731-42EA-AACB-185A71066E7E}" type="presParOf" srcId="{AFC0E0A4-4D9A-4F58-9430-14914CD833CB}" destId="{2F66CAA5-C063-4817-A38F-3DE932897A47}" srcOrd="0" destOrd="0" presId="urn:microsoft.com/office/officeart/2018/2/layout/IconVerticalSolidList"/>
    <dgm:cxn modelId="{0E254997-427F-4586-B761-CEEFC5CC8D6B}" type="presParOf" srcId="{AFC0E0A4-4D9A-4F58-9430-14914CD833CB}" destId="{2A360208-127A-4D51-A423-56AB6D5AED5D}" srcOrd="1" destOrd="0" presId="urn:microsoft.com/office/officeart/2018/2/layout/IconVerticalSolidList"/>
    <dgm:cxn modelId="{F24C0A0E-9A89-4367-835F-649E884A7EBE}" type="presParOf" srcId="{AFC0E0A4-4D9A-4F58-9430-14914CD833CB}" destId="{388B6B73-4442-4282-830D-C05303C42A14}" srcOrd="2" destOrd="0" presId="urn:microsoft.com/office/officeart/2018/2/layout/IconVerticalSolidList"/>
    <dgm:cxn modelId="{89AF6C26-BD0C-4079-B1FB-D94E1C109D46}" type="presParOf" srcId="{AFC0E0A4-4D9A-4F58-9430-14914CD833CB}" destId="{A53306D9-8CFF-4681-B489-4DA19301FB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E72B3694-D1DD-4EE1-B47B-EFFEC7EDB0A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DE52AE-1D22-4784-A8CC-84EC5D73130D}">
      <dgm:prSet/>
      <dgm:spPr/>
      <dgm:t>
        <a:bodyPr/>
        <a:lstStyle/>
        <a:p>
          <a:pPr>
            <a:lnSpc>
              <a:spcPct val="100000"/>
            </a:lnSpc>
          </a:pPr>
          <a:r>
            <a:rPr lang="en-GB" baseline="0" dirty="0">
              <a:solidFill>
                <a:schemeClr val="bg1"/>
              </a:solidFill>
            </a:rPr>
            <a:t>Subscription Democratisation</a:t>
          </a:r>
          <a:endParaRPr lang="en-US" dirty="0">
            <a:solidFill>
              <a:schemeClr val="bg1"/>
            </a:solidFill>
          </a:endParaRPr>
        </a:p>
      </dgm:t>
    </dgm:pt>
    <dgm:pt modelId="{326E8C2D-FA30-4B57-A743-B654837C8C3D}" type="parTrans" cxnId="{234FF479-7261-4BA9-98DE-9246ED83E27F}">
      <dgm:prSet/>
      <dgm:spPr/>
      <dgm:t>
        <a:bodyPr/>
        <a:lstStyle/>
        <a:p>
          <a:endParaRPr lang="en-US"/>
        </a:p>
      </dgm:t>
    </dgm:pt>
    <dgm:pt modelId="{0910813C-59E3-4B73-A8C1-8D42AB67D0FC}" type="sibTrans" cxnId="{234FF479-7261-4BA9-98DE-9246ED83E27F}">
      <dgm:prSet/>
      <dgm:spPr/>
      <dgm:t>
        <a:bodyPr/>
        <a:lstStyle/>
        <a:p>
          <a:endParaRPr lang="en-US"/>
        </a:p>
      </dgm:t>
    </dgm:pt>
    <dgm:pt modelId="{4AC920C4-EEFB-4687-BF70-3E24BC780F59}">
      <dgm:prSet/>
      <dgm:spPr>
        <a:noFill/>
      </dgm:spPr>
      <dgm:t>
        <a:bodyPr/>
        <a:lstStyle/>
        <a:p>
          <a:pPr>
            <a:lnSpc>
              <a:spcPct val="100000"/>
            </a:lnSpc>
          </a:pPr>
          <a:r>
            <a:rPr lang="en-GB" baseline="0">
              <a:solidFill>
                <a:schemeClr val="bg1"/>
              </a:solidFill>
            </a:rPr>
            <a:t>Policy Driven Governance</a:t>
          </a:r>
          <a:endParaRPr lang="en-US">
            <a:solidFill>
              <a:schemeClr val="bg1"/>
            </a:solidFill>
          </a:endParaRPr>
        </a:p>
      </dgm:t>
    </dgm:pt>
    <dgm:pt modelId="{4FFE03E1-86ED-483A-BAA6-6B4EE83C8C5B}" type="parTrans" cxnId="{C39D6109-B873-4960-B2B5-A72B71B8E2B5}">
      <dgm:prSet/>
      <dgm:spPr/>
      <dgm:t>
        <a:bodyPr/>
        <a:lstStyle/>
        <a:p>
          <a:endParaRPr lang="en-US"/>
        </a:p>
      </dgm:t>
    </dgm:pt>
    <dgm:pt modelId="{8A0DA557-03D4-47F7-839B-9424955ADA78}" type="sibTrans" cxnId="{C39D6109-B873-4960-B2B5-A72B71B8E2B5}">
      <dgm:prSet/>
      <dgm:spPr/>
      <dgm:t>
        <a:bodyPr/>
        <a:lstStyle/>
        <a:p>
          <a:endParaRPr lang="en-US"/>
        </a:p>
      </dgm:t>
    </dgm:pt>
    <dgm:pt modelId="{143FA6F0-001A-4374-9F35-878F6758C03F}">
      <dgm:prSet/>
      <dgm:spPr/>
      <dgm:t>
        <a:bodyPr/>
        <a:lstStyle/>
        <a:p>
          <a:pPr>
            <a:lnSpc>
              <a:spcPct val="100000"/>
            </a:lnSpc>
          </a:pPr>
          <a:r>
            <a:rPr lang="en-GB" baseline="0">
              <a:solidFill>
                <a:schemeClr val="bg1"/>
              </a:solidFill>
            </a:rPr>
            <a:t>Single Control and Management Plane</a:t>
          </a:r>
          <a:endParaRPr lang="en-US">
            <a:solidFill>
              <a:schemeClr val="bg1"/>
            </a:solidFill>
          </a:endParaRPr>
        </a:p>
      </dgm:t>
    </dgm:pt>
    <dgm:pt modelId="{5FB9C714-029C-478B-9807-59CE4E8FEB23}" type="parTrans" cxnId="{A965FBAB-2277-4A9C-AFFA-C2A6E5B937E8}">
      <dgm:prSet/>
      <dgm:spPr/>
      <dgm:t>
        <a:bodyPr/>
        <a:lstStyle/>
        <a:p>
          <a:endParaRPr lang="en-US"/>
        </a:p>
      </dgm:t>
    </dgm:pt>
    <dgm:pt modelId="{5C9B53C3-C852-444A-AF6A-ADA39BCB558C}" type="sibTrans" cxnId="{A965FBAB-2277-4A9C-AFFA-C2A6E5B937E8}">
      <dgm:prSet/>
      <dgm:spPr/>
      <dgm:t>
        <a:bodyPr/>
        <a:lstStyle/>
        <a:p>
          <a:endParaRPr lang="en-US"/>
        </a:p>
      </dgm:t>
    </dgm:pt>
    <dgm:pt modelId="{A82F75FA-BC81-473F-8AC1-7D6529EB5401}">
      <dgm:prSet/>
      <dgm:spPr/>
      <dgm:t>
        <a:bodyPr/>
        <a:lstStyle/>
        <a:p>
          <a:pPr>
            <a:lnSpc>
              <a:spcPct val="100000"/>
            </a:lnSpc>
          </a:pPr>
          <a:r>
            <a:rPr lang="en-GB" baseline="0" dirty="0">
              <a:solidFill>
                <a:schemeClr val="bg1"/>
              </a:solidFill>
            </a:rPr>
            <a:t>Application Centric and Archetype-Neutral </a:t>
          </a:r>
          <a:endParaRPr lang="en-US" dirty="0">
            <a:solidFill>
              <a:schemeClr val="bg1"/>
            </a:solidFill>
          </a:endParaRPr>
        </a:p>
      </dgm:t>
    </dgm:pt>
    <dgm:pt modelId="{F9A177A8-5CBA-4E28-8EDF-838A735AFF37}" type="parTrans" cxnId="{2A19C78A-EA15-4E48-B460-8CC68BAEBC3C}">
      <dgm:prSet/>
      <dgm:spPr/>
      <dgm:t>
        <a:bodyPr/>
        <a:lstStyle/>
        <a:p>
          <a:endParaRPr lang="en-US"/>
        </a:p>
      </dgm:t>
    </dgm:pt>
    <dgm:pt modelId="{06FA89E2-6D33-4CDB-8074-D0CFC1D1C003}" type="sibTrans" cxnId="{2A19C78A-EA15-4E48-B460-8CC68BAEBC3C}">
      <dgm:prSet/>
      <dgm:spPr/>
      <dgm:t>
        <a:bodyPr/>
        <a:lstStyle/>
        <a:p>
          <a:endParaRPr lang="en-US"/>
        </a:p>
      </dgm:t>
    </dgm:pt>
    <dgm:pt modelId="{76FEDE56-0724-48EC-B8A5-CE2636DDED3A}">
      <dgm:prSet/>
      <dgm:spPr/>
      <dgm:t>
        <a:bodyPr/>
        <a:lstStyle/>
        <a:p>
          <a:pPr>
            <a:lnSpc>
              <a:spcPct val="100000"/>
            </a:lnSpc>
          </a:pPr>
          <a:r>
            <a:rPr lang="en-GB" baseline="0" dirty="0">
              <a:solidFill>
                <a:schemeClr val="bg1"/>
              </a:solidFill>
            </a:rPr>
            <a:t>Azure Native Design and Platform Roadmap Alignment</a:t>
          </a:r>
          <a:endParaRPr lang="en-US" dirty="0">
            <a:solidFill>
              <a:schemeClr val="bg1"/>
            </a:solidFill>
          </a:endParaRPr>
        </a:p>
      </dgm:t>
    </dgm:pt>
    <dgm:pt modelId="{6F2D9017-1CD9-45F8-928D-BDDDD84B354D}" type="parTrans" cxnId="{09F40515-5599-410E-862C-40EF1F9B3E85}">
      <dgm:prSet/>
      <dgm:spPr/>
      <dgm:t>
        <a:bodyPr/>
        <a:lstStyle/>
        <a:p>
          <a:endParaRPr lang="en-US"/>
        </a:p>
      </dgm:t>
    </dgm:pt>
    <dgm:pt modelId="{C70EC7D9-23AF-4707-80FC-3C435B0D12DD}" type="sibTrans" cxnId="{09F40515-5599-410E-862C-40EF1F9B3E85}">
      <dgm:prSet/>
      <dgm:spPr/>
      <dgm:t>
        <a:bodyPr/>
        <a:lstStyle/>
        <a:p>
          <a:endParaRPr lang="en-US"/>
        </a:p>
      </dgm:t>
    </dgm:pt>
    <dgm:pt modelId="{9DC86312-8471-4595-81CC-E810C10CE363}" type="pres">
      <dgm:prSet presAssocID="{E72B3694-D1DD-4EE1-B47B-EFFEC7EDB0AA}" presName="root" presStyleCnt="0">
        <dgm:presLayoutVars>
          <dgm:dir/>
          <dgm:resizeHandles val="exact"/>
        </dgm:presLayoutVars>
      </dgm:prSet>
      <dgm:spPr/>
    </dgm:pt>
    <dgm:pt modelId="{738D436B-183F-44A6-B5AB-12F2D8B9804E}" type="pres">
      <dgm:prSet presAssocID="{FFDE52AE-1D22-4784-A8CC-84EC5D73130D}" presName="compNode" presStyleCnt="0"/>
      <dgm:spPr/>
    </dgm:pt>
    <dgm:pt modelId="{FBA1EFB4-1D21-47C7-A630-9ACE0C0BC95C}" type="pres">
      <dgm:prSet presAssocID="{FFDE52AE-1D22-4784-A8CC-84EC5D73130D}" presName="bgRect" presStyleLbl="bgShp" presStyleIdx="0" presStyleCnt="5"/>
      <dgm:spPr>
        <a:solidFill>
          <a:schemeClr val="bg2"/>
        </a:solidFill>
      </dgm:spPr>
    </dgm:pt>
    <dgm:pt modelId="{51145009-1BA3-45CD-AFCD-EF9913C854E0}" type="pres">
      <dgm:prSet presAssocID="{FFDE52AE-1D22-4784-A8CC-84EC5D73130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D2E5CEC3-2419-474D-859B-400EFB3F8702}" type="pres">
      <dgm:prSet presAssocID="{FFDE52AE-1D22-4784-A8CC-84EC5D73130D}" presName="spaceRect" presStyleCnt="0"/>
      <dgm:spPr/>
    </dgm:pt>
    <dgm:pt modelId="{154EC152-9BCD-4E93-93DE-AB93FEB2C8A8}" type="pres">
      <dgm:prSet presAssocID="{FFDE52AE-1D22-4784-A8CC-84EC5D73130D}" presName="parTx" presStyleLbl="revTx" presStyleIdx="0" presStyleCnt="5">
        <dgm:presLayoutVars>
          <dgm:chMax val="0"/>
          <dgm:chPref val="0"/>
        </dgm:presLayoutVars>
      </dgm:prSet>
      <dgm:spPr/>
    </dgm:pt>
    <dgm:pt modelId="{E204948E-D977-4B7B-BB66-1CC2BC1A72CE}" type="pres">
      <dgm:prSet presAssocID="{0910813C-59E3-4B73-A8C1-8D42AB67D0FC}" presName="sibTrans" presStyleCnt="0"/>
      <dgm:spPr/>
    </dgm:pt>
    <dgm:pt modelId="{B0BBD148-8D02-43B7-8FF2-78E4B4B2AF54}" type="pres">
      <dgm:prSet presAssocID="{4AC920C4-EEFB-4687-BF70-3E24BC780F59}" presName="compNode" presStyleCnt="0"/>
      <dgm:spPr/>
    </dgm:pt>
    <dgm:pt modelId="{841DA7F5-DBEC-48A2-8207-FA74CA80C581}" type="pres">
      <dgm:prSet presAssocID="{4AC920C4-EEFB-4687-BF70-3E24BC780F59}" presName="bgRect" presStyleLbl="bgShp" presStyleIdx="1" presStyleCnt="5"/>
      <dgm:spPr>
        <a:prstGeom prst="roundRect">
          <a:avLst/>
        </a:prstGeom>
        <a:solidFill>
          <a:schemeClr val="bg2"/>
        </a:solidFill>
      </dgm:spPr>
    </dgm:pt>
    <dgm:pt modelId="{B6CA4A77-9A1D-43CC-A4ED-0479197E21E7}" type="pres">
      <dgm:prSet presAssocID="{4AC920C4-EEFB-4687-BF70-3E24BC780F5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B8364E9D-7A4F-4566-A3F2-14268914112C}" type="pres">
      <dgm:prSet presAssocID="{4AC920C4-EEFB-4687-BF70-3E24BC780F59}" presName="spaceRect" presStyleCnt="0"/>
      <dgm:spPr/>
    </dgm:pt>
    <dgm:pt modelId="{8C45CCB6-2EA1-439C-933F-E64FE5909B0A}" type="pres">
      <dgm:prSet presAssocID="{4AC920C4-EEFB-4687-BF70-3E24BC780F59}" presName="parTx" presStyleLbl="revTx" presStyleIdx="1" presStyleCnt="5">
        <dgm:presLayoutVars>
          <dgm:chMax val="0"/>
          <dgm:chPref val="0"/>
        </dgm:presLayoutVars>
      </dgm:prSet>
      <dgm:spPr/>
    </dgm:pt>
    <dgm:pt modelId="{DD72BAAD-7850-4CFA-9A1A-4902E8AB18A4}" type="pres">
      <dgm:prSet presAssocID="{8A0DA557-03D4-47F7-839B-9424955ADA78}" presName="sibTrans" presStyleCnt="0"/>
      <dgm:spPr/>
    </dgm:pt>
    <dgm:pt modelId="{02966E9B-C56A-4A2C-89E7-1F63E93CD870}" type="pres">
      <dgm:prSet presAssocID="{143FA6F0-001A-4374-9F35-878F6758C03F}" presName="compNode" presStyleCnt="0"/>
      <dgm:spPr/>
    </dgm:pt>
    <dgm:pt modelId="{DC46849B-4671-441A-AE42-53F3115AF42C}" type="pres">
      <dgm:prSet presAssocID="{143FA6F0-001A-4374-9F35-878F6758C03F}" presName="bgRect" presStyleLbl="bgShp" presStyleIdx="2" presStyleCnt="5"/>
      <dgm:spPr>
        <a:solidFill>
          <a:schemeClr val="bg2"/>
        </a:solidFill>
      </dgm:spPr>
    </dgm:pt>
    <dgm:pt modelId="{DF4DAF69-1CF3-4319-B01D-9DA860A3FAF8}" type="pres">
      <dgm:prSet presAssocID="{143FA6F0-001A-4374-9F35-878F6758C03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irplane"/>
        </a:ext>
      </dgm:extLst>
    </dgm:pt>
    <dgm:pt modelId="{3C32CCE5-4154-4641-8A55-7A571EEAAFBA}" type="pres">
      <dgm:prSet presAssocID="{143FA6F0-001A-4374-9F35-878F6758C03F}" presName="spaceRect" presStyleCnt="0"/>
      <dgm:spPr/>
    </dgm:pt>
    <dgm:pt modelId="{07674314-471B-49AF-8329-39732970D0BD}" type="pres">
      <dgm:prSet presAssocID="{143FA6F0-001A-4374-9F35-878F6758C03F}" presName="parTx" presStyleLbl="revTx" presStyleIdx="2" presStyleCnt="5">
        <dgm:presLayoutVars>
          <dgm:chMax val="0"/>
          <dgm:chPref val="0"/>
        </dgm:presLayoutVars>
      </dgm:prSet>
      <dgm:spPr/>
    </dgm:pt>
    <dgm:pt modelId="{00FE8F1F-63B8-4869-8C10-6D3B00EF642C}" type="pres">
      <dgm:prSet presAssocID="{5C9B53C3-C852-444A-AF6A-ADA39BCB558C}" presName="sibTrans" presStyleCnt="0"/>
      <dgm:spPr/>
    </dgm:pt>
    <dgm:pt modelId="{D0335B81-0D29-4396-A6A3-FB98F11EBE58}" type="pres">
      <dgm:prSet presAssocID="{A82F75FA-BC81-473F-8AC1-7D6529EB5401}" presName="compNode" presStyleCnt="0"/>
      <dgm:spPr/>
    </dgm:pt>
    <dgm:pt modelId="{3991FB7D-8E95-4461-8715-145F84D84788}" type="pres">
      <dgm:prSet presAssocID="{A82F75FA-BC81-473F-8AC1-7D6529EB5401}" presName="bgRect" presStyleLbl="bgShp" presStyleIdx="3" presStyleCnt="5"/>
      <dgm:spPr>
        <a:solidFill>
          <a:schemeClr val="bg2"/>
        </a:solidFill>
      </dgm:spPr>
    </dgm:pt>
    <dgm:pt modelId="{F19F6C5F-588B-4C7B-A883-15F45617186C}" type="pres">
      <dgm:prSet presAssocID="{A82F75FA-BC81-473F-8AC1-7D6529EB5401}"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ox"/>
        </a:ext>
      </dgm:extLst>
    </dgm:pt>
    <dgm:pt modelId="{93831B17-60B1-487F-A4BA-7264D9C564C4}" type="pres">
      <dgm:prSet presAssocID="{A82F75FA-BC81-473F-8AC1-7D6529EB5401}" presName="spaceRect" presStyleCnt="0"/>
      <dgm:spPr/>
    </dgm:pt>
    <dgm:pt modelId="{E1016185-5A65-49F3-B45C-2DEB44B20D41}" type="pres">
      <dgm:prSet presAssocID="{A82F75FA-BC81-473F-8AC1-7D6529EB5401}" presName="parTx" presStyleLbl="revTx" presStyleIdx="3" presStyleCnt="5">
        <dgm:presLayoutVars>
          <dgm:chMax val="0"/>
          <dgm:chPref val="0"/>
        </dgm:presLayoutVars>
      </dgm:prSet>
      <dgm:spPr/>
    </dgm:pt>
    <dgm:pt modelId="{D7CF5F14-6C74-4AAC-9066-40674C5A40D6}" type="pres">
      <dgm:prSet presAssocID="{06FA89E2-6D33-4CDB-8074-D0CFC1D1C003}" presName="sibTrans" presStyleCnt="0"/>
      <dgm:spPr/>
    </dgm:pt>
    <dgm:pt modelId="{AFC0E0A4-4D9A-4F58-9430-14914CD833CB}" type="pres">
      <dgm:prSet presAssocID="{76FEDE56-0724-48EC-B8A5-CE2636DDED3A}" presName="compNode" presStyleCnt="0"/>
      <dgm:spPr/>
    </dgm:pt>
    <dgm:pt modelId="{2F66CAA5-C063-4817-A38F-3DE932897A47}" type="pres">
      <dgm:prSet presAssocID="{76FEDE56-0724-48EC-B8A5-CE2636DDED3A}" presName="bgRect" presStyleLbl="bgShp" presStyleIdx="4" presStyleCnt="5"/>
      <dgm:spPr>
        <a:solidFill>
          <a:schemeClr val="accent2"/>
        </a:solidFill>
      </dgm:spPr>
    </dgm:pt>
    <dgm:pt modelId="{2A360208-127A-4D51-A423-56AB6D5AED5D}" type="pres">
      <dgm:prSet presAssocID="{76FEDE56-0724-48EC-B8A5-CE2636DDED3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388B6B73-4442-4282-830D-C05303C42A14}" type="pres">
      <dgm:prSet presAssocID="{76FEDE56-0724-48EC-B8A5-CE2636DDED3A}" presName="spaceRect" presStyleCnt="0"/>
      <dgm:spPr/>
    </dgm:pt>
    <dgm:pt modelId="{A53306D9-8CFF-4681-B489-4DA19301FBED}" type="pres">
      <dgm:prSet presAssocID="{76FEDE56-0724-48EC-B8A5-CE2636DDED3A}" presName="parTx" presStyleLbl="revTx" presStyleIdx="4" presStyleCnt="5">
        <dgm:presLayoutVars>
          <dgm:chMax val="0"/>
          <dgm:chPref val="0"/>
        </dgm:presLayoutVars>
      </dgm:prSet>
      <dgm:spPr/>
    </dgm:pt>
  </dgm:ptLst>
  <dgm:cxnLst>
    <dgm:cxn modelId="{C39D6109-B873-4960-B2B5-A72B71B8E2B5}" srcId="{E72B3694-D1DD-4EE1-B47B-EFFEC7EDB0AA}" destId="{4AC920C4-EEFB-4687-BF70-3E24BC780F59}" srcOrd="1" destOrd="0" parTransId="{4FFE03E1-86ED-483A-BAA6-6B4EE83C8C5B}" sibTransId="{8A0DA557-03D4-47F7-839B-9424955ADA78}"/>
    <dgm:cxn modelId="{09F40515-5599-410E-862C-40EF1F9B3E85}" srcId="{E72B3694-D1DD-4EE1-B47B-EFFEC7EDB0AA}" destId="{76FEDE56-0724-48EC-B8A5-CE2636DDED3A}" srcOrd="4" destOrd="0" parTransId="{6F2D9017-1CD9-45F8-928D-BDDDD84B354D}" sibTransId="{C70EC7D9-23AF-4707-80FC-3C435B0D12DD}"/>
    <dgm:cxn modelId="{6525101B-CA09-428C-A203-5C5C7321C253}" type="presOf" srcId="{143FA6F0-001A-4374-9F35-878F6758C03F}" destId="{07674314-471B-49AF-8329-39732970D0BD}" srcOrd="0" destOrd="0" presId="urn:microsoft.com/office/officeart/2018/2/layout/IconVerticalSolidList"/>
    <dgm:cxn modelId="{7A892322-26CA-4336-BC63-56B0858B226A}" type="presOf" srcId="{A82F75FA-BC81-473F-8AC1-7D6529EB5401}" destId="{E1016185-5A65-49F3-B45C-2DEB44B20D41}" srcOrd="0" destOrd="0" presId="urn:microsoft.com/office/officeart/2018/2/layout/IconVerticalSolidList"/>
    <dgm:cxn modelId="{D1D56830-02B0-4CD9-89DF-DB5316C97527}" type="presOf" srcId="{4AC920C4-EEFB-4687-BF70-3E24BC780F59}" destId="{8C45CCB6-2EA1-439C-933F-E64FE5909B0A}" srcOrd="0" destOrd="0" presId="urn:microsoft.com/office/officeart/2018/2/layout/IconVerticalSolidList"/>
    <dgm:cxn modelId="{234FF479-7261-4BA9-98DE-9246ED83E27F}" srcId="{E72B3694-D1DD-4EE1-B47B-EFFEC7EDB0AA}" destId="{FFDE52AE-1D22-4784-A8CC-84EC5D73130D}" srcOrd="0" destOrd="0" parTransId="{326E8C2D-FA30-4B57-A743-B654837C8C3D}" sibTransId="{0910813C-59E3-4B73-A8C1-8D42AB67D0FC}"/>
    <dgm:cxn modelId="{2A19C78A-EA15-4E48-B460-8CC68BAEBC3C}" srcId="{E72B3694-D1DD-4EE1-B47B-EFFEC7EDB0AA}" destId="{A82F75FA-BC81-473F-8AC1-7D6529EB5401}" srcOrd="3" destOrd="0" parTransId="{F9A177A8-5CBA-4E28-8EDF-838A735AFF37}" sibTransId="{06FA89E2-6D33-4CDB-8074-D0CFC1D1C003}"/>
    <dgm:cxn modelId="{A965FBAB-2277-4A9C-AFFA-C2A6E5B937E8}" srcId="{E72B3694-D1DD-4EE1-B47B-EFFEC7EDB0AA}" destId="{143FA6F0-001A-4374-9F35-878F6758C03F}" srcOrd="2" destOrd="0" parTransId="{5FB9C714-029C-478B-9807-59CE4E8FEB23}" sibTransId="{5C9B53C3-C852-444A-AF6A-ADA39BCB558C}"/>
    <dgm:cxn modelId="{6EC917B4-FC1B-4F1F-94F5-BDF38B238D88}" type="presOf" srcId="{E72B3694-D1DD-4EE1-B47B-EFFEC7EDB0AA}" destId="{9DC86312-8471-4595-81CC-E810C10CE363}" srcOrd="0" destOrd="0" presId="urn:microsoft.com/office/officeart/2018/2/layout/IconVerticalSolidList"/>
    <dgm:cxn modelId="{BC39CFE5-D9B1-4CF0-88ED-C6876D9126A0}" type="presOf" srcId="{76FEDE56-0724-48EC-B8A5-CE2636DDED3A}" destId="{A53306D9-8CFF-4681-B489-4DA19301FBED}" srcOrd="0" destOrd="0" presId="urn:microsoft.com/office/officeart/2018/2/layout/IconVerticalSolidList"/>
    <dgm:cxn modelId="{279596F6-A434-4EB6-AE71-803D3F9D0D7E}" type="presOf" srcId="{FFDE52AE-1D22-4784-A8CC-84EC5D73130D}" destId="{154EC152-9BCD-4E93-93DE-AB93FEB2C8A8}" srcOrd="0" destOrd="0" presId="urn:microsoft.com/office/officeart/2018/2/layout/IconVerticalSolidList"/>
    <dgm:cxn modelId="{C8641579-8B62-4336-B4D7-7679AD676DD2}" type="presParOf" srcId="{9DC86312-8471-4595-81CC-E810C10CE363}" destId="{738D436B-183F-44A6-B5AB-12F2D8B9804E}" srcOrd="0" destOrd="0" presId="urn:microsoft.com/office/officeart/2018/2/layout/IconVerticalSolidList"/>
    <dgm:cxn modelId="{1122927E-F496-4E89-B272-9CBE2160FAD5}" type="presParOf" srcId="{738D436B-183F-44A6-B5AB-12F2D8B9804E}" destId="{FBA1EFB4-1D21-47C7-A630-9ACE0C0BC95C}" srcOrd="0" destOrd="0" presId="urn:microsoft.com/office/officeart/2018/2/layout/IconVerticalSolidList"/>
    <dgm:cxn modelId="{9CEA9E3E-2E41-4F63-A77B-8C8FBD7510BE}" type="presParOf" srcId="{738D436B-183F-44A6-B5AB-12F2D8B9804E}" destId="{51145009-1BA3-45CD-AFCD-EF9913C854E0}" srcOrd="1" destOrd="0" presId="urn:microsoft.com/office/officeart/2018/2/layout/IconVerticalSolidList"/>
    <dgm:cxn modelId="{3F05A4E1-A690-4AD9-8701-2485127CCBA8}" type="presParOf" srcId="{738D436B-183F-44A6-B5AB-12F2D8B9804E}" destId="{D2E5CEC3-2419-474D-859B-400EFB3F8702}" srcOrd="2" destOrd="0" presId="urn:microsoft.com/office/officeart/2018/2/layout/IconVerticalSolidList"/>
    <dgm:cxn modelId="{91EF53F0-D25F-4813-9C4E-1009D72DC041}" type="presParOf" srcId="{738D436B-183F-44A6-B5AB-12F2D8B9804E}" destId="{154EC152-9BCD-4E93-93DE-AB93FEB2C8A8}" srcOrd="3" destOrd="0" presId="urn:microsoft.com/office/officeart/2018/2/layout/IconVerticalSolidList"/>
    <dgm:cxn modelId="{360036AD-CD16-459E-BA7E-516A11665A27}" type="presParOf" srcId="{9DC86312-8471-4595-81CC-E810C10CE363}" destId="{E204948E-D977-4B7B-BB66-1CC2BC1A72CE}" srcOrd="1" destOrd="0" presId="urn:microsoft.com/office/officeart/2018/2/layout/IconVerticalSolidList"/>
    <dgm:cxn modelId="{EDBF54D3-0E28-441E-AC54-BC253684436F}" type="presParOf" srcId="{9DC86312-8471-4595-81CC-E810C10CE363}" destId="{B0BBD148-8D02-43B7-8FF2-78E4B4B2AF54}" srcOrd="2" destOrd="0" presId="urn:microsoft.com/office/officeart/2018/2/layout/IconVerticalSolidList"/>
    <dgm:cxn modelId="{70B7F705-0021-446F-BA83-E9A633351315}" type="presParOf" srcId="{B0BBD148-8D02-43B7-8FF2-78E4B4B2AF54}" destId="{841DA7F5-DBEC-48A2-8207-FA74CA80C581}" srcOrd="0" destOrd="0" presId="urn:microsoft.com/office/officeart/2018/2/layout/IconVerticalSolidList"/>
    <dgm:cxn modelId="{1D0ADF95-795B-4CEC-B4F1-86334B48B4EF}" type="presParOf" srcId="{B0BBD148-8D02-43B7-8FF2-78E4B4B2AF54}" destId="{B6CA4A77-9A1D-43CC-A4ED-0479197E21E7}" srcOrd="1" destOrd="0" presId="urn:microsoft.com/office/officeart/2018/2/layout/IconVerticalSolidList"/>
    <dgm:cxn modelId="{40B97329-9DDF-452B-B0CD-FAEC04D00F6F}" type="presParOf" srcId="{B0BBD148-8D02-43B7-8FF2-78E4B4B2AF54}" destId="{B8364E9D-7A4F-4566-A3F2-14268914112C}" srcOrd="2" destOrd="0" presId="urn:microsoft.com/office/officeart/2018/2/layout/IconVerticalSolidList"/>
    <dgm:cxn modelId="{43389F73-26E6-4112-8235-081A69A814C4}" type="presParOf" srcId="{B0BBD148-8D02-43B7-8FF2-78E4B4B2AF54}" destId="{8C45CCB6-2EA1-439C-933F-E64FE5909B0A}" srcOrd="3" destOrd="0" presId="urn:microsoft.com/office/officeart/2018/2/layout/IconVerticalSolidList"/>
    <dgm:cxn modelId="{D3151F06-3A77-4615-9886-1C674674AFC3}" type="presParOf" srcId="{9DC86312-8471-4595-81CC-E810C10CE363}" destId="{DD72BAAD-7850-4CFA-9A1A-4902E8AB18A4}" srcOrd="3" destOrd="0" presId="urn:microsoft.com/office/officeart/2018/2/layout/IconVerticalSolidList"/>
    <dgm:cxn modelId="{76B5A225-4465-453C-AC2B-2DA46F22A227}" type="presParOf" srcId="{9DC86312-8471-4595-81CC-E810C10CE363}" destId="{02966E9B-C56A-4A2C-89E7-1F63E93CD870}" srcOrd="4" destOrd="0" presId="urn:microsoft.com/office/officeart/2018/2/layout/IconVerticalSolidList"/>
    <dgm:cxn modelId="{C117F138-BD34-4372-AE7C-CA4450DD17F4}" type="presParOf" srcId="{02966E9B-C56A-4A2C-89E7-1F63E93CD870}" destId="{DC46849B-4671-441A-AE42-53F3115AF42C}" srcOrd="0" destOrd="0" presId="urn:microsoft.com/office/officeart/2018/2/layout/IconVerticalSolidList"/>
    <dgm:cxn modelId="{B9601C6E-DB98-4389-A51C-98441C52392F}" type="presParOf" srcId="{02966E9B-C56A-4A2C-89E7-1F63E93CD870}" destId="{DF4DAF69-1CF3-4319-B01D-9DA860A3FAF8}" srcOrd="1" destOrd="0" presId="urn:microsoft.com/office/officeart/2018/2/layout/IconVerticalSolidList"/>
    <dgm:cxn modelId="{E4F7FBE5-9C37-4A9C-A122-496A991B0455}" type="presParOf" srcId="{02966E9B-C56A-4A2C-89E7-1F63E93CD870}" destId="{3C32CCE5-4154-4641-8A55-7A571EEAAFBA}" srcOrd="2" destOrd="0" presId="urn:microsoft.com/office/officeart/2018/2/layout/IconVerticalSolidList"/>
    <dgm:cxn modelId="{BEAF0FBE-C591-42DE-B12B-CACC05854176}" type="presParOf" srcId="{02966E9B-C56A-4A2C-89E7-1F63E93CD870}" destId="{07674314-471B-49AF-8329-39732970D0BD}" srcOrd="3" destOrd="0" presId="urn:microsoft.com/office/officeart/2018/2/layout/IconVerticalSolidList"/>
    <dgm:cxn modelId="{F8576172-5FBE-46F3-B327-6B6126C95498}" type="presParOf" srcId="{9DC86312-8471-4595-81CC-E810C10CE363}" destId="{00FE8F1F-63B8-4869-8C10-6D3B00EF642C}" srcOrd="5" destOrd="0" presId="urn:microsoft.com/office/officeart/2018/2/layout/IconVerticalSolidList"/>
    <dgm:cxn modelId="{9F96C3B1-3479-4B61-9BD0-A39A3C033396}" type="presParOf" srcId="{9DC86312-8471-4595-81CC-E810C10CE363}" destId="{D0335B81-0D29-4396-A6A3-FB98F11EBE58}" srcOrd="6" destOrd="0" presId="urn:microsoft.com/office/officeart/2018/2/layout/IconVerticalSolidList"/>
    <dgm:cxn modelId="{E06A77CB-444F-4E5C-A004-D2CA1C617F57}" type="presParOf" srcId="{D0335B81-0D29-4396-A6A3-FB98F11EBE58}" destId="{3991FB7D-8E95-4461-8715-145F84D84788}" srcOrd="0" destOrd="0" presId="urn:microsoft.com/office/officeart/2018/2/layout/IconVerticalSolidList"/>
    <dgm:cxn modelId="{6F77F174-C343-4E2F-A255-227F554F1414}" type="presParOf" srcId="{D0335B81-0D29-4396-A6A3-FB98F11EBE58}" destId="{F19F6C5F-588B-4C7B-A883-15F45617186C}" srcOrd="1" destOrd="0" presId="urn:microsoft.com/office/officeart/2018/2/layout/IconVerticalSolidList"/>
    <dgm:cxn modelId="{C41578C2-95D3-4E91-814B-F5E8BE53C62C}" type="presParOf" srcId="{D0335B81-0D29-4396-A6A3-FB98F11EBE58}" destId="{93831B17-60B1-487F-A4BA-7264D9C564C4}" srcOrd="2" destOrd="0" presId="urn:microsoft.com/office/officeart/2018/2/layout/IconVerticalSolidList"/>
    <dgm:cxn modelId="{DE30AF32-A0DE-4F44-9367-CBBE830FEA2E}" type="presParOf" srcId="{D0335B81-0D29-4396-A6A3-FB98F11EBE58}" destId="{E1016185-5A65-49F3-B45C-2DEB44B20D41}" srcOrd="3" destOrd="0" presId="urn:microsoft.com/office/officeart/2018/2/layout/IconVerticalSolidList"/>
    <dgm:cxn modelId="{FC9B01C0-F7D4-4C9D-89EB-80BAC8B93102}" type="presParOf" srcId="{9DC86312-8471-4595-81CC-E810C10CE363}" destId="{D7CF5F14-6C74-4AAC-9066-40674C5A40D6}" srcOrd="7" destOrd="0" presId="urn:microsoft.com/office/officeart/2018/2/layout/IconVerticalSolidList"/>
    <dgm:cxn modelId="{1920CE34-6A7B-4EE8-91A7-D9D18958DEDC}" type="presParOf" srcId="{9DC86312-8471-4595-81CC-E810C10CE363}" destId="{AFC0E0A4-4D9A-4F58-9430-14914CD833CB}" srcOrd="8" destOrd="0" presId="urn:microsoft.com/office/officeart/2018/2/layout/IconVerticalSolidList"/>
    <dgm:cxn modelId="{6F98B944-3731-42EA-AACB-185A71066E7E}" type="presParOf" srcId="{AFC0E0A4-4D9A-4F58-9430-14914CD833CB}" destId="{2F66CAA5-C063-4817-A38F-3DE932897A47}" srcOrd="0" destOrd="0" presId="urn:microsoft.com/office/officeart/2018/2/layout/IconVerticalSolidList"/>
    <dgm:cxn modelId="{0E254997-427F-4586-B761-CEEFC5CC8D6B}" type="presParOf" srcId="{AFC0E0A4-4D9A-4F58-9430-14914CD833CB}" destId="{2A360208-127A-4D51-A423-56AB6D5AED5D}" srcOrd="1" destOrd="0" presId="urn:microsoft.com/office/officeart/2018/2/layout/IconVerticalSolidList"/>
    <dgm:cxn modelId="{F24C0A0E-9A89-4367-835F-649E884A7EBE}" type="presParOf" srcId="{AFC0E0A4-4D9A-4F58-9430-14914CD833CB}" destId="{388B6B73-4442-4282-830D-C05303C42A14}" srcOrd="2" destOrd="0" presId="urn:microsoft.com/office/officeart/2018/2/layout/IconVerticalSolidList"/>
    <dgm:cxn modelId="{89AF6C26-BD0C-4079-B1FB-D94E1C109D46}" type="presParOf" srcId="{AFC0E0A4-4D9A-4F58-9430-14914CD833CB}" destId="{A53306D9-8CFF-4681-B489-4DA19301FB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DA804-EBC3-4DDE-932E-A239437891C1}">
      <dsp:nvSpPr>
        <dsp:cNvPr id="0" name=""/>
        <dsp:cNvSpPr/>
      </dsp:nvSpPr>
      <dsp:spPr>
        <a:xfrm>
          <a:off x="784117" y="787174"/>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3EA16E-EC47-418B-A46F-E88BD14D9DBA}">
      <dsp:nvSpPr>
        <dsp:cNvPr id="0" name=""/>
        <dsp:cNvSpPr/>
      </dsp:nvSpPr>
      <dsp:spPr>
        <a:xfrm>
          <a:off x="310195" y="250205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CA" sz="1700" b="1" kern="1200" dirty="0"/>
            <a:t>Compliance and Data Residency</a:t>
          </a:r>
          <a:endParaRPr lang="en-US" sz="1700" kern="1200" dirty="0"/>
        </a:p>
      </dsp:txBody>
      <dsp:txXfrm>
        <a:off x="310195" y="2502056"/>
        <a:ext cx="1800000" cy="720000"/>
      </dsp:txXfrm>
    </dsp:sp>
    <dsp:sp modelId="{5CEF0CA3-A0E3-43AE-9576-ACC0E1150DD6}">
      <dsp:nvSpPr>
        <dsp:cNvPr id="0" name=""/>
        <dsp:cNvSpPr/>
      </dsp:nvSpPr>
      <dsp:spPr>
        <a:xfrm>
          <a:off x="2899118" y="787174"/>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797A2-B606-4F78-A32B-6AA79132DCBD}">
      <dsp:nvSpPr>
        <dsp:cNvPr id="0" name=""/>
        <dsp:cNvSpPr/>
      </dsp:nvSpPr>
      <dsp:spPr>
        <a:xfrm>
          <a:off x="2392399" y="250205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CA" sz="1700" b="1" kern="1200" dirty="0"/>
            <a:t>Service Availability + Availability Zones</a:t>
          </a:r>
          <a:endParaRPr lang="en-US" sz="1700" kern="1200" dirty="0"/>
        </a:p>
      </dsp:txBody>
      <dsp:txXfrm>
        <a:off x="2392399" y="2502056"/>
        <a:ext cx="1800000" cy="720000"/>
      </dsp:txXfrm>
    </dsp:sp>
    <dsp:sp modelId="{96F57EF6-9AF2-4C6E-BFB8-380EF8916F3B}">
      <dsp:nvSpPr>
        <dsp:cNvPr id="0" name=""/>
        <dsp:cNvSpPr/>
      </dsp:nvSpPr>
      <dsp:spPr>
        <a:xfrm>
          <a:off x="5014118" y="787174"/>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CFD560-B3EA-469E-A6EF-33161D1CA92E}">
      <dsp:nvSpPr>
        <dsp:cNvPr id="0" name=""/>
        <dsp:cNvSpPr/>
      </dsp:nvSpPr>
      <dsp:spPr>
        <a:xfrm>
          <a:off x="4530836" y="250205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CA" sz="1700" b="1" kern="1200" dirty="0"/>
            <a:t>Latency</a:t>
          </a:r>
          <a:endParaRPr lang="en-US" sz="1700" kern="1200" dirty="0"/>
        </a:p>
      </dsp:txBody>
      <dsp:txXfrm>
        <a:off x="4530836" y="2502056"/>
        <a:ext cx="1800000" cy="720000"/>
      </dsp:txXfrm>
    </dsp:sp>
    <dsp:sp modelId="{BC1242DF-4F6A-443E-BB90-4C5FB612C751}">
      <dsp:nvSpPr>
        <dsp:cNvPr id="0" name=""/>
        <dsp:cNvSpPr/>
      </dsp:nvSpPr>
      <dsp:spPr>
        <a:xfrm>
          <a:off x="7129118" y="787174"/>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3565EF-01F0-4C17-B9DB-874F74AAE440}">
      <dsp:nvSpPr>
        <dsp:cNvPr id="0" name=""/>
        <dsp:cNvSpPr/>
      </dsp:nvSpPr>
      <dsp:spPr>
        <a:xfrm>
          <a:off x="6598946" y="250166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CA" sz="1700" b="1" kern="1200" dirty="0"/>
            <a:t>Pricing</a:t>
          </a:r>
          <a:endParaRPr lang="en-US" sz="1700" kern="1200" dirty="0"/>
        </a:p>
      </dsp:txBody>
      <dsp:txXfrm>
        <a:off x="6598946" y="2501660"/>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EFB4-1D21-47C7-A630-9ACE0C0BC95C}">
      <dsp:nvSpPr>
        <dsp:cNvPr id="0" name=""/>
        <dsp:cNvSpPr/>
      </dsp:nvSpPr>
      <dsp:spPr>
        <a:xfrm>
          <a:off x="0" y="2832"/>
          <a:ext cx="3914775" cy="603298"/>
        </a:xfrm>
        <a:prstGeom prst="roundRect">
          <a:avLst>
            <a:gd name="adj" fmla="val 10000"/>
          </a:avLst>
        </a:prstGeom>
        <a:solidFill>
          <a:schemeClr val="accent2"/>
        </a:solidFill>
        <a:ln>
          <a:noFill/>
        </a:ln>
        <a:effectLst/>
      </dsp:spPr>
      <dsp:style>
        <a:lnRef idx="0">
          <a:scrgbClr r="0" g="0" b="0"/>
        </a:lnRef>
        <a:fillRef idx="1">
          <a:scrgbClr r="0" g="0" b="0"/>
        </a:fillRef>
        <a:effectRef idx="0">
          <a:scrgbClr r="0" g="0" b="0"/>
        </a:effectRef>
        <a:fontRef idx="minor"/>
      </dsp:style>
    </dsp:sp>
    <dsp:sp modelId="{51145009-1BA3-45CD-AFCD-EF9913C854E0}">
      <dsp:nvSpPr>
        <dsp:cNvPr id="0" name=""/>
        <dsp:cNvSpPr/>
      </dsp:nvSpPr>
      <dsp: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4EC152-9BCD-4E93-93DE-AB93FEB2C8A8}">
      <dsp:nvSpPr>
        <dsp:cNvPr id="0" name=""/>
        <dsp:cNvSpPr/>
      </dsp:nvSpPr>
      <dsp:spPr>
        <a:xfrm>
          <a:off x="696809" y="2832"/>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dirty="0">
              <a:solidFill>
                <a:srgbClr val="FFFFFF"/>
              </a:solidFill>
              <a:latin typeface="Arial" panose="020B0604020202020204"/>
              <a:ea typeface="+mn-ea"/>
              <a:cs typeface="+mn-cs"/>
            </a:rPr>
            <a:t>Subscription Democratization</a:t>
          </a:r>
          <a:endParaRPr lang="en-US" sz="1600" kern="1200" dirty="0">
            <a:solidFill>
              <a:srgbClr val="FFFFFF"/>
            </a:solidFill>
            <a:latin typeface="Arial" panose="020B0604020202020204"/>
            <a:ea typeface="+mn-ea"/>
            <a:cs typeface="+mn-cs"/>
          </a:endParaRPr>
        </a:p>
      </dsp:txBody>
      <dsp:txXfrm>
        <a:off x="696809" y="2832"/>
        <a:ext cx="3217965" cy="603298"/>
      </dsp:txXfrm>
    </dsp:sp>
    <dsp:sp modelId="{841DA7F5-DBEC-48A2-8207-FA74CA80C581}">
      <dsp:nvSpPr>
        <dsp:cNvPr id="0" name=""/>
        <dsp:cNvSpPr/>
      </dsp:nvSpPr>
      <dsp:spPr>
        <a:xfrm>
          <a:off x="0" y="756955"/>
          <a:ext cx="3914775" cy="603298"/>
        </a:xfrm>
        <a:prstGeom prst="roundRect">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B6CA4A77-9A1D-43CC-A4ED-0479197E21E7}">
      <dsp:nvSpPr>
        <dsp:cNvPr id="0" name=""/>
        <dsp:cNvSpPr/>
      </dsp:nvSpPr>
      <dsp: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45CCB6-2EA1-439C-933F-E64FE5909B0A}">
      <dsp:nvSpPr>
        <dsp:cNvPr id="0" name=""/>
        <dsp:cNvSpPr/>
      </dsp:nvSpPr>
      <dsp:spPr>
        <a:xfrm>
          <a:off x="696809" y="756955"/>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dirty="0">
              <a:solidFill>
                <a:srgbClr val="FFFFFF"/>
              </a:solidFill>
              <a:latin typeface="Arial" panose="020B0604020202020204"/>
              <a:ea typeface="+mn-ea"/>
              <a:cs typeface="+mn-cs"/>
            </a:rPr>
            <a:t>Policy Driven Governance</a:t>
          </a:r>
          <a:endParaRPr lang="en-US" sz="1600" kern="1200" dirty="0">
            <a:solidFill>
              <a:srgbClr val="FFFFFF"/>
            </a:solidFill>
            <a:latin typeface="Arial" panose="020B0604020202020204"/>
            <a:ea typeface="+mn-ea"/>
            <a:cs typeface="+mn-cs"/>
          </a:endParaRPr>
        </a:p>
      </dsp:txBody>
      <dsp:txXfrm>
        <a:off x="696809" y="756955"/>
        <a:ext cx="3217965" cy="603298"/>
      </dsp:txXfrm>
    </dsp:sp>
    <dsp:sp modelId="{DC46849B-4671-441A-AE42-53F3115AF42C}">
      <dsp:nvSpPr>
        <dsp:cNvPr id="0" name=""/>
        <dsp:cNvSpPr/>
      </dsp:nvSpPr>
      <dsp:spPr>
        <a:xfrm>
          <a:off x="0" y="1511077"/>
          <a:ext cx="3914775" cy="603298"/>
        </a:xfrm>
        <a:prstGeom prst="roundRect">
          <a:avLst>
            <a:gd name="adj" fmla="val 10000"/>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DF4DAF69-1CF3-4319-B01D-9DA860A3FAF8}">
      <dsp:nvSpPr>
        <dsp:cNvPr id="0" name=""/>
        <dsp:cNvSpPr/>
      </dsp:nvSpPr>
      <dsp: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74314-471B-49AF-8329-39732970D0BD}">
      <dsp:nvSpPr>
        <dsp:cNvPr id="0" name=""/>
        <dsp:cNvSpPr/>
      </dsp:nvSpPr>
      <dsp:spPr>
        <a:xfrm>
          <a:off x="696809" y="1511077"/>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a:solidFill>
                <a:srgbClr val="FFFFFF"/>
              </a:solidFill>
              <a:latin typeface="Arial" panose="020B0604020202020204"/>
              <a:ea typeface="+mn-ea"/>
              <a:cs typeface="+mn-cs"/>
            </a:rPr>
            <a:t>Single Control and Management Plane</a:t>
          </a:r>
          <a:endParaRPr lang="en-US" sz="1600" kern="1200">
            <a:solidFill>
              <a:srgbClr val="FFFFFF"/>
            </a:solidFill>
            <a:latin typeface="Arial" panose="020B0604020202020204"/>
            <a:ea typeface="+mn-ea"/>
            <a:cs typeface="+mn-cs"/>
          </a:endParaRPr>
        </a:p>
      </dsp:txBody>
      <dsp:txXfrm>
        <a:off x="696809" y="1511077"/>
        <a:ext cx="3217965" cy="603298"/>
      </dsp:txXfrm>
    </dsp:sp>
    <dsp:sp modelId="{3991FB7D-8E95-4461-8715-145F84D84788}">
      <dsp:nvSpPr>
        <dsp:cNvPr id="0" name=""/>
        <dsp:cNvSpPr/>
      </dsp:nvSpPr>
      <dsp:spPr>
        <a:xfrm>
          <a:off x="0" y="2265200"/>
          <a:ext cx="3914775" cy="603298"/>
        </a:xfrm>
        <a:prstGeom prst="roundRect">
          <a:avLst>
            <a:gd name="adj" fmla="val 10000"/>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F19F6C5F-588B-4C7B-A883-15F45617186C}">
      <dsp:nvSpPr>
        <dsp:cNvPr id="0" name=""/>
        <dsp:cNvSpPr/>
      </dsp:nvSpPr>
      <dsp: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16185-5A65-49F3-B45C-2DEB44B20D41}">
      <dsp:nvSpPr>
        <dsp:cNvPr id="0" name=""/>
        <dsp:cNvSpPr/>
      </dsp:nvSpPr>
      <dsp:spPr>
        <a:xfrm>
          <a:off x="696809" y="2265200"/>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a:solidFill>
                <a:srgbClr val="FFFFFF"/>
              </a:solidFill>
              <a:latin typeface="Arial" panose="020B0604020202020204"/>
              <a:ea typeface="+mn-ea"/>
              <a:cs typeface="+mn-cs"/>
            </a:rPr>
            <a:t>Application Centric and Archetype-Neutral </a:t>
          </a:r>
          <a:endParaRPr lang="en-US" sz="1600" kern="1200">
            <a:solidFill>
              <a:srgbClr val="FFFFFF"/>
            </a:solidFill>
            <a:latin typeface="Arial" panose="020B0604020202020204"/>
            <a:ea typeface="+mn-ea"/>
            <a:cs typeface="+mn-cs"/>
          </a:endParaRPr>
        </a:p>
      </dsp:txBody>
      <dsp:txXfrm>
        <a:off x="696809" y="2265200"/>
        <a:ext cx="3217965" cy="603298"/>
      </dsp:txXfrm>
    </dsp:sp>
    <dsp:sp modelId="{2F66CAA5-C063-4817-A38F-3DE932897A47}">
      <dsp:nvSpPr>
        <dsp:cNvPr id="0" name=""/>
        <dsp:cNvSpPr/>
      </dsp:nvSpPr>
      <dsp:spPr>
        <a:xfrm>
          <a:off x="0" y="3019323"/>
          <a:ext cx="3914775" cy="603298"/>
        </a:xfrm>
        <a:prstGeom prst="roundRect">
          <a:avLst>
            <a:gd name="adj" fmla="val 10000"/>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2A360208-127A-4D51-A423-56AB6D5AED5D}">
      <dsp:nvSpPr>
        <dsp:cNvPr id="0" name=""/>
        <dsp:cNvSpPr/>
      </dsp:nvSpPr>
      <dsp: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306D9-8CFF-4681-B489-4DA19301FBED}">
      <dsp:nvSpPr>
        <dsp:cNvPr id="0" name=""/>
        <dsp:cNvSpPr/>
      </dsp:nvSpPr>
      <dsp:spPr>
        <a:xfrm>
          <a:off x="696809" y="3019323"/>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dirty="0">
              <a:solidFill>
                <a:srgbClr val="FFFFFF"/>
              </a:solidFill>
              <a:latin typeface="Arial" panose="020B0604020202020204"/>
              <a:ea typeface="+mn-ea"/>
              <a:cs typeface="+mn-cs"/>
            </a:rPr>
            <a:t>Azure Native Design and Platform Roadmap Alignment</a:t>
          </a:r>
          <a:endParaRPr lang="en-US" sz="1600" kern="1200" dirty="0">
            <a:solidFill>
              <a:srgbClr val="FFFFFF"/>
            </a:solidFill>
            <a:latin typeface="Arial" panose="020B0604020202020204"/>
            <a:ea typeface="+mn-ea"/>
            <a:cs typeface="+mn-cs"/>
          </a:endParaRPr>
        </a:p>
      </dsp:txBody>
      <dsp:txXfrm>
        <a:off x="696809" y="3019323"/>
        <a:ext cx="3217965" cy="603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EFB4-1D21-47C7-A630-9ACE0C0BC95C}">
      <dsp:nvSpPr>
        <dsp:cNvPr id="0" name=""/>
        <dsp:cNvSpPr/>
      </dsp:nvSpPr>
      <dsp:spPr>
        <a:xfrm>
          <a:off x="0" y="2832"/>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51145009-1BA3-45CD-AFCD-EF9913C854E0}">
      <dsp:nvSpPr>
        <dsp:cNvPr id="0" name=""/>
        <dsp:cNvSpPr/>
      </dsp:nvSpPr>
      <dsp: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4EC152-9BCD-4E93-93DE-AB93FEB2C8A8}">
      <dsp:nvSpPr>
        <dsp:cNvPr id="0" name=""/>
        <dsp:cNvSpPr/>
      </dsp:nvSpPr>
      <dsp:spPr>
        <a:xfrm>
          <a:off x="696809" y="2832"/>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dirty="0">
              <a:solidFill>
                <a:srgbClr val="FFFFFF"/>
              </a:solidFill>
              <a:latin typeface="Arial" panose="020B0604020202020204"/>
              <a:ea typeface="+mn-ea"/>
              <a:cs typeface="+mn-cs"/>
            </a:rPr>
            <a:t>Subscription Democratisation</a:t>
          </a:r>
          <a:endParaRPr lang="en-US" sz="1600" kern="1200" dirty="0">
            <a:solidFill>
              <a:srgbClr val="FFFFFF"/>
            </a:solidFill>
            <a:latin typeface="Arial" panose="020B0604020202020204"/>
            <a:ea typeface="+mn-ea"/>
            <a:cs typeface="+mn-cs"/>
          </a:endParaRPr>
        </a:p>
      </dsp:txBody>
      <dsp:txXfrm>
        <a:off x="696809" y="2832"/>
        <a:ext cx="3217965" cy="603298"/>
      </dsp:txXfrm>
    </dsp:sp>
    <dsp:sp modelId="{841DA7F5-DBEC-48A2-8207-FA74CA80C581}">
      <dsp:nvSpPr>
        <dsp:cNvPr id="0" name=""/>
        <dsp:cNvSpPr/>
      </dsp:nvSpPr>
      <dsp:spPr>
        <a:xfrm>
          <a:off x="0" y="756955"/>
          <a:ext cx="3914775" cy="603298"/>
        </a:xfrm>
        <a:prstGeom prst="roundRect">
          <a:avLst/>
        </a:prstGeom>
        <a:solidFill>
          <a:schemeClr val="accent2"/>
        </a:solidFill>
        <a:ln>
          <a:noFill/>
        </a:ln>
        <a:effectLst/>
      </dsp:spPr>
      <dsp:style>
        <a:lnRef idx="0">
          <a:scrgbClr r="0" g="0" b="0"/>
        </a:lnRef>
        <a:fillRef idx="1">
          <a:scrgbClr r="0" g="0" b="0"/>
        </a:fillRef>
        <a:effectRef idx="0">
          <a:scrgbClr r="0" g="0" b="0"/>
        </a:effectRef>
        <a:fontRef idx="minor"/>
      </dsp:style>
    </dsp:sp>
    <dsp:sp modelId="{B6CA4A77-9A1D-43CC-A4ED-0479197E21E7}">
      <dsp:nvSpPr>
        <dsp:cNvPr id="0" name=""/>
        <dsp:cNvSpPr/>
      </dsp:nvSpPr>
      <dsp: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45CCB6-2EA1-439C-933F-E64FE5909B0A}">
      <dsp:nvSpPr>
        <dsp:cNvPr id="0" name=""/>
        <dsp:cNvSpPr/>
      </dsp:nvSpPr>
      <dsp:spPr>
        <a:xfrm>
          <a:off x="696809" y="756955"/>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a:solidFill>
                <a:srgbClr val="FFFFFF"/>
              </a:solidFill>
              <a:latin typeface="Arial" panose="020B0604020202020204"/>
              <a:ea typeface="+mn-ea"/>
              <a:cs typeface="+mn-cs"/>
            </a:rPr>
            <a:t>Policy Driven Governance</a:t>
          </a:r>
          <a:endParaRPr lang="en-US" sz="1600" kern="1200">
            <a:solidFill>
              <a:srgbClr val="FFFFFF"/>
            </a:solidFill>
            <a:latin typeface="Arial" panose="020B0604020202020204"/>
            <a:ea typeface="+mn-ea"/>
            <a:cs typeface="+mn-cs"/>
          </a:endParaRPr>
        </a:p>
      </dsp:txBody>
      <dsp:txXfrm>
        <a:off x="696809" y="756955"/>
        <a:ext cx="3217965" cy="603298"/>
      </dsp:txXfrm>
    </dsp:sp>
    <dsp:sp modelId="{DC46849B-4671-441A-AE42-53F3115AF42C}">
      <dsp:nvSpPr>
        <dsp:cNvPr id="0" name=""/>
        <dsp:cNvSpPr/>
      </dsp:nvSpPr>
      <dsp:spPr>
        <a:xfrm>
          <a:off x="0" y="1511077"/>
          <a:ext cx="3914775" cy="603298"/>
        </a:xfrm>
        <a:prstGeom prst="roundRect">
          <a:avLst>
            <a:gd name="adj" fmla="val 10000"/>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DF4DAF69-1CF3-4319-B01D-9DA860A3FAF8}">
      <dsp:nvSpPr>
        <dsp:cNvPr id="0" name=""/>
        <dsp:cNvSpPr/>
      </dsp:nvSpPr>
      <dsp: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74314-471B-49AF-8329-39732970D0BD}">
      <dsp:nvSpPr>
        <dsp:cNvPr id="0" name=""/>
        <dsp:cNvSpPr/>
      </dsp:nvSpPr>
      <dsp:spPr>
        <a:xfrm>
          <a:off x="696809" y="1511077"/>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a:solidFill>
                <a:srgbClr val="FFFFFF"/>
              </a:solidFill>
              <a:latin typeface="Arial" panose="020B0604020202020204"/>
              <a:ea typeface="+mn-ea"/>
              <a:cs typeface="+mn-cs"/>
            </a:rPr>
            <a:t>Single Control and Management Plane</a:t>
          </a:r>
          <a:endParaRPr lang="en-US" sz="1600" kern="1200">
            <a:solidFill>
              <a:srgbClr val="FFFFFF"/>
            </a:solidFill>
            <a:latin typeface="Arial" panose="020B0604020202020204"/>
            <a:ea typeface="+mn-ea"/>
            <a:cs typeface="+mn-cs"/>
          </a:endParaRPr>
        </a:p>
      </dsp:txBody>
      <dsp:txXfrm>
        <a:off x="696809" y="1511077"/>
        <a:ext cx="3217965" cy="603298"/>
      </dsp:txXfrm>
    </dsp:sp>
    <dsp:sp modelId="{3991FB7D-8E95-4461-8715-145F84D84788}">
      <dsp:nvSpPr>
        <dsp:cNvPr id="0" name=""/>
        <dsp:cNvSpPr/>
      </dsp:nvSpPr>
      <dsp:spPr>
        <a:xfrm>
          <a:off x="0" y="2265200"/>
          <a:ext cx="3914775" cy="603298"/>
        </a:xfrm>
        <a:prstGeom prst="roundRect">
          <a:avLst>
            <a:gd name="adj" fmla="val 10000"/>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F19F6C5F-588B-4C7B-A883-15F45617186C}">
      <dsp:nvSpPr>
        <dsp:cNvPr id="0" name=""/>
        <dsp:cNvSpPr/>
      </dsp:nvSpPr>
      <dsp: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16185-5A65-49F3-B45C-2DEB44B20D41}">
      <dsp:nvSpPr>
        <dsp:cNvPr id="0" name=""/>
        <dsp:cNvSpPr/>
      </dsp:nvSpPr>
      <dsp:spPr>
        <a:xfrm>
          <a:off x="696809" y="2265200"/>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a:solidFill>
                <a:srgbClr val="FFFFFF"/>
              </a:solidFill>
              <a:latin typeface="Arial" panose="020B0604020202020204"/>
              <a:ea typeface="+mn-ea"/>
              <a:cs typeface="+mn-cs"/>
            </a:rPr>
            <a:t>Application Centric and Archetype-Neutral </a:t>
          </a:r>
          <a:endParaRPr lang="en-US" sz="1600" kern="1200">
            <a:solidFill>
              <a:srgbClr val="FFFFFF"/>
            </a:solidFill>
            <a:latin typeface="Arial" panose="020B0604020202020204"/>
            <a:ea typeface="+mn-ea"/>
            <a:cs typeface="+mn-cs"/>
          </a:endParaRPr>
        </a:p>
      </dsp:txBody>
      <dsp:txXfrm>
        <a:off x="696809" y="2265200"/>
        <a:ext cx="3217965" cy="603298"/>
      </dsp:txXfrm>
    </dsp:sp>
    <dsp:sp modelId="{2F66CAA5-C063-4817-A38F-3DE932897A47}">
      <dsp:nvSpPr>
        <dsp:cNvPr id="0" name=""/>
        <dsp:cNvSpPr/>
      </dsp:nvSpPr>
      <dsp:spPr>
        <a:xfrm>
          <a:off x="0" y="3019323"/>
          <a:ext cx="3914775" cy="603298"/>
        </a:xfrm>
        <a:prstGeom prst="roundRect">
          <a:avLst>
            <a:gd name="adj" fmla="val 10000"/>
          </a:avLst>
        </a:prstGeom>
        <a:solidFill>
          <a:srgbClr val="7D716D">
            <a:lumMod val="40000"/>
            <a:lumOff val="60000"/>
          </a:srgbClr>
        </a:solidFill>
        <a:ln>
          <a:noFill/>
        </a:ln>
        <a:effectLst/>
      </dsp:spPr>
      <dsp:style>
        <a:lnRef idx="0">
          <a:scrgbClr r="0" g="0" b="0"/>
        </a:lnRef>
        <a:fillRef idx="1">
          <a:scrgbClr r="0" g="0" b="0"/>
        </a:fillRef>
        <a:effectRef idx="0">
          <a:scrgbClr r="0" g="0" b="0"/>
        </a:effectRef>
        <a:fontRef idx="minor"/>
      </dsp:style>
    </dsp:sp>
    <dsp:sp modelId="{2A360208-127A-4D51-A423-56AB6D5AED5D}">
      <dsp:nvSpPr>
        <dsp:cNvPr id="0" name=""/>
        <dsp:cNvSpPr/>
      </dsp:nvSpPr>
      <dsp: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306D9-8CFF-4681-B489-4DA19301FBED}">
      <dsp:nvSpPr>
        <dsp:cNvPr id="0" name=""/>
        <dsp:cNvSpPr/>
      </dsp:nvSpPr>
      <dsp:spPr>
        <a:xfrm>
          <a:off x="696809" y="3019323"/>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711200">
            <a:lnSpc>
              <a:spcPct val="100000"/>
            </a:lnSpc>
            <a:spcBef>
              <a:spcPct val="0"/>
            </a:spcBef>
            <a:spcAft>
              <a:spcPct val="35000"/>
            </a:spcAft>
            <a:buNone/>
          </a:pPr>
          <a:r>
            <a:rPr lang="en-GB" sz="1600" kern="1200" baseline="0" dirty="0">
              <a:solidFill>
                <a:srgbClr val="FFFFFF"/>
              </a:solidFill>
              <a:latin typeface="Arial" panose="020B0604020202020204"/>
              <a:ea typeface="+mn-ea"/>
              <a:cs typeface="+mn-cs"/>
            </a:rPr>
            <a:t>Azure Native Design and Platform Roadmap Alignment</a:t>
          </a:r>
          <a:endParaRPr lang="en-US" sz="1600" kern="1200" dirty="0">
            <a:solidFill>
              <a:srgbClr val="FFFFFF"/>
            </a:solidFill>
            <a:latin typeface="Arial" panose="020B0604020202020204"/>
            <a:ea typeface="+mn-ea"/>
            <a:cs typeface="+mn-cs"/>
          </a:endParaRPr>
        </a:p>
      </dsp:txBody>
      <dsp:txXfrm>
        <a:off x="696809" y="3019323"/>
        <a:ext cx="3217965" cy="6032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EFB4-1D21-47C7-A630-9ACE0C0BC95C}">
      <dsp:nvSpPr>
        <dsp:cNvPr id="0" name=""/>
        <dsp:cNvSpPr/>
      </dsp:nvSpPr>
      <dsp:spPr>
        <a:xfrm>
          <a:off x="0" y="2832"/>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51145009-1BA3-45CD-AFCD-EF9913C854E0}">
      <dsp:nvSpPr>
        <dsp:cNvPr id="0" name=""/>
        <dsp:cNvSpPr/>
      </dsp:nvSpPr>
      <dsp: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4EC152-9BCD-4E93-93DE-AB93FEB2C8A8}">
      <dsp:nvSpPr>
        <dsp:cNvPr id="0" name=""/>
        <dsp:cNvSpPr/>
      </dsp:nvSpPr>
      <dsp:spPr>
        <a:xfrm>
          <a:off x="696809" y="2832"/>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Subscription Democratisation</a:t>
          </a:r>
          <a:endParaRPr lang="en-US" sz="1500" kern="1200" dirty="0">
            <a:solidFill>
              <a:schemeClr val="bg1"/>
            </a:solidFill>
          </a:endParaRPr>
        </a:p>
      </dsp:txBody>
      <dsp:txXfrm>
        <a:off x="696809" y="2832"/>
        <a:ext cx="3217965" cy="603298"/>
      </dsp:txXfrm>
    </dsp:sp>
    <dsp:sp modelId="{841DA7F5-DBEC-48A2-8207-FA74CA80C581}">
      <dsp:nvSpPr>
        <dsp:cNvPr id="0" name=""/>
        <dsp:cNvSpPr/>
      </dsp:nvSpPr>
      <dsp:spPr>
        <a:xfrm>
          <a:off x="0" y="756955"/>
          <a:ext cx="3914775" cy="603298"/>
        </a:xfrm>
        <a:prstGeom prst="roundRect">
          <a:avLst/>
        </a:prstGeom>
        <a:solidFill>
          <a:schemeClr val="bg2"/>
        </a:solidFill>
        <a:ln>
          <a:noFill/>
        </a:ln>
        <a:effectLst/>
      </dsp:spPr>
      <dsp:style>
        <a:lnRef idx="0">
          <a:scrgbClr r="0" g="0" b="0"/>
        </a:lnRef>
        <a:fillRef idx="1">
          <a:scrgbClr r="0" g="0" b="0"/>
        </a:fillRef>
        <a:effectRef idx="0">
          <a:scrgbClr r="0" g="0" b="0"/>
        </a:effectRef>
        <a:fontRef idx="minor"/>
      </dsp:style>
    </dsp:sp>
    <dsp:sp modelId="{B6CA4A77-9A1D-43CC-A4ED-0479197E21E7}">
      <dsp:nvSpPr>
        <dsp:cNvPr id="0" name=""/>
        <dsp:cNvSpPr/>
      </dsp:nvSpPr>
      <dsp: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45CCB6-2EA1-439C-933F-E64FE5909B0A}">
      <dsp:nvSpPr>
        <dsp:cNvPr id="0" name=""/>
        <dsp:cNvSpPr/>
      </dsp:nvSpPr>
      <dsp:spPr>
        <a:xfrm>
          <a:off x="696809" y="756955"/>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a:solidFill>
                <a:schemeClr val="bg1"/>
              </a:solidFill>
            </a:rPr>
            <a:t>Policy Driven Governance</a:t>
          </a:r>
          <a:endParaRPr lang="en-US" sz="1500" kern="1200">
            <a:solidFill>
              <a:schemeClr val="bg1"/>
            </a:solidFill>
          </a:endParaRPr>
        </a:p>
      </dsp:txBody>
      <dsp:txXfrm>
        <a:off x="696809" y="756955"/>
        <a:ext cx="3217965" cy="603298"/>
      </dsp:txXfrm>
    </dsp:sp>
    <dsp:sp modelId="{DC46849B-4671-441A-AE42-53F3115AF42C}">
      <dsp:nvSpPr>
        <dsp:cNvPr id="0" name=""/>
        <dsp:cNvSpPr/>
      </dsp:nvSpPr>
      <dsp:spPr>
        <a:xfrm>
          <a:off x="0" y="1511077"/>
          <a:ext cx="3914775" cy="603298"/>
        </a:xfrm>
        <a:prstGeom prst="roundRect">
          <a:avLst>
            <a:gd name="adj" fmla="val 10000"/>
          </a:avLst>
        </a:prstGeom>
        <a:solidFill>
          <a:schemeClr val="accent2"/>
        </a:solidFill>
        <a:ln>
          <a:noFill/>
        </a:ln>
        <a:effectLst/>
      </dsp:spPr>
      <dsp:style>
        <a:lnRef idx="0">
          <a:scrgbClr r="0" g="0" b="0"/>
        </a:lnRef>
        <a:fillRef idx="1">
          <a:scrgbClr r="0" g="0" b="0"/>
        </a:fillRef>
        <a:effectRef idx="0">
          <a:scrgbClr r="0" g="0" b="0"/>
        </a:effectRef>
        <a:fontRef idx="minor"/>
      </dsp:style>
    </dsp:sp>
    <dsp:sp modelId="{DF4DAF69-1CF3-4319-B01D-9DA860A3FAF8}">
      <dsp:nvSpPr>
        <dsp:cNvPr id="0" name=""/>
        <dsp:cNvSpPr/>
      </dsp:nvSpPr>
      <dsp: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74314-471B-49AF-8329-39732970D0BD}">
      <dsp:nvSpPr>
        <dsp:cNvPr id="0" name=""/>
        <dsp:cNvSpPr/>
      </dsp:nvSpPr>
      <dsp:spPr>
        <a:xfrm>
          <a:off x="696809" y="1511077"/>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a:solidFill>
                <a:schemeClr val="bg1"/>
              </a:solidFill>
            </a:rPr>
            <a:t>Single Control and Management Plane</a:t>
          </a:r>
          <a:endParaRPr lang="en-US" sz="1500" kern="1200">
            <a:solidFill>
              <a:schemeClr val="bg1"/>
            </a:solidFill>
          </a:endParaRPr>
        </a:p>
      </dsp:txBody>
      <dsp:txXfrm>
        <a:off x="696809" y="1511077"/>
        <a:ext cx="3217965" cy="603298"/>
      </dsp:txXfrm>
    </dsp:sp>
    <dsp:sp modelId="{3991FB7D-8E95-4461-8715-145F84D84788}">
      <dsp:nvSpPr>
        <dsp:cNvPr id="0" name=""/>
        <dsp:cNvSpPr/>
      </dsp:nvSpPr>
      <dsp:spPr>
        <a:xfrm>
          <a:off x="0" y="2265200"/>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F19F6C5F-588B-4C7B-A883-15F45617186C}">
      <dsp:nvSpPr>
        <dsp:cNvPr id="0" name=""/>
        <dsp:cNvSpPr/>
      </dsp:nvSpPr>
      <dsp: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16185-5A65-49F3-B45C-2DEB44B20D41}">
      <dsp:nvSpPr>
        <dsp:cNvPr id="0" name=""/>
        <dsp:cNvSpPr/>
      </dsp:nvSpPr>
      <dsp:spPr>
        <a:xfrm>
          <a:off x="696809" y="2265200"/>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Application Centric and Archetype-Neutral </a:t>
          </a:r>
          <a:endParaRPr lang="en-US" sz="1500" kern="1200" dirty="0">
            <a:solidFill>
              <a:schemeClr val="bg1"/>
            </a:solidFill>
          </a:endParaRPr>
        </a:p>
      </dsp:txBody>
      <dsp:txXfrm>
        <a:off x="696809" y="2265200"/>
        <a:ext cx="3217965" cy="603298"/>
      </dsp:txXfrm>
    </dsp:sp>
    <dsp:sp modelId="{2F66CAA5-C063-4817-A38F-3DE932897A47}">
      <dsp:nvSpPr>
        <dsp:cNvPr id="0" name=""/>
        <dsp:cNvSpPr/>
      </dsp:nvSpPr>
      <dsp:spPr>
        <a:xfrm>
          <a:off x="0" y="3019323"/>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2A360208-127A-4D51-A423-56AB6D5AED5D}">
      <dsp:nvSpPr>
        <dsp:cNvPr id="0" name=""/>
        <dsp:cNvSpPr/>
      </dsp:nvSpPr>
      <dsp: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306D9-8CFF-4681-B489-4DA19301FBED}">
      <dsp:nvSpPr>
        <dsp:cNvPr id="0" name=""/>
        <dsp:cNvSpPr/>
      </dsp:nvSpPr>
      <dsp:spPr>
        <a:xfrm>
          <a:off x="696809" y="3019323"/>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Azure Native Design and Platform Roadmap Alignment</a:t>
          </a:r>
          <a:endParaRPr lang="en-US" sz="1500" kern="1200" dirty="0">
            <a:solidFill>
              <a:schemeClr val="bg1"/>
            </a:solidFill>
          </a:endParaRPr>
        </a:p>
      </dsp:txBody>
      <dsp:txXfrm>
        <a:off x="696809" y="3019323"/>
        <a:ext cx="3217965" cy="6032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EFB4-1D21-47C7-A630-9ACE0C0BC95C}">
      <dsp:nvSpPr>
        <dsp:cNvPr id="0" name=""/>
        <dsp:cNvSpPr/>
      </dsp:nvSpPr>
      <dsp:spPr>
        <a:xfrm>
          <a:off x="0" y="2832"/>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51145009-1BA3-45CD-AFCD-EF9913C854E0}">
      <dsp:nvSpPr>
        <dsp:cNvPr id="0" name=""/>
        <dsp:cNvSpPr/>
      </dsp:nvSpPr>
      <dsp: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4EC152-9BCD-4E93-93DE-AB93FEB2C8A8}">
      <dsp:nvSpPr>
        <dsp:cNvPr id="0" name=""/>
        <dsp:cNvSpPr/>
      </dsp:nvSpPr>
      <dsp:spPr>
        <a:xfrm>
          <a:off x="696809" y="2832"/>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Subscription Democratisation</a:t>
          </a:r>
          <a:endParaRPr lang="en-US" sz="1500" kern="1200" dirty="0">
            <a:solidFill>
              <a:schemeClr val="bg1"/>
            </a:solidFill>
          </a:endParaRPr>
        </a:p>
      </dsp:txBody>
      <dsp:txXfrm>
        <a:off x="696809" y="2832"/>
        <a:ext cx="3217965" cy="603298"/>
      </dsp:txXfrm>
    </dsp:sp>
    <dsp:sp modelId="{841DA7F5-DBEC-48A2-8207-FA74CA80C581}">
      <dsp:nvSpPr>
        <dsp:cNvPr id="0" name=""/>
        <dsp:cNvSpPr/>
      </dsp:nvSpPr>
      <dsp:spPr>
        <a:xfrm>
          <a:off x="0" y="756955"/>
          <a:ext cx="3914775" cy="603298"/>
        </a:xfrm>
        <a:prstGeom prst="roundRect">
          <a:avLst/>
        </a:prstGeom>
        <a:solidFill>
          <a:schemeClr val="bg2"/>
        </a:solidFill>
        <a:ln>
          <a:noFill/>
        </a:ln>
        <a:effectLst/>
      </dsp:spPr>
      <dsp:style>
        <a:lnRef idx="0">
          <a:scrgbClr r="0" g="0" b="0"/>
        </a:lnRef>
        <a:fillRef idx="1">
          <a:scrgbClr r="0" g="0" b="0"/>
        </a:fillRef>
        <a:effectRef idx="0">
          <a:scrgbClr r="0" g="0" b="0"/>
        </a:effectRef>
        <a:fontRef idx="minor"/>
      </dsp:style>
    </dsp:sp>
    <dsp:sp modelId="{B6CA4A77-9A1D-43CC-A4ED-0479197E21E7}">
      <dsp:nvSpPr>
        <dsp:cNvPr id="0" name=""/>
        <dsp:cNvSpPr/>
      </dsp:nvSpPr>
      <dsp: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45CCB6-2EA1-439C-933F-E64FE5909B0A}">
      <dsp:nvSpPr>
        <dsp:cNvPr id="0" name=""/>
        <dsp:cNvSpPr/>
      </dsp:nvSpPr>
      <dsp:spPr>
        <a:xfrm>
          <a:off x="696809" y="756955"/>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a:solidFill>
                <a:schemeClr val="bg1"/>
              </a:solidFill>
            </a:rPr>
            <a:t>Policy Driven Governance</a:t>
          </a:r>
          <a:endParaRPr lang="en-US" sz="1500" kern="1200">
            <a:solidFill>
              <a:schemeClr val="bg1"/>
            </a:solidFill>
          </a:endParaRPr>
        </a:p>
      </dsp:txBody>
      <dsp:txXfrm>
        <a:off x="696809" y="756955"/>
        <a:ext cx="3217965" cy="603298"/>
      </dsp:txXfrm>
    </dsp:sp>
    <dsp:sp modelId="{DC46849B-4671-441A-AE42-53F3115AF42C}">
      <dsp:nvSpPr>
        <dsp:cNvPr id="0" name=""/>
        <dsp:cNvSpPr/>
      </dsp:nvSpPr>
      <dsp:spPr>
        <a:xfrm>
          <a:off x="0" y="1511077"/>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DF4DAF69-1CF3-4319-B01D-9DA860A3FAF8}">
      <dsp:nvSpPr>
        <dsp:cNvPr id="0" name=""/>
        <dsp:cNvSpPr/>
      </dsp:nvSpPr>
      <dsp: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74314-471B-49AF-8329-39732970D0BD}">
      <dsp:nvSpPr>
        <dsp:cNvPr id="0" name=""/>
        <dsp:cNvSpPr/>
      </dsp:nvSpPr>
      <dsp:spPr>
        <a:xfrm>
          <a:off x="696809" y="1511077"/>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a:solidFill>
                <a:schemeClr val="bg1"/>
              </a:solidFill>
            </a:rPr>
            <a:t>Single Control and Management Plane</a:t>
          </a:r>
          <a:endParaRPr lang="en-US" sz="1500" kern="1200">
            <a:solidFill>
              <a:schemeClr val="bg1"/>
            </a:solidFill>
          </a:endParaRPr>
        </a:p>
      </dsp:txBody>
      <dsp:txXfrm>
        <a:off x="696809" y="1511077"/>
        <a:ext cx="3217965" cy="603298"/>
      </dsp:txXfrm>
    </dsp:sp>
    <dsp:sp modelId="{3991FB7D-8E95-4461-8715-145F84D84788}">
      <dsp:nvSpPr>
        <dsp:cNvPr id="0" name=""/>
        <dsp:cNvSpPr/>
      </dsp:nvSpPr>
      <dsp:spPr>
        <a:xfrm>
          <a:off x="0" y="2265200"/>
          <a:ext cx="3914775" cy="603298"/>
        </a:xfrm>
        <a:prstGeom prst="roundRect">
          <a:avLst>
            <a:gd name="adj" fmla="val 10000"/>
          </a:avLst>
        </a:prstGeom>
        <a:solidFill>
          <a:schemeClr val="accent2"/>
        </a:solidFill>
        <a:ln>
          <a:noFill/>
        </a:ln>
        <a:effectLst/>
      </dsp:spPr>
      <dsp:style>
        <a:lnRef idx="0">
          <a:scrgbClr r="0" g="0" b="0"/>
        </a:lnRef>
        <a:fillRef idx="1">
          <a:scrgbClr r="0" g="0" b="0"/>
        </a:fillRef>
        <a:effectRef idx="0">
          <a:scrgbClr r="0" g="0" b="0"/>
        </a:effectRef>
        <a:fontRef idx="minor"/>
      </dsp:style>
    </dsp:sp>
    <dsp:sp modelId="{F19F6C5F-588B-4C7B-A883-15F45617186C}">
      <dsp:nvSpPr>
        <dsp:cNvPr id="0" name=""/>
        <dsp:cNvSpPr/>
      </dsp:nvSpPr>
      <dsp: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16185-5A65-49F3-B45C-2DEB44B20D41}">
      <dsp:nvSpPr>
        <dsp:cNvPr id="0" name=""/>
        <dsp:cNvSpPr/>
      </dsp:nvSpPr>
      <dsp:spPr>
        <a:xfrm>
          <a:off x="696809" y="2265200"/>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Application Centric and Archetype-Neutral </a:t>
          </a:r>
          <a:endParaRPr lang="en-US" sz="1500" kern="1200" dirty="0">
            <a:solidFill>
              <a:schemeClr val="bg1"/>
            </a:solidFill>
          </a:endParaRPr>
        </a:p>
      </dsp:txBody>
      <dsp:txXfrm>
        <a:off x="696809" y="2265200"/>
        <a:ext cx="3217965" cy="603298"/>
      </dsp:txXfrm>
    </dsp:sp>
    <dsp:sp modelId="{2F66CAA5-C063-4817-A38F-3DE932897A47}">
      <dsp:nvSpPr>
        <dsp:cNvPr id="0" name=""/>
        <dsp:cNvSpPr/>
      </dsp:nvSpPr>
      <dsp:spPr>
        <a:xfrm>
          <a:off x="0" y="3019323"/>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2A360208-127A-4D51-A423-56AB6D5AED5D}">
      <dsp:nvSpPr>
        <dsp:cNvPr id="0" name=""/>
        <dsp:cNvSpPr/>
      </dsp:nvSpPr>
      <dsp: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306D9-8CFF-4681-B489-4DA19301FBED}">
      <dsp:nvSpPr>
        <dsp:cNvPr id="0" name=""/>
        <dsp:cNvSpPr/>
      </dsp:nvSpPr>
      <dsp:spPr>
        <a:xfrm>
          <a:off x="696809" y="3019323"/>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Azure Native Design and Platform Roadmap Alignment</a:t>
          </a:r>
          <a:endParaRPr lang="en-US" sz="1500" kern="1200" dirty="0">
            <a:solidFill>
              <a:schemeClr val="bg1"/>
            </a:solidFill>
          </a:endParaRPr>
        </a:p>
      </dsp:txBody>
      <dsp:txXfrm>
        <a:off x="696809" y="3019323"/>
        <a:ext cx="3217965" cy="6032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EFB4-1D21-47C7-A630-9ACE0C0BC95C}">
      <dsp:nvSpPr>
        <dsp:cNvPr id="0" name=""/>
        <dsp:cNvSpPr/>
      </dsp:nvSpPr>
      <dsp:spPr>
        <a:xfrm>
          <a:off x="0" y="2832"/>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51145009-1BA3-45CD-AFCD-EF9913C854E0}">
      <dsp:nvSpPr>
        <dsp:cNvPr id="0" name=""/>
        <dsp:cNvSpPr/>
      </dsp:nvSpPr>
      <dsp:spPr>
        <a:xfrm>
          <a:off x="182497" y="138574"/>
          <a:ext cx="331814" cy="331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4EC152-9BCD-4E93-93DE-AB93FEB2C8A8}">
      <dsp:nvSpPr>
        <dsp:cNvPr id="0" name=""/>
        <dsp:cNvSpPr/>
      </dsp:nvSpPr>
      <dsp:spPr>
        <a:xfrm>
          <a:off x="696809" y="2832"/>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Subscription Democratisation</a:t>
          </a:r>
          <a:endParaRPr lang="en-US" sz="1500" kern="1200" dirty="0">
            <a:solidFill>
              <a:schemeClr val="bg1"/>
            </a:solidFill>
          </a:endParaRPr>
        </a:p>
      </dsp:txBody>
      <dsp:txXfrm>
        <a:off x="696809" y="2832"/>
        <a:ext cx="3217965" cy="603298"/>
      </dsp:txXfrm>
    </dsp:sp>
    <dsp:sp modelId="{841DA7F5-DBEC-48A2-8207-FA74CA80C581}">
      <dsp:nvSpPr>
        <dsp:cNvPr id="0" name=""/>
        <dsp:cNvSpPr/>
      </dsp:nvSpPr>
      <dsp:spPr>
        <a:xfrm>
          <a:off x="0" y="756955"/>
          <a:ext cx="3914775" cy="603298"/>
        </a:xfrm>
        <a:prstGeom prst="roundRect">
          <a:avLst/>
        </a:prstGeom>
        <a:solidFill>
          <a:schemeClr val="bg2"/>
        </a:solidFill>
        <a:ln>
          <a:noFill/>
        </a:ln>
        <a:effectLst/>
      </dsp:spPr>
      <dsp:style>
        <a:lnRef idx="0">
          <a:scrgbClr r="0" g="0" b="0"/>
        </a:lnRef>
        <a:fillRef idx="1">
          <a:scrgbClr r="0" g="0" b="0"/>
        </a:fillRef>
        <a:effectRef idx="0">
          <a:scrgbClr r="0" g="0" b="0"/>
        </a:effectRef>
        <a:fontRef idx="minor"/>
      </dsp:style>
    </dsp:sp>
    <dsp:sp modelId="{B6CA4A77-9A1D-43CC-A4ED-0479197E21E7}">
      <dsp:nvSpPr>
        <dsp:cNvPr id="0" name=""/>
        <dsp:cNvSpPr/>
      </dsp:nvSpPr>
      <dsp:spPr>
        <a:xfrm>
          <a:off x="182497" y="892697"/>
          <a:ext cx="331814" cy="3318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45CCB6-2EA1-439C-933F-E64FE5909B0A}">
      <dsp:nvSpPr>
        <dsp:cNvPr id="0" name=""/>
        <dsp:cNvSpPr/>
      </dsp:nvSpPr>
      <dsp:spPr>
        <a:xfrm>
          <a:off x="696809" y="756955"/>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a:solidFill>
                <a:schemeClr val="bg1"/>
              </a:solidFill>
            </a:rPr>
            <a:t>Policy Driven Governance</a:t>
          </a:r>
          <a:endParaRPr lang="en-US" sz="1500" kern="1200">
            <a:solidFill>
              <a:schemeClr val="bg1"/>
            </a:solidFill>
          </a:endParaRPr>
        </a:p>
      </dsp:txBody>
      <dsp:txXfrm>
        <a:off x="696809" y="756955"/>
        <a:ext cx="3217965" cy="603298"/>
      </dsp:txXfrm>
    </dsp:sp>
    <dsp:sp modelId="{DC46849B-4671-441A-AE42-53F3115AF42C}">
      <dsp:nvSpPr>
        <dsp:cNvPr id="0" name=""/>
        <dsp:cNvSpPr/>
      </dsp:nvSpPr>
      <dsp:spPr>
        <a:xfrm>
          <a:off x="0" y="1511077"/>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DF4DAF69-1CF3-4319-B01D-9DA860A3FAF8}">
      <dsp:nvSpPr>
        <dsp:cNvPr id="0" name=""/>
        <dsp:cNvSpPr/>
      </dsp:nvSpPr>
      <dsp:spPr>
        <a:xfrm>
          <a:off x="182497" y="1646819"/>
          <a:ext cx="331814" cy="3318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74314-471B-49AF-8329-39732970D0BD}">
      <dsp:nvSpPr>
        <dsp:cNvPr id="0" name=""/>
        <dsp:cNvSpPr/>
      </dsp:nvSpPr>
      <dsp:spPr>
        <a:xfrm>
          <a:off x="696809" y="1511077"/>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a:solidFill>
                <a:schemeClr val="bg1"/>
              </a:solidFill>
            </a:rPr>
            <a:t>Single Control and Management Plane</a:t>
          </a:r>
          <a:endParaRPr lang="en-US" sz="1500" kern="1200">
            <a:solidFill>
              <a:schemeClr val="bg1"/>
            </a:solidFill>
          </a:endParaRPr>
        </a:p>
      </dsp:txBody>
      <dsp:txXfrm>
        <a:off x="696809" y="1511077"/>
        <a:ext cx="3217965" cy="603298"/>
      </dsp:txXfrm>
    </dsp:sp>
    <dsp:sp modelId="{3991FB7D-8E95-4461-8715-145F84D84788}">
      <dsp:nvSpPr>
        <dsp:cNvPr id="0" name=""/>
        <dsp:cNvSpPr/>
      </dsp:nvSpPr>
      <dsp:spPr>
        <a:xfrm>
          <a:off x="0" y="2265200"/>
          <a:ext cx="3914775" cy="603298"/>
        </a:xfrm>
        <a:prstGeom prst="roundRect">
          <a:avLst>
            <a:gd name="adj" fmla="val 10000"/>
          </a:avLst>
        </a:prstGeom>
        <a:solidFill>
          <a:schemeClr val="bg2"/>
        </a:solidFill>
        <a:ln>
          <a:noFill/>
        </a:ln>
        <a:effectLst/>
      </dsp:spPr>
      <dsp:style>
        <a:lnRef idx="0">
          <a:scrgbClr r="0" g="0" b="0"/>
        </a:lnRef>
        <a:fillRef idx="1">
          <a:scrgbClr r="0" g="0" b="0"/>
        </a:fillRef>
        <a:effectRef idx="0">
          <a:scrgbClr r="0" g="0" b="0"/>
        </a:effectRef>
        <a:fontRef idx="minor"/>
      </dsp:style>
    </dsp:sp>
    <dsp:sp modelId="{F19F6C5F-588B-4C7B-A883-15F45617186C}">
      <dsp:nvSpPr>
        <dsp:cNvPr id="0" name=""/>
        <dsp:cNvSpPr/>
      </dsp:nvSpPr>
      <dsp:spPr>
        <a:xfrm>
          <a:off x="182497" y="2400942"/>
          <a:ext cx="331814" cy="33181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16185-5A65-49F3-B45C-2DEB44B20D41}">
      <dsp:nvSpPr>
        <dsp:cNvPr id="0" name=""/>
        <dsp:cNvSpPr/>
      </dsp:nvSpPr>
      <dsp:spPr>
        <a:xfrm>
          <a:off x="696809" y="2265200"/>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Application Centric and Archetype-Neutral </a:t>
          </a:r>
          <a:endParaRPr lang="en-US" sz="1500" kern="1200" dirty="0">
            <a:solidFill>
              <a:schemeClr val="bg1"/>
            </a:solidFill>
          </a:endParaRPr>
        </a:p>
      </dsp:txBody>
      <dsp:txXfrm>
        <a:off x="696809" y="2265200"/>
        <a:ext cx="3217965" cy="603298"/>
      </dsp:txXfrm>
    </dsp:sp>
    <dsp:sp modelId="{2F66CAA5-C063-4817-A38F-3DE932897A47}">
      <dsp:nvSpPr>
        <dsp:cNvPr id="0" name=""/>
        <dsp:cNvSpPr/>
      </dsp:nvSpPr>
      <dsp:spPr>
        <a:xfrm>
          <a:off x="0" y="3019323"/>
          <a:ext cx="3914775" cy="603298"/>
        </a:xfrm>
        <a:prstGeom prst="roundRect">
          <a:avLst>
            <a:gd name="adj" fmla="val 10000"/>
          </a:avLst>
        </a:prstGeom>
        <a:solidFill>
          <a:schemeClr val="accent2"/>
        </a:solidFill>
        <a:ln>
          <a:noFill/>
        </a:ln>
        <a:effectLst/>
      </dsp:spPr>
      <dsp:style>
        <a:lnRef idx="0">
          <a:scrgbClr r="0" g="0" b="0"/>
        </a:lnRef>
        <a:fillRef idx="1">
          <a:scrgbClr r="0" g="0" b="0"/>
        </a:fillRef>
        <a:effectRef idx="0">
          <a:scrgbClr r="0" g="0" b="0"/>
        </a:effectRef>
        <a:fontRef idx="minor"/>
      </dsp:style>
    </dsp:sp>
    <dsp:sp modelId="{2A360208-127A-4D51-A423-56AB6D5AED5D}">
      <dsp:nvSpPr>
        <dsp:cNvPr id="0" name=""/>
        <dsp:cNvSpPr/>
      </dsp:nvSpPr>
      <dsp:spPr>
        <a:xfrm>
          <a:off x="182497" y="3155065"/>
          <a:ext cx="331814" cy="3318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306D9-8CFF-4681-B489-4DA19301FBED}">
      <dsp:nvSpPr>
        <dsp:cNvPr id="0" name=""/>
        <dsp:cNvSpPr/>
      </dsp:nvSpPr>
      <dsp:spPr>
        <a:xfrm>
          <a:off x="696809" y="3019323"/>
          <a:ext cx="3217965" cy="603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849" tIns="63849" rIns="63849" bIns="63849" numCol="1" spcCol="1270" anchor="ctr" anchorCtr="0">
          <a:noAutofit/>
        </a:bodyPr>
        <a:lstStyle/>
        <a:p>
          <a:pPr marL="0" lvl="0" indent="0" algn="l" defTabSz="666750">
            <a:lnSpc>
              <a:spcPct val="100000"/>
            </a:lnSpc>
            <a:spcBef>
              <a:spcPct val="0"/>
            </a:spcBef>
            <a:spcAft>
              <a:spcPct val="35000"/>
            </a:spcAft>
            <a:buNone/>
          </a:pPr>
          <a:r>
            <a:rPr lang="en-GB" sz="1500" kern="1200" baseline="0" dirty="0">
              <a:solidFill>
                <a:schemeClr val="bg1"/>
              </a:solidFill>
            </a:rPr>
            <a:t>Azure Native Design and Platform Roadmap Alignment</a:t>
          </a:r>
          <a:endParaRPr lang="en-US" sz="1500" kern="1200" dirty="0">
            <a:solidFill>
              <a:schemeClr val="bg1"/>
            </a:solidFill>
          </a:endParaRPr>
        </a:p>
      </dsp:txBody>
      <dsp:txXfrm>
        <a:off x="696809" y="3019323"/>
        <a:ext cx="3217965" cy="60329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C2512-049E-4127-BC89-575CF01850CF}" type="datetimeFigureOut">
              <a:rPr lang="en-CA" smtClean="0"/>
              <a:t>2025-11-11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89AA0-099A-4B08-8111-71789224C0ED}" type="slidenum">
              <a:rPr lang="en-CA" smtClean="0"/>
              <a:t>‹#›</a:t>
            </a:fld>
            <a:endParaRPr lang="en-CA"/>
          </a:p>
        </p:txBody>
      </p:sp>
    </p:spTree>
    <p:extLst>
      <p:ext uri="{BB962C8B-B14F-4D97-AF65-F5344CB8AC3E}">
        <p14:creationId xmlns:p14="http://schemas.microsoft.com/office/powerpoint/2010/main" val="1675266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cs.microsoft.com/en-us/azure/active-directory/managed-identities-azure-resources/overview"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docs.microsoft.com/en-us/azure/role-based-access-control/built-in-roles#website-contributor"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CA" dirty="0"/>
              <a:t>Scope Definition</a:t>
            </a:r>
          </a:p>
          <a:p>
            <a:endParaRPr lang="en-CA" dirty="0"/>
          </a:p>
          <a:p>
            <a:r>
              <a:rPr lang="en-CA" dirty="0"/>
              <a:t>Billing account	: Represents an agreement that a customer accepts to use Azure. It contains one or more subscriptions.</a:t>
            </a:r>
          </a:p>
          <a:p>
            <a:endParaRPr lang="en-CA" dirty="0"/>
          </a:p>
          <a:p>
            <a:r>
              <a:rPr lang="en-CA" dirty="0"/>
              <a:t>Subscription: Represents a grouping of Azure resources. Invoice is generated at this scope. Other billing information such as payment methods and usage address is associated to this scope.</a:t>
            </a:r>
          </a:p>
          <a:p>
            <a:endParaRPr lang="en-CA" dirty="0"/>
          </a:p>
        </p:txBody>
      </p:sp>
      <p:sp>
        <p:nvSpPr>
          <p:cNvPr id="4" name="Slide Number Placeholder 3"/>
          <p:cNvSpPr>
            <a:spLocks noGrp="1"/>
          </p:cNvSpPr>
          <p:nvPr>
            <p:ph type="sldNum" sz="quarter" idx="5"/>
          </p:nvPr>
        </p:nvSpPr>
        <p:spPr/>
        <p:txBody>
          <a:bodyPr/>
          <a:lstStyle/>
          <a:p>
            <a:fld id="{D6389AA0-099A-4B08-8111-71789224C0ED}" type="slidenum">
              <a:rPr lang="en-CA" smtClean="0"/>
              <a:t>4</a:t>
            </a:fld>
            <a:endParaRPr lang="en-CA"/>
          </a:p>
        </p:txBody>
      </p:sp>
    </p:spTree>
    <p:extLst>
      <p:ext uri="{BB962C8B-B14F-4D97-AF65-F5344CB8AC3E}">
        <p14:creationId xmlns:p14="http://schemas.microsoft.com/office/powerpoint/2010/main" val="193952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2674A-6372-50DB-4C4C-D11D68B19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F7C5F-FD14-E29C-2ECD-ECC7916169A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EFB2840-6F29-E7B4-60DA-8A2BFAB5B3B1}"/>
              </a:ext>
            </a:extLst>
          </p:cNvPr>
          <p:cNvSpPr>
            <a:spLocks noGrp="1"/>
          </p:cNvSpPr>
          <p:nvPr>
            <p:ph type="body" idx="1"/>
          </p:nvPr>
        </p:nvSpPr>
        <p:spPr/>
        <p:txBody>
          <a:bodyPr/>
          <a:lstStyle/>
          <a:p>
            <a:r>
              <a:rPr lang="en-CA" dirty="0"/>
              <a:t>Scope Definition</a:t>
            </a:r>
          </a:p>
          <a:p>
            <a:endParaRPr lang="en-CA" dirty="0"/>
          </a:p>
          <a:p>
            <a:r>
              <a:rPr lang="en-CA" dirty="0"/>
              <a:t>Billing account: Represents an Enterprise Agreement enrollment. It contains one or more departments and accounts. Invoice is generated at this scope.</a:t>
            </a:r>
          </a:p>
          <a:p>
            <a:endParaRPr lang="en-CA" dirty="0"/>
          </a:p>
          <a:p>
            <a:r>
              <a:rPr lang="en-CA" dirty="0"/>
              <a:t>Department: Optional grouping of accounts to segment costs into logical groupings and set budget.</a:t>
            </a:r>
          </a:p>
          <a:p>
            <a:endParaRPr lang="en-CA" dirty="0"/>
          </a:p>
          <a:p>
            <a:r>
              <a:rPr lang="en-CA" dirty="0"/>
              <a:t>Account: Represents a single account owner. Account owners have permissions to create and manage Azure subscriptions that are billed to the enrollment.</a:t>
            </a:r>
          </a:p>
          <a:p>
            <a:endParaRPr lang="en-CA" dirty="0"/>
          </a:p>
        </p:txBody>
      </p:sp>
      <p:sp>
        <p:nvSpPr>
          <p:cNvPr id="4" name="Slide Number Placeholder 3">
            <a:extLst>
              <a:ext uri="{FF2B5EF4-FFF2-40B4-BE49-F238E27FC236}">
                <a16:creationId xmlns:a16="http://schemas.microsoft.com/office/drawing/2014/main" id="{8F469C73-08CC-5460-6585-BBD5454F97E5}"/>
              </a:ext>
            </a:extLst>
          </p:cNvPr>
          <p:cNvSpPr>
            <a:spLocks noGrp="1"/>
          </p:cNvSpPr>
          <p:nvPr>
            <p:ph type="sldNum" sz="quarter" idx="5"/>
          </p:nvPr>
        </p:nvSpPr>
        <p:spPr/>
        <p:txBody>
          <a:bodyPr/>
          <a:lstStyle/>
          <a:p>
            <a:fld id="{D6389AA0-099A-4B08-8111-71789224C0ED}" type="slidenum">
              <a:rPr lang="en-CA" smtClean="0"/>
              <a:t>5</a:t>
            </a:fld>
            <a:endParaRPr lang="en-CA"/>
          </a:p>
        </p:txBody>
      </p:sp>
    </p:spTree>
    <p:extLst>
      <p:ext uri="{BB962C8B-B14F-4D97-AF65-F5344CB8AC3E}">
        <p14:creationId xmlns:p14="http://schemas.microsoft.com/office/powerpoint/2010/main" val="2256235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82BDB-3D48-51E4-209D-A17A7751C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C0A59-3E8F-9F1C-8512-843281E0B87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2DA9C5D-3C8D-03A0-7F8D-A04F96654B41}"/>
              </a:ext>
            </a:extLst>
          </p:cNvPr>
          <p:cNvSpPr>
            <a:spLocks noGrp="1"/>
          </p:cNvSpPr>
          <p:nvPr>
            <p:ph type="body" idx="1"/>
          </p:nvPr>
        </p:nvSpPr>
        <p:spPr/>
        <p:txBody>
          <a:bodyPr/>
          <a:lstStyle/>
          <a:p>
            <a:r>
              <a:rPr lang="en-CA" dirty="0"/>
              <a:t>Scope Tasks</a:t>
            </a:r>
          </a:p>
          <a:p>
            <a:endParaRPr lang="en-CA" dirty="0"/>
          </a:p>
          <a:p>
            <a:r>
              <a:rPr lang="en-CA" dirty="0"/>
              <a:t>Billing account	: Represents an agreement that a customer accepts to use Microsoft products and services. It contains one or more billing profiles.</a:t>
            </a:r>
          </a:p>
          <a:p>
            <a:endParaRPr lang="en-CA" dirty="0"/>
          </a:p>
          <a:p>
            <a:r>
              <a:rPr lang="en-CA" dirty="0"/>
              <a:t>Billing profile: Represents an invoice and the related billing information such as payment methods and billing address. It contains one or more invoice sections.</a:t>
            </a:r>
          </a:p>
          <a:p>
            <a:endParaRPr lang="en-CA" dirty="0"/>
          </a:p>
          <a:p>
            <a:r>
              <a:rPr lang="en-CA" dirty="0"/>
              <a:t>Invoice section: Represents a grouping of costs in an invoice. Azure subscriptions and other purchases such as Azure Marketplace and App source products are associated to this scope.</a:t>
            </a:r>
          </a:p>
          <a:p>
            <a:endParaRPr lang="en-CA" dirty="0"/>
          </a:p>
        </p:txBody>
      </p:sp>
      <p:sp>
        <p:nvSpPr>
          <p:cNvPr id="4" name="Slide Number Placeholder 3">
            <a:extLst>
              <a:ext uri="{FF2B5EF4-FFF2-40B4-BE49-F238E27FC236}">
                <a16:creationId xmlns:a16="http://schemas.microsoft.com/office/drawing/2014/main" id="{981D7734-0F2A-C80E-E560-7505542BC7D9}"/>
              </a:ext>
            </a:extLst>
          </p:cNvPr>
          <p:cNvSpPr>
            <a:spLocks noGrp="1"/>
          </p:cNvSpPr>
          <p:nvPr>
            <p:ph type="sldNum" sz="quarter" idx="5"/>
          </p:nvPr>
        </p:nvSpPr>
        <p:spPr/>
        <p:txBody>
          <a:bodyPr/>
          <a:lstStyle/>
          <a:p>
            <a:fld id="{D6389AA0-099A-4B08-8111-71789224C0ED}" type="slidenum">
              <a:rPr lang="en-CA" smtClean="0"/>
              <a:t>6</a:t>
            </a:fld>
            <a:endParaRPr lang="en-CA"/>
          </a:p>
        </p:txBody>
      </p:sp>
    </p:spTree>
    <p:extLst>
      <p:ext uri="{BB962C8B-B14F-4D97-AF65-F5344CB8AC3E}">
        <p14:creationId xmlns:p14="http://schemas.microsoft.com/office/powerpoint/2010/main" val="1097907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70871-3A03-BB9C-C20A-8613A4410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CE180-ED05-D42C-1876-374D07EFA91F}"/>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0CC4D57-64DA-CF0C-A315-B155EE349C01}"/>
              </a:ext>
            </a:extLst>
          </p:cNvPr>
          <p:cNvSpPr>
            <a:spLocks noGrp="1"/>
          </p:cNvSpPr>
          <p:nvPr>
            <p:ph type="body" idx="1"/>
          </p:nvPr>
        </p:nvSpPr>
        <p:spPr/>
        <p:txBody>
          <a:bodyPr/>
          <a:lstStyle/>
          <a:p>
            <a:r>
              <a:rPr lang="en-CA" dirty="0"/>
              <a:t>Scope Tasks</a:t>
            </a:r>
          </a:p>
          <a:p>
            <a:endParaRPr lang="en-CA" dirty="0"/>
          </a:p>
          <a:p>
            <a:r>
              <a:rPr lang="en-CA" dirty="0"/>
              <a:t>Billing account	: Represents a partner agreement to manage customers' Microsoft products and services in the new commerce experience. It contains one or more billing profiles and customers.</a:t>
            </a:r>
          </a:p>
          <a:p>
            <a:endParaRPr lang="en-CA" dirty="0"/>
          </a:p>
          <a:p>
            <a:r>
              <a:rPr lang="en-CA" dirty="0"/>
              <a:t>Billing profile: Represents an invoice for a currency.</a:t>
            </a:r>
          </a:p>
          <a:p>
            <a:endParaRPr lang="en-CA" dirty="0"/>
          </a:p>
          <a:p>
            <a:r>
              <a:rPr lang="en-CA" dirty="0"/>
              <a:t>Customer: Represents a customer for a Cloud Solution Provider (CSP) partner. Azure subscriptions and other purchases such as Azure Marketplace and App source products are associated to this scope.</a:t>
            </a:r>
          </a:p>
          <a:p>
            <a:endParaRPr lang="en-CA" dirty="0"/>
          </a:p>
          <a:p>
            <a:r>
              <a:rPr lang="en-CA" dirty="0"/>
              <a:t>Reseller: Reseller that provides services to a customer. It's an optional field for a subscription and is applicable only for Indirect providers in the CSP two-tier model.</a:t>
            </a:r>
          </a:p>
          <a:p>
            <a:endParaRPr lang="en-CA" dirty="0"/>
          </a:p>
        </p:txBody>
      </p:sp>
      <p:sp>
        <p:nvSpPr>
          <p:cNvPr id="4" name="Slide Number Placeholder 3">
            <a:extLst>
              <a:ext uri="{FF2B5EF4-FFF2-40B4-BE49-F238E27FC236}">
                <a16:creationId xmlns:a16="http://schemas.microsoft.com/office/drawing/2014/main" id="{C62B4F59-EE9E-DEEE-708F-B14ECA27B5AE}"/>
              </a:ext>
            </a:extLst>
          </p:cNvPr>
          <p:cNvSpPr>
            <a:spLocks noGrp="1"/>
          </p:cNvSpPr>
          <p:nvPr>
            <p:ph type="sldNum" sz="quarter" idx="5"/>
          </p:nvPr>
        </p:nvSpPr>
        <p:spPr/>
        <p:txBody>
          <a:bodyPr/>
          <a:lstStyle/>
          <a:p>
            <a:fld id="{D6389AA0-099A-4B08-8111-71789224C0ED}" type="slidenum">
              <a:rPr lang="en-CA" smtClean="0"/>
              <a:t>7</a:t>
            </a:fld>
            <a:endParaRPr lang="en-CA"/>
          </a:p>
        </p:txBody>
      </p:sp>
    </p:spTree>
    <p:extLst>
      <p:ext uri="{BB962C8B-B14F-4D97-AF65-F5344CB8AC3E}">
        <p14:creationId xmlns:p14="http://schemas.microsoft.com/office/powerpoint/2010/main" val="1086131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8596-DB92-AF1C-E81E-BE59012F4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C9F80-DB8C-645C-DD23-108FACA03D3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ED858A43-CDBB-4BB3-F8E4-E96F97BAF58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3EEB00C-9B31-83F0-9989-D2A14EB7269D}"/>
              </a:ext>
            </a:extLst>
          </p:cNvPr>
          <p:cNvSpPr>
            <a:spLocks noGrp="1"/>
          </p:cNvSpPr>
          <p:nvPr>
            <p:ph type="sldNum" sz="quarter" idx="5"/>
          </p:nvPr>
        </p:nvSpPr>
        <p:spPr/>
        <p:txBody>
          <a:bodyPr/>
          <a:lstStyle/>
          <a:p>
            <a:fld id="{D6389AA0-099A-4B08-8111-71789224C0ED}" type="slidenum">
              <a:rPr lang="en-CA" smtClean="0"/>
              <a:t>8</a:t>
            </a:fld>
            <a:endParaRPr lang="en-CA"/>
          </a:p>
        </p:txBody>
      </p:sp>
    </p:spTree>
    <p:extLst>
      <p:ext uri="{BB962C8B-B14F-4D97-AF65-F5344CB8AC3E}">
        <p14:creationId xmlns:p14="http://schemas.microsoft.com/office/powerpoint/2010/main" val="3578035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900" b="0" i="0" kern="1200" dirty="0">
                <a:solidFill>
                  <a:schemeClr val="tx1"/>
                </a:solidFill>
                <a:effectLst/>
                <a:latin typeface="Segoe UI Semilight" panose="020B0402040204020203" pitchFamily="34" charset="0"/>
                <a:ea typeface="+mn-ea"/>
                <a:cs typeface="+mn-cs"/>
              </a:rPr>
              <a:t>Reminder of all the regions in Azure.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CA" sz="900" b="0" i="0" kern="1200" dirty="0">
              <a:solidFill>
                <a:schemeClr val="tx1"/>
              </a:solidFill>
              <a:effectLst/>
              <a:latin typeface="Segoe UI Semilight" panose="020B04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900" b="0" i="0" kern="1200" dirty="0">
                <a:solidFill>
                  <a:schemeClr val="tx1"/>
                </a:solidFill>
                <a:effectLst/>
                <a:latin typeface="Segoe UI Semilight" panose="020B0402040204020203" pitchFamily="34" charset="0"/>
                <a:ea typeface="+mn-ea"/>
                <a:cs typeface="+mn-cs"/>
              </a:rPr>
              <a:t>Video: https://learn.microsoft.com/en-us/azure/reliability/regions-overview</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CA" sz="900" b="0" i="0" kern="1200" dirty="0">
              <a:solidFill>
                <a:schemeClr val="tx1"/>
              </a:solidFill>
              <a:effectLst/>
              <a:latin typeface="Segoe UI Semilight" panose="020B04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900" b="0" i="0" kern="1200" dirty="0">
                <a:solidFill>
                  <a:schemeClr val="tx1"/>
                </a:solidFill>
                <a:effectLst/>
                <a:latin typeface="Segoe UI Semilight" panose="020B0402040204020203" pitchFamily="34" charset="0"/>
                <a:ea typeface="+mn-ea"/>
                <a:cs typeface="+mn-cs"/>
              </a:rPr>
              <a:t>REQUIREMENT: Are there data sovereignty concerns/requirements?</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900" b="0" i="0" kern="1200" dirty="0">
                <a:solidFill>
                  <a:schemeClr val="tx1"/>
                </a:solidFill>
                <a:effectLst/>
                <a:latin typeface="Segoe UI Semilight" panose="020B0402040204020203" pitchFamily="34" charset="0"/>
                <a:ea typeface="+mn-ea"/>
                <a:cs typeface="+mn-cs"/>
              </a:rPr>
              <a:t>REQUIREMENT: What is the primary Azure region that will be used?</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900" b="0" i="0" kern="1200" dirty="0">
                <a:solidFill>
                  <a:schemeClr val="tx1"/>
                </a:solidFill>
                <a:effectLst/>
                <a:latin typeface="Segoe UI Semilight" panose="020B0402040204020203" pitchFamily="34" charset="0"/>
                <a:ea typeface="+mn-ea"/>
                <a:cs typeface="+mn-cs"/>
              </a:rPr>
              <a:t>REQUIREMENT: What is the secondary Azure region that will be used?</a:t>
            </a:r>
            <a:endParaRPr lang="en-US" sz="1200" kern="1200" dirty="0">
              <a:solidFill>
                <a:schemeClr val="tx1"/>
              </a:solidFill>
              <a:effectLst/>
              <a:latin typeface="Segoe UI Semilight" panose="020B0402040204020203"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F650BD0-6A65-4521-BA25-5D3155EF04DE}"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11/12/2025 12:09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2798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2E2C-FE5E-DF25-E6B0-9DC723E5C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79559-7255-208B-A556-125C1AF491F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E6B779B-4B90-4461-33C7-872A9799D66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402C37D-81C3-4AF0-102B-3679BFF9A399}"/>
              </a:ext>
            </a:extLst>
          </p:cNvPr>
          <p:cNvSpPr>
            <a:spLocks noGrp="1"/>
          </p:cNvSpPr>
          <p:nvPr>
            <p:ph type="sldNum" sz="quarter" idx="5"/>
          </p:nvPr>
        </p:nvSpPr>
        <p:spPr/>
        <p:txBody>
          <a:bodyPr/>
          <a:lstStyle/>
          <a:p>
            <a:fld id="{D6389AA0-099A-4B08-8111-71789224C0ED}" type="slidenum">
              <a:rPr lang="en-CA" smtClean="0"/>
              <a:t>10</a:t>
            </a:fld>
            <a:endParaRPr lang="en-CA"/>
          </a:p>
        </p:txBody>
      </p:sp>
    </p:spTree>
    <p:extLst>
      <p:ext uri="{BB962C8B-B14F-4D97-AF65-F5344CB8AC3E}">
        <p14:creationId xmlns:p14="http://schemas.microsoft.com/office/powerpoint/2010/main" val="1287289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875C9-F19B-E4B9-2C1B-226E0381F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B266E-2E1A-2635-68EB-B752F73A6A7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0DA48B2-A415-FB0E-90D6-ADF504AF02AD}"/>
              </a:ext>
            </a:extLst>
          </p:cNvPr>
          <p:cNvSpPr>
            <a:spLocks noGrp="1"/>
          </p:cNvSpPr>
          <p:nvPr>
            <p:ph type="body" idx="1"/>
          </p:nvPr>
        </p:nvSpPr>
        <p:spPr/>
        <p:txBody>
          <a:bodyPr/>
          <a:lstStyle/>
          <a:p>
            <a:r>
              <a:rPr lang="en-US" dirty="0"/>
              <a:t>https://www.azurespeed.com/Azure/Latency</a:t>
            </a:r>
          </a:p>
          <a:p>
            <a:endParaRPr lang="en-US" dirty="0"/>
          </a:p>
          <a:p>
            <a:r>
              <a:rPr lang="en-US" dirty="0"/>
              <a:t>https://azure.microsoft.com/en-us/explore/global-infrastructure/products-by-region/table?msockid=18220fb2b721618c0c521aa0b69660a8</a:t>
            </a:r>
          </a:p>
          <a:p>
            <a:endParaRPr lang="en-CA" dirty="0"/>
          </a:p>
        </p:txBody>
      </p:sp>
      <p:sp>
        <p:nvSpPr>
          <p:cNvPr id="4" name="Slide Number Placeholder 3">
            <a:extLst>
              <a:ext uri="{FF2B5EF4-FFF2-40B4-BE49-F238E27FC236}">
                <a16:creationId xmlns:a16="http://schemas.microsoft.com/office/drawing/2014/main" id="{F38A2160-4504-D73A-CE06-390C1D3A26DF}"/>
              </a:ext>
            </a:extLst>
          </p:cNvPr>
          <p:cNvSpPr>
            <a:spLocks noGrp="1"/>
          </p:cNvSpPr>
          <p:nvPr>
            <p:ph type="sldNum" sz="quarter" idx="5"/>
          </p:nvPr>
        </p:nvSpPr>
        <p:spPr/>
        <p:txBody>
          <a:bodyPr/>
          <a:lstStyle/>
          <a:p>
            <a:fld id="{D6389AA0-099A-4B08-8111-71789224C0ED}" type="slidenum">
              <a:rPr lang="en-CA" smtClean="0"/>
              <a:t>11</a:t>
            </a:fld>
            <a:endParaRPr lang="en-CA"/>
          </a:p>
        </p:txBody>
      </p:sp>
    </p:spTree>
    <p:extLst>
      <p:ext uri="{BB962C8B-B14F-4D97-AF65-F5344CB8AC3E}">
        <p14:creationId xmlns:p14="http://schemas.microsoft.com/office/powerpoint/2010/main" val="2526241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4FDB9-B2F9-9EDD-A0C2-FD7A4C7F5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3453C-758D-4DB1-4C7A-4486E5A6349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FFA1CA3-D7F1-756C-5548-8CB6999404BF}"/>
              </a:ext>
            </a:extLst>
          </p:cNvPr>
          <p:cNvSpPr>
            <a:spLocks noGrp="1"/>
          </p:cNvSpPr>
          <p:nvPr>
            <p:ph type="body" idx="1"/>
          </p:nvPr>
        </p:nvSpPr>
        <p:spPr/>
        <p:txBody>
          <a:bodyPr/>
          <a:lstStyle/>
          <a:p>
            <a:r>
              <a:rPr lang="en-US" dirty="0"/>
              <a:t>https://www.azurespeed.com/Azure/Latency</a:t>
            </a:r>
          </a:p>
          <a:p>
            <a:endParaRPr lang="en-US" dirty="0"/>
          </a:p>
          <a:p>
            <a:r>
              <a:rPr lang="en-US" dirty="0"/>
              <a:t>https://azure.microsoft.com/en-us/explore/global-infrastructure/products-by-region/table?msockid=18220fb2b721618c0c521aa0b69660a8</a:t>
            </a:r>
          </a:p>
          <a:p>
            <a:endParaRPr lang="en-CA" dirty="0"/>
          </a:p>
        </p:txBody>
      </p:sp>
      <p:sp>
        <p:nvSpPr>
          <p:cNvPr id="4" name="Slide Number Placeholder 3">
            <a:extLst>
              <a:ext uri="{FF2B5EF4-FFF2-40B4-BE49-F238E27FC236}">
                <a16:creationId xmlns:a16="http://schemas.microsoft.com/office/drawing/2014/main" id="{F8335D6A-43CD-7F3A-6F41-A1FDF038EBF4}"/>
              </a:ext>
            </a:extLst>
          </p:cNvPr>
          <p:cNvSpPr>
            <a:spLocks noGrp="1"/>
          </p:cNvSpPr>
          <p:nvPr>
            <p:ph type="sldNum" sz="quarter" idx="5"/>
          </p:nvPr>
        </p:nvSpPr>
        <p:spPr/>
        <p:txBody>
          <a:bodyPr/>
          <a:lstStyle/>
          <a:p>
            <a:fld id="{D6389AA0-099A-4B08-8111-71789224C0ED}" type="slidenum">
              <a:rPr lang="en-CA" smtClean="0"/>
              <a:t>12</a:t>
            </a:fld>
            <a:endParaRPr lang="en-CA"/>
          </a:p>
        </p:txBody>
      </p:sp>
    </p:spTree>
    <p:extLst>
      <p:ext uri="{BB962C8B-B14F-4D97-AF65-F5344CB8AC3E}">
        <p14:creationId xmlns:p14="http://schemas.microsoft.com/office/powerpoint/2010/main" val="447510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D59A-FB86-7BD0-A5F2-999A6CD92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84C3A-D07B-F7F5-5E16-4A948791F04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32AE996-E9AD-C14C-4CCE-07E2E90EDE3F}"/>
              </a:ext>
            </a:extLst>
          </p:cNvPr>
          <p:cNvSpPr>
            <a:spLocks noGrp="1"/>
          </p:cNvSpPr>
          <p:nvPr>
            <p:ph type="body" idx="1"/>
          </p:nvPr>
        </p:nvSpPr>
        <p:spPr/>
        <p:txBody>
          <a:bodyPr/>
          <a:lstStyle/>
          <a:p>
            <a:r>
              <a:rPr lang="en-US" dirty="0"/>
              <a:t>https://www.azurespeed.com/Azure/Latency</a:t>
            </a:r>
          </a:p>
          <a:p>
            <a:endParaRPr lang="en-US" dirty="0"/>
          </a:p>
          <a:p>
            <a:r>
              <a:rPr lang="en-US" dirty="0"/>
              <a:t>https://azure.microsoft.com/en-us/explore/global-infrastructure/products-by-region/table?msockid=18220fb2b721618c0c521aa0b69660a8</a:t>
            </a:r>
          </a:p>
          <a:p>
            <a:endParaRPr lang="en-CA" dirty="0"/>
          </a:p>
        </p:txBody>
      </p:sp>
      <p:sp>
        <p:nvSpPr>
          <p:cNvPr id="4" name="Slide Number Placeholder 3">
            <a:extLst>
              <a:ext uri="{FF2B5EF4-FFF2-40B4-BE49-F238E27FC236}">
                <a16:creationId xmlns:a16="http://schemas.microsoft.com/office/drawing/2014/main" id="{461D3385-A51A-AF10-5D94-0094A56B3A92}"/>
              </a:ext>
            </a:extLst>
          </p:cNvPr>
          <p:cNvSpPr>
            <a:spLocks noGrp="1"/>
          </p:cNvSpPr>
          <p:nvPr>
            <p:ph type="sldNum" sz="quarter" idx="5"/>
          </p:nvPr>
        </p:nvSpPr>
        <p:spPr/>
        <p:txBody>
          <a:bodyPr/>
          <a:lstStyle/>
          <a:p>
            <a:fld id="{D6389AA0-099A-4B08-8111-71789224C0ED}" type="slidenum">
              <a:rPr lang="en-CA" smtClean="0"/>
              <a:t>13</a:t>
            </a:fld>
            <a:endParaRPr lang="en-CA"/>
          </a:p>
        </p:txBody>
      </p:sp>
    </p:spTree>
    <p:extLst>
      <p:ext uri="{BB962C8B-B14F-4D97-AF65-F5344CB8AC3E}">
        <p14:creationId xmlns:p14="http://schemas.microsoft.com/office/powerpoint/2010/main" val="3301824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40A2A-691F-69AE-0651-CB028E7F2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91A64-C499-BBD4-DA3B-CFAF090A17E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7FDFB2C-8CDB-C445-CC9D-0CAAB1FA8323}"/>
              </a:ext>
            </a:extLst>
          </p:cNvPr>
          <p:cNvSpPr>
            <a:spLocks noGrp="1"/>
          </p:cNvSpPr>
          <p:nvPr>
            <p:ph type="body" idx="1"/>
          </p:nvPr>
        </p:nvSpPr>
        <p:spPr/>
        <p:txBody>
          <a:bodyPr/>
          <a:lstStyle/>
          <a:p>
            <a:r>
              <a:rPr lang="en-US" dirty="0"/>
              <a:t>https://www.azurespeed.com/Azure/Latency</a:t>
            </a:r>
          </a:p>
          <a:p>
            <a:endParaRPr lang="en-US" dirty="0"/>
          </a:p>
          <a:p>
            <a:r>
              <a:rPr lang="en-US" dirty="0"/>
              <a:t>https://azure.microsoft.com/en-us/explore/global-infrastructure/products-by-region/table?msockid=18220fb2b721618c0c521aa0b69660a8</a:t>
            </a:r>
          </a:p>
          <a:p>
            <a:endParaRPr lang="en-CA" dirty="0"/>
          </a:p>
        </p:txBody>
      </p:sp>
      <p:sp>
        <p:nvSpPr>
          <p:cNvPr id="4" name="Slide Number Placeholder 3">
            <a:extLst>
              <a:ext uri="{FF2B5EF4-FFF2-40B4-BE49-F238E27FC236}">
                <a16:creationId xmlns:a16="http://schemas.microsoft.com/office/drawing/2014/main" id="{E7F24CDF-22C8-D0EB-0EE1-1084BAF0F541}"/>
              </a:ext>
            </a:extLst>
          </p:cNvPr>
          <p:cNvSpPr>
            <a:spLocks noGrp="1"/>
          </p:cNvSpPr>
          <p:nvPr>
            <p:ph type="sldNum" sz="quarter" idx="5"/>
          </p:nvPr>
        </p:nvSpPr>
        <p:spPr/>
        <p:txBody>
          <a:bodyPr/>
          <a:lstStyle/>
          <a:p>
            <a:fld id="{D6389AA0-099A-4B08-8111-71789224C0ED}" type="slidenum">
              <a:rPr lang="en-CA" smtClean="0"/>
              <a:t>14</a:t>
            </a:fld>
            <a:endParaRPr lang="en-CA"/>
          </a:p>
        </p:txBody>
      </p:sp>
    </p:spTree>
    <p:extLst>
      <p:ext uri="{BB962C8B-B14F-4D97-AF65-F5344CB8AC3E}">
        <p14:creationId xmlns:p14="http://schemas.microsoft.com/office/powerpoint/2010/main" val="446821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C2901-335F-62C5-8473-2D5EC3C0D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51C98-2929-1AE2-0AF6-5F9C17AA6DC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8DC996A-29D2-7000-AC9E-EE132297EC51}"/>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US" dirty="0"/>
              <a:t>Who will be responsible for creating subscriptions?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US" dirty="0"/>
              <a:t>What resources will be in a subscription by default?</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endParaRPr lang="en-US" dirty="0"/>
          </a:p>
          <a:p>
            <a:endParaRPr lang="en-CA" dirty="0"/>
          </a:p>
        </p:txBody>
      </p:sp>
      <p:sp>
        <p:nvSpPr>
          <p:cNvPr id="4" name="Slide Number Placeholder 3">
            <a:extLst>
              <a:ext uri="{FF2B5EF4-FFF2-40B4-BE49-F238E27FC236}">
                <a16:creationId xmlns:a16="http://schemas.microsoft.com/office/drawing/2014/main" id="{05C439F6-38B3-21B4-358D-866369C93032}"/>
              </a:ext>
            </a:extLst>
          </p:cNvPr>
          <p:cNvSpPr>
            <a:spLocks noGrp="1"/>
          </p:cNvSpPr>
          <p:nvPr>
            <p:ph type="sldNum" sz="quarter" idx="5"/>
          </p:nvPr>
        </p:nvSpPr>
        <p:spPr/>
        <p:txBody>
          <a:bodyPr/>
          <a:lstStyle/>
          <a:p>
            <a:fld id="{D6389AA0-099A-4B08-8111-71789224C0ED}" type="slidenum">
              <a:rPr lang="en-CA" smtClean="0"/>
              <a:t>15</a:t>
            </a:fld>
            <a:endParaRPr lang="en-CA"/>
          </a:p>
        </p:txBody>
      </p:sp>
    </p:spTree>
    <p:extLst>
      <p:ext uri="{BB962C8B-B14F-4D97-AF65-F5344CB8AC3E}">
        <p14:creationId xmlns:p14="http://schemas.microsoft.com/office/powerpoint/2010/main" val="204562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22B79-891A-8361-00D8-C4E6CB6A8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44C78-3EFD-839A-C56D-3F2BE6F5EB2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76D3F7D-6661-EE53-3202-C720BB8C98B7}"/>
              </a:ext>
            </a:extLst>
          </p:cNvPr>
          <p:cNvSpPr>
            <a:spLocks noGrp="1"/>
          </p:cNvSpPr>
          <p:nvPr>
            <p:ph type="body" idx="1"/>
          </p:nvPr>
        </p:nvSpPr>
        <p:spPr/>
        <p:txBody>
          <a:bodyPr/>
          <a:lstStyle/>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Subscriptions should be used as a unit of management and scale aligned with business needs and priorities.</a:t>
            </a:r>
          </a:p>
          <a:p>
            <a:pPr marL="228600" indent="-228600">
              <a:buFont typeface="+mj-lt"/>
              <a:buAutoNum type="arabicPeriod"/>
            </a:pPr>
            <a:endParaRPr lang="en-US" sz="1200" b="0" i="0" kern="120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Democratization, Business can choose when they move, we want agility and velocity bult into the platform to accelerate an organizations journey.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200" b="1"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200" b="1" dirty="0"/>
              <a:t>Democratisation:</a:t>
            </a:r>
            <a:r>
              <a:rPr lang="en-GB" sz="1200" dirty="0"/>
              <a:t> Subscriptions, aligned with the platform architecture, must be unblocked and provided to business lines for the design and dev/test of migrating workloads.</a:t>
            </a:r>
          </a:p>
          <a:p>
            <a:pPr marL="0" indent="0">
              <a:buFont typeface="+mj-lt"/>
              <a:buNone/>
            </a:pPr>
            <a:endParaRPr lang="en-US" sz="1200" b="0" i="0" kern="1200" dirty="0">
              <a:solidFill>
                <a:schemeClr val="tx1"/>
              </a:solidFill>
              <a:effectLst/>
              <a:latin typeface="Segoe UI" panose="020B0502040204020203" pitchFamily="34" charset="0"/>
              <a:ea typeface="+mn-ea"/>
              <a:cs typeface="+mn-cs"/>
            </a:endParaRPr>
          </a:p>
          <a:p>
            <a:pPr marL="0" indent="0">
              <a:buFont typeface="+mj-lt"/>
              <a:buNone/>
            </a:pPr>
            <a:r>
              <a:rPr lang="en-US" dirty="0"/>
              <a:t>How: tools like Azure Policy and IaC (Azure Blueprints or other tools e.g Terraform) make this possible to ensure that Subscriptions are created with appropriate controls and baseline resources (including e.g </a:t>
            </a:r>
            <a:r>
              <a:rPr lang="en-US" dirty="0" err="1"/>
              <a:t>vnet</a:t>
            </a:r>
            <a:r>
              <a:rPr lang="en-US" dirty="0"/>
              <a:t> peerings to central vnets that business users otherwise don’t and shouldn’t have permissions to modify)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a:extLst>
              <a:ext uri="{FF2B5EF4-FFF2-40B4-BE49-F238E27FC236}">
                <a16:creationId xmlns:a16="http://schemas.microsoft.com/office/drawing/2014/main" id="{A71E85C3-3973-D76E-A830-558189EF2AA4}"/>
              </a:ext>
            </a:extLst>
          </p:cNvPr>
          <p:cNvSpPr>
            <a:spLocks noGrp="1"/>
          </p:cNvSpPr>
          <p:nvPr>
            <p:ph type="sldNum" sz="quarter" idx="5"/>
          </p:nvPr>
        </p:nvSpPr>
        <p:spPr/>
        <p:txBody>
          <a:bodyPr/>
          <a:lstStyle/>
          <a:p>
            <a:fld id="{D6389AA0-099A-4B08-8111-71789224C0ED}" type="slidenum">
              <a:rPr lang="en-CA" smtClean="0"/>
              <a:t>16</a:t>
            </a:fld>
            <a:endParaRPr lang="en-CA"/>
          </a:p>
        </p:txBody>
      </p:sp>
    </p:spTree>
    <p:extLst>
      <p:ext uri="{BB962C8B-B14F-4D97-AF65-F5344CB8AC3E}">
        <p14:creationId xmlns:p14="http://schemas.microsoft.com/office/powerpoint/2010/main" val="179202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90DA5-5287-B503-07C8-D6D76074F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A66C0-D2A2-36DD-9CAB-EB3118D62BF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238DE74-1781-D406-036F-5C2B3C023B2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AE7E5FB-0822-095B-4838-330A0F270F55}"/>
              </a:ext>
            </a:extLst>
          </p:cNvPr>
          <p:cNvSpPr>
            <a:spLocks noGrp="1"/>
          </p:cNvSpPr>
          <p:nvPr>
            <p:ph type="sldNum" sz="quarter" idx="5"/>
          </p:nvPr>
        </p:nvSpPr>
        <p:spPr/>
        <p:txBody>
          <a:bodyPr/>
          <a:lstStyle/>
          <a:p>
            <a:fld id="{D6389AA0-099A-4B08-8111-71789224C0ED}" type="slidenum">
              <a:rPr lang="en-CA" smtClean="0"/>
              <a:t>17</a:t>
            </a:fld>
            <a:endParaRPr lang="en-CA"/>
          </a:p>
        </p:txBody>
      </p:sp>
    </p:spTree>
    <p:extLst>
      <p:ext uri="{BB962C8B-B14F-4D97-AF65-F5344CB8AC3E}">
        <p14:creationId xmlns:p14="http://schemas.microsoft.com/office/powerpoint/2010/main" val="1082126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9AE2-B6DE-A7B9-1EA8-F078361DE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4A1A4-1EB0-E536-0741-5D1AAF65E08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F1244A2-78FC-134A-66FB-8CCB1FD96C6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B7055CD-5CF2-D25A-A2D2-633AEC89BE16}"/>
              </a:ext>
            </a:extLst>
          </p:cNvPr>
          <p:cNvSpPr>
            <a:spLocks noGrp="1"/>
          </p:cNvSpPr>
          <p:nvPr>
            <p:ph type="sldNum" sz="quarter" idx="5"/>
          </p:nvPr>
        </p:nvSpPr>
        <p:spPr/>
        <p:txBody>
          <a:bodyPr/>
          <a:lstStyle/>
          <a:p>
            <a:fld id="{D6389AA0-099A-4B08-8111-71789224C0ED}" type="slidenum">
              <a:rPr lang="en-CA" smtClean="0"/>
              <a:t>18</a:t>
            </a:fld>
            <a:endParaRPr lang="en-CA"/>
          </a:p>
        </p:txBody>
      </p:sp>
    </p:spTree>
    <p:extLst>
      <p:ext uri="{BB962C8B-B14F-4D97-AF65-F5344CB8AC3E}">
        <p14:creationId xmlns:p14="http://schemas.microsoft.com/office/powerpoint/2010/main" val="2486635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3C277-F0FE-3726-3359-092048701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1626C-6032-6058-3202-3FA5C832221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C41E795-129F-7D23-FEE5-FD670E3C62D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91F0E7F-B41D-3120-FC54-4FE8D9B0241C}"/>
              </a:ext>
            </a:extLst>
          </p:cNvPr>
          <p:cNvSpPr>
            <a:spLocks noGrp="1"/>
          </p:cNvSpPr>
          <p:nvPr>
            <p:ph type="sldNum" sz="quarter" idx="5"/>
          </p:nvPr>
        </p:nvSpPr>
        <p:spPr/>
        <p:txBody>
          <a:bodyPr/>
          <a:lstStyle/>
          <a:p>
            <a:fld id="{D6389AA0-099A-4B08-8111-71789224C0ED}" type="slidenum">
              <a:rPr lang="en-CA" smtClean="0"/>
              <a:t>19</a:t>
            </a:fld>
            <a:endParaRPr lang="en-CA"/>
          </a:p>
        </p:txBody>
      </p:sp>
    </p:spTree>
    <p:extLst>
      <p:ext uri="{BB962C8B-B14F-4D97-AF65-F5344CB8AC3E}">
        <p14:creationId xmlns:p14="http://schemas.microsoft.com/office/powerpoint/2010/main" val="3734933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A1FF9-6814-B7CB-5BFA-163860502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61200-720A-A48D-63A1-3CFCCEF1593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52DB203-4502-0B30-87D2-12D8A7837B99}"/>
              </a:ext>
            </a:extLst>
          </p:cNvPr>
          <p:cNvSpPr>
            <a:spLocks noGrp="1"/>
          </p:cNvSpPr>
          <p:nvPr>
            <p:ph type="body" idx="1"/>
          </p:nvPr>
        </p:nvSpPr>
        <p:spPr/>
        <p:txBody>
          <a:bodyPr/>
          <a:lstStyle/>
          <a:p>
            <a:r>
              <a:rPr lang="en-CA" dirty="0"/>
              <a:t>Democratization is the action of making something accessible to everyone.</a:t>
            </a:r>
          </a:p>
          <a:p>
            <a:endParaRPr lang="en-CA" dirty="0"/>
          </a:p>
          <a:p>
            <a:r>
              <a:rPr lang="en-CA" dirty="0"/>
              <a:t>Subscription democratization is therefore the action of making subscriptions accessible and available to anyone who requests one.</a:t>
            </a:r>
          </a:p>
          <a:p>
            <a:endParaRPr lang="en-CA" dirty="0"/>
          </a:p>
          <a:p>
            <a:r>
              <a:rPr lang="en-CA" dirty="0"/>
              <a:t>Microsoft: “</a:t>
            </a:r>
            <a:r>
              <a:rPr lang="en-US" dirty="0"/>
              <a:t>Subscriptions should be used as a unit of management and scale aligned with business needs and priorities, to support business areas and portfolio owners to accelerate application migrations and new application development.”</a:t>
            </a:r>
          </a:p>
          <a:p>
            <a:pPr marL="228600" indent="-228600">
              <a:buFont typeface="+mj-lt"/>
              <a:buAutoNum type="arabicPeriod"/>
            </a:pPr>
            <a:endParaRPr lang="en-US" sz="1200" b="0" i="0" kern="120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Subscriptions should be used as a unit of management and scale aligned with business needs and priorities.</a:t>
            </a:r>
          </a:p>
          <a:p>
            <a:pPr marL="228600" indent="-228600">
              <a:buFont typeface="+mj-lt"/>
              <a:buAutoNum type="arabicPeriod"/>
            </a:pPr>
            <a:endParaRPr lang="en-US" sz="1200" b="0" i="0" kern="120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Democratization, Business can choose when they move, we want agility and velocity bult into the platform to accelerate an organizations journey. </a:t>
            </a:r>
          </a:p>
          <a:p>
            <a:pPr marL="0" marR="0" lvl="0" indent="0" algn="l" defTabSz="914400" rtl="0" eaLnBrk="1" fontAlgn="auto" latinLnBrk="0" hangingPunct="1">
              <a:lnSpc>
                <a:spcPct val="100000"/>
              </a:lnSpc>
              <a:spcBef>
                <a:spcPts val="0"/>
              </a:spcBef>
              <a:spcAft>
                <a:spcPts val="0"/>
              </a:spcAft>
              <a:buClrTx/>
              <a:buSzTx/>
              <a:buFont typeface="+mj-lt"/>
              <a:buNone/>
              <a:tabLst/>
              <a:defRPr/>
            </a:pPr>
            <a:br>
              <a:rPr lang="en-GB" sz="1200" b="1" dirty="0"/>
            </a:br>
            <a:r>
              <a:rPr lang="en-GB" sz="1200" b="1" dirty="0"/>
              <a:t>Democratization:</a:t>
            </a:r>
            <a:r>
              <a:rPr lang="en-GB" sz="1200" dirty="0"/>
              <a:t> Subscriptions, aligned with the platform architecture, must be unblocked and provided to business lines for the design and dev/test of migrating workloads.</a:t>
            </a:r>
          </a:p>
          <a:p>
            <a:pPr marL="0" indent="0">
              <a:buFont typeface="+mj-lt"/>
              <a:buNone/>
            </a:pPr>
            <a:endParaRPr lang="en-US" sz="1200" b="0" i="0" kern="1200" dirty="0">
              <a:solidFill>
                <a:schemeClr val="tx1"/>
              </a:solidFill>
              <a:effectLst/>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100" dirty="0"/>
              <a:t>Subscription democratisation  across the regions Equinor 1 resource group – fill and spill, Pinning subscription to region. Big can start small.</a:t>
            </a:r>
          </a:p>
          <a:p>
            <a:pPr marL="0" indent="0">
              <a:buFont typeface="+mj-lt"/>
              <a:buNone/>
            </a:pPr>
            <a:endParaRPr lang="en-US" sz="1200" b="0" i="0" kern="1200" dirty="0">
              <a:solidFill>
                <a:schemeClr val="tx1"/>
              </a:solidFill>
              <a:effectLst/>
              <a:latin typeface="Segoe UI" panose="020B0502040204020203" pitchFamily="34" charset="0"/>
              <a:ea typeface="+mn-ea"/>
              <a:cs typeface="+mn-cs"/>
            </a:endParaRPr>
          </a:p>
          <a:p>
            <a:pPr marL="0" indent="0">
              <a:buFont typeface="+mj-lt"/>
              <a:buNone/>
            </a:pPr>
            <a:r>
              <a:rPr lang="en-US" sz="1200" b="0" i="0" kern="1200" dirty="0">
                <a:solidFill>
                  <a:schemeClr val="tx1"/>
                </a:solidFill>
                <a:effectLst/>
                <a:latin typeface="Segoe UI" panose="020B0502040204020203" pitchFamily="34" charset="0"/>
                <a:ea typeface="+mn-ea"/>
                <a:cs typeface="+mn-cs"/>
              </a:rPr>
              <a:t>Agree at the top Level Criteria for a File&gt;New Subscription and Requirements</a:t>
            </a:r>
          </a:p>
          <a:p>
            <a:pPr marL="0" indent="0">
              <a:buFont typeface="+mj-lt"/>
              <a:buNone/>
            </a:pPr>
            <a:r>
              <a:rPr lang="en-US" sz="1200" b="0" i="0" kern="1200" dirty="0">
                <a:solidFill>
                  <a:schemeClr val="tx1"/>
                </a:solidFill>
                <a:effectLst/>
                <a:latin typeface="Segoe UI" panose="020B0502040204020203" pitchFamily="34" charset="0"/>
                <a:ea typeface="+mn-ea"/>
                <a:cs typeface="+mn-cs"/>
              </a:rPr>
              <a:t>Plan Top down Management and unit of Management is the Subscription. This helps to address things such as subscription Limits, maybe for a workload or service we need multiple subscriptions.  </a:t>
            </a:r>
          </a:p>
          <a:p>
            <a:endParaRPr lang="en-CA" dirty="0"/>
          </a:p>
        </p:txBody>
      </p:sp>
      <p:sp>
        <p:nvSpPr>
          <p:cNvPr id="4" name="Slide Number Placeholder 3">
            <a:extLst>
              <a:ext uri="{FF2B5EF4-FFF2-40B4-BE49-F238E27FC236}">
                <a16:creationId xmlns:a16="http://schemas.microsoft.com/office/drawing/2014/main" id="{BBE702FC-83C5-052C-7FEF-742DFB04E0FD}"/>
              </a:ext>
            </a:extLst>
          </p:cNvPr>
          <p:cNvSpPr>
            <a:spLocks noGrp="1"/>
          </p:cNvSpPr>
          <p:nvPr>
            <p:ph type="sldNum" sz="quarter" idx="5"/>
          </p:nvPr>
        </p:nvSpPr>
        <p:spPr/>
        <p:txBody>
          <a:bodyPr/>
          <a:lstStyle/>
          <a:p>
            <a:fld id="{D6389AA0-099A-4B08-8111-71789224C0ED}" type="slidenum">
              <a:rPr lang="en-CA" smtClean="0"/>
              <a:t>20</a:t>
            </a:fld>
            <a:endParaRPr lang="en-CA"/>
          </a:p>
        </p:txBody>
      </p:sp>
    </p:spTree>
    <p:extLst>
      <p:ext uri="{BB962C8B-B14F-4D97-AF65-F5344CB8AC3E}">
        <p14:creationId xmlns:p14="http://schemas.microsoft.com/office/powerpoint/2010/main" val="608097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DD23-C967-A062-C3B0-4A76D95E7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0A039-6CCF-BFC7-C574-66B57530122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D6EBC81-1004-9B87-4B51-A7A878EA5784}"/>
              </a:ext>
            </a:extLst>
          </p:cNvPr>
          <p:cNvSpPr>
            <a:spLocks noGrp="1"/>
          </p:cNvSpPr>
          <p:nvPr>
            <p:ph type="body" idx="1"/>
          </p:nvPr>
        </p:nvSpPr>
        <p:spPr/>
        <p:txBody>
          <a:bodyPr/>
          <a:lstStyle/>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Azure Policy should be used to provide the “guard-rails” and ensure the continued compliance of the customer platform and applications deployed onto it, whilst also providing application owners sufficient freedom and a secure unhindered path to cloud.</a:t>
            </a:r>
          </a:p>
          <a:p>
            <a:pPr marL="228600" indent="-228600">
              <a:buFont typeface="+mj-lt"/>
              <a:buAutoNum type="arabicPeriod"/>
            </a:pPr>
            <a:endParaRPr lang="en-US" sz="1200" b="0" i="0" kern="1200" dirty="0">
              <a:solidFill>
                <a:schemeClr val="tx1"/>
              </a:solidFill>
              <a:effectLst/>
              <a:latin typeface="Segoe UI" panose="020B0502040204020203" pitchFamily="34" charset="0"/>
              <a:ea typeface="+mn-ea"/>
              <a:cs typeface="+mn-cs"/>
            </a:endParaRPr>
          </a:p>
          <a:p>
            <a:pPr marL="0" indent="0">
              <a:buFont typeface="+mj-lt"/>
              <a:buNone/>
            </a:pPr>
            <a:r>
              <a:rPr lang="en-US" sz="1200" b="0" i="0" kern="1200" dirty="0">
                <a:solidFill>
                  <a:schemeClr val="tx1"/>
                </a:solidFill>
                <a:effectLst/>
                <a:latin typeface="Segoe UI" panose="020B0502040204020203" pitchFamily="34" charset="0"/>
                <a:ea typeface="+mn-ea"/>
                <a:cs typeface="+mn-cs"/>
              </a:rPr>
              <a:t>Rule Sets, and Governance should be in code to set guard-rails. Declare the intent of the policy, Audit only vs deny designed into platform. Deploy if not exist, for configuration drift.  </a:t>
            </a:r>
          </a:p>
          <a:p>
            <a:pPr marL="0" indent="0">
              <a:buFont typeface="+mj-lt"/>
              <a:buNone/>
            </a:pPr>
            <a:r>
              <a:rPr lang="en-US" sz="1200" b="0" i="0" kern="1200" dirty="0">
                <a:solidFill>
                  <a:schemeClr val="tx1"/>
                </a:solidFill>
                <a:effectLst/>
                <a:latin typeface="Segoe UI" panose="020B0502040204020203" pitchFamily="34" charset="0"/>
                <a:ea typeface="+mn-ea"/>
                <a:cs typeface="+mn-cs"/>
              </a:rPr>
              <a:t>No Public Endpoints – deny policy, enable Audit Logging – Deploy if not exist. </a:t>
            </a:r>
          </a:p>
          <a:p>
            <a:pPr marL="228600" indent="-228600">
              <a:buFont typeface="+mj-lt"/>
              <a:buAutoNum type="arabicPeriod"/>
            </a:pPr>
            <a:endParaRPr lang="en-US" sz="1200" b="0" i="0" kern="1200" dirty="0">
              <a:solidFill>
                <a:schemeClr val="tx1"/>
              </a:solidFill>
              <a:effectLst/>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100" dirty="0"/>
              <a:t>Policy – VM Provisioning</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100" dirty="0"/>
              <a:t>The intent of Enterprise Scale to address VM configuration drift with policy to vNet with connectivity back to Corp. Ensure VM is connected to a certain OU and domain joined. </a:t>
            </a:r>
          </a:p>
          <a:p>
            <a:endParaRPr lang="en-CA" dirty="0"/>
          </a:p>
        </p:txBody>
      </p:sp>
      <p:sp>
        <p:nvSpPr>
          <p:cNvPr id="4" name="Slide Number Placeholder 3">
            <a:extLst>
              <a:ext uri="{FF2B5EF4-FFF2-40B4-BE49-F238E27FC236}">
                <a16:creationId xmlns:a16="http://schemas.microsoft.com/office/drawing/2014/main" id="{66CF19EE-1A03-CAB2-448A-2C37E99821BF}"/>
              </a:ext>
            </a:extLst>
          </p:cNvPr>
          <p:cNvSpPr>
            <a:spLocks noGrp="1"/>
          </p:cNvSpPr>
          <p:nvPr>
            <p:ph type="sldNum" sz="quarter" idx="5"/>
          </p:nvPr>
        </p:nvSpPr>
        <p:spPr/>
        <p:txBody>
          <a:bodyPr/>
          <a:lstStyle/>
          <a:p>
            <a:fld id="{D6389AA0-099A-4B08-8111-71789224C0ED}" type="slidenum">
              <a:rPr lang="en-CA" smtClean="0"/>
              <a:t>21</a:t>
            </a:fld>
            <a:endParaRPr lang="en-CA"/>
          </a:p>
        </p:txBody>
      </p:sp>
    </p:spTree>
    <p:extLst>
      <p:ext uri="{BB962C8B-B14F-4D97-AF65-F5344CB8AC3E}">
        <p14:creationId xmlns:p14="http://schemas.microsoft.com/office/powerpoint/2010/main" val="2658270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AFBEF-E33C-2F90-2CCA-AC18B3490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9ED43-61F8-6A48-51A3-056AB610CE0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B9B3084-B3C1-D19D-AC8B-98ECD3682428}"/>
              </a:ext>
            </a:extLst>
          </p:cNvPr>
          <p:cNvSpPr>
            <a:spLocks noGrp="1"/>
          </p:cNvSpPr>
          <p:nvPr>
            <p:ph type="body" idx="1"/>
          </p:nvPr>
        </p:nvSpPr>
        <p:spPr/>
        <p:txBody>
          <a:bodyPr/>
          <a:lstStyle/>
          <a:p>
            <a:pPr marL="228600" indent="-228600">
              <a:buFont typeface="+mj-lt"/>
              <a:buAutoNum type="arabicPeriod"/>
            </a:pPr>
            <a:r>
              <a:rPr lang="en-US" b="0" i="0" dirty="0">
                <a:solidFill>
                  <a:srgbClr val="171717"/>
                </a:solidFill>
                <a:effectLst/>
                <a:latin typeface="Segoe UI" panose="020B0502040204020203" pitchFamily="34" charset="0"/>
              </a:rPr>
              <a:t>Avoid dependency on abstraction layers, such as customer-developed portals or tooling. Having a consistent experience for both Central Operations and Workload Operations is highly recommended. Azure provides a unified and consistent control plane which is subject to role-based access and policy-driven controls. This applies across all Azure resources and provisioning channels. Azure can be used to establish a standardized set of policies and controls for governing the entire enterprise estate.</a:t>
            </a:r>
          </a:p>
          <a:p>
            <a:pPr marL="228600" indent="-228600">
              <a:buFont typeface="+mj-lt"/>
              <a:buAutoNum type="arabicPeriod"/>
            </a:pPr>
            <a:endParaRPr lang="en-US" sz="2400" b="0" i="0" kern="1200" dirty="0">
              <a:solidFill>
                <a:srgbClr val="171717"/>
              </a:solidFill>
              <a:effectLst/>
              <a:latin typeface="Segoe UI" panose="020B0502040204020203" pitchFamily="34" charset="0"/>
              <a:ea typeface="+mn-ea"/>
              <a:cs typeface="+mn-cs"/>
            </a:endParaRPr>
          </a:p>
          <a:p>
            <a:pPr algn="l"/>
            <a:r>
              <a:rPr lang="en-US" b="1" i="0" dirty="0">
                <a:solidFill>
                  <a:srgbClr val="171717"/>
                </a:solidFill>
                <a:effectLst/>
                <a:latin typeface="Segoe UI" panose="020B0502040204020203" pitchFamily="34" charset="0"/>
              </a:rPr>
              <a:t>Impact of deviation</a:t>
            </a:r>
          </a:p>
          <a:p>
            <a:pPr algn="l"/>
            <a:r>
              <a:rPr lang="en-US" b="1" i="0" dirty="0">
                <a:solidFill>
                  <a:srgbClr val="171717"/>
                </a:solidFill>
                <a:effectLst/>
                <a:latin typeface="Segoe UI" panose="020B0502040204020203" pitchFamily="34" charset="0"/>
              </a:rPr>
              <a:t>Increased complexity of integration</a:t>
            </a:r>
            <a:r>
              <a:rPr lang="en-US" b="0" i="0" dirty="0">
                <a:solidFill>
                  <a:srgbClr val="171717"/>
                </a:solidFill>
                <a:effectLst/>
                <a:latin typeface="Segoe UI" panose="020B0502040204020203" pitchFamily="34" charset="0"/>
              </a:rPr>
              <a:t>—Choosing a multi-vendor approach to operate control and management planes might introduce complexity of integration and feature support. Replacing individual components to achieve a "best of breed" design or multi-vendor operations tooling might have limitations and could cause unintended errors due to inherent dependencies.</a:t>
            </a:r>
          </a:p>
          <a:p>
            <a:pPr algn="l"/>
            <a:r>
              <a:rPr lang="en-US" b="0" i="0" dirty="0">
                <a:solidFill>
                  <a:srgbClr val="171717"/>
                </a:solidFill>
                <a:effectLst/>
                <a:latin typeface="Segoe UI" panose="020B0502040204020203" pitchFamily="34" charset="0"/>
              </a:rPr>
              <a:t>For customers who are bringing an existing tooling investment to operations, security, or governance, a review of the Azure services and any dependencies is recommended.</a:t>
            </a:r>
          </a:p>
          <a:p>
            <a:pPr marL="0" indent="0">
              <a:buFont typeface="+mj-lt"/>
              <a:buNone/>
            </a:pPr>
            <a:endParaRPr lang="en-US" sz="2400" b="0" i="0" kern="1200" dirty="0">
              <a:solidFill>
                <a:schemeClr val="tx1"/>
              </a:solidFill>
              <a:effectLst/>
              <a:latin typeface="Segoe UI" panose="020B0502040204020203" pitchFamily="34" charset="0"/>
              <a:ea typeface="+mn-ea"/>
              <a:cs typeface="+mn-cs"/>
            </a:endParaRPr>
          </a:p>
          <a:p>
            <a:pPr marL="0" indent="0">
              <a:buFont typeface="+mj-lt"/>
              <a:buNone/>
            </a:pPr>
            <a:r>
              <a:rPr lang="en-US" sz="2400" b="0" i="0" kern="1200" dirty="0">
                <a:solidFill>
                  <a:schemeClr val="tx1"/>
                </a:solidFill>
                <a:effectLst/>
                <a:latin typeface="Segoe UI" panose="020B0502040204020203" pitchFamily="34" charset="0"/>
                <a:ea typeface="+mn-ea"/>
                <a:cs typeface="+mn-cs"/>
              </a:rPr>
              <a:t>User Provisioning have native access to Azure CLI, API’s, and Portal.</a:t>
            </a:r>
          </a:p>
          <a:p>
            <a:endParaRPr lang="en-CA" dirty="0"/>
          </a:p>
        </p:txBody>
      </p:sp>
      <p:sp>
        <p:nvSpPr>
          <p:cNvPr id="4" name="Slide Number Placeholder 3">
            <a:extLst>
              <a:ext uri="{FF2B5EF4-FFF2-40B4-BE49-F238E27FC236}">
                <a16:creationId xmlns:a16="http://schemas.microsoft.com/office/drawing/2014/main" id="{72E0440D-8CAD-BF15-654F-9DE40E75D9E8}"/>
              </a:ext>
            </a:extLst>
          </p:cNvPr>
          <p:cNvSpPr>
            <a:spLocks noGrp="1"/>
          </p:cNvSpPr>
          <p:nvPr>
            <p:ph type="sldNum" sz="quarter" idx="5"/>
          </p:nvPr>
        </p:nvSpPr>
        <p:spPr/>
        <p:txBody>
          <a:bodyPr/>
          <a:lstStyle/>
          <a:p>
            <a:fld id="{D6389AA0-099A-4B08-8111-71789224C0ED}" type="slidenum">
              <a:rPr lang="en-CA" smtClean="0"/>
              <a:t>22</a:t>
            </a:fld>
            <a:endParaRPr lang="en-CA"/>
          </a:p>
        </p:txBody>
      </p:sp>
    </p:spTree>
    <p:extLst>
      <p:ext uri="{BB962C8B-B14F-4D97-AF65-F5344CB8AC3E}">
        <p14:creationId xmlns:p14="http://schemas.microsoft.com/office/powerpoint/2010/main" val="40646565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49995-B721-F364-15EC-3BBD51D83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9EDD5-786C-A434-7065-2C1C09B5DEA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0D0B53E-7C37-0678-97BE-13E28A2AB7CD}"/>
              </a:ext>
            </a:extLst>
          </p:cNvPr>
          <p:cNvSpPr>
            <a:spLocks noGrp="1"/>
          </p:cNvSpPr>
          <p:nvPr>
            <p:ph type="body" idx="1"/>
          </p:nvPr>
        </p:nvSpPr>
        <p:spPr/>
        <p:txBody>
          <a:bodyPr/>
          <a:lstStyle/>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The enterprise-scale architecture should focus on application centric migrations and development rather than a pure infrastructure “lift and shift” migration (i.e. movement of virtual machines) and should not differentiate between old/new applications or IaaS/PaaS applications.</a:t>
            </a:r>
          </a:p>
          <a:p>
            <a:pPr marL="0" indent="0">
              <a:buFont typeface="+mj-lt"/>
              <a:buNone/>
            </a:pPr>
            <a:endParaRPr lang="en-US" sz="1200" b="0" i="0" kern="1200" dirty="0">
              <a:solidFill>
                <a:schemeClr val="tx1"/>
              </a:solidFill>
              <a:effectLst/>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200" b="1" dirty="0"/>
              <a:t>Application Centric Migration and Agility:</a:t>
            </a:r>
            <a:r>
              <a:rPr lang="en-GB" sz="1200" dirty="0"/>
              <a:t> Support both existing application migrations and net-new application development, without discrimination between IaaS or PaaS, all while providing a consistent experience for both AppOps (centrally managed apps) and DevOps (dedicated teams) across the design and architecture outlined above</a:t>
            </a:r>
          </a:p>
          <a:p>
            <a:pPr marL="0" indent="0">
              <a:buFont typeface="+mj-lt"/>
              <a:buNone/>
            </a:pPr>
            <a:endParaRPr lang="en-US" sz="1200" b="0" i="0" kern="1200" dirty="0">
              <a:solidFill>
                <a:schemeClr val="tx1"/>
              </a:solidFill>
              <a:effectLst/>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100" dirty="0"/>
              <a:t>App Centric – PaaS/DbaaS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1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100" dirty="0"/>
              <a:t>Application and workload specific design focus. Centralize Application components. Not assigned by Who needs access based on roles. </a:t>
            </a:r>
          </a:p>
          <a:p>
            <a:endParaRPr lang="en-CA" dirty="0"/>
          </a:p>
        </p:txBody>
      </p:sp>
      <p:sp>
        <p:nvSpPr>
          <p:cNvPr id="4" name="Slide Number Placeholder 3">
            <a:extLst>
              <a:ext uri="{FF2B5EF4-FFF2-40B4-BE49-F238E27FC236}">
                <a16:creationId xmlns:a16="http://schemas.microsoft.com/office/drawing/2014/main" id="{6DD34743-51CD-B101-C3F5-29EF5ED1819E}"/>
              </a:ext>
            </a:extLst>
          </p:cNvPr>
          <p:cNvSpPr>
            <a:spLocks noGrp="1"/>
          </p:cNvSpPr>
          <p:nvPr>
            <p:ph type="sldNum" sz="quarter" idx="5"/>
          </p:nvPr>
        </p:nvSpPr>
        <p:spPr/>
        <p:txBody>
          <a:bodyPr/>
          <a:lstStyle/>
          <a:p>
            <a:fld id="{D6389AA0-099A-4B08-8111-71789224C0ED}" type="slidenum">
              <a:rPr lang="en-CA" smtClean="0"/>
              <a:t>23</a:t>
            </a:fld>
            <a:endParaRPr lang="en-CA"/>
          </a:p>
        </p:txBody>
      </p:sp>
    </p:spTree>
    <p:extLst>
      <p:ext uri="{BB962C8B-B14F-4D97-AF65-F5344CB8AC3E}">
        <p14:creationId xmlns:p14="http://schemas.microsoft.com/office/powerpoint/2010/main" val="36154662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7533E-F358-017E-1F2F-321017E28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F2D7B-DDEB-32B1-BD8E-12760D96AC3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7C841EF-6F05-B4C1-D22C-A4AC26D0F7BF}"/>
              </a:ext>
            </a:extLst>
          </p:cNvPr>
          <p:cNvSpPr>
            <a:spLocks noGrp="1"/>
          </p:cNvSpPr>
          <p:nvPr>
            <p:ph type="body" idx="1"/>
          </p:nvPr>
        </p:nvSpPr>
        <p:spPr/>
        <p:txBody>
          <a:bodyPr/>
          <a:lstStyle/>
          <a:p>
            <a:pPr marL="228600" indent="-228600">
              <a:buFont typeface="+mj-lt"/>
              <a:buAutoNum type="arabicPeriod"/>
            </a:pPr>
            <a:r>
              <a:rPr lang="en-US" sz="1200" b="0" i="0" kern="1200" dirty="0">
                <a:solidFill>
                  <a:schemeClr val="tx1"/>
                </a:solidFill>
                <a:effectLst/>
                <a:latin typeface="Segoe UI" panose="020B0502040204020203" pitchFamily="34" charset="0"/>
                <a:ea typeface="+mn-ea"/>
                <a:cs typeface="+mn-cs"/>
              </a:rPr>
              <a:t>The Enterprise-scale architecture strongly advocates the use of native platform services and capabilities wherever possible, which should be fully aligned with Azure platform roadmaps from the offset to ensure new capabilities are swiftly made available within customer environments.</a:t>
            </a:r>
          </a:p>
          <a:p>
            <a:pPr marL="228600" indent="-228600">
              <a:buFont typeface="+mj-lt"/>
              <a:buAutoNum type="arabicPeriod"/>
            </a:pPr>
            <a:endParaRPr lang="en-US" sz="1200" b="0" i="0" kern="1200" dirty="0">
              <a:solidFill>
                <a:schemeClr val="tx1"/>
              </a:solidFill>
              <a:effectLst/>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dirty="0"/>
              <a:t>Native Design – H&amp;M – PA NVA to Azure Firewall and Terraform and provider</a:t>
            </a:r>
          </a:p>
          <a:p>
            <a:endParaRPr lang="en-CA" dirty="0"/>
          </a:p>
        </p:txBody>
      </p:sp>
      <p:sp>
        <p:nvSpPr>
          <p:cNvPr id="4" name="Slide Number Placeholder 3">
            <a:extLst>
              <a:ext uri="{FF2B5EF4-FFF2-40B4-BE49-F238E27FC236}">
                <a16:creationId xmlns:a16="http://schemas.microsoft.com/office/drawing/2014/main" id="{1A2B9DC6-3776-12C0-7952-0A65D5F0D1E7}"/>
              </a:ext>
            </a:extLst>
          </p:cNvPr>
          <p:cNvSpPr>
            <a:spLocks noGrp="1"/>
          </p:cNvSpPr>
          <p:nvPr>
            <p:ph type="sldNum" sz="quarter" idx="5"/>
          </p:nvPr>
        </p:nvSpPr>
        <p:spPr/>
        <p:txBody>
          <a:bodyPr/>
          <a:lstStyle/>
          <a:p>
            <a:fld id="{D6389AA0-099A-4B08-8111-71789224C0ED}" type="slidenum">
              <a:rPr lang="en-CA" smtClean="0"/>
              <a:t>24</a:t>
            </a:fld>
            <a:endParaRPr lang="en-CA"/>
          </a:p>
        </p:txBody>
      </p:sp>
    </p:spTree>
    <p:extLst>
      <p:ext uri="{BB962C8B-B14F-4D97-AF65-F5344CB8AC3E}">
        <p14:creationId xmlns:p14="http://schemas.microsoft.com/office/powerpoint/2010/main" val="862070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C4807C3-8FDD-41FE-878F-1E3BE46E57D4}" type="slidenum">
              <a:rPr lang="en-CA" smtClean="0"/>
              <a:t>25</a:t>
            </a:fld>
            <a:endParaRPr lang="en-CA"/>
          </a:p>
        </p:txBody>
      </p:sp>
    </p:spTree>
    <p:extLst>
      <p:ext uri="{BB962C8B-B14F-4D97-AF65-F5344CB8AC3E}">
        <p14:creationId xmlns:p14="http://schemas.microsoft.com/office/powerpoint/2010/main" val="2608389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ADDE3-F775-C4CD-6EAA-144410D86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9F603-5D6B-D147-D0CE-D9F27FE73A0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42E7BF8-B647-73F4-0017-B93EE039C5ED}"/>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123CBDE-3C10-8307-4E4B-BED6715B9C97}"/>
              </a:ext>
            </a:extLst>
          </p:cNvPr>
          <p:cNvSpPr>
            <a:spLocks noGrp="1"/>
          </p:cNvSpPr>
          <p:nvPr>
            <p:ph type="sldNum" sz="quarter" idx="5"/>
          </p:nvPr>
        </p:nvSpPr>
        <p:spPr/>
        <p:txBody>
          <a:bodyPr/>
          <a:lstStyle/>
          <a:p>
            <a:fld id="{FC4807C3-8FDD-41FE-878F-1E3BE46E57D4}" type="slidenum">
              <a:rPr lang="en-CA" smtClean="0"/>
              <a:t>26</a:t>
            </a:fld>
            <a:endParaRPr lang="en-CA"/>
          </a:p>
        </p:txBody>
      </p:sp>
    </p:spTree>
    <p:extLst>
      <p:ext uri="{BB962C8B-B14F-4D97-AF65-F5344CB8AC3E}">
        <p14:creationId xmlns:p14="http://schemas.microsoft.com/office/powerpoint/2010/main" val="1478513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D5C9-B7AA-83DD-28B7-F2483ECCE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0FC88-CEE8-2FF1-B61A-FB877981ED7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E0B76C7-8467-D367-9A6B-F8B1A38440FC}"/>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663E78F0-DEB9-D6C6-2F87-CC6670D051FD}"/>
              </a:ext>
            </a:extLst>
          </p:cNvPr>
          <p:cNvSpPr>
            <a:spLocks noGrp="1"/>
          </p:cNvSpPr>
          <p:nvPr>
            <p:ph type="sldNum" sz="quarter" idx="5"/>
          </p:nvPr>
        </p:nvSpPr>
        <p:spPr/>
        <p:txBody>
          <a:bodyPr/>
          <a:lstStyle/>
          <a:p>
            <a:fld id="{FC4807C3-8FDD-41FE-878F-1E3BE46E57D4}" type="slidenum">
              <a:rPr lang="en-CA" smtClean="0"/>
              <a:t>27</a:t>
            </a:fld>
            <a:endParaRPr lang="en-CA"/>
          </a:p>
        </p:txBody>
      </p:sp>
    </p:spTree>
    <p:extLst>
      <p:ext uri="{BB962C8B-B14F-4D97-AF65-F5344CB8AC3E}">
        <p14:creationId xmlns:p14="http://schemas.microsoft.com/office/powerpoint/2010/main" val="28319356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5D811-FF70-F82B-7D79-00D7C1DC1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EC40C-7DBE-2717-9EA9-782B7163B90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6FDE23E-8241-BC6B-2C54-1E35CC502D0E}"/>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8E12B1AB-B350-D3BE-EECD-43606C97D3BE}"/>
              </a:ext>
            </a:extLst>
          </p:cNvPr>
          <p:cNvSpPr>
            <a:spLocks noGrp="1"/>
          </p:cNvSpPr>
          <p:nvPr>
            <p:ph type="sldNum" sz="quarter" idx="5"/>
          </p:nvPr>
        </p:nvSpPr>
        <p:spPr/>
        <p:txBody>
          <a:bodyPr/>
          <a:lstStyle/>
          <a:p>
            <a:fld id="{FC4807C3-8FDD-41FE-878F-1E3BE46E57D4}" type="slidenum">
              <a:rPr lang="en-CA" smtClean="0"/>
              <a:t>28</a:t>
            </a:fld>
            <a:endParaRPr lang="en-CA"/>
          </a:p>
        </p:txBody>
      </p:sp>
    </p:spTree>
    <p:extLst>
      <p:ext uri="{BB962C8B-B14F-4D97-AF65-F5344CB8AC3E}">
        <p14:creationId xmlns:p14="http://schemas.microsoft.com/office/powerpoint/2010/main" val="3726635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B82DF-C6A1-AE5D-B41E-7F52E9AD0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13A6C-35E2-26B8-A437-2CFB24AB991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88CAF25-E28C-F9AE-29F6-4F4D635E1AF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497B839-0E1B-9FC1-6796-FBE44E0A35AC}"/>
              </a:ext>
            </a:extLst>
          </p:cNvPr>
          <p:cNvSpPr>
            <a:spLocks noGrp="1"/>
          </p:cNvSpPr>
          <p:nvPr>
            <p:ph type="sldNum" sz="quarter" idx="5"/>
          </p:nvPr>
        </p:nvSpPr>
        <p:spPr/>
        <p:txBody>
          <a:bodyPr/>
          <a:lstStyle/>
          <a:p>
            <a:fld id="{D6389AA0-099A-4B08-8111-71789224C0ED}" type="slidenum">
              <a:rPr lang="en-CA" smtClean="0"/>
              <a:t>29</a:t>
            </a:fld>
            <a:endParaRPr lang="en-CA"/>
          </a:p>
        </p:txBody>
      </p:sp>
    </p:spTree>
    <p:extLst>
      <p:ext uri="{BB962C8B-B14F-4D97-AF65-F5344CB8AC3E}">
        <p14:creationId xmlns:p14="http://schemas.microsoft.com/office/powerpoint/2010/main" val="3222156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871C8-5EE5-4A30-34EB-9A93F6EBF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03B06-DD16-03C5-5778-2DFD5C18B3D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31AB4F0-2C59-6DF7-8533-F8EF4E9BDA0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EE1F4D8-FE3E-A1EF-99AC-4A66F3162582}"/>
              </a:ext>
            </a:extLst>
          </p:cNvPr>
          <p:cNvSpPr>
            <a:spLocks noGrp="1"/>
          </p:cNvSpPr>
          <p:nvPr>
            <p:ph type="sldNum" sz="quarter" idx="5"/>
          </p:nvPr>
        </p:nvSpPr>
        <p:spPr/>
        <p:txBody>
          <a:bodyPr/>
          <a:lstStyle/>
          <a:p>
            <a:fld id="{D6389AA0-099A-4B08-8111-71789224C0ED}" type="slidenum">
              <a:rPr lang="en-CA" smtClean="0"/>
              <a:t>30</a:t>
            </a:fld>
            <a:endParaRPr lang="en-CA"/>
          </a:p>
        </p:txBody>
      </p:sp>
    </p:spTree>
    <p:extLst>
      <p:ext uri="{BB962C8B-B14F-4D97-AF65-F5344CB8AC3E}">
        <p14:creationId xmlns:p14="http://schemas.microsoft.com/office/powerpoint/2010/main" val="37650364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C088E-4D14-86A6-066F-011A0C12D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42FAA-8809-37B2-8ED2-7C727870F6DC}"/>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62B16D7-9C50-05B8-9554-48F5A5EEA19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944A085-76A1-DB6A-A79C-C74712086841}"/>
              </a:ext>
            </a:extLst>
          </p:cNvPr>
          <p:cNvSpPr>
            <a:spLocks noGrp="1"/>
          </p:cNvSpPr>
          <p:nvPr>
            <p:ph type="sldNum" sz="quarter" idx="5"/>
          </p:nvPr>
        </p:nvSpPr>
        <p:spPr/>
        <p:txBody>
          <a:bodyPr/>
          <a:lstStyle/>
          <a:p>
            <a:fld id="{D6389AA0-099A-4B08-8111-71789224C0ED}" type="slidenum">
              <a:rPr lang="en-CA" smtClean="0"/>
              <a:t>31</a:t>
            </a:fld>
            <a:endParaRPr lang="en-CA"/>
          </a:p>
        </p:txBody>
      </p:sp>
    </p:spTree>
    <p:extLst>
      <p:ext uri="{BB962C8B-B14F-4D97-AF65-F5344CB8AC3E}">
        <p14:creationId xmlns:p14="http://schemas.microsoft.com/office/powerpoint/2010/main" val="38096257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DA013-92A6-EB8A-998A-62E83076C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E3BF0-08D4-20C8-924C-CAA4F110689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A7AB235-26D7-C4DC-DFD7-EAC615DE54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REQUIREMENT: Is Azure AD Connect installed on prem and syncing?</a:t>
            </a:r>
          </a:p>
          <a:p>
            <a:endParaRPr lang="en-CA" dirty="0"/>
          </a:p>
        </p:txBody>
      </p:sp>
      <p:sp>
        <p:nvSpPr>
          <p:cNvPr id="4" name="Slide Number Placeholder 3">
            <a:extLst>
              <a:ext uri="{FF2B5EF4-FFF2-40B4-BE49-F238E27FC236}">
                <a16:creationId xmlns:a16="http://schemas.microsoft.com/office/drawing/2014/main" id="{422CC1A6-2D82-8E28-0929-6C53C979C6B6}"/>
              </a:ext>
            </a:extLst>
          </p:cNvPr>
          <p:cNvSpPr>
            <a:spLocks noGrp="1"/>
          </p:cNvSpPr>
          <p:nvPr>
            <p:ph type="sldNum" sz="quarter" idx="5"/>
          </p:nvPr>
        </p:nvSpPr>
        <p:spPr/>
        <p:txBody>
          <a:bodyPr/>
          <a:lstStyle/>
          <a:p>
            <a:fld id="{D6389AA0-099A-4B08-8111-71789224C0ED}" type="slidenum">
              <a:rPr lang="en-CA" smtClean="0"/>
              <a:t>32</a:t>
            </a:fld>
            <a:endParaRPr lang="en-CA"/>
          </a:p>
        </p:txBody>
      </p:sp>
    </p:spTree>
    <p:extLst>
      <p:ext uri="{BB962C8B-B14F-4D97-AF65-F5344CB8AC3E}">
        <p14:creationId xmlns:p14="http://schemas.microsoft.com/office/powerpoint/2010/main" val="1261995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CEE80-EA66-7E62-D8BA-F015A530D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51F89-F88E-EAB5-5758-4C57F557766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FF66CB7-358E-AC9C-DC82-59581B2ACDC8}"/>
              </a:ext>
            </a:extLst>
          </p:cNvPr>
          <p:cNvSpPr>
            <a:spLocks noGrp="1"/>
          </p:cNvSpPr>
          <p:nvPr>
            <p:ph type="body" idx="1"/>
          </p:nvPr>
        </p:nvSpPr>
        <p:spPr/>
        <p:txBody>
          <a:bodyPr/>
          <a:lstStyle/>
          <a:p>
            <a:r>
              <a:rPr lang="en-CA" dirty="0"/>
              <a:t>1) Do you have Azure Active Directory deployed?</a:t>
            </a:r>
            <a:br>
              <a:rPr lang="en-CA" dirty="0"/>
            </a:br>
            <a:r>
              <a:rPr lang="en-CA" dirty="0"/>
              <a:t>2) </a:t>
            </a:r>
            <a:r>
              <a:rPr lang="en-US" sz="1200" b="0" i="0" u="none" strike="noStrike" dirty="0">
                <a:solidFill>
                  <a:srgbClr val="000000"/>
                </a:solidFill>
                <a:effectLst/>
                <a:latin typeface="Calibri" panose="020F0502020204030204" pitchFamily="34" charset="0"/>
              </a:rPr>
              <a:t>What is your Company Full Name i.e. </a:t>
            </a:r>
            <a:r>
              <a:rPr lang="en-US" sz="1200" b="1" i="0" u="none" strike="noStrike" dirty="0">
                <a:solidFill>
                  <a:srgbClr val="000000"/>
                </a:solidFill>
                <a:effectLst/>
                <a:latin typeface="Calibri" panose="020F0502020204030204" pitchFamily="34" charset="0"/>
              </a:rPr>
              <a:t>Contoso Corporation</a:t>
            </a:r>
            <a:r>
              <a:rPr lang="en-US" sz="1200" b="0" i="0" u="none" strike="noStrike" dirty="0">
                <a:solidFill>
                  <a:srgbClr val="000000"/>
                </a:solidFill>
                <a:effectLst/>
                <a:latin typeface="Calibri" panose="020F0502020204030204" pitchFamily="34" charset="0"/>
              </a:rPr>
              <a:t>?</a:t>
            </a:r>
            <a:r>
              <a:rPr lang="en-US" dirty="0"/>
              <a:t> </a:t>
            </a:r>
          </a:p>
          <a:p>
            <a:r>
              <a:rPr lang="en-US" sz="1200" b="0" i="0" u="none" strike="noStrike" dirty="0">
                <a:solidFill>
                  <a:srgbClr val="000000"/>
                </a:solidFill>
                <a:effectLst/>
                <a:latin typeface="Calibri" panose="020F0502020204030204" pitchFamily="34" charset="0"/>
              </a:rPr>
              <a:t>3) What is your Company Short Name i.e. </a:t>
            </a:r>
            <a:r>
              <a:rPr lang="en-US" sz="1200" b="1" i="0" u="none" strike="noStrike" dirty="0">
                <a:solidFill>
                  <a:srgbClr val="000000"/>
                </a:solidFill>
                <a:effectLst/>
                <a:latin typeface="Calibri" panose="020F0502020204030204" pitchFamily="34" charset="0"/>
              </a:rPr>
              <a:t>Contoso</a:t>
            </a:r>
            <a:r>
              <a:rPr lang="en-US" sz="1200" b="0" i="0" u="none" strike="noStrike" dirty="0">
                <a:solidFill>
                  <a:srgbClr val="000000"/>
                </a:solidFill>
                <a:effectLst/>
                <a:latin typeface="Calibri" panose="020F0502020204030204" pitchFamily="34" charset="0"/>
              </a:rPr>
              <a:t>?</a:t>
            </a:r>
            <a:r>
              <a:rPr lang="en-US" dirty="0"/>
              <a:t> </a:t>
            </a:r>
          </a:p>
          <a:p>
            <a:r>
              <a:rPr lang="en-US" sz="1200" b="0" i="0" u="none" strike="noStrike" dirty="0">
                <a:solidFill>
                  <a:srgbClr val="000000"/>
                </a:solidFill>
                <a:effectLst/>
                <a:latin typeface="Calibri" panose="020F0502020204030204" pitchFamily="34" charset="0"/>
              </a:rPr>
              <a:t>4) What is your Tenant Name (Verified domain name i.e. </a:t>
            </a:r>
            <a:r>
              <a:rPr lang="en-US" sz="1200" b="1" i="0" u="none" strike="noStrike" dirty="0">
                <a:solidFill>
                  <a:srgbClr val="000000"/>
                </a:solidFill>
                <a:effectLst/>
                <a:latin typeface="Calibri" panose="020F0502020204030204" pitchFamily="34" charset="0"/>
              </a:rPr>
              <a:t>contoso.com</a:t>
            </a:r>
            <a:r>
              <a:rPr lang="en-US" sz="1200" b="0" i="0" u="none" strike="noStrike" dirty="0">
                <a:solidFill>
                  <a:srgbClr val="000000"/>
                </a:solidFill>
                <a:effectLst/>
                <a:latin typeface="Calibri" panose="020F0502020204030204" pitchFamily="34" charset="0"/>
              </a:rPr>
              <a:t>)?</a:t>
            </a:r>
            <a:r>
              <a:rPr lang="en-US" dirty="0"/>
              <a:t> </a:t>
            </a:r>
          </a:p>
          <a:p>
            <a:r>
              <a:rPr lang="en-US" sz="1200" b="0" i="0" u="none" strike="noStrike" dirty="0">
                <a:solidFill>
                  <a:srgbClr val="000000"/>
                </a:solidFill>
                <a:effectLst/>
                <a:latin typeface="Calibri" panose="020F0502020204030204" pitchFamily="34" charset="0"/>
              </a:rPr>
              <a:t>5) What is your Tenant Name (Primary domain name i.e. </a:t>
            </a:r>
            <a:r>
              <a:rPr lang="en-US" sz="1200" b="1" i="0" u="none" strike="noStrike" dirty="0">
                <a:solidFill>
                  <a:srgbClr val="000000"/>
                </a:solidFill>
                <a:effectLst/>
                <a:latin typeface="Calibri" panose="020F0502020204030204" pitchFamily="34" charset="0"/>
              </a:rPr>
              <a:t>contoso.onmicrosoft.com</a:t>
            </a:r>
            <a:r>
              <a:rPr lang="en-US" sz="1200" b="0" i="0" u="none" strike="noStrike" dirty="0">
                <a:solidFill>
                  <a:srgbClr val="000000"/>
                </a:solidFill>
                <a:effectLst/>
                <a:latin typeface="Calibri" panose="020F0502020204030204" pitchFamily="34" charset="0"/>
              </a:rPr>
              <a:t>)?</a:t>
            </a:r>
            <a:r>
              <a:rPr lang="en-US" dirty="0"/>
              <a:t> </a:t>
            </a:r>
          </a:p>
          <a:p>
            <a:r>
              <a:rPr lang="en-US" sz="1200" b="0" i="0" u="none" strike="noStrike" dirty="0">
                <a:solidFill>
                  <a:srgbClr val="000000"/>
                </a:solidFill>
                <a:effectLst/>
                <a:latin typeface="Calibri" panose="020F0502020204030204" pitchFamily="34" charset="0"/>
              </a:rPr>
              <a:t>6) Is Azure AD being synced from on premises?</a:t>
            </a:r>
            <a:r>
              <a:rPr lang="en-US" dirty="0"/>
              <a:t> </a:t>
            </a:r>
          </a:p>
          <a:p>
            <a:r>
              <a:rPr lang="en-US" sz="1200" b="0" i="0" u="none" strike="noStrike" dirty="0">
                <a:solidFill>
                  <a:srgbClr val="000000"/>
                </a:solidFill>
                <a:effectLst/>
                <a:latin typeface="Calibri" panose="020F0502020204030204" pitchFamily="34" charset="0"/>
              </a:rPr>
              <a:t>7) What sync mode is being used?</a:t>
            </a:r>
            <a:r>
              <a:rPr lang="en-US" dirty="0"/>
              <a:t> </a:t>
            </a:r>
            <a:endParaRPr lang="en-CA" dirty="0"/>
          </a:p>
          <a:p>
            <a:endParaRPr lang="en-CA" dirty="0"/>
          </a:p>
        </p:txBody>
      </p:sp>
      <p:sp>
        <p:nvSpPr>
          <p:cNvPr id="4" name="Slide Number Placeholder 3">
            <a:extLst>
              <a:ext uri="{FF2B5EF4-FFF2-40B4-BE49-F238E27FC236}">
                <a16:creationId xmlns:a16="http://schemas.microsoft.com/office/drawing/2014/main" id="{B5813135-B38B-83DE-9311-3F8B418C9A24}"/>
              </a:ext>
            </a:extLst>
          </p:cNvPr>
          <p:cNvSpPr>
            <a:spLocks noGrp="1"/>
          </p:cNvSpPr>
          <p:nvPr>
            <p:ph type="sldNum" sz="quarter" idx="5"/>
          </p:nvPr>
        </p:nvSpPr>
        <p:spPr/>
        <p:txBody>
          <a:bodyPr/>
          <a:lstStyle/>
          <a:p>
            <a:fld id="{D6389AA0-099A-4B08-8111-71789224C0ED}" type="slidenum">
              <a:rPr lang="en-CA" smtClean="0"/>
              <a:t>33</a:t>
            </a:fld>
            <a:endParaRPr lang="en-CA"/>
          </a:p>
        </p:txBody>
      </p:sp>
    </p:spTree>
    <p:extLst>
      <p:ext uri="{BB962C8B-B14F-4D97-AF65-F5344CB8AC3E}">
        <p14:creationId xmlns:p14="http://schemas.microsoft.com/office/powerpoint/2010/main" val="459978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9970A-A6B9-C1D5-DF55-3FA119460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1F1B-E9CB-AB92-0DE5-7FC18B26031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DE6B1AF-CA71-3C62-0FDD-97AF6EA48B6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F3F7648-6511-4930-79F9-10355B2E0F0C}"/>
              </a:ext>
            </a:extLst>
          </p:cNvPr>
          <p:cNvSpPr>
            <a:spLocks noGrp="1"/>
          </p:cNvSpPr>
          <p:nvPr>
            <p:ph type="sldNum" sz="quarter" idx="5"/>
          </p:nvPr>
        </p:nvSpPr>
        <p:spPr/>
        <p:txBody>
          <a:bodyPr/>
          <a:lstStyle/>
          <a:p>
            <a:fld id="{D6389AA0-099A-4B08-8111-71789224C0ED}" type="slidenum">
              <a:rPr lang="en-CA" smtClean="0"/>
              <a:t>34</a:t>
            </a:fld>
            <a:endParaRPr lang="en-CA"/>
          </a:p>
        </p:txBody>
      </p:sp>
    </p:spTree>
    <p:extLst>
      <p:ext uri="{BB962C8B-B14F-4D97-AF65-F5344CB8AC3E}">
        <p14:creationId xmlns:p14="http://schemas.microsoft.com/office/powerpoint/2010/main" val="35713765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4352-1655-44D7-9704-1B558599A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65EE3-E743-9BFD-C901-EAAED006C1E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39AFCADB-E9AD-5775-4D9C-66ED58C71322}"/>
              </a:ext>
            </a:extLst>
          </p:cNvPr>
          <p:cNvSpPr>
            <a:spLocks noGrp="1"/>
          </p:cNvSpPr>
          <p:nvPr>
            <p:ph type="body" idx="1"/>
          </p:nvPr>
        </p:nvSpPr>
        <p:spPr/>
        <p:txBody>
          <a:bodyPr/>
          <a:lstStyle/>
          <a:p>
            <a:r>
              <a:rPr lang="en-CA" dirty="0"/>
              <a:t>1) </a:t>
            </a:r>
            <a:r>
              <a:rPr lang="en-US" sz="1200" b="0" i="0" u="none" strike="noStrike" dirty="0">
                <a:solidFill>
                  <a:srgbClr val="000000"/>
                </a:solidFill>
                <a:effectLst/>
                <a:latin typeface="Calibri" panose="020F0502020204030204" pitchFamily="34" charset="0"/>
              </a:rPr>
              <a:t>What RBAC roles will be used and how will they map to AD groups?</a:t>
            </a:r>
            <a:r>
              <a:rPr lang="en-US" sz="900" dirty="0"/>
              <a:t> </a:t>
            </a:r>
            <a:endParaRPr lang="en-US" sz="800" b="0" i="0" u="none" strike="noStrike" kern="1200" dirty="0">
              <a:solidFill>
                <a:schemeClr val="tx1"/>
              </a:solidFill>
              <a:effectLst/>
              <a:latin typeface="Segoe UI Light" pitchFamily="34" charset="0"/>
              <a:ea typeface="+mn-ea"/>
              <a:cs typeface="+mn-cs"/>
            </a:endParaRPr>
          </a:p>
          <a:p>
            <a:r>
              <a:rPr lang="en-US" sz="800" b="0" i="0" u="none" strike="noStrike" kern="1200" dirty="0">
                <a:solidFill>
                  <a:schemeClr val="tx1"/>
                </a:solidFill>
                <a:effectLst/>
                <a:latin typeface="Segoe UI Light" pitchFamily="34" charset="0"/>
                <a:ea typeface="+mn-ea"/>
                <a:cs typeface="+mn-cs"/>
              </a:rPr>
              <a:t>Using RBAC, you can segregate duties within your team and grant only the amount of access to users that they need to perform their jobs. Instead of giving everybody unrestricted permissions in your Azure subscription or resources, you can allow only certain actions at a particular scope.</a:t>
            </a:r>
          </a:p>
          <a:p>
            <a:endParaRPr lang="en-US" sz="800" b="0" i="0" u="none" strike="noStrike" kern="1200" dirty="0">
              <a:solidFill>
                <a:schemeClr val="tx1"/>
              </a:solidFill>
              <a:effectLst/>
              <a:latin typeface="Segoe UI Light" pitchFamily="34" charset="0"/>
              <a:ea typeface="+mn-ea"/>
              <a:cs typeface="+mn-cs"/>
            </a:endParaRPr>
          </a:p>
          <a:p>
            <a:r>
              <a:rPr lang="en-US" sz="800" b="1" i="0" u="none" strike="noStrike" kern="1200" dirty="0">
                <a:solidFill>
                  <a:schemeClr val="tx1"/>
                </a:solidFill>
                <a:effectLst/>
                <a:latin typeface="Segoe UI Light" pitchFamily="34" charset="0"/>
                <a:ea typeface="+mn-ea"/>
                <a:cs typeface="+mn-cs"/>
              </a:rPr>
              <a:t>Security principal</a:t>
            </a:r>
          </a:p>
          <a:p>
            <a:r>
              <a:rPr lang="en-US" sz="800" b="0" i="0" u="none" strike="noStrike" kern="1200" dirty="0">
                <a:solidFill>
                  <a:schemeClr val="tx1"/>
                </a:solidFill>
                <a:effectLst/>
                <a:latin typeface="Segoe UI Light" pitchFamily="34" charset="0"/>
                <a:ea typeface="+mn-ea"/>
                <a:cs typeface="+mn-cs"/>
              </a:rPr>
              <a:t>A </a:t>
            </a:r>
            <a:r>
              <a:rPr lang="en-US" sz="800" b="0" i="1" u="none" strike="noStrike" kern="1200" dirty="0">
                <a:solidFill>
                  <a:schemeClr val="tx1"/>
                </a:solidFill>
                <a:effectLst/>
                <a:latin typeface="Segoe UI Light" pitchFamily="34" charset="0"/>
                <a:ea typeface="+mn-ea"/>
                <a:cs typeface="+mn-cs"/>
              </a:rPr>
              <a:t>security principal</a:t>
            </a:r>
            <a:r>
              <a:rPr lang="en-US" sz="800" b="0" i="0" u="none" strike="noStrike" kern="1200" dirty="0">
                <a:solidFill>
                  <a:schemeClr val="tx1"/>
                </a:solidFill>
                <a:effectLst/>
                <a:latin typeface="Segoe UI Light" pitchFamily="34" charset="0"/>
                <a:ea typeface="+mn-ea"/>
                <a:cs typeface="+mn-cs"/>
              </a:rPr>
              <a:t> is an object that represents a user, group, service principal, or managed identity that is requesting access to Azure resources.</a:t>
            </a:r>
          </a:p>
          <a:p>
            <a:endParaRPr lang="en-GB" sz="800" dirty="0"/>
          </a:p>
          <a:p>
            <a:r>
              <a:rPr lang="en-US" sz="800" b="0" i="0" u="none" strike="noStrike" kern="1200" dirty="0">
                <a:solidFill>
                  <a:schemeClr val="tx1"/>
                </a:solidFill>
                <a:effectLst/>
                <a:latin typeface="Segoe UI Light" pitchFamily="34" charset="0"/>
                <a:ea typeface="+mn-ea"/>
                <a:cs typeface="+mn-cs"/>
              </a:rPr>
              <a:t>- Service principal - A security identity used by applications or services to access specific Azure resources. You can think of it as a </a:t>
            </a:r>
            <a:r>
              <a:rPr lang="en-US" sz="800" b="0" i="1" u="none" strike="noStrike" kern="1200" dirty="0">
                <a:solidFill>
                  <a:schemeClr val="tx1"/>
                </a:solidFill>
                <a:effectLst/>
                <a:latin typeface="Segoe UI Light" pitchFamily="34" charset="0"/>
                <a:ea typeface="+mn-ea"/>
                <a:cs typeface="+mn-cs"/>
              </a:rPr>
              <a:t>user identity</a:t>
            </a:r>
            <a:r>
              <a:rPr lang="en-US" sz="800" b="0" i="0" u="none" strike="noStrike" kern="1200" dirty="0">
                <a:solidFill>
                  <a:schemeClr val="tx1"/>
                </a:solidFill>
                <a:effectLst/>
                <a:latin typeface="Segoe UI Light" pitchFamily="34" charset="0"/>
                <a:ea typeface="+mn-ea"/>
                <a:cs typeface="+mn-cs"/>
              </a:rPr>
              <a:t> (username and password or certificate) for an application.</a:t>
            </a:r>
          </a:p>
          <a:p>
            <a:pPr marL="171450" indent="-171450">
              <a:buFontTx/>
              <a:buChar char="-"/>
            </a:pPr>
            <a:r>
              <a:rPr lang="en-US" sz="800" b="0" i="0" u="none" strike="noStrike" kern="1200" dirty="0">
                <a:solidFill>
                  <a:schemeClr val="tx1"/>
                </a:solidFill>
                <a:effectLst/>
                <a:latin typeface="Segoe UI Light" pitchFamily="34" charset="0"/>
                <a:ea typeface="+mn-ea"/>
                <a:cs typeface="+mn-cs"/>
              </a:rPr>
              <a:t>Managed identity - An identity in Azure Active Directory that is automatically managed by Azure. You typically use </a:t>
            </a:r>
            <a:r>
              <a:rPr lang="en-US" sz="800" b="0" i="0" u="none" strike="noStrike" kern="1200" dirty="0">
                <a:solidFill>
                  <a:schemeClr val="tx1"/>
                </a:solidFill>
                <a:effectLst/>
                <a:latin typeface="Segoe UI Light" pitchFamily="34" charset="0"/>
                <a:ea typeface="+mn-ea"/>
                <a:cs typeface="+mn-cs"/>
                <a:hlinkClick r:id="rId3"/>
              </a:rPr>
              <a:t>managed identities</a:t>
            </a:r>
            <a:r>
              <a:rPr lang="en-US" sz="800" b="0" i="0" u="none" strike="noStrike" kern="1200" dirty="0">
                <a:solidFill>
                  <a:schemeClr val="tx1"/>
                </a:solidFill>
                <a:effectLst/>
                <a:latin typeface="Segoe UI Light" pitchFamily="34" charset="0"/>
                <a:ea typeface="+mn-ea"/>
                <a:cs typeface="+mn-cs"/>
              </a:rPr>
              <a:t> when developing cloud applications to manage the credentials for authenticating to Azure services.</a:t>
            </a:r>
          </a:p>
          <a:p>
            <a:endParaRPr lang="en-US" sz="800" b="0" i="0" u="none" strike="noStrike" kern="1200" dirty="0">
              <a:solidFill>
                <a:schemeClr val="tx1"/>
              </a:solidFill>
              <a:effectLst/>
              <a:latin typeface="Segoe UI Light" pitchFamily="34" charset="0"/>
              <a:ea typeface="+mn-ea"/>
              <a:cs typeface="+mn-cs"/>
            </a:endParaRPr>
          </a:p>
          <a:p>
            <a:r>
              <a:rPr lang="en-US" sz="800" b="1" i="0" u="none" strike="noStrike" kern="1200" dirty="0">
                <a:solidFill>
                  <a:schemeClr val="tx1"/>
                </a:solidFill>
                <a:effectLst/>
                <a:latin typeface="Segoe UI Light" pitchFamily="34" charset="0"/>
                <a:ea typeface="+mn-ea"/>
                <a:cs typeface="+mn-cs"/>
              </a:rPr>
              <a:t>Role definition</a:t>
            </a:r>
          </a:p>
          <a:p>
            <a:r>
              <a:rPr lang="en-US" sz="800" b="0" i="0" u="none" strike="noStrike" kern="1200" dirty="0">
                <a:solidFill>
                  <a:schemeClr val="tx1"/>
                </a:solidFill>
                <a:effectLst/>
                <a:latin typeface="Segoe UI Light" pitchFamily="34" charset="0"/>
                <a:ea typeface="+mn-ea"/>
                <a:cs typeface="+mn-cs"/>
              </a:rPr>
              <a:t>A </a:t>
            </a:r>
            <a:r>
              <a:rPr lang="en-US" sz="800" b="0" i="1" u="none" strike="noStrike" kern="1200" dirty="0">
                <a:solidFill>
                  <a:schemeClr val="tx1"/>
                </a:solidFill>
                <a:effectLst/>
                <a:latin typeface="Segoe UI Light" pitchFamily="34" charset="0"/>
                <a:ea typeface="+mn-ea"/>
                <a:cs typeface="+mn-cs"/>
              </a:rPr>
              <a:t>role definition</a:t>
            </a:r>
            <a:r>
              <a:rPr lang="en-US" sz="800" b="0" i="0" u="none" strike="noStrike" kern="1200" dirty="0">
                <a:solidFill>
                  <a:schemeClr val="tx1"/>
                </a:solidFill>
                <a:effectLst/>
                <a:latin typeface="Segoe UI Light" pitchFamily="34" charset="0"/>
                <a:ea typeface="+mn-ea"/>
                <a:cs typeface="+mn-cs"/>
              </a:rPr>
              <a:t> is a collection of permissions. It's sometimes just called a </a:t>
            </a:r>
            <a:r>
              <a:rPr lang="en-US" sz="800" b="0" i="1" u="none" strike="noStrike" kern="1200" dirty="0">
                <a:solidFill>
                  <a:schemeClr val="tx1"/>
                </a:solidFill>
                <a:effectLst/>
                <a:latin typeface="Segoe UI Light" pitchFamily="34" charset="0"/>
                <a:ea typeface="+mn-ea"/>
                <a:cs typeface="+mn-cs"/>
              </a:rPr>
              <a:t>role</a:t>
            </a:r>
            <a:r>
              <a:rPr lang="en-US" sz="800" b="0" i="0" u="none" strike="noStrike" kern="1200" dirty="0">
                <a:solidFill>
                  <a:schemeClr val="tx1"/>
                </a:solidFill>
                <a:effectLst/>
                <a:latin typeface="Segoe UI Light" pitchFamily="34" charset="0"/>
                <a:ea typeface="+mn-ea"/>
                <a:cs typeface="+mn-cs"/>
              </a:rPr>
              <a:t>. A role definition lists the operations that can be performed, such as read, write, and delete. Roles can be high-level, like owner, or specific, like virtual machine reader. You can create custom roles if none of the existing built-in roles don't meet the specific needs of your organization.</a:t>
            </a:r>
          </a:p>
          <a:p>
            <a:endParaRPr lang="en-US" sz="800" b="0" i="0" u="none" strike="noStrike" kern="1200" dirty="0">
              <a:solidFill>
                <a:schemeClr val="tx1"/>
              </a:solidFill>
              <a:effectLst/>
              <a:latin typeface="Segoe UI Light" pitchFamily="34" charset="0"/>
              <a:ea typeface="+mn-ea"/>
              <a:cs typeface="+mn-cs"/>
            </a:endParaRPr>
          </a:p>
          <a:p>
            <a:r>
              <a:rPr lang="en-US" sz="800" b="1" i="0" u="none" strike="noStrike" kern="1200" dirty="0">
                <a:solidFill>
                  <a:schemeClr val="tx1"/>
                </a:solidFill>
                <a:effectLst/>
                <a:latin typeface="Segoe UI Light" pitchFamily="34" charset="0"/>
                <a:ea typeface="+mn-ea"/>
                <a:cs typeface="+mn-cs"/>
              </a:rPr>
              <a:t>Scope</a:t>
            </a:r>
          </a:p>
          <a:p>
            <a:r>
              <a:rPr lang="en-US" sz="800" b="0" i="1" u="none" strike="noStrike" kern="1200" dirty="0">
                <a:solidFill>
                  <a:schemeClr val="tx1"/>
                </a:solidFill>
                <a:effectLst/>
                <a:latin typeface="Segoe UI Light" pitchFamily="34" charset="0"/>
                <a:ea typeface="+mn-ea"/>
                <a:cs typeface="+mn-cs"/>
              </a:rPr>
              <a:t>Scope</a:t>
            </a:r>
            <a:r>
              <a:rPr lang="en-US" sz="800" b="0" i="0" u="none" strike="noStrike" kern="1200" dirty="0">
                <a:solidFill>
                  <a:schemeClr val="tx1"/>
                </a:solidFill>
                <a:effectLst/>
                <a:latin typeface="Segoe UI Light" pitchFamily="34" charset="0"/>
                <a:ea typeface="+mn-ea"/>
                <a:cs typeface="+mn-cs"/>
              </a:rPr>
              <a:t> is the boundary that the access applies to. When you assign a role, you can further limit the actions allowed by defining a scope. This is helpful if you want to make someone a </a:t>
            </a:r>
            <a:r>
              <a:rPr lang="en-US" sz="800" b="0" i="0" u="sng" strike="noStrike" kern="1200" dirty="0">
                <a:solidFill>
                  <a:schemeClr val="tx1"/>
                </a:solidFill>
                <a:effectLst/>
                <a:latin typeface="Segoe UI Light" pitchFamily="34" charset="0"/>
                <a:ea typeface="+mn-ea"/>
                <a:cs typeface="+mn-cs"/>
                <a:hlinkClick r:id="rId4"/>
              </a:rPr>
              <a:t>Website Contributor</a:t>
            </a:r>
            <a:r>
              <a:rPr lang="en-US" sz="800" b="0" i="0" u="none" strike="noStrike" kern="1200" dirty="0">
                <a:solidFill>
                  <a:schemeClr val="tx1"/>
                </a:solidFill>
                <a:effectLst/>
                <a:latin typeface="Segoe UI Light" pitchFamily="34" charset="0"/>
                <a:ea typeface="+mn-ea"/>
                <a:cs typeface="+mn-cs"/>
              </a:rPr>
              <a:t>, but only for one resource group.</a:t>
            </a:r>
          </a:p>
          <a:p>
            <a:endParaRPr lang="en-US" sz="800" b="0" i="0" u="none" strike="noStrike" kern="1200" dirty="0">
              <a:solidFill>
                <a:schemeClr val="tx1"/>
              </a:solidFill>
              <a:effectLst/>
              <a:latin typeface="Segoe UI Light" pitchFamily="34" charset="0"/>
              <a:ea typeface="+mn-ea"/>
              <a:cs typeface="+mn-cs"/>
            </a:endParaRPr>
          </a:p>
        </p:txBody>
      </p:sp>
      <p:sp>
        <p:nvSpPr>
          <p:cNvPr id="4" name="Slide Number Placeholder 3">
            <a:extLst>
              <a:ext uri="{FF2B5EF4-FFF2-40B4-BE49-F238E27FC236}">
                <a16:creationId xmlns:a16="http://schemas.microsoft.com/office/drawing/2014/main" id="{3F80F0D1-B4D4-8588-527A-755DA595CDB0}"/>
              </a:ext>
            </a:extLst>
          </p:cNvPr>
          <p:cNvSpPr>
            <a:spLocks noGrp="1"/>
          </p:cNvSpPr>
          <p:nvPr>
            <p:ph type="sldNum" sz="quarter" idx="5"/>
          </p:nvPr>
        </p:nvSpPr>
        <p:spPr/>
        <p:txBody>
          <a:bodyPr/>
          <a:lstStyle/>
          <a:p>
            <a:fld id="{D6389AA0-099A-4B08-8111-71789224C0ED}" type="slidenum">
              <a:rPr lang="en-CA" smtClean="0"/>
              <a:t>35</a:t>
            </a:fld>
            <a:endParaRPr lang="en-CA"/>
          </a:p>
        </p:txBody>
      </p:sp>
    </p:spTree>
    <p:extLst>
      <p:ext uri="{BB962C8B-B14F-4D97-AF65-F5344CB8AC3E}">
        <p14:creationId xmlns:p14="http://schemas.microsoft.com/office/powerpoint/2010/main" val="17062471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A7F06-3BB4-9626-EB96-FE8756435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3113A-FA65-4DBE-0C67-04712AF405CC}"/>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1B7DDD2-6EC7-4FC3-A640-A4E7ED582A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We discussed RBAC in Base Deployment, but here’s a brief review. Importance in this slide deck is a reminder of the principle of least privilege.</a:t>
            </a:r>
          </a:p>
        </p:txBody>
      </p:sp>
      <p:sp>
        <p:nvSpPr>
          <p:cNvPr id="4" name="Slide Number Placeholder 3">
            <a:extLst>
              <a:ext uri="{FF2B5EF4-FFF2-40B4-BE49-F238E27FC236}">
                <a16:creationId xmlns:a16="http://schemas.microsoft.com/office/drawing/2014/main" id="{6BDFE6F6-FC60-3783-5AE2-26800F3B079B}"/>
              </a:ext>
            </a:extLst>
          </p:cNvPr>
          <p:cNvSpPr>
            <a:spLocks noGrp="1"/>
          </p:cNvSpPr>
          <p:nvPr>
            <p:ph type="sldNum" sz="quarter" idx="5"/>
          </p:nvPr>
        </p:nvSpPr>
        <p:spPr/>
        <p:txBody>
          <a:bodyPr/>
          <a:lstStyle/>
          <a:p>
            <a:fld id="{D6389AA0-099A-4B08-8111-71789224C0ED}" type="slidenum">
              <a:rPr lang="en-CA" smtClean="0"/>
              <a:t>36</a:t>
            </a:fld>
            <a:endParaRPr lang="en-CA"/>
          </a:p>
        </p:txBody>
      </p:sp>
    </p:spTree>
    <p:extLst>
      <p:ext uri="{BB962C8B-B14F-4D97-AF65-F5344CB8AC3E}">
        <p14:creationId xmlns:p14="http://schemas.microsoft.com/office/powerpoint/2010/main" val="15431669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72078-91BD-D341-F5FA-65C2ECE56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21617-9173-C807-5D91-CEAF9FD1E05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E4396E4-1FF6-A645-6831-745C2E0C43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a:extLst>
              <a:ext uri="{FF2B5EF4-FFF2-40B4-BE49-F238E27FC236}">
                <a16:creationId xmlns:a16="http://schemas.microsoft.com/office/drawing/2014/main" id="{A760912B-3576-151B-51FE-BE50F394F1CD}"/>
              </a:ext>
            </a:extLst>
          </p:cNvPr>
          <p:cNvSpPr>
            <a:spLocks noGrp="1"/>
          </p:cNvSpPr>
          <p:nvPr>
            <p:ph type="sldNum" sz="quarter" idx="5"/>
          </p:nvPr>
        </p:nvSpPr>
        <p:spPr/>
        <p:txBody>
          <a:bodyPr/>
          <a:lstStyle/>
          <a:p>
            <a:fld id="{D6389AA0-099A-4B08-8111-71789224C0ED}" type="slidenum">
              <a:rPr lang="en-CA" smtClean="0"/>
              <a:t>37</a:t>
            </a:fld>
            <a:endParaRPr lang="en-CA"/>
          </a:p>
        </p:txBody>
      </p:sp>
    </p:spTree>
    <p:extLst>
      <p:ext uri="{BB962C8B-B14F-4D97-AF65-F5344CB8AC3E}">
        <p14:creationId xmlns:p14="http://schemas.microsoft.com/office/powerpoint/2010/main" val="42730487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AA45D-3BC9-CA8A-A5CF-7CA5C0921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5E247-BFC9-ABFF-5AD5-80A543100BF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7030FC3-5ACC-A138-8410-CC252B43FB42}"/>
              </a:ext>
            </a:extLst>
          </p:cNvPr>
          <p:cNvSpPr>
            <a:spLocks noGrp="1"/>
          </p:cNvSpPr>
          <p:nvPr>
            <p:ph type="body" idx="1"/>
          </p:nvPr>
        </p:nvSpPr>
        <p:spPr/>
        <p:txBody>
          <a:bodyPr/>
          <a:lstStyle/>
          <a:p>
            <a:pPr marL="228600" indent="-228600">
              <a:buAutoNum type="arabicPeriod"/>
            </a:pPr>
            <a:r>
              <a:rPr lang="en-CA" dirty="0"/>
              <a:t>Synchronized identities/single sign-on; when disabled in one place, it disables everywhere</a:t>
            </a:r>
          </a:p>
          <a:p>
            <a:pPr marL="228600" indent="-228600">
              <a:buAutoNum type="arabicPeriod"/>
            </a:pPr>
            <a:r>
              <a:rPr lang="en-CA" dirty="0"/>
              <a:t>MFA or passwordless</a:t>
            </a:r>
          </a:p>
          <a:p>
            <a:pPr marL="228600" indent="-228600">
              <a:buAutoNum type="arabicPeriod"/>
            </a:pPr>
            <a:r>
              <a:rPr lang="en-CA" dirty="0"/>
              <a:t>Already discussed</a:t>
            </a:r>
          </a:p>
          <a:p>
            <a:pPr marL="228600" indent="-228600">
              <a:buAutoNum type="arabicPeriod"/>
            </a:pPr>
            <a:r>
              <a:rPr lang="en-CA" dirty="0"/>
              <a:t>RBAC, least-privilege, and JIT</a:t>
            </a:r>
          </a:p>
          <a:p>
            <a:pPr marL="228600" indent="-228600">
              <a:buAutoNum type="arabicPeriod"/>
            </a:pPr>
            <a:r>
              <a:rPr lang="en-CA" dirty="0"/>
              <a:t>MI, SP’s, and keyvault; e.g. use keyvault to store the SP key for an app services parameter</a:t>
            </a:r>
          </a:p>
        </p:txBody>
      </p:sp>
      <p:sp>
        <p:nvSpPr>
          <p:cNvPr id="4" name="Slide Number Placeholder 3">
            <a:extLst>
              <a:ext uri="{FF2B5EF4-FFF2-40B4-BE49-F238E27FC236}">
                <a16:creationId xmlns:a16="http://schemas.microsoft.com/office/drawing/2014/main" id="{9F36597C-2990-9FD2-1641-F72ACDA5EEBB}"/>
              </a:ext>
            </a:extLst>
          </p:cNvPr>
          <p:cNvSpPr>
            <a:spLocks noGrp="1"/>
          </p:cNvSpPr>
          <p:nvPr>
            <p:ph type="sldNum" sz="quarter" idx="5"/>
          </p:nvPr>
        </p:nvSpPr>
        <p:spPr/>
        <p:txBody>
          <a:bodyPr/>
          <a:lstStyle/>
          <a:p>
            <a:fld id="{D6389AA0-099A-4B08-8111-71789224C0ED}" type="slidenum">
              <a:rPr lang="en-CA" smtClean="0"/>
              <a:t>38</a:t>
            </a:fld>
            <a:endParaRPr lang="en-CA"/>
          </a:p>
        </p:txBody>
      </p:sp>
    </p:spTree>
    <p:extLst>
      <p:ext uri="{BB962C8B-B14F-4D97-AF65-F5344CB8AC3E}">
        <p14:creationId xmlns:p14="http://schemas.microsoft.com/office/powerpoint/2010/main" val="3042242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6701B-6083-5D8C-FB7F-AC42AD42D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06230-9C65-B69E-900A-329789B1212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4B31770-2882-BB54-20ED-090F9762BC0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F6C5C21-FDAE-C043-23A5-2B5F73859811}"/>
              </a:ext>
            </a:extLst>
          </p:cNvPr>
          <p:cNvSpPr>
            <a:spLocks noGrp="1"/>
          </p:cNvSpPr>
          <p:nvPr>
            <p:ph type="sldNum" sz="quarter" idx="5"/>
          </p:nvPr>
        </p:nvSpPr>
        <p:spPr/>
        <p:txBody>
          <a:bodyPr/>
          <a:lstStyle/>
          <a:p>
            <a:fld id="{D6389AA0-099A-4B08-8111-71789224C0ED}" type="slidenum">
              <a:rPr lang="en-CA" smtClean="0"/>
              <a:t>39</a:t>
            </a:fld>
            <a:endParaRPr lang="en-CA"/>
          </a:p>
        </p:txBody>
      </p:sp>
    </p:spTree>
    <p:extLst>
      <p:ext uri="{BB962C8B-B14F-4D97-AF65-F5344CB8AC3E}">
        <p14:creationId xmlns:p14="http://schemas.microsoft.com/office/powerpoint/2010/main" val="29240853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E75D-84A6-3DEA-957B-42CDE9A6B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FDE9-6D44-9CAF-F159-2E8FE1B5595F}"/>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1030FBE-C333-3C19-C9FA-8F8178F78A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a:extLst>
              <a:ext uri="{FF2B5EF4-FFF2-40B4-BE49-F238E27FC236}">
                <a16:creationId xmlns:a16="http://schemas.microsoft.com/office/drawing/2014/main" id="{4A688268-224B-5232-DF59-5971B59D0AF3}"/>
              </a:ext>
            </a:extLst>
          </p:cNvPr>
          <p:cNvSpPr>
            <a:spLocks noGrp="1"/>
          </p:cNvSpPr>
          <p:nvPr>
            <p:ph type="sldNum" sz="quarter" idx="5"/>
          </p:nvPr>
        </p:nvSpPr>
        <p:spPr/>
        <p:txBody>
          <a:bodyPr/>
          <a:lstStyle/>
          <a:p>
            <a:fld id="{D6389AA0-099A-4B08-8111-71789224C0ED}" type="slidenum">
              <a:rPr lang="en-CA" smtClean="0"/>
              <a:t>40</a:t>
            </a:fld>
            <a:endParaRPr lang="en-CA"/>
          </a:p>
        </p:txBody>
      </p:sp>
    </p:spTree>
    <p:extLst>
      <p:ext uri="{BB962C8B-B14F-4D97-AF65-F5344CB8AC3E}">
        <p14:creationId xmlns:p14="http://schemas.microsoft.com/office/powerpoint/2010/main" val="38943658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154AE-ECD1-212E-AC61-60A617675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4CBF4-17E6-B6A1-E977-2D1813B8E9F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D18C190-CDE6-CDF5-1D78-BD065B6174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a:extLst>
              <a:ext uri="{FF2B5EF4-FFF2-40B4-BE49-F238E27FC236}">
                <a16:creationId xmlns:a16="http://schemas.microsoft.com/office/drawing/2014/main" id="{27DE5C49-AA7E-9671-726C-27B0F0AD8C5D}"/>
              </a:ext>
            </a:extLst>
          </p:cNvPr>
          <p:cNvSpPr>
            <a:spLocks noGrp="1"/>
          </p:cNvSpPr>
          <p:nvPr>
            <p:ph type="sldNum" sz="quarter" idx="5"/>
          </p:nvPr>
        </p:nvSpPr>
        <p:spPr/>
        <p:txBody>
          <a:bodyPr/>
          <a:lstStyle/>
          <a:p>
            <a:fld id="{D6389AA0-099A-4B08-8111-71789224C0ED}" type="slidenum">
              <a:rPr lang="en-CA" smtClean="0"/>
              <a:t>41</a:t>
            </a:fld>
            <a:endParaRPr lang="en-CA"/>
          </a:p>
        </p:txBody>
      </p:sp>
    </p:spTree>
    <p:extLst>
      <p:ext uri="{BB962C8B-B14F-4D97-AF65-F5344CB8AC3E}">
        <p14:creationId xmlns:p14="http://schemas.microsoft.com/office/powerpoint/2010/main" val="4080204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9505-9A10-7F4E-73ED-65139BEC2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9C253-3362-8D90-1EC7-D17604B9BD5F}"/>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E2CE04D6-D475-F6DD-2238-68DC8C197B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https://learn.microsoft.com/en-us/azure/cloud-adoption-framework/ready/azure-best-practices/resource-abbreviations </a:t>
            </a:r>
          </a:p>
        </p:txBody>
      </p:sp>
      <p:sp>
        <p:nvSpPr>
          <p:cNvPr id="4" name="Slide Number Placeholder 3">
            <a:extLst>
              <a:ext uri="{FF2B5EF4-FFF2-40B4-BE49-F238E27FC236}">
                <a16:creationId xmlns:a16="http://schemas.microsoft.com/office/drawing/2014/main" id="{E639560A-A3E3-15EA-2642-76058C0CAB4D}"/>
              </a:ext>
            </a:extLst>
          </p:cNvPr>
          <p:cNvSpPr>
            <a:spLocks noGrp="1"/>
          </p:cNvSpPr>
          <p:nvPr>
            <p:ph type="sldNum" sz="quarter" idx="5"/>
          </p:nvPr>
        </p:nvSpPr>
        <p:spPr/>
        <p:txBody>
          <a:bodyPr/>
          <a:lstStyle/>
          <a:p>
            <a:fld id="{D6389AA0-099A-4B08-8111-71789224C0ED}" type="slidenum">
              <a:rPr lang="en-CA" smtClean="0"/>
              <a:t>42</a:t>
            </a:fld>
            <a:endParaRPr lang="en-CA"/>
          </a:p>
        </p:txBody>
      </p:sp>
    </p:spTree>
    <p:extLst>
      <p:ext uri="{BB962C8B-B14F-4D97-AF65-F5344CB8AC3E}">
        <p14:creationId xmlns:p14="http://schemas.microsoft.com/office/powerpoint/2010/main" val="3493302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8FC1B-E8AD-5068-8F45-7F80C3597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8F2E4-F27E-D4DB-C260-2F6241C099E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C5CEAFE-80E2-AA17-39BC-09574363AA93}"/>
              </a:ext>
            </a:extLst>
          </p:cNvPr>
          <p:cNvSpPr>
            <a:spLocks noGrp="1"/>
          </p:cNvSpPr>
          <p:nvPr>
            <p:ph type="body" idx="1"/>
          </p:nvPr>
        </p:nvSpPr>
        <p:spPr/>
        <p:txBody>
          <a:bodyPr/>
          <a:lstStyle/>
          <a:p>
            <a:r>
              <a:rPr lang="en-CA" dirty="0"/>
              <a:t>REQUIREMENT: Do you have an existing naming convention? If so please provide details.</a:t>
            </a:r>
          </a:p>
          <a:p>
            <a:r>
              <a:rPr lang="en-CA" dirty="0"/>
              <a:t>Otherwise we will provide a recommended naming convention</a:t>
            </a:r>
          </a:p>
        </p:txBody>
      </p:sp>
      <p:sp>
        <p:nvSpPr>
          <p:cNvPr id="4" name="Slide Number Placeholder 3">
            <a:extLst>
              <a:ext uri="{FF2B5EF4-FFF2-40B4-BE49-F238E27FC236}">
                <a16:creationId xmlns:a16="http://schemas.microsoft.com/office/drawing/2014/main" id="{22431B0A-7C7B-EFFD-F2BF-C6CEE55EA3E8}"/>
              </a:ext>
            </a:extLst>
          </p:cNvPr>
          <p:cNvSpPr>
            <a:spLocks noGrp="1"/>
          </p:cNvSpPr>
          <p:nvPr>
            <p:ph type="sldNum" sz="quarter" idx="5"/>
          </p:nvPr>
        </p:nvSpPr>
        <p:spPr/>
        <p:txBody>
          <a:bodyPr/>
          <a:lstStyle/>
          <a:p>
            <a:fld id="{D6389AA0-099A-4B08-8111-71789224C0ED}" type="slidenum">
              <a:rPr lang="en-CA" smtClean="0"/>
              <a:t>43</a:t>
            </a:fld>
            <a:endParaRPr lang="en-CA"/>
          </a:p>
        </p:txBody>
      </p:sp>
    </p:spTree>
    <p:extLst>
      <p:ext uri="{BB962C8B-B14F-4D97-AF65-F5344CB8AC3E}">
        <p14:creationId xmlns:p14="http://schemas.microsoft.com/office/powerpoint/2010/main" val="7012748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06A2-5C90-E5CD-403C-8DB6B3FFF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158EC-ADE3-9012-BA9B-2C910B67D70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57CA5F6-3012-5491-52F3-979A4917CD9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174BABF-77A5-670E-9876-4CF2416D6511}"/>
              </a:ext>
            </a:extLst>
          </p:cNvPr>
          <p:cNvSpPr>
            <a:spLocks noGrp="1"/>
          </p:cNvSpPr>
          <p:nvPr>
            <p:ph type="sldNum" sz="quarter" idx="5"/>
          </p:nvPr>
        </p:nvSpPr>
        <p:spPr/>
        <p:txBody>
          <a:bodyPr/>
          <a:lstStyle/>
          <a:p>
            <a:fld id="{D6389AA0-099A-4B08-8111-71789224C0ED}" type="slidenum">
              <a:rPr lang="en-CA" smtClean="0"/>
              <a:t>44</a:t>
            </a:fld>
            <a:endParaRPr lang="en-CA"/>
          </a:p>
        </p:txBody>
      </p:sp>
    </p:spTree>
    <p:extLst>
      <p:ext uri="{BB962C8B-B14F-4D97-AF65-F5344CB8AC3E}">
        <p14:creationId xmlns:p14="http://schemas.microsoft.com/office/powerpoint/2010/main" val="22508221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D228-8F06-8746-F8A6-5AE11991F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D6C1D-B32C-0D88-0A00-6478EB13D1B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C26E25C-A02B-EDB8-79DD-18770E983F7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353F117-EE01-5851-8567-542656FE4F3C}"/>
              </a:ext>
            </a:extLst>
          </p:cNvPr>
          <p:cNvSpPr>
            <a:spLocks noGrp="1"/>
          </p:cNvSpPr>
          <p:nvPr>
            <p:ph type="sldNum" sz="quarter" idx="5"/>
          </p:nvPr>
        </p:nvSpPr>
        <p:spPr/>
        <p:txBody>
          <a:bodyPr/>
          <a:lstStyle/>
          <a:p>
            <a:fld id="{D6389AA0-099A-4B08-8111-71789224C0ED}" type="slidenum">
              <a:rPr lang="en-CA" smtClean="0"/>
              <a:t>45</a:t>
            </a:fld>
            <a:endParaRPr lang="en-CA"/>
          </a:p>
        </p:txBody>
      </p:sp>
    </p:spTree>
    <p:extLst>
      <p:ext uri="{BB962C8B-B14F-4D97-AF65-F5344CB8AC3E}">
        <p14:creationId xmlns:p14="http://schemas.microsoft.com/office/powerpoint/2010/main" val="2528492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268E-E95F-32E8-C8D7-FDEF6ADB8C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953B2A4-E89B-15B1-DCFF-0E0D1FAD0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2236B05-C77A-030A-B837-F7A9832FADF3}"/>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5" name="Footer Placeholder 4">
            <a:extLst>
              <a:ext uri="{FF2B5EF4-FFF2-40B4-BE49-F238E27FC236}">
                <a16:creationId xmlns:a16="http://schemas.microsoft.com/office/drawing/2014/main" id="{700FC7F1-E04E-9544-3ACB-1C513D3646C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3C4B8AF-B579-181B-F7FC-7A33D96F6BB0}"/>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3107064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35027-A686-B4E0-26E3-ECDDCDE5D24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86A6B00-5DC3-22C5-7B9D-BA97EA33CB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DA9EB52-7442-AEFC-599B-E634D1E25231}"/>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5" name="Footer Placeholder 4">
            <a:extLst>
              <a:ext uri="{FF2B5EF4-FFF2-40B4-BE49-F238E27FC236}">
                <a16:creationId xmlns:a16="http://schemas.microsoft.com/office/drawing/2014/main" id="{58E7A977-57FD-D20C-F980-6C2AD3F53A6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14EEE99-C63B-60F9-9F53-9D5D04CA7CCE}"/>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1445296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C7D0E-F671-4AD2-A379-A6BC7AAE04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C998D05-CD10-9154-AC92-ACB7C265A3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39E84E-A3E5-5FC3-4C50-675A289A29D2}"/>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5" name="Footer Placeholder 4">
            <a:extLst>
              <a:ext uri="{FF2B5EF4-FFF2-40B4-BE49-F238E27FC236}">
                <a16:creationId xmlns:a16="http://schemas.microsoft.com/office/drawing/2014/main" id="{374E2E35-09FC-E0D8-0CB5-814C5D2AC35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C944D23-2CB1-57A3-9B7B-691404D19B53}"/>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2234162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AB072-4FF0-3382-A23E-A0AC1DECFC0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F979DBB-6305-425A-F700-0BE648F8FA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FFDA4D7-641C-6650-03C7-D512C63230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F53A110-4C16-56FC-A19B-A5678FEEA346}"/>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6" name="Footer Placeholder 5">
            <a:extLst>
              <a:ext uri="{FF2B5EF4-FFF2-40B4-BE49-F238E27FC236}">
                <a16:creationId xmlns:a16="http://schemas.microsoft.com/office/drawing/2014/main" id="{F7181DA0-A0C3-5C54-41D2-363DA68EC17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8DAFC4C-28C6-F78A-50E4-7640F25C935C}"/>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1290248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A428A-8945-7419-D3A5-D76725072B2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BAD44F5-1864-91BC-A388-A2B3CF5272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81A29F-C37A-2C40-A83F-AD67EB1002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07F4774-5C3D-4590-5ABE-81E7BC32FF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74AAC9-46F1-2D03-3559-4FC21E9B3D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265958E-4CD3-567E-2262-A2BF5EB79FAE}"/>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8" name="Footer Placeholder 7">
            <a:extLst>
              <a:ext uri="{FF2B5EF4-FFF2-40B4-BE49-F238E27FC236}">
                <a16:creationId xmlns:a16="http://schemas.microsoft.com/office/drawing/2014/main" id="{67CF7704-5A2C-7150-6E02-0ABD9CD1336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B14A968-7929-9EE3-B780-B0866D502B82}"/>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1176539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CDDB-3561-7577-7B3E-C4EE55819B8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632BCD1-1546-D8B0-EC0C-669B629761B7}"/>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4" name="Footer Placeholder 3">
            <a:extLst>
              <a:ext uri="{FF2B5EF4-FFF2-40B4-BE49-F238E27FC236}">
                <a16:creationId xmlns:a16="http://schemas.microsoft.com/office/drawing/2014/main" id="{8FE83C13-959D-1131-1D57-F0A72D476041}"/>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61C34D0-A22B-220F-CA01-D8E29D4482CC}"/>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4042690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8FD4FC-FE76-D0B3-0B20-B55CCE293C28}"/>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3" name="Footer Placeholder 2">
            <a:extLst>
              <a:ext uri="{FF2B5EF4-FFF2-40B4-BE49-F238E27FC236}">
                <a16:creationId xmlns:a16="http://schemas.microsoft.com/office/drawing/2014/main" id="{CDBB3AE1-6D58-A40E-60E9-72C0DD4C03C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021CE08-3D8D-D188-6E11-5444096D0883}"/>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2580283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06F44-6F15-57A9-3F56-3D56C2A76C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660C540-CAA3-DC97-A342-1CE1F648BF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94A9136-B0AB-BFD8-9869-9D53003698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498D91-D87E-6E16-AB34-CC435FF5411E}"/>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6" name="Footer Placeholder 5">
            <a:extLst>
              <a:ext uri="{FF2B5EF4-FFF2-40B4-BE49-F238E27FC236}">
                <a16:creationId xmlns:a16="http://schemas.microsoft.com/office/drawing/2014/main" id="{AEAB8DA6-8C25-0F40-D55C-05BF68D3E59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96CB85C-16A5-E816-B6B5-3657F8A57C39}"/>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3784344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8670-4ED9-0E4C-4FEE-33B69F7B02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95451E4-7A87-17DC-1333-D3154F5A4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61E869C-7F86-B6E3-46E6-E064E12C1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96C948-ABC8-A144-75B4-E48420504607}"/>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6" name="Footer Placeholder 5">
            <a:extLst>
              <a:ext uri="{FF2B5EF4-FFF2-40B4-BE49-F238E27FC236}">
                <a16:creationId xmlns:a16="http://schemas.microsoft.com/office/drawing/2014/main" id="{7B1613A9-2CE7-0D31-551D-71021C4A4F1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9465B59-7708-3ED7-DAB3-3BD3E6DE3D70}"/>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254696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E85CA-AB47-9ACC-AB26-052873F95F19}"/>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1832094-28C0-4FE0-6444-DE2ED97C5E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3BD9FD7-A280-2F69-DD2E-1C5AC68F455A}"/>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5" name="Footer Placeholder 4">
            <a:extLst>
              <a:ext uri="{FF2B5EF4-FFF2-40B4-BE49-F238E27FC236}">
                <a16:creationId xmlns:a16="http://schemas.microsoft.com/office/drawing/2014/main" id="{E4545AC9-8C58-7740-1DC9-51AB666C87E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799B091-10C7-F693-5F5A-4ADE8CA660F2}"/>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414565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3B072B-F53C-9C91-FE49-8584B46435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5C12C85-D049-3632-81CC-B31D6DB8AA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C99D89A-60D3-12B6-4CD4-78ACB77F0FBC}"/>
              </a:ext>
            </a:extLst>
          </p:cNvPr>
          <p:cNvSpPr>
            <a:spLocks noGrp="1"/>
          </p:cNvSpPr>
          <p:nvPr>
            <p:ph type="dt" sz="half" idx="10"/>
          </p:nvPr>
        </p:nvSpPr>
        <p:spPr/>
        <p:txBody>
          <a:bodyPr/>
          <a:lstStyle/>
          <a:p>
            <a:fld id="{788ACCF7-0736-4B36-A402-3463C3D9440C}" type="datetimeFigureOut">
              <a:rPr lang="en-CA" smtClean="0"/>
              <a:t>2025-11-11</a:t>
            </a:fld>
            <a:endParaRPr lang="en-CA"/>
          </a:p>
        </p:txBody>
      </p:sp>
      <p:sp>
        <p:nvSpPr>
          <p:cNvPr id="5" name="Footer Placeholder 4">
            <a:extLst>
              <a:ext uri="{FF2B5EF4-FFF2-40B4-BE49-F238E27FC236}">
                <a16:creationId xmlns:a16="http://schemas.microsoft.com/office/drawing/2014/main" id="{34FD118B-857D-2ECE-E98D-BF22FF49A02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5ADC533-C0D1-EA9C-3963-7CFB3E60FF89}"/>
              </a:ext>
            </a:extLst>
          </p:cNvPr>
          <p:cNvSpPr>
            <a:spLocks noGrp="1"/>
          </p:cNvSpPr>
          <p:nvPr>
            <p:ph type="sldNum" sz="quarter" idx="12"/>
          </p:nvPr>
        </p:nvSpPr>
        <p:spPr/>
        <p:txBody>
          <a:bodyPr/>
          <a:lstStyle/>
          <a:p>
            <a:fld id="{336E72BC-3DEC-4C8E-88DF-C6EE22DCBA4E}" type="slidenum">
              <a:rPr lang="en-CA" smtClean="0"/>
              <a:t>‹#›</a:t>
            </a:fld>
            <a:endParaRPr lang="en-CA"/>
          </a:p>
        </p:txBody>
      </p:sp>
    </p:spTree>
    <p:extLst>
      <p:ext uri="{BB962C8B-B14F-4D97-AF65-F5344CB8AC3E}">
        <p14:creationId xmlns:p14="http://schemas.microsoft.com/office/powerpoint/2010/main" val="875511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Only">
    <p:bg>
      <p:bgPr>
        <a:solidFill>
          <a:srgbClr val="070807"/>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9628A1-6D0B-4C49-9848-3A328EDFE1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132794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959F8A-C6CB-89CD-A3BD-97140611EF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9CBCB1-93ED-4EDF-3938-2CFC751127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BB8164A-0C28-8198-2EA1-1E1DBC1B5F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8ACCF7-0736-4B36-A402-3463C3D9440C}" type="datetimeFigureOut">
              <a:rPr lang="en-CA" smtClean="0"/>
              <a:t>2025-11-11</a:t>
            </a:fld>
            <a:endParaRPr lang="en-CA"/>
          </a:p>
        </p:txBody>
      </p:sp>
      <p:sp>
        <p:nvSpPr>
          <p:cNvPr id="5" name="Footer Placeholder 4">
            <a:extLst>
              <a:ext uri="{FF2B5EF4-FFF2-40B4-BE49-F238E27FC236}">
                <a16:creationId xmlns:a16="http://schemas.microsoft.com/office/drawing/2014/main" id="{B4D214D1-40F1-138D-BC54-B05DE6BE21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185EBB6F-66A3-E225-2530-F0E347C25D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E72BC-3DEC-4C8E-88DF-C6EE22DCBA4E}" type="slidenum">
              <a:rPr lang="en-CA" smtClean="0"/>
              <a:t>‹#›</a:t>
            </a:fld>
            <a:endParaRPr lang="en-CA"/>
          </a:p>
        </p:txBody>
      </p:sp>
    </p:spTree>
    <p:extLst>
      <p:ext uri="{BB962C8B-B14F-4D97-AF65-F5344CB8AC3E}">
        <p14:creationId xmlns:p14="http://schemas.microsoft.com/office/powerpoint/2010/main" val="3358906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learn.microsoft.com/en-us/azure/cloud-adoption-framework/ready/"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docs.microsoft.com/en-us/azure/cloud-adoption-framework/ready/azure-best-practices/naming-and-tagging"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4119F2-3F66-13E6-14DF-A4167E3818CD}"/>
              </a:ext>
            </a:extLst>
          </p:cNvPr>
          <p:cNvSpPr txBox="1">
            <a:spLocks/>
          </p:cNvSpPr>
          <p:nvPr/>
        </p:nvSpPr>
        <p:spPr>
          <a:xfrm>
            <a:off x="406401" y="492691"/>
            <a:ext cx="1664996" cy="477693"/>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CA" sz="2933" b="1" spc="-107" dirty="0">
                <a:solidFill>
                  <a:srgbClr val="000000"/>
                </a:solidFill>
                <a:latin typeface="+mn-lt"/>
              </a:rPr>
              <a:t>Agenda</a:t>
            </a:r>
            <a:endParaRPr lang="en-US" sz="2933" b="1" spc="-107" dirty="0">
              <a:solidFill>
                <a:srgbClr val="000000"/>
              </a:solidFill>
              <a:latin typeface="+mn-lt"/>
            </a:endParaRPr>
          </a:p>
        </p:txBody>
      </p:sp>
      <p:sp>
        <p:nvSpPr>
          <p:cNvPr id="7" name="TextBox 6">
            <a:extLst>
              <a:ext uri="{FF2B5EF4-FFF2-40B4-BE49-F238E27FC236}">
                <a16:creationId xmlns:a16="http://schemas.microsoft.com/office/drawing/2014/main" id="{8FA1890C-5810-083A-0254-BD975C276CBD}"/>
              </a:ext>
            </a:extLst>
          </p:cNvPr>
          <p:cNvSpPr txBox="1"/>
          <p:nvPr/>
        </p:nvSpPr>
        <p:spPr>
          <a:xfrm>
            <a:off x="492190" y="1214068"/>
            <a:ext cx="7009622" cy="2585323"/>
          </a:xfrm>
          <a:prstGeom prst="rect">
            <a:avLst/>
          </a:prstGeom>
          <a:noFill/>
        </p:spPr>
        <p:txBody>
          <a:bodyPr wrap="square">
            <a:spAutoFit/>
          </a:bodyPr>
          <a:lstStyle/>
          <a:p>
            <a:pPr marL="285750" indent="-285750">
              <a:buFont typeface="Arial" panose="020B0604020202020204" pitchFamily="34" charset="0"/>
              <a:buChar char="•"/>
            </a:pPr>
            <a:r>
              <a:rPr lang="en-CA" dirty="0"/>
              <a:t>Requirements Gathering Sessions for Azure Baseline Deployment</a:t>
            </a:r>
          </a:p>
          <a:p>
            <a:pPr marL="742950" lvl="1" indent="-285750">
              <a:buFont typeface="Arial" panose="020B0604020202020204" pitchFamily="34" charset="0"/>
              <a:buChar char="•"/>
            </a:pPr>
            <a:r>
              <a:rPr lang="en-CA" dirty="0"/>
              <a:t>Billing Account Types</a:t>
            </a:r>
          </a:p>
          <a:p>
            <a:pPr marL="742950" lvl="1" indent="-285750">
              <a:buFont typeface="Arial" panose="020B0604020202020204" pitchFamily="34" charset="0"/>
              <a:buChar char="•"/>
            </a:pPr>
            <a:r>
              <a:rPr lang="en-CA" dirty="0"/>
              <a:t>Azure Regions Overview and Selection</a:t>
            </a:r>
          </a:p>
          <a:p>
            <a:pPr marL="742950" lvl="1" indent="-285750">
              <a:buFont typeface="Arial" panose="020B0604020202020204" pitchFamily="34" charset="0"/>
              <a:buChar char="•"/>
            </a:pPr>
            <a:r>
              <a:rPr lang="en-US" dirty="0"/>
              <a:t>Subscription Design and Democratization</a:t>
            </a:r>
          </a:p>
          <a:p>
            <a:pPr marL="742950" lvl="1" indent="-285750">
              <a:buFont typeface="Arial" panose="020B0604020202020204" pitchFamily="34" charset="0"/>
              <a:buChar char="•"/>
            </a:pPr>
            <a:r>
              <a:rPr lang="en-US" dirty="0"/>
              <a:t>Azure Enterprise Scale Landing Zone Architecture</a:t>
            </a:r>
          </a:p>
          <a:p>
            <a:pPr marL="742950" lvl="1" indent="-285750">
              <a:buFont typeface="Arial" panose="020B0604020202020204" pitchFamily="34" charset="0"/>
              <a:buChar char="•"/>
            </a:pPr>
            <a:r>
              <a:rPr lang="en-US" dirty="0"/>
              <a:t>Overview of Cloud Operating Models</a:t>
            </a:r>
          </a:p>
          <a:p>
            <a:pPr marL="742950" lvl="1" indent="-285750">
              <a:buFont typeface="Arial" panose="020B0604020202020204" pitchFamily="34" charset="0"/>
              <a:buChar char="•"/>
            </a:pPr>
            <a:r>
              <a:rPr lang="en-US" dirty="0"/>
              <a:t>Cloud Authentication and Authorization</a:t>
            </a:r>
          </a:p>
          <a:p>
            <a:pPr marL="742950" lvl="1" indent="-285750">
              <a:buFont typeface="Arial" panose="020B0604020202020204" pitchFamily="34" charset="0"/>
              <a:buChar char="•"/>
            </a:pPr>
            <a:r>
              <a:rPr lang="en-US" dirty="0"/>
              <a:t>Azure RBAC Best Practices</a:t>
            </a:r>
          </a:p>
          <a:p>
            <a:pPr marL="742950" lvl="1" indent="-285750">
              <a:buFont typeface="Arial" panose="020B0604020202020204" pitchFamily="34" charset="0"/>
              <a:buChar char="•"/>
            </a:pPr>
            <a:r>
              <a:rPr lang="en-US" dirty="0"/>
              <a:t>Azure Naming and Tagging</a:t>
            </a:r>
          </a:p>
        </p:txBody>
      </p:sp>
    </p:spTree>
    <p:extLst>
      <p:ext uri="{BB962C8B-B14F-4D97-AF65-F5344CB8AC3E}">
        <p14:creationId xmlns:p14="http://schemas.microsoft.com/office/powerpoint/2010/main" val="3593712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E6695-099A-BAD6-B48B-9D083A5C8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31431-AD94-442D-5630-2FA795A10980}"/>
              </a:ext>
            </a:extLst>
          </p:cNvPr>
          <p:cNvSpPr txBox="1">
            <a:spLocks/>
          </p:cNvSpPr>
          <p:nvPr/>
        </p:nvSpPr>
        <p:spPr>
          <a:xfrm>
            <a:off x="314131" y="649437"/>
            <a:ext cx="2792963" cy="63818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CA" sz="3700" b="1" spc="-107" dirty="0">
                <a:solidFill>
                  <a:srgbClr val="000000"/>
                </a:solidFill>
                <a:latin typeface="+mn-lt"/>
              </a:rPr>
              <a:t>Billing</a:t>
            </a:r>
            <a:r>
              <a:rPr lang="en-CA" dirty="0"/>
              <a:t> </a:t>
            </a:r>
            <a:r>
              <a:rPr lang="en-CA" sz="3800" b="1" spc="-107" dirty="0">
                <a:solidFill>
                  <a:srgbClr val="000000"/>
                </a:solidFill>
                <a:latin typeface="+mn-lt"/>
              </a:rPr>
              <a:t>Accounts</a:t>
            </a:r>
          </a:p>
        </p:txBody>
      </p:sp>
      <p:sp>
        <p:nvSpPr>
          <p:cNvPr id="6" name="TextBox 5">
            <a:extLst>
              <a:ext uri="{FF2B5EF4-FFF2-40B4-BE49-F238E27FC236}">
                <a16:creationId xmlns:a16="http://schemas.microsoft.com/office/drawing/2014/main" id="{22491134-36FA-2A44-8F76-89A044C7ADEC}"/>
              </a:ext>
            </a:extLst>
          </p:cNvPr>
          <p:cNvSpPr txBox="1"/>
          <p:nvPr/>
        </p:nvSpPr>
        <p:spPr>
          <a:xfrm>
            <a:off x="569166" y="1492880"/>
            <a:ext cx="5924939" cy="2585323"/>
          </a:xfrm>
          <a:prstGeom prst="rect">
            <a:avLst/>
          </a:prstGeom>
          <a:noFill/>
        </p:spPr>
        <p:txBody>
          <a:bodyPr wrap="square">
            <a:spAutoFit/>
          </a:bodyPr>
          <a:lstStyle/>
          <a:p>
            <a:pPr marL="285750" indent="-285750">
              <a:buFont typeface="Arial" panose="020B0604020202020204" pitchFamily="34" charset="0"/>
              <a:buChar char="•"/>
            </a:pPr>
            <a:r>
              <a:rPr lang="en-CA" dirty="0"/>
              <a:t>Billing accounts are created when you sign up to use Azure</a:t>
            </a:r>
          </a:p>
          <a:p>
            <a:pPr marL="285750" indent="-285750">
              <a:buFont typeface="Arial" panose="020B0604020202020204" pitchFamily="34" charset="0"/>
              <a:buChar char="•"/>
            </a:pPr>
            <a:r>
              <a:rPr lang="en-CA" dirty="0"/>
              <a:t>Used to manage invoices, payments, and track costs</a:t>
            </a:r>
          </a:p>
          <a:p>
            <a:pPr marL="285750" indent="-285750">
              <a:buFont typeface="Arial" panose="020B0604020202020204" pitchFamily="34" charset="0"/>
              <a:buChar char="•"/>
            </a:pPr>
            <a:r>
              <a:rPr lang="en-CA" dirty="0"/>
              <a:t>Can have access to multiple billing accounts</a:t>
            </a:r>
          </a:p>
          <a:p>
            <a:endParaRPr lang="en-CA" dirty="0"/>
          </a:p>
          <a:p>
            <a:r>
              <a:rPr lang="en-CA" dirty="0"/>
              <a:t>Types:</a:t>
            </a:r>
          </a:p>
          <a:p>
            <a:pPr lvl="1"/>
            <a:r>
              <a:rPr lang="en-CA" dirty="0"/>
              <a:t>Microsoft Online Services Program</a:t>
            </a:r>
          </a:p>
          <a:p>
            <a:pPr lvl="1"/>
            <a:r>
              <a:rPr lang="en-CA" dirty="0"/>
              <a:t>Enterprise Agreement</a:t>
            </a:r>
          </a:p>
          <a:p>
            <a:pPr lvl="1"/>
            <a:r>
              <a:rPr lang="en-CA" dirty="0"/>
              <a:t>Microsoft Customer Agreement</a:t>
            </a:r>
          </a:p>
          <a:p>
            <a:pPr lvl="1"/>
            <a:r>
              <a:rPr lang="en-CA" dirty="0"/>
              <a:t>Microsoft Partner Agreement</a:t>
            </a:r>
          </a:p>
        </p:txBody>
      </p:sp>
    </p:spTree>
    <p:extLst>
      <p:ext uri="{BB962C8B-B14F-4D97-AF65-F5344CB8AC3E}">
        <p14:creationId xmlns:p14="http://schemas.microsoft.com/office/powerpoint/2010/main" val="345425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05AF-39BB-4FF7-B34C-55CA83C64C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34946-409B-AF6F-B277-2F1F64F87EDF}"/>
              </a:ext>
            </a:extLst>
          </p:cNvPr>
          <p:cNvSpPr txBox="1">
            <a:spLocks/>
          </p:cNvSpPr>
          <p:nvPr/>
        </p:nvSpPr>
        <p:spPr>
          <a:xfrm>
            <a:off x="314131" y="649437"/>
            <a:ext cx="2792963" cy="63818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CA" sz="3700" b="1" spc="-107" dirty="0">
                <a:solidFill>
                  <a:srgbClr val="000000"/>
                </a:solidFill>
                <a:latin typeface="+mn-lt"/>
              </a:rPr>
              <a:t>Billing</a:t>
            </a:r>
            <a:r>
              <a:rPr lang="en-CA" dirty="0"/>
              <a:t> </a:t>
            </a:r>
            <a:r>
              <a:rPr lang="en-CA" sz="3800" b="1" spc="-107" dirty="0">
                <a:solidFill>
                  <a:srgbClr val="000000"/>
                </a:solidFill>
                <a:latin typeface="+mn-lt"/>
              </a:rPr>
              <a:t>Accounts</a:t>
            </a:r>
          </a:p>
        </p:txBody>
      </p:sp>
      <p:sp>
        <p:nvSpPr>
          <p:cNvPr id="6" name="TextBox 5">
            <a:extLst>
              <a:ext uri="{FF2B5EF4-FFF2-40B4-BE49-F238E27FC236}">
                <a16:creationId xmlns:a16="http://schemas.microsoft.com/office/drawing/2014/main" id="{4F270210-7C2D-6871-83AA-83908BD83817}"/>
              </a:ext>
            </a:extLst>
          </p:cNvPr>
          <p:cNvSpPr txBox="1"/>
          <p:nvPr/>
        </p:nvSpPr>
        <p:spPr>
          <a:xfrm>
            <a:off x="569166" y="1492880"/>
            <a:ext cx="5924939" cy="2585323"/>
          </a:xfrm>
          <a:prstGeom prst="rect">
            <a:avLst/>
          </a:prstGeom>
          <a:noFill/>
        </p:spPr>
        <p:txBody>
          <a:bodyPr wrap="square">
            <a:spAutoFit/>
          </a:bodyPr>
          <a:lstStyle/>
          <a:p>
            <a:pPr marL="285750" indent="-285750">
              <a:buFont typeface="Arial" panose="020B0604020202020204" pitchFamily="34" charset="0"/>
              <a:buChar char="•"/>
            </a:pPr>
            <a:r>
              <a:rPr lang="en-CA" dirty="0"/>
              <a:t>Billing accounts are created when you sign up to use Azure</a:t>
            </a:r>
          </a:p>
          <a:p>
            <a:pPr marL="285750" indent="-285750">
              <a:buFont typeface="Arial" panose="020B0604020202020204" pitchFamily="34" charset="0"/>
              <a:buChar char="•"/>
            </a:pPr>
            <a:r>
              <a:rPr lang="en-CA" dirty="0"/>
              <a:t>Used to manage invoices, payments, and track costs</a:t>
            </a:r>
          </a:p>
          <a:p>
            <a:pPr marL="285750" indent="-285750">
              <a:buFont typeface="Arial" panose="020B0604020202020204" pitchFamily="34" charset="0"/>
              <a:buChar char="•"/>
            </a:pPr>
            <a:r>
              <a:rPr lang="en-CA" dirty="0"/>
              <a:t>Can have access to multiple billing accounts</a:t>
            </a:r>
          </a:p>
          <a:p>
            <a:endParaRPr lang="en-CA" dirty="0"/>
          </a:p>
          <a:p>
            <a:r>
              <a:rPr lang="en-CA" dirty="0"/>
              <a:t>Types:</a:t>
            </a:r>
          </a:p>
          <a:p>
            <a:pPr lvl="1"/>
            <a:r>
              <a:rPr lang="en-CA" dirty="0"/>
              <a:t>Microsoft Online Services Program</a:t>
            </a:r>
          </a:p>
          <a:p>
            <a:pPr lvl="1"/>
            <a:r>
              <a:rPr lang="en-CA" dirty="0"/>
              <a:t>Enterprise Agreement</a:t>
            </a:r>
          </a:p>
          <a:p>
            <a:pPr lvl="1"/>
            <a:r>
              <a:rPr lang="en-CA" dirty="0"/>
              <a:t>Microsoft Customer Agreement</a:t>
            </a:r>
          </a:p>
          <a:p>
            <a:pPr lvl="1"/>
            <a:r>
              <a:rPr lang="en-CA" dirty="0"/>
              <a:t>Microsoft Partner Agreement</a:t>
            </a:r>
          </a:p>
        </p:txBody>
      </p:sp>
    </p:spTree>
    <p:extLst>
      <p:ext uri="{BB962C8B-B14F-4D97-AF65-F5344CB8AC3E}">
        <p14:creationId xmlns:p14="http://schemas.microsoft.com/office/powerpoint/2010/main" val="353999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5AE6F-E524-8BEE-0584-F2B8F9057C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9C70C5-3B5B-43EC-2892-CA046C0C282B}"/>
              </a:ext>
            </a:extLst>
          </p:cNvPr>
          <p:cNvSpPr txBox="1"/>
          <p:nvPr/>
        </p:nvSpPr>
        <p:spPr>
          <a:xfrm>
            <a:off x="370891" y="417159"/>
            <a:ext cx="8850227" cy="523220"/>
          </a:xfrm>
          <a:prstGeom prst="rect">
            <a:avLst/>
          </a:prstGeom>
          <a:noFill/>
        </p:spPr>
        <p:txBody>
          <a:bodyPr wrap="square">
            <a:spAutoFit/>
          </a:bodyPr>
          <a:lstStyle/>
          <a:p>
            <a:r>
              <a:rPr lang="en-CA" sz="2800" b="1" dirty="0"/>
              <a:t>Microsoft Online Services Program</a:t>
            </a:r>
          </a:p>
        </p:txBody>
      </p:sp>
      <p:pic>
        <p:nvPicPr>
          <p:cNvPr id="5" name="Picture 2" descr="Screenshot that shows MOSP hierarchy">
            <a:extLst>
              <a:ext uri="{FF2B5EF4-FFF2-40B4-BE49-F238E27FC236}">
                <a16:creationId xmlns:a16="http://schemas.microsoft.com/office/drawing/2014/main" id="{1E0A11F5-E11E-5459-0255-F8418940A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91" y="1446992"/>
            <a:ext cx="8332516" cy="351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970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BAA54-FEEA-7BA1-449B-8579F2D19D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9241A2-F1FF-DCFD-E758-BB00DEA6B3AD}"/>
              </a:ext>
            </a:extLst>
          </p:cNvPr>
          <p:cNvSpPr txBox="1"/>
          <p:nvPr/>
        </p:nvSpPr>
        <p:spPr>
          <a:xfrm>
            <a:off x="370892" y="417159"/>
            <a:ext cx="6097554" cy="523220"/>
          </a:xfrm>
          <a:prstGeom prst="rect">
            <a:avLst/>
          </a:prstGeom>
          <a:noFill/>
        </p:spPr>
        <p:txBody>
          <a:bodyPr wrap="square">
            <a:spAutoFit/>
          </a:bodyPr>
          <a:lstStyle/>
          <a:p>
            <a:r>
              <a:rPr lang="en-CA" sz="2800" b="1" dirty="0"/>
              <a:t>Enterprise Agreement</a:t>
            </a:r>
          </a:p>
        </p:txBody>
      </p:sp>
      <p:pic>
        <p:nvPicPr>
          <p:cNvPr id="2" name="Picture 2" descr="Screenshot that shows EA hierarchy">
            <a:extLst>
              <a:ext uri="{FF2B5EF4-FFF2-40B4-BE49-F238E27FC236}">
                <a16:creationId xmlns:a16="http://schemas.microsoft.com/office/drawing/2014/main" id="{A30CC849-BAAC-BFD3-37DD-8FCF39EBB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988" y="1319994"/>
            <a:ext cx="7811118" cy="4697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927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8E71-9368-8F80-B333-3022D7EA32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2F45A2-B032-FA49-185A-F7A874A43E7E}"/>
              </a:ext>
            </a:extLst>
          </p:cNvPr>
          <p:cNvSpPr txBox="1"/>
          <p:nvPr/>
        </p:nvSpPr>
        <p:spPr>
          <a:xfrm>
            <a:off x="370892" y="417159"/>
            <a:ext cx="6097554" cy="523220"/>
          </a:xfrm>
          <a:prstGeom prst="rect">
            <a:avLst/>
          </a:prstGeom>
          <a:noFill/>
        </p:spPr>
        <p:txBody>
          <a:bodyPr wrap="square">
            <a:spAutoFit/>
          </a:bodyPr>
          <a:lstStyle/>
          <a:p>
            <a:r>
              <a:rPr lang="en-CA" sz="2800" b="1" dirty="0"/>
              <a:t>Microsoft Customer Agreement</a:t>
            </a:r>
          </a:p>
        </p:txBody>
      </p:sp>
      <p:pic>
        <p:nvPicPr>
          <p:cNvPr id="3" name="Picture 2" descr="Screenshot that shows MCA hierarchy">
            <a:extLst>
              <a:ext uri="{FF2B5EF4-FFF2-40B4-BE49-F238E27FC236}">
                <a16:creationId xmlns:a16="http://schemas.microsoft.com/office/drawing/2014/main" id="{61D95378-29DD-A6A6-807A-67E740A0B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123" y="1272872"/>
            <a:ext cx="8034388" cy="4552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245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D8F7-D92C-AC68-2096-B0A041DCF7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0E114F-4D86-F387-79CD-3CAD31450F9F}"/>
              </a:ext>
            </a:extLst>
          </p:cNvPr>
          <p:cNvSpPr txBox="1"/>
          <p:nvPr/>
        </p:nvSpPr>
        <p:spPr>
          <a:xfrm>
            <a:off x="370892" y="417159"/>
            <a:ext cx="6097554" cy="523220"/>
          </a:xfrm>
          <a:prstGeom prst="rect">
            <a:avLst/>
          </a:prstGeom>
          <a:noFill/>
        </p:spPr>
        <p:txBody>
          <a:bodyPr wrap="square">
            <a:spAutoFit/>
          </a:bodyPr>
          <a:lstStyle/>
          <a:p>
            <a:r>
              <a:rPr lang="en-CA" sz="2800" b="1" dirty="0"/>
              <a:t>Microsoft Partner Agreement</a:t>
            </a:r>
          </a:p>
        </p:txBody>
      </p:sp>
      <p:pic>
        <p:nvPicPr>
          <p:cNvPr id="2" name="Picture 2" descr="Screenshot that shows MPA hierarchy">
            <a:extLst>
              <a:ext uri="{FF2B5EF4-FFF2-40B4-BE49-F238E27FC236}">
                <a16:creationId xmlns:a16="http://schemas.microsoft.com/office/drawing/2014/main" id="{AB0E022C-F0CD-F2F5-4DFA-B780628092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92" y="1567944"/>
            <a:ext cx="8762091" cy="4014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219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54636-4BFB-3A3C-D68B-92B0020B67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D218AD-B62F-9CD3-1B36-69D0CD1C7DA8}"/>
              </a:ext>
            </a:extLst>
          </p:cNvPr>
          <p:cNvSpPr txBox="1"/>
          <p:nvPr/>
        </p:nvSpPr>
        <p:spPr>
          <a:xfrm>
            <a:off x="2754923" y="2763688"/>
            <a:ext cx="6096000" cy="769441"/>
          </a:xfrm>
          <a:prstGeom prst="rect">
            <a:avLst/>
          </a:prstGeom>
          <a:noFill/>
        </p:spPr>
        <p:txBody>
          <a:bodyPr wrap="square">
            <a:spAutoFit/>
          </a:bodyPr>
          <a:lstStyle/>
          <a:p>
            <a:r>
              <a:rPr lang="en-CA" sz="4400" b="1" dirty="0"/>
              <a:t>Azure Region Selection</a:t>
            </a:r>
          </a:p>
        </p:txBody>
      </p:sp>
    </p:spTree>
    <p:extLst>
      <p:ext uri="{BB962C8B-B14F-4D97-AF65-F5344CB8AC3E}">
        <p14:creationId xmlns:p14="http://schemas.microsoft.com/office/powerpoint/2010/main" val="1516039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Graphic 208">
            <a:extLst>
              <a:ext uri="{FF2B5EF4-FFF2-40B4-BE49-F238E27FC236}">
                <a16:creationId xmlns:a16="http://schemas.microsoft.com/office/drawing/2014/main" id="{B5B83CDC-BFB5-4A15-A9A8-773F6F541E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512" y="1144344"/>
            <a:ext cx="10086976" cy="4569315"/>
          </a:xfrm>
          <a:prstGeom prst="rect">
            <a:avLst/>
          </a:prstGeom>
        </p:spPr>
      </p:pic>
      <p:sp>
        <p:nvSpPr>
          <p:cNvPr id="2" name="Title 1">
            <a:extLst>
              <a:ext uri="{FF2B5EF4-FFF2-40B4-BE49-F238E27FC236}">
                <a16:creationId xmlns:a16="http://schemas.microsoft.com/office/drawing/2014/main" id="{A752C04F-7F8C-4A9A-A1E8-AC4529907A3B}"/>
              </a:ext>
            </a:extLst>
          </p:cNvPr>
          <p:cNvSpPr>
            <a:spLocks noGrp="1"/>
          </p:cNvSpPr>
          <p:nvPr>
            <p:ph type="title"/>
          </p:nvPr>
        </p:nvSpPr>
        <p:spPr>
          <a:xfrm>
            <a:off x="529606" y="93639"/>
            <a:ext cx="10086976" cy="1249370"/>
          </a:xfrm>
        </p:spPr>
        <p:txBody>
          <a:bodyPr>
            <a:normAutofit/>
          </a:bodyPr>
          <a:lstStyle/>
          <a:p>
            <a:pPr algn="l"/>
            <a:r>
              <a:rPr lang="en-US" sz="2800" dirty="0">
                <a:solidFill>
                  <a:schemeClr val="accent2"/>
                </a:solidFill>
              </a:rPr>
              <a:t>More regions than any other cloud provider</a:t>
            </a:r>
          </a:p>
        </p:txBody>
      </p:sp>
      <p:grpSp>
        <p:nvGrpSpPr>
          <p:cNvPr id="20" name="Group 19">
            <a:extLst>
              <a:ext uri="{FF2B5EF4-FFF2-40B4-BE49-F238E27FC236}">
                <a16:creationId xmlns:a16="http://schemas.microsoft.com/office/drawing/2014/main" id="{CED1ED45-BC76-40CA-822F-90EE51B15E49}"/>
              </a:ext>
            </a:extLst>
          </p:cNvPr>
          <p:cNvGrpSpPr/>
          <p:nvPr/>
        </p:nvGrpSpPr>
        <p:grpSpPr>
          <a:xfrm>
            <a:off x="208220" y="5545592"/>
            <a:ext cx="2041629" cy="615553"/>
            <a:chOff x="1209267" y="5737423"/>
            <a:chExt cx="2024470" cy="615553"/>
          </a:xfrm>
        </p:grpSpPr>
        <p:sp>
          <p:nvSpPr>
            <p:cNvPr id="9" name="TextBox 8">
              <a:extLst>
                <a:ext uri="{FF2B5EF4-FFF2-40B4-BE49-F238E27FC236}">
                  <a16:creationId xmlns:a16="http://schemas.microsoft.com/office/drawing/2014/main" id="{C944BB8F-FFCD-4FF3-9BA2-0ECCE14BFF34}"/>
                </a:ext>
              </a:extLst>
            </p:cNvPr>
            <p:cNvSpPr txBox="1"/>
            <p:nvPr/>
          </p:nvSpPr>
          <p:spPr>
            <a:xfrm>
              <a:off x="1209267" y="5737423"/>
              <a:ext cx="909213" cy="615553"/>
            </a:xfrm>
            <a:prstGeom prst="rect">
              <a:avLst/>
            </a:prstGeom>
            <a:noFill/>
          </p:spPr>
          <p:txBody>
            <a:bodyPr wrap="none" lIns="0" tIns="0" rIns="0" bIns="0" rtlCol="0">
              <a:spAutoFit/>
            </a:bodyPr>
            <a:lstStyle/>
            <a:p>
              <a:pPr algn="r">
                <a:defRPr/>
              </a:pPr>
              <a:r>
                <a:rPr lang="en-US" sz="4000" dirty="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70+</a:t>
              </a:r>
            </a:p>
          </p:txBody>
        </p:sp>
        <p:sp>
          <p:nvSpPr>
            <p:cNvPr id="10" name="TextBox 9">
              <a:extLst>
                <a:ext uri="{FF2B5EF4-FFF2-40B4-BE49-F238E27FC236}">
                  <a16:creationId xmlns:a16="http://schemas.microsoft.com/office/drawing/2014/main" id="{E5156CB6-8563-4757-997A-51083BF7FD4C}"/>
                </a:ext>
              </a:extLst>
            </p:cNvPr>
            <p:cNvSpPr txBox="1"/>
            <p:nvPr/>
          </p:nvSpPr>
          <p:spPr>
            <a:xfrm>
              <a:off x="2262187" y="5798978"/>
              <a:ext cx="971550" cy="492443"/>
            </a:xfrm>
            <a:prstGeom prst="rect">
              <a:avLst/>
            </a:prstGeom>
            <a:noFill/>
          </p:spPr>
          <p:txBody>
            <a:bodyPr wrap="square" lIns="0" tIns="0" rIns="0" bIns="0" rtlCol="0">
              <a:spAutoFit/>
            </a:bodyPr>
            <a:lstStyle/>
            <a:p>
              <a:pPr>
                <a:defRPr/>
              </a:pPr>
              <a:r>
                <a:rPr lang="en-US" sz="1600">
                  <a:solidFill>
                    <a:srgbClr val="FFFFFF"/>
                  </a:solidFill>
                  <a:latin typeface="Segoe UI Semibold"/>
                </a:rPr>
                <a:t>Regions worldwide</a:t>
              </a:r>
            </a:p>
          </p:txBody>
        </p:sp>
      </p:grpSp>
      <p:grpSp>
        <p:nvGrpSpPr>
          <p:cNvPr id="21" name="Group 20">
            <a:extLst>
              <a:ext uri="{FF2B5EF4-FFF2-40B4-BE49-F238E27FC236}">
                <a16:creationId xmlns:a16="http://schemas.microsoft.com/office/drawing/2014/main" id="{8B4B4A6B-2A0C-4EC2-909A-D6F50AB16DF0}"/>
              </a:ext>
            </a:extLst>
          </p:cNvPr>
          <p:cNvGrpSpPr/>
          <p:nvPr/>
        </p:nvGrpSpPr>
        <p:grpSpPr>
          <a:xfrm>
            <a:off x="3044313" y="5545592"/>
            <a:ext cx="2900936" cy="615553"/>
            <a:chOff x="4090416" y="5737423"/>
            <a:chExt cx="2900935" cy="615553"/>
          </a:xfrm>
        </p:grpSpPr>
        <p:sp>
          <p:nvSpPr>
            <p:cNvPr id="14" name="TextBox 13">
              <a:extLst>
                <a:ext uri="{FF2B5EF4-FFF2-40B4-BE49-F238E27FC236}">
                  <a16:creationId xmlns:a16="http://schemas.microsoft.com/office/drawing/2014/main" id="{01B2A569-9560-46EA-B2EF-F9BCC528A1F3}"/>
                </a:ext>
              </a:extLst>
            </p:cNvPr>
            <p:cNvSpPr txBox="1"/>
            <p:nvPr/>
          </p:nvSpPr>
          <p:spPr>
            <a:xfrm>
              <a:off x="4090416" y="5737423"/>
              <a:ext cx="1178208" cy="615553"/>
            </a:xfrm>
            <a:prstGeom prst="rect">
              <a:avLst/>
            </a:prstGeom>
            <a:noFill/>
          </p:spPr>
          <p:txBody>
            <a:bodyPr wrap="none" lIns="0" tIns="0" rIns="0" bIns="0" rtlCol="0">
              <a:spAutoFit/>
            </a:bodyPr>
            <a:lstStyle/>
            <a:p>
              <a:pPr algn="r">
                <a:defRPr/>
              </a:pPr>
              <a:r>
                <a:rPr lang="en-US" sz="400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130</a:t>
              </a:r>
              <a:r>
                <a:rPr lang="en-US" sz="240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K+</a:t>
              </a:r>
            </a:p>
          </p:txBody>
        </p:sp>
        <p:sp>
          <p:nvSpPr>
            <p:cNvPr id="15" name="TextBox 14">
              <a:extLst>
                <a:ext uri="{FF2B5EF4-FFF2-40B4-BE49-F238E27FC236}">
                  <a16:creationId xmlns:a16="http://schemas.microsoft.com/office/drawing/2014/main" id="{D591BC12-6A50-47AD-BD7D-81E448A79C46}"/>
                </a:ext>
              </a:extLst>
            </p:cNvPr>
            <p:cNvSpPr txBox="1"/>
            <p:nvPr/>
          </p:nvSpPr>
          <p:spPr>
            <a:xfrm>
              <a:off x="5412333" y="5798978"/>
              <a:ext cx="1579018" cy="492443"/>
            </a:xfrm>
            <a:prstGeom prst="rect">
              <a:avLst/>
            </a:prstGeom>
            <a:noFill/>
          </p:spPr>
          <p:txBody>
            <a:bodyPr wrap="square" lIns="0" tIns="0" rIns="0" bIns="0" rtlCol="0">
              <a:spAutoFit/>
            </a:bodyPr>
            <a:lstStyle/>
            <a:p>
              <a:pPr>
                <a:defRPr/>
              </a:pPr>
              <a:r>
                <a:rPr lang="en-US" sz="1600">
                  <a:solidFill>
                    <a:srgbClr val="FFFFFF"/>
                  </a:solidFill>
                  <a:latin typeface="Segoe UI Semibold"/>
                </a:rPr>
                <a:t>Miles of fiber and subsea cable</a:t>
              </a:r>
            </a:p>
          </p:txBody>
        </p:sp>
      </p:grpSp>
      <p:grpSp>
        <p:nvGrpSpPr>
          <p:cNvPr id="22" name="Group 21">
            <a:extLst>
              <a:ext uri="{FF2B5EF4-FFF2-40B4-BE49-F238E27FC236}">
                <a16:creationId xmlns:a16="http://schemas.microsoft.com/office/drawing/2014/main" id="{9F41DB8A-7D1E-4F92-AF6B-CC2D062BBF04}"/>
              </a:ext>
            </a:extLst>
          </p:cNvPr>
          <p:cNvGrpSpPr/>
          <p:nvPr/>
        </p:nvGrpSpPr>
        <p:grpSpPr>
          <a:xfrm>
            <a:off x="6739709" y="5545591"/>
            <a:ext cx="1630037" cy="615553"/>
            <a:chOff x="6894836" y="5737423"/>
            <a:chExt cx="1630039" cy="615553"/>
          </a:xfrm>
        </p:grpSpPr>
        <p:sp>
          <p:nvSpPr>
            <p:cNvPr id="16" name="TextBox 15">
              <a:extLst>
                <a:ext uri="{FF2B5EF4-FFF2-40B4-BE49-F238E27FC236}">
                  <a16:creationId xmlns:a16="http://schemas.microsoft.com/office/drawing/2014/main" id="{BD0ADDAA-FE8A-4CB6-B451-8042152A3AC9}"/>
                </a:ext>
              </a:extLst>
            </p:cNvPr>
            <p:cNvSpPr txBox="1"/>
            <p:nvPr/>
          </p:nvSpPr>
          <p:spPr>
            <a:xfrm>
              <a:off x="6894836" y="5737423"/>
              <a:ext cx="992260" cy="615553"/>
            </a:xfrm>
            <a:prstGeom prst="rect">
              <a:avLst/>
            </a:prstGeom>
            <a:noFill/>
          </p:spPr>
          <p:txBody>
            <a:bodyPr wrap="none" lIns="0" tIns="0" rIns="0" bIns="0" rtlCol="0">
              <a:spAutoFit/>
            </a:bodyPr>
            <a:lstStyle/>
            <a:p>
              <a:pPr algn="r">
                <a:defRPr/>
              </a:pPr>
              <a:r>
                <a:rPr lang="en-US" sz="400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160</a:t>
              </a:r>
              <a:r>
                <a:rPr lang="en-US" sz="240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a:t>
              </a:r>
            </a:p>
          </p:txBody>
        </p:sp>
        <p:sp>
          <p:nvSpPr>
            <p:cNvPr id="17" name="TextBox 16">
              <a:extLst>
                <a:ext uri="{FF2B5EF4-FFF2-40B4-BE49-F238E27FC236}">
                  <a16:creationId xmlns:a16="http://schemas.microsoft.com/office/drawing/2014/main" id="{A91FB960-6089-463A-BA59-2CC7BA8C824A}"/>
                </a:ext>
              </a:extLst>
            </p:cNvPr>
            <p:cNvSpPr txBox="1"/>
            <p:nvPr/>
          </p:nvSpPr>
          <p:spPr>
            <a:xfrm>
              <a:off x="8030802" y="5798978"/>
              <a:ext cx="494073" cy="492443"/>
            </a:xfrm>
            <a:prstGeom prst="rect">
              <a:avLst/>
            </a:prstGeom>
            <a:noFill/>
          </p:spPr>
          <p:txBody>
            <a:bodyPr wrap="square" lIns="0" tIns="0" rIns="0" bIns="0" rtlCol="0">
              <a:spAutoFit/>
            </a:bodyPr>
            <a:lstStyle/>
            <a:p>
              <a:pPr>
                <a:defRPr/>
              </a:pPr>
              <a:r>
                <a:rPr lang="en-US" sz="1600">
                  <a:solidFill>
                    <a:srgbClr val="FFFFFF"/>
                  </a:solidFill>
                  <a:latin typeface="Segoe UI Semibold"/>
                </a:rPr>
                <a:t>Edge</a:t>
              </a:r>
              <a:br>
                <a:rPr lang="en-US" sz="1600">
                  <a:solidFill>
                    <a:srgbClr val="FFFFFF"/>
                  </a:solidFill>
                  <a:latin typeface="Segoe UI Semibold"/>
                </a:rPr>
              </a:br>
              <a:r>
                <a:rPr lang="en-US" sz="1600">
                  <a:solidFill>
                    <a:srgbClr val="FFFFFF"/>
                  </a:solidFill>
                  <a:latin typeface="Segoe UI Semibold"/>
                </a:rPr>
                <a:t>sites</a:t>
              </a:r>
            </a:p>
          </p:txBody>
        </p:sp>
      </p:grpSp>
      <p:grpSp>
        <p:nvGrpSpPr>
          <p:cNvPr id="23" name="Group 22">
            <a:extLst>
              <a:ext uri="{FF2B5EF4-FFF2-40B4-BE49-F238E27FC236}">
                <a16:creationId xmlns:a16="http://schemas.microsoft.com/office/drawing/2014/main" id="{09E616F6-0607-4DAB-A750-0362F73215FD}"/>
              </a:ext>
            </a:extLst>
          </p:cNvPr>
          <p:cNvGrpSpPr/>
          <p:nvPr/>
        </p:nvGrpSpPr>
        <p:grpSpPr>
          <a:xfrm>
            <a:off x="9164224" y="5545592"/>
            <a:ext cx="2504128" cy="615553"/>
            <a:chOff x="9370596" y="5737423"/>
            <a:chExt cx="2504127" cy="615553"/>
          </a:xfrm>
        </p:grpSpPr>
        <p:sp>
          <p:nvSpPr>
            <p:cNvPr id="18" name="TextBox 17">
              <a:extLst>
                <a:ext uri="{FF2B5EF4-FFF2-40B4-BE49-F238E27FC236}">
                  <a16:creationId xmlns:a16="http://schemas.microsoft.com/office/drawing/2014/main" id="{8B29B332-A7BB-4547-B641-A73643CB6902}"/>
                </a:ext>
              </a:extLst>
            </p:cNvPr>
            <p:cNvSpPr txBox="1"/>
            <p:nvPr/>
          </p:nvSpPr>
          <p:spPr>
            <a:xfrm>
              <a:off x="9370596" y="5737423"/>
              <a:ext cx="1069202" cy="615553"/>
            </a:xfrm>
            <a:prstGeom prst="rect">
              <a:avLst/>
            </a:prstGeom>
            <a:noFill/>
          </p:spPr>
          <p:txBody>
            <a:bodyPr wrap="none" lIns="0" tIns="0" rIns="0" bIns="0" rtlCol="0">
              <a:spAutoFit/>
            </a:bodyPr>
            <a:lstStyle/>
            <a:p>
              <a:pPr algn="r">
                <a:defRPr/>
              </a:pPr>
              <a:r>
                <a:rPr lang="en-US" sz="400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200</a:t>
              </a:r>
              <a:r>
                <a:rPr lang="en-US" sz="2400">
                  <a:gradFill flip="none" rotWithShape="1">
                    <a:gsLst>
                      <a:gs pos="95000">
                        <a:srgbClr val="0078D4"/>
                      </a:gs>
                      <a:gs pos="0">
                        <a:srgbClr val="50E6FF"/>
                      </a:gs>
                    </a:gsLst>
                    <a:lin ang="18900000" scaled="1"/>
                    <a:tileRect/>
                  </a:gradFill>
                  <a:latin typeface="Segoe UI Semibold"/>
                  <a:ea typeface="MS PGothic" panose="020B0600070205080204" pitchFamily="34" charset="-128"/>
                  <a:cs typeface="Segoe UI Semibold" panose="020B0702040204020203" pitchFamily="34" charset="0"/>
                </a:rPr>
                <a:t>+</a:t>
              </a:r>
            </a:p>
          </p:txBody>
        </p:sp>
        <p:sp>
          <p:nvSpPr>
            <p:cNvPr id="19" name="TextBox 18">
              <a:extLst>
                <a:ext uri="{FF2B5EF4-FFF2-40B4-BE49-F238E27FC236}">
                  <a16:creationId xmlns:a16="http://schemas.microsoft.com/office/drawing/2014/main" id="{7B70E22A-EBBF-4042-89E2-620E8EE94CB7}"/>
                </a:ext>
              </a:extLst>
            </p:cNvPr>
            <p:cNvSpPr txBox="1"/>
            <p:nvPr/>
          </p:nvSpPr>
          <p:spPr>
            <a:xfrm>
              <a:off x="10583501" y="5798978"/>
              <a:ext cx="1291222" cy="492443"/>
            </a:xfrm>
            <a:prstGeom prst="rect">
              <a:avLst/>
            </a:prstGeom>
            <a:noFill/>
          </p:spPr>
          <p:txBody>
            <a:bodyPr wrap="square" lIns="0" tIns="0" rIns="0" bIns="0" rtlCol="0">
              <a:spAutoFit/>
            </a:bodyPr>
            <a:lstStyle/>
            <a:p>
              <a:pPr>
                <a:defRPr/>
              </a:pPr>
              <a:r>
                <a:rPr lang="en-US" sz="1600" dirty="0">
                  <a:solidFill>
                    <a:srgbClr val="FFFFFF"/>
                  </a:solidFill>
                  <a:latin typeface="Segoe UI Semibold"/>
                </a:rPr>
                <a:t>ExpressRoute</a:t>
              </a:r>
              <a:br>
                <a:rPr lang="en-US" sz="1600" dirty="0">
                  <a:solidFill>
                    <a:srgbClr val="FFFFFF"/>
                  </a:solidFill>
                  <a:latin typeface="Segoe UI Semibold"/>
                </a:rPr>
              </a:br>
              <a:r>
                <a:rPr lang="en-US" sz="1600" dirty="0">
                  <a:solidFill>
                    <a:srgbClr val="FFFFFF"/>
                  </a:solidFill>
                  <a:latin typeface="Segoe UI Semibold"/>
                </a:rPr>
                <a:t>partners</a:t>
              </a:r>
            </a:p>
          </p:txBody>
        </p:sp>
      </p:grpSp>
      <p:grpSp>
        <p:nvGrpSpPr>
          <p:cNvPr id="228" name="Group 227">
            <a:extLst>
              <a:ext uri="{FF2B5EF4-FFF2-40B4-BE49-F238E27FC236}">
                <a16:creationId xmlns:a16="http://schemas.microsoft.com/office/drawing/2014/main" id="{D8C5E967-ECC9-4DFD-AD7D-8C042F93B5B2}"/>
              </a:ext>
            </a:extLst>
          </p:cNvPr>
          <p:cNvGrpSpPr/>
          <p:nvPr/>
        </p:nvGrpSpPr>
        <p:grpSpPr>
          <a:xfrm>
            <a:off x="588263" y="3596349"/>
            <a:ext cx="1555028" cy="1334936"/>
            <a:chOff x="588263" y="3455966"/>
            <a:chExt cx="1555028" cy="1334934"/>
          </a:xfrm>
        </p:grpSpPr>
        <p:grpSp>
          <p:nvGrpSpPr>
            <p:cNvPr id="224" name="Group 223">
              <a:extLst>
                <a:ext uri="{FF2B5EF4-FFF2-40B4-BE49-F238E27FC236}">
                  <a16:creationId xmlns:a16="http://schemas.microsoft.com/office/drawing/2014/main" id="{7B3A5BDA-B497-4336-9BD0-6756726581BF}"/>
                </a:ext>
              </a:extLst>
            </p:cNvPr>
            <p:cNvGrpSpPr/>
            <p:nvPr/>
          </p:nvGrpSpPr>
          <p:grpSpPr>
            <a:xfrm>
              <a:off x="642745" y="4369699"/>
              <a:ext cx="1321865" cy="123111"/>
              <a:chOff x="642745" y="4369699"/>
              <a:chExt cx="1321865" cy="123111"/>
            </a:xfrm>
          </p:grpSpPr>
          <p:sp>
            <p:nvSpPr>
              <p:cNvPr id="215" name="TextBox 214">
                <a:extLst>
                  <a:ext uri="{FF2B5EF4-FFF2-40B4-BE49-F238E27FC236}">
                    <a16:creationId xmlns:a16="http://schemas.microsoft.com/office/drawing/2014/main" id="{984F1FE2-596A-4403-91BC-72B38D2F66FC}"/>
                  </a:ext>
                </a:extLst>
              </p:cNvPr>
              <p:cNvSpPr txBox="1"/>
              <p:nvPr/>
            </p:nvSpPr>
            <p:spPr>
              <a:xfrm>
                <a:off x="883166" y="4369699"/>
                <a:ext cx="1081444" cy="123111"/>
              </a:xfrm>
              <a:prstGeom prst="rect">
                <a:avLst/>
              </a:prstGeom>
              <a:noFill/>
            </p:spPr>
            <p:txBody>
              <a:bodyPr wrap="square" lIns="0" tIns="0" rIns="0" bIns="0" rtlCol="0">
                <a:spAutoFit/>
              </a:bodyPr>
              <a:lstStyle/>
              <a:p>
                <a:pPr>
                  <a:defRPr/>
                </a:pPr>
                <a:r>
                  <a:rPr lang="en-US" sz="800">
                    <a:solidFill>
                      <a:srgbClr val="FFFFFF"/>
                    </a:solidFill>
                    <a:latin typeface="Segoe UI Semibold"/>
                  </a:rPr>
                  <a:t>Edge sites</a:t>
                </a:r>
              </a:p>
            </p:txBody>
          </p:sp>
          <p:sp>
            <p:nvSpPr>
              <p:cNvPr id="218" name="Freeform: Shape 217">
                <a:extLst>
                  <a:ext uri="{FF2B5EF4-FFF2-40B4-BE49-F238E27FC236}">
                    <a16:creationId xmlns:a16="http://schemas.microsoft.com/office/drawing/2014/main" id="{3D2F6C8A-911F-4349-806F-39EE01A64D0D}"/>
                  </a:ext>
                </a:extLst>
              </p:cNvPr>
              <p:cNvSpPr/>
              <p:nvPr/>
            </p:nvSpPr>
            <p:spPr>
              <a:xfrm>
                <a:off x="642745" y="4431254"/>
                <a:ext cx="34004" cy="22383"/>
              </a:xfrm>
              <a:custGeom>
                <a:avLst/>
                <a:gdLst>
                  <a:gd name="connsiteX0" fmla="*/ 0 w 34004"/>
                  <a:gd name="connsiteY0" fmla="*/ 22384 h 22383"/>
                  <a:gd name="connsiteX1" fmla="*/ 0 w 34004"/>
                  <a:gd name="connsiteY1" fmla="*/ 0 h 22383"/>
                  <a:gd name="connsiteX2" fmla="*/ 34004 w 34004"/>
                  <a:gd name="connsiteY2" fmla="*/ 0 h 22383"/>
                  <a:gd name="connsiteX3" fmla="*/ 34004 w 34004"/>
                  <a:gd name="connsiteY3" fmla="*/ 22384 h 22383"/>
                  <a:gd name="connsiteX4" fmla="*/ 0 w 34004"/>
                  <a:gd name="connsiteY4" fmla="*/ 22384 h 22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04" h="22383">
                    <a:moveTo>
                      <a:pt x="0" y="22384"/>
                    </a:moveTo>
                    <a:lnTo>
                      <a:pt x="0" y="0"/>
                    </a:lnTo>
                    <a:lnTo>
                      <a:pt x="34004" y="0"/>
                    </a:lnTo>
                    <a:lnTo>
                      <a:pt x="34004" y="22384"/>
                    </a:lnTo>
                    <a:lnTo>
                      <a:pt x="0" y="22384"/>
                    </a:lnTo>
                    <a:close/>
                  </a:path>
                </a:pathLst>
              </a:custGeom>
              <a:solidFill>
                <a:srgbClr val="50E6FF"/>
              </a:solidFill>
              <a:ln w="10297" cap="flat">
                <a:solidFill>
                  <a:srgbClr val="50E6FF"/>
                </a:solidFill>
                <a:prstDash val="solid"/>
                <a:miter/>
              </a:ln>
            </p:spPr>
            <p:txBody>
              <a:bodyPr rtlCol="0" anchor="ctr"/>
              <a:lstStyle/>
              <a:p>
                <a:pPr>
                  <a:defRPr/>
                </a:pPr>
                <a:endParaRPr lang="en-US" sz="2400">
                  <a:solidFill>
                    <a:srgbClr val="FFFFFF"/>
                  </a:solidFill>
                  <a:latin typeface="Segoe UI"/>
                </a:endParaRPr>
              </a:p>
            </p:txBody>
          </p:sp>
        </p:grpSp>
        <p:grpSp>
          <p:nvGrpSpPr>
            <p:cNvPr id="226" name="Group 225">
              <a:extLst>
                <a:ext uri="{FF2B5EF4-FFF2-40B4-BE49-F238E27FC236}">
                  <a16:creationId xmlns:a16="http://schemas.microsoft.com/office/drawing/2014/main" id="{54357C97-EFEF-46EE-9BDA-BC3C04E56B49}"/>
                </a:ext>
              </a:extLst>
            </p:cNvPr>
            <p:cNvGrpSpPr/>
            <p:nvPr/>
          </p:nvGrpSpPr>
          <p:grpSpPr>
            <a:xfrm>
              <a:off x="588263" y="3757129"/>
              <a:ext cx="1376347" cy="151447"/>
              <a:chOff x="588263" y="3757129"/>
              <a:chExt cx="1376347" cy="151447"/>
            </a:xfrm>
          </p:grpSpPr>
          <p:sp>
            <p:nvSpPr>
              <p:cNvPr id="213" name="TextBox 212">
                <a:extLst>
                  <a:ext uri="{FF2B5EF4-FFF2-40B4-BE49-F238E27FC236}">
                    <a16:creationId xmlns:a16="http://schemas.microsoft.com/office/drawing/2014/main" id="{671701D4-EB43-4C79-ADD2-458DA1D65F3A}"/>
                  </a:ext>
                </a:extLst>
              </p:cNvPr>
              <p:cNvSpPr txBox="1"/>
              <p:nvPr/>
            </p:nvSpPr>
            <p:spPr>
              <a:xfrm>
                <a:off x="883166" y="3773514"/>
                <a:ext cx="1081444" cy="123111"/>
              </a:xfrm>
              <a:prstGeom prst="rect">
                <a:avLst/>
              </a:prstGeom>
              <a:noFill/>
            </p:spPr>
            <p:txBody>
              <a:bodyPr wrap="square" lIns="0" tIns="0" rIns="0" bIns="0" rtlCol="0">
                <a:spAutoFit/>
              </a:bodyPr>
              <a:lstStyle/>
              <a:p>
                <a:pPr>
                  <a:defRPr/>
                </a:pPr>
                <a:r>
                  <a:rPr lang="en-US" sz="800">
                    <a:solidFill>
                      <a:srgbClr val="FFFFFF"/>
                    </a:solidFill>
                    <a:latin typeface="Segoe UI Semibold"/>
                  </a:rPr>
                  <a:t>Announced region</a:t>
                </a:r>
              </a:p>
            </p:txBody>
          </p:sp>
          <p:sp>
            <p:nvSpPr>
              <p:cNvPr id="219" name="Freeform: Shape 218">
                <a:extLst>
                  <a:ext uri="{FF2B5EF4-FFF2-40B4-BE49-F238E27FC236}">
                    <a16:creationId xmlns:a16="http://schemas.microsoft.com/office/drawing/2014/main" id="{88619D2E-C2A1-4398-92F4-E6BBF9DA474B}"/>
                  </a:ext>
                </a:extLst>
              </p:cNvPr>
              <p:cNvSpPr/>
              <p:nvPr/>
            </p:nvSpPr>
            <p:spPr>
              <a:xfrm>
                <a:off x="588263" y="3757129"/>
                <a:ext cx="152876" cy="151447"/>
              </a:xfrm>
              <a:custGeom>
                <a:avLst/>
                <a:gdLst>
                  <a:gd name="connsiteX0" fmla="*/ 20765 w 152876"/>
                  <a:gd name="connsiteY0" fmla="*/ 76486 h 151447"/>
                  <a:gd name="connsiteX1" fmla="*/ 21908 w 152876"/>
                  <a:gd name="connsiteY1" fmla="*/ 66008 h 151447"/>
                  <a:gd name="connsiteX2" fmla="*/ 1143 w 152876"/>
                  <a:gd name="connsiteY2" fmla="*/ 62103 h 151447"/>
                  <a:gd name="connsiteX3" fmla="*/ 0 w 152876"/>
                  <a:gd name="connsiteY3" fmla="*/ 77629 h 151447"/>
                  <a:gd name="connsiteX4" fmla="*/ 1143 w 152876"/>
                  <a:gd name="connsiteY4" fmla="*/ 93154 h 151447"/>
                  <a:gd name="connsiteX5" fmla="*/ 21908 w 152876"/>
                  <a:gd name="connsiteY5" fmla="*/ 89249 h 151447"/>
                  <a:gd name="connsiteX6" fmla="*/ 20765 w 152876"/>
                  <a:gd name="connsiteY6" fmla="*/ 76295 h 151447"/>
                  <a:gd name="connsiteX7" fmla="*/ 20765 w 152876"/>
                  <a:gd name="connsiteY7" fmla="*/ 76486 h 151447"/>
                  <a:gd name="connsiteX8" fmla="*/ 31052 w 152876"/>
                  <a:gd name="connsiteY8" fmla="*/ 107537 h 151447"/>
                  <a:gd name="connsiteX9" fmla="*/ 12954 w 152876"/>
                  <a:gd name="connsiteY9" fmla="*/ 118015 h 151447"/>
                  <a:gd name="connsiteX10" fmla="*/ 33719 w 152876"/>
                  <a:gd name="connsiteY10" fmla="*/ 138779 h 151447"/>
                  <a:gd name="connsiteX11" fmla="*/ 45339 w 152876"/>
                  <a:gd name="connsiteY11" fmla="*/ 121920 h 151447"/>
                  <a:gd name="connsiteX12" fmla="*/ 31052 w 152876"/>
                  <a:gd name="connsiteY12" fmla="*/ 107632 h 151447"/>
                  <a:gd name="connsiteX13" fmla="*/ 31052 w 152876"/>
                  <a:gd name="connsiteY13" fmla="*/ 107537 h 151447"/>
                  <a:gd name="connsiteX14" fmla="*/ 121825 w 152876"/>
                  <a:gd name="connsiteY14" fmla="*/ 45339 h 151447"/>
                  <a:gd name="connsiteX15" fmla="*/ 138684 w 152876"/>
                  <a:gd name="connsiteY15" fmla="*/ 33718 h 151447"/>
                  <a:gd name="connsiteX16" fmla="*/ 117920 w 152876"/>
                  <a:gd name="connsiteY16" fmla="*/ 12954 h 151447"/>
                  <a:gd name="connsiteX17" fmla="*/ 106299 w 152876"/>
                  <a:gd name="connsiteY17" fmla="*/ 29813 h 151447"/>
                  <a:gd name="connsiteX18" fmla="*/ 121825 w 152876"/>
                  <a:gd name="connsiteY18" fmla="*/ 45339 h 151447"/>
                  <a:gd name="connsiteX19" fmla="*/ 121825 w 152876"/>
                  <a:gd name="connsiteY19" fmla="*/ 45339 h 151447"/>
                  <a:gd name="connsiteX20" fmla="*/ 76391 w 152876"/>
                  <a:gd name="connsiteY20" fmla="*/ 20765 h 151447"/>
                  <a:gd name="connsiteX21" fmla="*/ 86868 w 152876"/>
                  <a:gd name="connsiteY21" fmla="*/ 21907 h 151447"/>
                  <a:gd name="connsiteX22" fmla="*/ 90773 w 152876"/>
                  <a:gd name="connsiteY22" fmla="*/ 1143 h 151447"/>
                  <a:gd name="connsiteX23" fmla="*/ 76486 w 152876"/>
                  <a:gd name="connsiteY23" fmla="*/ 0 h 151447"/>
                  <a:gd name="connsiteX24" fmla="*/ 62198 w 152876"/>
                  <a:gd name="connsiteY24" fmla="*/ 1143 h 151447"/>
                  <a:gd name="connsiteX25" fmla="*/ 66104 w 152876"/>
                  <a:gd name="connsiteY25" fmla="*/ 21907 h 151447"/>
                  <a:gd name="connsiteX26" fmla="*/ 76581 w 152876"/>
                  <a:gd name="connsiteY26" fmla="*/ 20765 h 151447"/>
                  <a:gd name="connsiteX27" fmla="*/ 76391 w 152876"/>
                  <a:gd name="connsiteY27" fmla="*/ 20765 h 151447"/>
                  <a:gd name="connsiteX28" fmla="*/ 132112 w 152876"/>
                  <a:gd name="connsiteY28" fmla="*/ 76486 h 151447"/>
                  <a:gd name="connsiteX29" fmla="*/ 130969 w 152876"/>
                  <a:gd name="connsiteY29" fmla="*/ 86963 h 151447"/>
                  <a:gd name="connsiteX30" fmla="*/ 151733 w 152876"/>
                  <a:gd name="connsiteY30" fmla="*/ 90868 h 151447"/>
                  <a:gd name="connsiteX31" fmla="*/ 152876 w 152876"/>
                  <a:gd name="connsiteY31" fmla="*/ 76581 h 151447"/>
                  <a:gd name="connsiteX32" fmla="*/ 151733 w 152876"/>
                  <a:gd name="connsiteY32" fmla="*/ 62293 h 151447"/>
                  <a:gd name="connsiteX33" fmla="*/ 130969 w 152876"/>
                  <a:gd name="connsiteY33" fmla="*/ 66199 h 151447"/>
                  <a:gd name="connsiteX34" fmla="*/ 132112 w 152876"/>
                  <a:gd name="connsiteY34" fmla="*/ 76676 h 151447"/>
                  <a:gd name="connsiteX35" fmla="*/ 132112 w 152876"/>
                  <a:gd name="connsiteY35" fmla="*/ 76486 h 151447"/>
                  <a:gd name="connsiteX36" fmla="*/ 45339 w 152876"/>
                  <a:gd name="connsiteY36" fmla="*/ 29813 h 151447"/>
                  <a:gd name="connsiteX37" fmla="*/ 34862 w 152876"/>
                  <a:gd name="connsiteY37" fmla="*/ 12954 h 151447"/>
                  <a:gd name="connsiteX38" fmla="*/ 14097 w 152876"/>
                  <a:gd name="connsiteY38" fmla="*/ 33718 h 151447"/>
                  <a:gd name="connsiteX39" fmla="*/ 30956 w 152876"/>
                  <a:gd name="connsiteY39" fmla="*/ 45339 h 151447"/>
                  <a:gd name="connsiteX40" fmla="*/ 45244 w 152876"/>
                  <a:gd name="connsiteY40" fmla="*/ 29813 h 151447"/>
                  <a:gd name="connsiteX41" fmla="*/ 45339 w 152876"/>
                  <a:gd name="connsiteY41" fmla="*/ 29813 h 151447"/>
                  <a:gd name="connsiteX42" fmla="*/ 107537 w 152876"/>
                  <a:gd name="connsiteY42" fmla="*/ 121825 h 151447"/>
                  <a:gd name="connsiteX43" fmla="*/ 119158 w 152876"/>
                  <a:gd name="connsiteY43" fmla="*/ 138684 h 151447"/>
                  <a:gd name="connsiteX44" fmla="*/ 139922 w 152876"/>
                  <a:gd name="connsiteY44" fmla="*/ 117919 h 151447"/>
                  <a:gd name="connsiteX45" fmla="*/ 123063 w 152876"/>
                  <a:gd name="connsiteY45" fmla="*/ 106299 h 151447"/>
                  <a:gd name="connsiteX46" fmla="*/ 107537 w 152876"/>
                  <a:gd name="connsiteY46" fmla="*/ 121825 h 151447"/>
                  <a:gd name="connsiteX47" fmla="*/ 107537 w 152876"/>
                  <a:gd name="connsiteY47" fmla="*/ 121825 h 151447"/>
                  <a:gd name="connsiteX48" fmla="*/ 76391 w 152876"/>
                  <a:gd name="connsiteY48" fmla="*/ 130873 h 151447"/>
                  <a:gd name="connsiteX49" fmla="*/ 65913 w 152876"/>
                  <a:gd name="connsiteY49" fmla="*/ 129540 h 151447"/>
                  <a:gd name="connsiteX50" fmla="*/ 62008 w 152876"/>
                  <a:gd name="connsiteY50" fmla="*/ 150304 h 151447"/>
                  <a:gd name="connsiteX51" fmla="*/ 76295 w 152876"/>
                  <a:gd name="connsiteY51" fmla="*/ 151447 h 151447"/>
                  <a:gd name="connsiteX52" fmla="*/ 91821 w 152876"/>
                  <a:gd name="connsiteY52" fmla="*/ 150304 h 151447"/>
                  <a:gd name="connsiteX53" fmla="*/ 87916 w 152876"/>
                  <a:gd name="connsiteY53" fmla="*/ 129540 h 151447"/>
                  <a:gd name="connsiteX54" fmla="*/ 76295 w 152876"/>
                  <a:gd name="connsiteY54" fmla="*/ 130873 h 151447"/>
                  <a:gd name="connsiteX55" fmla="*/ 76391 w 152876"/>
                  <a:gd name="connsiteY55" fmla="*/ 130873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52876" h="151447">
                    <a:moveTo>
                      <a:pt x="20765" y="76486"/>
                    </a:moveTo>
                    <a:cubicBezTo>
                      <a:pt x="20765" y="72580"/>
                      <a:pt x="20765" y="68675"/>
                      <a:pt x="21908" y="66008"/>
                    </a:cubicBezTo>
                    <a:lnTo>
                      <a:pt x="1143" y="62103"/>
                    </a:lnTo>
                    <a:cubicBezTo>
                      <a:pt x="0" y="67246"/>
                      <a:pt x="0" y="72580"/>
                      <a:pt x="0" y="77629"/>
                    </a:cubicBezTo>
                    <a:cubicBezTo>
                      <a:pt x="0" y="82677"/>
                      <a:pt x="0" y="88106"/>
                      <a:pt x="1143" y="93154"/>
                    </a:cubicBezTo>
                    <a:lnTo>
                      <a:pt x="21908" y="89249"/>
                    </a:lnTo>
                    <a:cubicBezTo>
                      <a:pt x="21908" y="82772"/>
                      <a:pt x="20765" y="80200"/>
                      <a:pt x="20765" y="76295"/>
                    </a:cubicBezTo>
                    <a:lnTo>
                      <a:pt x="20765" y="76486"/>
                    </a:lnTo>
                    <a:close/>
                    <a:moveTo>
                      <a:pt x="31052" y="107537"/>
                    </a:moveTo>
                    <a:lnTo>
                      <a:pt x="12954" y="118015"/>
                    </a:lnTo>
                    <a:cubicBezTo>
                      <a:pt x="18479" y="126206"/>
                      <a:pt x="25527" y="133160"/>
                      <a:pt x="33719" y="138779"/>
                    </a:cubicBezTo>
                    <a:lnTo>
                      <a:pt x="45339" y="121920"/>
                    </a:lnTo>
                    <a:cubicBezTo>
                      <a:pt x="40005" y="117824"/>
                      <a:pt x="35147" y="113062"/>
                      <a:pt x="31052" y="107632"/>
                    </a:cubicBezTo>
                    <a:lnTo>
                      <a:pt x="31052" y="107537"/>
                    </a:lnTo>
                    <a:close/>
                    <a:moveTo>
                      <a:pt x="121825" y="45339"/>
                    </a:moveTo>
                    <a:lnTo>
                      <a:pt x="138684" y="33718"/>
                    </a:lnTo>
                    <a:cubicBezTo>
                      <a:pt x="133160" y="25527"/>
                      <a:pt x="126111" y="18574"/>
                      <a:pt x="117920" y="12954"/>
                    </a:cubicBezTo>
                    <a:lnTo>
                      <a:pt x="106299" y="29813"/>
                    </a:lnTo>
                    <a:cubicBezTo>
                      <a:pt x="112681" y="33623"/>
                      <a:pt x="118015" y="38957"/>
                      <a:pt x="121825" y="45339"/>
                    </a:cubicBezTo>
                    <a:lnTo>
                      <a:pt x="121825" y="45339"/>
                    </a:lnTo>
                    <a:close/>
                    <a:moveTo>
                      <a:pt x="76391" y="20765"/>
                    </a:moveTo>
                    <a:cubicBezTo>
                      <a:pt x="80296" y="20765"/>
                      <a:pt x="84201" y="20765"/>
                      <a:pt x="86868" y="21907"/>
                    </a:cubicBezTo>
                    <a:lnTo>
                      <a:pt x="90773" y="1143"/>
                    </a:lnTo>
                    <a:cubicBezTo>
                      <a:pt x="86868" y="0"/>
                      <a:pt x="81725" y="0"/>
                      <a:pt x="76486" y="0"/>
                    </a:cubicBezTo>
                    <a:cubicBezTo>
                      <a:pt x="71247" y="0"/>
                      <a:pt x="66008" y="0"/>
                      <a:pt x="62198" y="1143"/>
                    </a:cubicBezTo>
                    <a:lnTo>
                      <a:pt x="66104" y="21907"/>
                    </a:lnTo>
                    <a:cubicBezTo>
                      <a:pt x="70009" y="20765"/>
                      <a:pt x="72581" y="20765"/>
                      <a:pt x="76581" y="20765"/>
                    </a:cubicBezTo>
                    <a:lnTo>
                      <a:pt x="76391" y="20765"/>
                    </a:lnTo>
                    <a:close/>
                    <a:moveTo>
                      <a:pt x="132112" y="76486"/>
                    </a:moveTo>
                    <a:cubicBezTo>
                      <a:pt x="132112" y="80391"/>
                      <a:pt x="132112" y="84296"/>
                      <a:pt x="130969" y="86963"/>
                    </a:cubicBezTo>
                    <a:lnTo>
                      <a:pt x="151733" y="90868"/>
                    </a:lnTo>
                    <a:cubicBezTo>
                      <a:pt x="152876" y="85725"/>
                      <a:pt x="152876" y="80391"/>
                      <a:pt x="152876" y="76581"/>
                    </a:cubicBezTo>
                    <a:cubicBezTo>
                      <a:pt x="152876" y="71438"/>
                      <a:pt x="152876" y="66103"/>
                      <a:pt x="151733" y="62293"/>
                    </a:cubicBezTo>
                    <a:lnTo>
                      <a:pt x="130969" y="66199"/>
                    </a:lnTo>
                    <a:cubicBezTo>
                      <a:pt x="130969" y="68770"/>
                      <a:pt x="132112" y="72676"/>
                      <a:pt x="132112" y="76676"/>
                    </a:cubicBezTo>
                    <a:lnTo>
                      <a:pt x="132112" y="76486"/>
                    </a:lnTo>
                    <a:close/>
                    <a:moveTo>
                      <a:pt x="45339" y="29813"/>
                    </a:moveTo>
                    <a:lnTo>
                      <a:pt x="34862" y="12954"/>
                    </a:lnTo>
                    <a:cubicBezTo>
                      <a:pt x="26670" y="18478"/>
                      <a:pt x="19717" y="25527"/>
                      <a:pt x="14097" y="33718"/>
                    </a:cubicBezTo>
                    <a:lnTo>
                      <a:pt x="30956" y="45339"/>
                    </a:lnTo>
                    <a:cubicBezTo>
                      <a:pt x="34671" y="39243"/>
                      <a:pt x="39529" y="34004"/>
                      <a:pt x="45244" y="29813"/>
                    </a:cubicBezTo>
                    <a:lnTo>
                      <a:pt x="45339" y="29813"/>
                    </a:lnTo>
                    <a:close/>
                    <a:moveTo>
                      <a:pt x="107537" y="121825"/>
                    </a:moveTo>
                    <a:lnTo>
                      <a:pt x="119158" y="138684"/>
                    </a:lnTo>
                    <a:cubicBezTo>
                      <a:pt x="127349" y="133160"/>
                      <a:pt x="134303" y="126111"/>
                      <a:pt x="139922" y="117919"/>
                    </a:cubicBezTo>
                    <a:lnTo>
                      <a:pt x="123063" y="106299"/>
                    </a:lnTo>
                    <a:cubicBezTo>
                      <a:pt x="117920" y="112776"/>
                      <a:pt x="112586" y="117919"/>
                      <a:pt x="107537" y="121825"/>
                    </a:cubicBezTo>
                    <a:lnTo>
                      <a:pt x="107537" y="121825"/>
                    </a:lnTo>
                    <a:close/>
                    <a:moveTo>
                      <a:pt x="76391" y="130873"/>
                    </a:moveTo>
                    <a:cubicBezTo>
                      <a:pt x="72485" y="130873"/>
                      <a:pt x="68580" y="130873"/>
                      <a:pt x="65913" y="129540"/>
                    </a:cubicBezTo>
                    <a:lnTo>
                      <a:pt x="62008" y="150304"/>
                    </a:lnTo>
                    <a:cubicBezTo>
                      <a:pt x="67151" y="151447"/>
                      <a:pt x="71057" y="151447"/>
                      <a:pt x="76295" y="151447"/>
                    </a:cubicBezTo>
                    <a:cubicBezTo>
                      <a:pt x="81534" y="151447"/>
                      <a:pt x="86773" y="151447"/>
                      <a:pt x="91821" y="150304"/>
                    </a:cubicBezTo>
                    <a:lnTo>
                      <a:pt x="87916" y="129540"/>
                    </a:lnTo>
                    <a:cubicBezTo>
                      <a:pt x="84011" y="130873"/>
                      <a:pt x="80105" y="130873"/>
                      <a:pt x="76295" y="130873"/>
                    </a:cubicBezTo>
                    <a:lnTo>
                      <a:pt x="76391" y="130873"/>
                    </a:lnTo>
                    <a:close/>
                  </a:path>
                </a:pathLst>
              </a:custGeom>
              <a:solidFill>
                <a:srgbClr val="FFFFFF"/>
              </a:solidFill>
              <a:ln w="9525" cap="flat">
                <a:noFill/>
                <a:prstDash val="solid"/>
                <a:miter/>
              </a:ln>
            </p:spPr>
            <p:txBody>
              <a:bodyPr rtlCol="0" anchor="ctr"/>
              <a:lstStyle/>
              <a:p>
                <a:pPr>
                  <a:defRPr/>
                </a:pPr>
                <a:endParaRPr lang="en-US" sz="2400">
                  <a:solidFill>
                    <a:srgbClr val="FFFFFF"/>
                  </a:solidFill>
                  <a:latin typeface="Segoe UI"/>
                </a:endParaRPr>
              </a:p>
            </p:txBody>
          </p:sp>
        </p:grpSp>
        <p:grpSp>
          <p:nvGrpSpPr>
            <p:cNvPr id="225" name="Group 224">
              <a:extLst>
                <a:ext uri="{FF2B5EF4-FFF2-40B4-BE49-F238E27FC236}">
                  <a16:creationId xmlns:a16="http://schemas.microsoft.com/office/drawing/2014/main" id="{CA345A4B-74B0-4761-BD02-0D3C9DE6F1B9}"/>
                </a:ext>
              </a:extLst>
            </p:cNvPr>
            <p:cNvGrpSpPr/>
            <p:nvPr/>
          </p:nvGrpSpPr>
          <p:grpSpPr>
            <a:xfrm>
              <a:off x="627696" y="4071607"/>
              <a:ext cx="1515595" cy="123111"/>
              <a:chOff x="627696" y="4071607"/>
              <a:chExt cx="1515595" cy="123111"/>
            </a:xfrm>
          </p:grpSpPr>
          <p:sp>
            <p:nvSpPr>
              <p:cNvPr id="214" name="TextBox 213">
                <a:extLst>
                  <a:ext uri="{FF2B5EF4-FFF2-40B4-BE49-F238E27FC236}">
                    <a16:creationId xmlns:a16="http://schemas.microsoft.com/office/drawing/2014/main" id="{B8EC1BE9-73B9-4542-A1CD-F7EC7D6A6C72}"/>
                  </a:ext>
                </a:extLst>
              </p:cNvPr>
              <p:cNvSpPr txBox="1"/>
              <p:nvPr/>
            </p:nvSpPr>
            <p:spPr>
              <a:xfrm>
                <a:off x="883165" y="4071607"/>
                <a:ext cx="1260126" cy="123111"/>
              </a:xfrm>
              <a:prstGeom prst="rect">
                <a:avLst/>
              </a:prstGeom>
              <a:noFill/>
            </p:spPr>
            <p:txBody>
              <a:bodyPr wrap="square" lIns="0" tIns="0" rIns="0" bIns="0" rtlCol="0">
                <a:spAutoFit/>
              </a:bodyPr>
              <a:lstStyle/>
              <a:p>
                <a:pPr>
                  <a:defRPr/>
                </a:pPr>
                <a:r>
                  <a:rPr lang="en-US" sz="800">
                    <a:solidFill>
                      <a:srgbClr val="FFFFFF"/>
                    </a:solidFill>
                    <a:latin typeface="Segoe UI Semibold"/>
                  </a:rPr>
                  <a:t>Availability zones</a:t>
                </a:r>
              </a:p>
            </p:txBody>
          </p:sp>
          <p:sp>
            <p:nvSpPr>
              <p:cNvPr id="220" name="Freeform: Shape 219">
                <a:extLst>
                  <a:ext uri="{FF2B5EF4-FFF2-40B4-BE49-F238E27FC236}">
                    <a16:creationId xmlns:a16="http://schemas.microsoft.com/office/drawing/2014/main" id="{3E064243-66F2-46CE-AF86-16E57516FE86}"/>
                  </a:ext>
                </a:extLst>
              </p:cNvPr>
              <p:cNvSpPr/>
              <p:nvPr/>
            </p:nvSpPr>
            <p:spPr>
              <a:xfrm>
                <a:off x="627696" y="4095253"/>
                <a:ext cx="75819" cy="75818"/>
              </a:xfrm>
              <a:custGeom>
                <a:avLst/>
                <a:gdLst>
                  <a:gd name="connsiteX0" fmla="*/ 37910 w 75819"/>
                  <a:gd name="connsiteY0" fmla="*/ 0 h 75818"/>
                  <a:gd name="connsiteX1" fmla="*/ 75819 w 75819"/>
                  <a:gd name="connsiteY1" fmla="*/ 37909 h 75818"/>
                  <a:gd name="connsiteX2" fmla="*/ 37910 w 75819"/>
                  <a:gd name="connsiteY2" fmla="*/ 75819 h 75818"/>
                  <a:gd name="connsiteX3" fmla="*/ 0 w 75819"/>
                  <a:gd name="connsiteY3" fmla="*/ 37909 h 75818"/>
                  <a:gd name="connsiteX4" fmla="*/ 37910 w 75819"/>
                  <a:gd name="connsiteY4" fmla="*/ 0 h 75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19" h="75818">
                    <a:moveTo>
                      <a:pt x="37910" y="0"/>
                    </a:moveTo>
                    <a:lnTo>
                      <a:pt x="75819" y="37909"/>
                    </a:lnTo>
                    <a:lnTo>
                      <a:pt x="37910" y="75819"/>
                    </a:lnTo>
                    <a:lnTo>
                      <a:pt x="0" y="37909"/>
                    </a:lnTo>
                    <a:lnTo>
                      <a:pt x="37910" y="0"/>
                    </a:lnTo>
                    <a:close/>
                  </a:path>
                </a:pathLst>
              </a:custGeom>
              <a:solidFill>
                <a:srgbClr val="FFFFFF"/>
              </a:solidFill>
              <a:ln w="9525" cap="flat">
                <a:noFill/>
                <a:prstDash val="solid"/>
                <a:miter/>
              </a:ln>
            </p:spPr>
            <p:txBody>
              <a:bodyPr rtlCol="0" anchor="ctr"/>
              <a:lstStyle/>
              <a:p>
                <a:pPr>
                  <a:defRPr/>
                </a:pPr>
                <a:endParaRPr lang="en-US" sz="2400">
                  <a:solidFill>
                    <a:srgbClr val="FFFFFF"/>
                  </a:solidFill>
                  <a:latin typeface="Segoe UI"/>
                </a:endParaRPr>
              </a:p>
            </p:txBody>
          </p:sp>
        </p:grpSp>
        <p:grpSp>
          <p:nvGrpSpPr>
            <p:cNvPr id="227" name="Group 226">
              <a:extLst>
                <a:ext uri="{FF2B5EF4-FFF2-40B4-BE49-F238E27FC236}">
                  <a16:creationId xmlns:a16="http://schemas.microsoft.com/office/drawing/2014/main" id="{2B2F060B-12AD-4770-A531-E8EC192FB184}"/>
                </a:ext>
              </a:extLst>
            </p:cNvPr>
            <p:cNvGrpSpPr/>
            <p:nvPr/>
          </p:nvGrpSpPr>
          <p:grpSpPr>
            <a:xfrm>
              <a:off x="589882" y="3455966"/>
              <a:ext cx="1273068" cy="163068"/>
              <a:chOff x="589882" y="3455966"/>
              <a:chExt cx="1273068" cy="163068"/>
            </a:xfrm>
          </p:grpSpPr>
          <p:sp>
            <p:nvSpPr>
              <p:cNvPr id="212" name="TextBox 211">
                <a:extLst>
                  <a:ext uri="{FF2B5EF4-FFF2-40B4-BE49-F238E27FC236}">
                    <a16:creationId xmlns:a16="http://schemas.microsoft.com/office/drawing/2014/main" id="{009404E8-56CA-461F-B99F-DDF7FD59ED4D}"/>
                  </a:ext>
                </a:extLst>
              </p:cNvPr>
              <p:cNvSpPr txBox="1"/>
              <p:nvPr/>
            </p:nvSpPr>
            <p:spPr>
              <a:xfrm>
                <a:off x="883166" y="3475423"/>
                <a:ext cx="979784" cy="123111"/>
              </a:xfrm>
              <a:prstGeom prst="rect">
                <a:avLst/>
              </a:prstGeom>
              <a:noFill/>
            </p:spPr>
            <p:txBody>
              <a:bodyPr wrap="square" lIns="0" tIns="0" rIns="0" bIns="0" rtlCol="0">
                <a:spAutoFit/>
              </a:bodyPr>
              <a:lstStyle/>
              <a:p>
                <a:pPr>
                  <a:defRPr/>
                </a:pPr>
                <a:r>
                  <a:rPr lang="en-US" sz="800">
                    <a:solidFill>
                      <a:srgbClr val="FFFFFF"/>
                    </a:solidFill>
                    <a:latin typeface="Segoe UI Semibold"/>
                  </a:rPr>
                  <a:t>Available region</a:t>
                </a:r>
              </a:p>
            </p:txBody>
          </p:sp>
          <p:sp>
            <p:nvSpPr>
              <p:cNvPr id="221" name="Freeform: Shape 220">
                <a:extLst>
                  <a:ext uri="{FF2B5EF4-FFF2-40B4-BE49-F238E27FC236}">
                    <a16:creationId xmlns:a16="http://schemas.microsoft.com/office/drawing/2014/main" id="{C547F7BC-9298-443F-A38A-238618A87E62}"/>
                  </a:ext>
                </a:extLst>
              </p:cNvPr>
              <p:cNvSpPr/>
              <p:nvPr/>
            </p:nvSpPr>
            <p:spPr>
              <a:xfrm>
                <a:off x="589882" y="3455966"/>
                <a:ext cx="151447" cy="163068"/>
              </a:xfrm>
              <a:custGeom>
                <a:avLst/>
                <a:gdLst>
                  <a:gd name="connsiteX0" fmla="*/ 75724 w 151447"/>
                  <a:gd name="connsiteY0" fmla="*/ 0 h 163068"/>
                  <a:gd name="connsiteX1" fmla="*/ 75724 w 151447"/>
                  <a:gd name="connsiteY1" fmla="*/ 0 h 163068"/>
                  <a:gd name="connsiteX2" fmla="*/ 151448 w 151447"/>
                  <a:gd name="connsiteY2" fmla="*/ 75724 h 163068"/>
                  <a:gd name="connsiteX3" fmla="*/ 151448 w 151447"/>
                  <a:gd name="connsiteY3" fmla="*/ 87344 h 163068"/>
                  <a:gd name="connsiteX4" fmla="*/ 75724 w 151447"/>
                  <a:gd name="connsiteY4" fmla="*/ 163068 h 163068"/>
                  <a:gd name="connsiteX5" fmla="*/ 75724 w 151447"/>
                  <a:gd name="connsiteY5" fmla="*/ 163068 h 163068"/>
                  <a:gd name="connsiteX6" fmla="*/ 0 w 151447"/>
                  <a:gd name="connsiteY6" fmla="*/ 87344 h 163068"/>
                  <a:gd name="connsiteX7" fmla="*/ 0 w 151447"/>
                  <a:gd name="connsiteY7" fmla="*/ 75724 h 163068"/>
                  <a:gd name="connsiteX8" fmla="*/ 75724 w 151447"/>
                  <a:gd name="connsiteY8" fmla="*/ 0 h 16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447" h="163068">
                    <a:moveTo>
                      <a:pt x="75724" y="0"/>
                    </a:moveTo>
                    <a:lnTo>
                      <a:pt x="75724" y="0"/>
                    </a:lnTo>
                    <a:cubicBezTo>
                      <a:pt x="117539" y="0"/>
                      <a:pt x="151448" y="33909"/>
                      <a:pt x="151448" y="75724"/>
                    </a:cubicBezTo>
                    <a:lnTo>
                      <a:pt x="151448" y="87344"/>
                    </a:lnTo>
                    <a:cubicBezTo>
                      <a:pt x="151448" y="129159"/>
                      <a:pt x="117539" y="163068"/>
                      <a:pt x="75724" y="163068"/>
                    </a:cubicBezTo>
                    <a:lnTo>
                      <a:pt x="75724" y="163068"/>
                    </a:lnTo>
                    <a:cubicBezTo>
                      <a:pt x="33909" y="163068"/>
                      <a:pt x="0" y="129159"/>
                      <a:pt x="0" y="87344"/>
                    </a:cubicBezTo>
                    <a:lnTo>
                      <a:pt x="0" y="75724"/>
                    </a:lnTo>
                    <a:cubicBezTo>
                      <a:pt x="0" y="33909"/>
                      <a:pt x="33909" y="0"/>
                      <a:pt x="75724" y="0"/>
                    </a:cubicBezTo>
                    <a:close/>
                  </a:path>
                </a:pathLst>
              </a:custGeom>
              <a:solidFill>
                <a:srgbClr val="0078D4"/>
              </a:solidFill>
              <a:ln w="9525" cap="flat">
                <a:noFill/>
                <a:prstDash val="solid"/>
                <a:miter/>
              </a:ln>
            </p:spPr>
            <p:txBody>
              <a:bodyPr rtlCol="0" anchor="ctr"/>
              <a:lstStyle/>
              <a:p>
                <a:pPr>
                  <a:defRPr/>
                </a:pPr>
                <a:endParaRPr lang="en-US" sz="2400">
                  <a:solidFill>
                    <a:srgbClr val="FFFFFF"/>
                  </a:solidFill>
                  <a:latin typeface="Segoe UI"/>
                </a:endParaRPr>
              </a:p>
            </p:txBody>
          </p:sp>
        </p:grpSp>
        <p:grpSp>
          <p:nvGrpSpPr>
            <p:cNvPr id="223" name="Group 222">
              <a:extLst>
                <a:ext uri="{FF2B5EF4-FFF2-40B4-BE49-F238E27FC236}">
                  <a16:creationId xmlns:a16="http://schemas.microsoft.com/office/drawing/2014/main" id="{3BFDED61-59C0-4FA6-8707-A6A38C3B4F51}"/>
                </a:ext>
              </a:extLst>
            </p:cNvPr>
            <p:cNvGrpSpPr/>
            <p:nvPr/>
          </p:nvGrpSpPr>
          <p:grpSpPr>
            <a:xfrm>
              <a:off x="589882" y="4667789"/>
              <a:ext cx="1374728" cy="123111"/>
              <a:chOff x="589882" y="4667789"/>
              <a:chExt cx="1374728" cy="123111"/>
            </a:xfrm>
          </p:grpSpPr>
          <p:sp>
            <p:nvSpPr>
              <p:cNvPr id="216" name="TextBox 215">
                <a:extLst>
                  <a:ext uri="{FF2B5EF4-FFF2-40B4-BE49-F238E27FC236}">
                    <a16:creationId xmlns:a16="http://schemas.microsoft.com/office/drawing/2014/main" id="{1656E0FF-D129-4FCF-B61B-7AD6D32F80C9}"/>
                  </a:ext>
                </a:extLst>
              </p:cNvPr>
              <p:cNvSpPr txBox="1"/>
              <p:nvPr/>
            </p:nvSpPr>
            <p:spPr>
              <a:xfrm>
                <a:off x="883166" y="4667789"/>
                <a:ext cx="1081444" cy="123111"/>
              </a:xfrm>
              <a:prstGeom prst="rect">
                <a:avLst/>
              </a:prstGeom>
              <a:noFill/>
            </p:spPr>
            <p:txBody>
              <a:bodyPr wrap="square" lIns="0" tIns="0" rIns="0" bIns="0" rtlCol="0">
                <a:spAutoFit/>
              </a:bodyPr>
              <a:lstStyle/>
              <a:p>
                <a:pPr>
                  <a:defRPr/>
                </a:pPr>
                <a:r>
                  <a:rPr lang="en-US" sz="800">
                    <a:solidFill>
                      <a:srgbClr val="FFFFFF"/>
                    </a:solidFill>
                    <a:latin typeface="Segoe UI Semibold"/>
                  </a:rPr>
                  <a:t>WAN links</a:t>
                </a:r>
              </a:p>
            </p:txBody>
          </p:sp>
          <p:sp>
            <p:nvSpPr>
              <p:cNvPr id="222" name="Freeform: Shape 221">
                <a:extLst>
                  <a:ext uri="{FF2B5EF4-FFF2-40B4-BE49-F238E27FC236}">
                    <a16:creationId xmlns:a16="http://schemas.microsoft.com/office/drawing/2014/main" id="{272528B4-B31E-4923-A168-9AE1AF5748A1}"/>
                  </a:ext>
                </a:extLst>
              </p:cNvPr>
              <p:cNvSpPr/>
              <p:nvPr/>
            </p:nvSpPr>
            <p:spPr>
              <a:xfrm>
                <a:off x="589882" y="4729344"/>
                <a:ext cx="151447" cy="9525"/>
              </a:xfrm>
              <a:custGeom>
                <a:avLst/>
                <a:gdLst>
                  <a:gd name="connsiteX0" fmla="*/ 0 w 151447"/>
                  <a:gd name="connsiteY0" fmla="*/ 0 h 9525"/>
                  <a:gd name="connsiteX1" fmla="*/ 151448 w 151447"/>
                  <a:gd name="connsiteY1" fmla="*/ 0 h 9525"/>
                </a:gdLst>
                <a:ahLst/>
                <a:cxnLst>
                  <a:cxn ang="0">
                    <a:pos x="connsiteX0" y="connsiteY0"/>
                  </a:cxn>
                  <a:cxn ang="0">
                    <a:pos x="connsiteX1" y="connsiteY1"/>
                  </a:cxn>
                </a:cxnLst>
                <a:rect l="l" t="t" r="r" b="b"/>
                <a:pathLst>
                  <a:path w="151447" h="9525">
                    <a:moveTo>
                      <a:pt x="0" y="0"/>
                    </a:moveTo>
                    <a:lnTo>
                      <a:pt x="151448" y="0"/>
                    </a:lnTo>
                  </a:path>
                </a:pathLst>
              </a:custGeom>
              <a:noFill/>
              <a:ln w="4763" cap="flat">
                <a:solidFill>
                  <a:srgbClr val="50E6FF"/>
                </a:solidFill>
                <a:prstDash val="solid"/>
                <a:miter/>
              </a:ln>
            </p:spPr>
            <p:txBody>
              <a:bodyPr rtlCol="0" anchor="ctr"/>
              <a:lstStyle/>
              <a:p>
                <a:pPr>
                  <a:defRPr/>
                </a:pPr>
                <a:endParaRPr lang="en-US" sz="2400">
                  <a:solidFill>
                    <a:srgbClr val="FFFFFF"/>
                  </a:solidFill>
                  <a:latin typeface="Segoe UI"/>
                </a:endParaRPr>
              </a:p>
            </p:txBody>
          </p:sp>
        </p:grpSp>
      </p:grpSp>
    </p:spTree>
    <p:extLst>
      <p:ext uri="{BB962C8B-B14F-4D97-AF65-F5344CB8AC3E}">
        <p14:creationId xmlns:p14="http://schemas.microsoft.com/office/powerpoint/2010/main" val="274804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42" presetClass="path" presetSubtype="0" decel="100000" fill="hold" nodeType="withEffect">
                                  <p:stCondLst>
                                    <p:cond delay="100"/>
                                  </p:stCondLst>
                                  <p:childTnLst>
                                    <p:animMotion origin="layout" path="M -1.25E-6 -2.22222E-6 L -1.25E-6 0.01898 " pathEditMode="relative" rAng="0" ptsTypes="AA">
                                      <p:cBhvr>
                                        <p:cTn id="9" dur="700" spd="-100000" fill="hold"/>
                                        <p:tgtEl>
                                          <p:spTgt spid="20"/>
                                        </p:tgtEl>
                                        <p:attrNameLst>
                                          <p:attrName>ppt_x</p:attrName>
                                          <p:attrName>ppt_y</p:attrName>
                                        </p:attrNameLst>
                                      </p:cBhvr>
                                      <p:rCtr x="0" y="949"/>
                                    </p:animMotion>
                                  </p:childTnLst>
                                </p:cTn>
                              </p:par>
                              <p:par>
                                <p:cTn id="10" presetID="10" presetClass="entr" presetSubtype="0" fill="hold" nodeType="withEffect">
                                  <p:stCondLst>
                                    <p:cond delay="20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42" presetClass="path" presetSubtype="0" decel="100000" fill="hold" nodeType="withEffect">
                                  <p:stCondLst>
                                    <p:cond delay="200"/>
                                  </p:stCondLst>
                                  <p:childTnLst>
                                    <p:animMotion origin="layout" path="M 2.08333E-7 -1.48148E-6 L 2.08333E-7 0.01898 " pathEditMode="relative" rAng="0" ptsTypes="AA">
                                      <p:cBhvr>
                                        <p:cTn id="14" dur="700" spd="-100000" fill="hold"/>
                                        <p:tgtEl>
                                          <p:spTgt spid="21"/>
                                        </p:tgtEl>
                                        <p:attrNameLst>
                                          <p:attrName>ppt_x</p:attrName>
                                          <p:attrName>ppt_y</p:attrName>
                                        </p:attrNameLst>
                                      </p:cBhvr>
                                      <p:rCtr x="0" y="949"/>
                                    </p:animMotion>
                                  </p:childTnLst>
                                </p:cTn>
                              </p:par>
                              <p:par>
                                <p:cTn id="15" presetID="10" presetClass="entr" presetSubtype="0" fill="hold" nodeType="withEffect">
                                  <p:stCondLst>
                                    <p:cond delay="30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par>
                                <p:cTn id="18" presetID="42" presetClass="path" presetSubtype="0" decel="100000" fill="hold" nodeType="withEffect">
                                  <p:stCondLst>
                                    <p:cond delay="300"/>
                                  </p:stCondLst>
                                  <p:childTnLst>
                                    <p:animMotion origin="layout" path="M -3.95833E-6 3.33333E-6 L -3.95833E-6 0.01898 " pathEditMode="relative" rAng="0" ptsTypes="AA">
                                      <p:cBhvr>
                                        <p:cTn id="19" dur="700" spd="-100000" fill="hold"/>
                                        <p:tgtEl>
                                          <p:spTgt spid="22"/>
                                        </p:tgtEl>
                                        <p:attrNameLst>
                                          <p:attrName>ppt_x</p:attrName>
                                          <p:attrName>ppt_y</p:attrName>
                                        </p:attrNameLst>
                                      </p:cBhvr>
                                      <p:rCtr x="0" y="949"/>
                                    </p:animMotion>
                                  </p:childTnLst>
                                </p:cTn>
                              </p:par>
                              <p:par>
                                <p:cTn id="20" presetID="10" presetClass="entr" presetSubtype="0" fill="hold" nodeType="withEffect">
                                  <p:stCondLst>
                                    <p:cond delay="40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42" presetClass="path" presetSubtype="0" decel="100000" fill="hold" nodeType="withEffect">
                                  <p:stCondLst>
                                    <p:cond delay="400"/>
                                  </p:stCondLst>
                                  <p:childTnLst>
                                    <p:animMotion origin="layout" path="M -3.125E-6 -1.48148E-6 L -3.125E-6 0.01898 " pathEditMode="relative" rAng="0" ptsTypes="AA">
                                      <p:cBhvr>
                                        <p:cTn id="24" dur="700" spd="-100000" fill="hold"/>
                                        <p:tgtEl>
                                          <p:spTgt spid="23"/>
                                        </p:tgtEl>
                                        <p:attrNameLst>
                                          <p:attrName>ppt_x</p:attrName>
                                          <p:attrName>ppt_y</p:attrName>
                                        </p:attrNameLst>
                                      </p:cBhvr>
                                      <p:rCtr x="0" y="94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651F2-F347-A2A9-E42B-048BB45691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5C2FAB4-9799-9056-9132-F812859B132B}"/>
              </a:ext>
            </a:extLst>
          </p:cNvPr>
          <p:cNvSpPr txBox="1"/>
          <p:nvPr/>
        </p:nvSpPr>
        <p:spPr>
          <a:xfrm>
            <a:off x="304800" y="688703"/>
            <a:ext cx="6096000" cy="523220"/>
          </a:xfrm>
          <a:prstGeom prst="rect">
            <a:avLst/>
          </a:prstGeom>
          <a:noFill/>
        </p:spPr>
        <p:txBody>
          <a:bodyPr wrap="square">
            <a:spAutoFit/>
          </a:bodyPr>
          <a:lstStyle/>
          <a:p>
            <a:r>
              <a:rPr lang="en-CA" sz="2800" b="1" dirty="0"/>
              <a:t>Azure Region Overview</a:t>
            </a:r>
          </a:p>
        </p:txBody>
      </p:sp>
      <p:pic>
        <p:nvPicPr>
          <p:cNvPr id="2" name="Picture 2" descr="Image depicting high availability via asynchronous replication of applications and data across other Azure regions for disaster recovery protection.">
            <a:extLst>
              <a:ext uri="{FF2B5EF4-FFF2-40B4-BE49-F238E27FC236}">
                <a16:creationId xmlns:a16="http://schemas.microsoft.com/office/drawing/2014/main" id="{F02A6C6A-72FF-8633-93EF-9FE74AED9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65640"/>
            <a:ext cx="6295292" cy="37480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5F729C-6BEF-38CF-9943-D5C268DBD703}"/>
              </a:ext>
            </a:extLst>
          </p:cNvPr>
          <p:cNvSpPr txBox="1"/>
          <p:nvPr/>
        </p:nvSpPr>
        <p:spPr>
          <a:xfrm>
            <a:off x="6775938" y="2094637"/>
            <a:ext cx="4829908" cy="2862322"/>
          </a:xfrm>
          <a:prstGeom prst="rect">
            <a:avLst/>
          </a:prstGeom>
          <a:noFill/>
        </p:spPr>
        <p:txBody>
          <a:bodyPr wrap="square">
            <a:spAutoFit/>
          </a:bodyPr>
          <a:lstStyle/>
          <a:p>
            <a:pPr marL="285750" indent="-285750">
              <a:buFont typeface="Arial" panose="020B0604020202020204" pitchFamily="34" charset="0"/>
              <a:buChar char="•"/>
            </a:pPr>
            <a:r>
              <a:rPr lang="en-CA" dirty="0"/>
              <a:t>Every region is contained within a single </a:t>
            </a:r>
            <a:r>
              <a:rPr lang="en-CA" i="1" dirty="0"/>
              <a:t>geography</a:t>
            </a:r>
            <a:r>
              <a:rPr lang="en-CA" dirty="0"/>
              <a:t> that serves as a fixed data residency boundary</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If you have data residency requirements, it's important that you select regions within the required geography</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Each geography has at least one region equipped with availability zones.</a:t>
            </a:r>
            <a:endParaRPr lang="en-US" dirty="0"/>
          </a:p>
        </p:txBody>
      </p:sp>
    </p:spTree>
    <p:extLst>
      <p:ext uri="{BB962C8B-B14F-4D97-AF65-F5344CB8AC3E}">
        <p14:creationId xmlns:p14="http://schemas.microsoft.com/office/powerpoint/2010/main" val="989946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B3AB4-992B-9903-5539-8A54EB2877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808-5C58-A85B-CD0A-8B19B622E335}"/>
              </a:ext>
            </a:extLst>
          </p:cNvPr>
          <p:cNvSpPr txBox="1"/>
          <p:nvPr/>
        </p:nvSpPr>
        <p:spPr>
          <a:xfrm>
            <a:off x="304800" y="688703"/>
            <a:ext cx="6096000" cy="523220"/>
          </a:xfrm>
          <a:prstGeom prst="rect">
            <a:avLst/>
          </a:prstGeom>
          <a:noFill/>
        </p:spPr>
        <p:txBody>
          <a:bodyPr wrap="square">
            <a:spAutoFit/>
          </a:bodyPr>
          <a:lstStyle/>
          <a:p>
            <a:r>
              <a:rPr lang="en-CA" sz="2800" b="1" dirty="0"/>
              <a:t>Factors Related to Region Selection</a:t>
            </a:r>
          </a:p>
        </p:txBody>
      </p:sp>
      <p:graphicFrame>
        <p:nvGraphicFramePr>
          <p:cNvPr id="3" name="Content Placeholder 7">
            <a:extLst>
              <a:ext uri="{FF2B5EF4-FFF2-40B4-BE49-F238E27FC236}">
                <a16:creationId xmlns:a16="http://schemas.microsoft.com/office/drawing/2014/main" id="{7822E4E8-5093-E65E-7BB7-68AEAA191951}"/>
              </a:ext>
            </a:extLst>
          </p:cNvPr>
          <p:cNvGraphicFramePr/>
          <p:nvPr>
            <p:extLst>
              <p:ext uri="{D42A27DB-BD31-4B8C-83A1-F6EECF244321}">
                <p14:modId xmlns:p14="http://schemas.microsoft.com/office/powerpoint/2010/main" val="310207205"/>
              </p:ext>
            </p:extLst>
          </p:nvPr>
        </p:nvGraphicFramePr>
        <p:xfrm>
          <a:off x="210383" y="1375364"/>
          <a:ext cx="8723236" cy="33744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F29288ED-271C-7918-93F3-BE6135CD8257}"/>
              </a:ext>
            </a:extLst>
          </p:cNvPr>
          <p:cNvPicPr>
            <a:picLocks noChangeAspect="1"/>
          </p:cNvPicPr>
          <p:nvPr/>
        </p:nvPicPr>
        <p:blipFill>
          <a:blip r:embed="rId8"/>
          <a:stretch>
            <a:fillRect/>
          </a:stretch>
        </p:blipFill>
        <p:spPr>
          <a:xfrm>
            <a:off x="2745290" y="2947920"/>
            <a:ext cx="1334342" cy="831905"/>
          </a:xfrm>
          <a:prstGeom prst="rect">
            <a:avLst/>
          </a:prstGeom>
        </p:spPr>
      </p:pic>
    </p:spTree>
    <p:extLst>
      <p:ext uri="{BB962C8B-B14F-4D97-AF65-F5344CB8AC3E}">
        <p14:creationId xmlns:p14="http://schemas.microsoft.com/office/powerpoint/2010/main" val="1300815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6E67A-7354-C6A9-36FB-E8A3533FF46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FDAADE-5B1C-6C47-F08D-91BB31E8E361}"/>
              </a:ext>
            </a:extLst>
          </p:cNvPr>
          <p:cNvSpPr txBox="1"/>
          <p:nvPr/>
        </p:nvSpPr>
        <p:spPr>
          <a:xfrm>
            <a:off x="304800" y="688703"/>
            <a:ext cx="6096000" cy="523220"/>
          </a:xfrm>
          <a:prstGeom prst="rect">
            <a:avLst/>
          </a:prstGeom>
          <a:noFill/>
        </p:spPr>
        <p:txBody>
          <a:bodyPr wrap="square">
            <a:spAutoFit/>
          </a:bodyPr>
          <a:lstStyle/>
          <a:p>
            <a:r>
              <a:rPr lang="en-CA" sz="2800" b="1" dirty="0"/>
              <a:t>Azure Resource Organization </a:t>
            </a:r>
          </a:p>
        </p:txBody>
      </p:sp>
      <p:pic>
        <p:nvPicPr>
          <p:cNvPr id="2" name="Content Placeholder 5" descr="A screenshot of a cell phone&#10;&#10;Description automatically generated">
            <a:extLst>
              <a:ext uri="{FF2B5EF4-FFF2-40B4-BE49-F238E27FC236}">
                <a16:creationId xmlns:a16="http://schemas.microsoft.com/office/drawing/2014/main" id="{09F5A6A3-4E33-47E3-6653-5B2CA861B9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749425"/>
            <a:ext cx="7485316" cy="3527425"/>
          </a:xfrm>
          <a:prstGeom prst="rect">
            <a:avLst/>
          </a:prstGeom>
        </p:spPr>
      </p:pic>
    </p:spTree>
    <p:extLst>
      <p:ext uri="{BB962C8B-B14F-4D97-AF65-F5344CB8AC3E}">
        <p14:creationId xmlns:p14="http://schemas.microsoft.com/office/powerpoint/2010/main" val="408434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ABB34-35CF-F082-4E00-9668D7CE6B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FB1040-1B8F-45C8-18EB-B82B6C3A404E}"/>
              </a:ext>
            </a:extLst>
          </p:cNvPr>
          <p:cNvSpPr txBox="1"/>
          <p:nvPr/>
        </p:nvSpPr>
        <p:spPr>
          <a:xfrm>
            <a:off x="304800" y="688703"/>
            <a:ext cx="6096000" cy="523220"/>
          </a:xfrm>
          <a:prstGeom prst="rect">
            <a:avLst/>
          </a:prstGeom>
          <a:noFill/>
        </p:spPr>
        <p:txBody>
          <a:bodyPr wrap="square">
            <a:spAutoFit/>
          </a:bodyPr>
          <a:lstStyle/>
          <a:p>
            <a:r>
              <a:rPr lang="en-CA" sz="2800" b="1" dirty="0"/>
              <a:t>Management Groups</a:t>
            </a:r>
          </a:p>
        </p:txBody>
      </p:sp>
      <p:sp>
        <p:nvSpPr>
          <p:cNvPr id="6" name="TextBox 5">
            <a:extLst>
              <a:ext uri="{FF2B5EF4-FFF2-40B4-BE49-F238E27FC236}">
                <a16:creationId xmlns:a16="http://schemas.microsoft.com/office/drawing/2014/main" id="{07F68E80-4C0B-5C40-AD75-069C752F37C8}"/>
              </a:ext>
            </a:extLst>
          </p:cNvPr>
          <p:cNvSpPr txBox="1"/>
          <p:nvPr/>
        </p:nvSpPr>
        <p:spPr>
          <a:xfrm>
            <a:off x="304800" y="1679139"/>
            <a:ext cx="8557846" cy="3416320"/>
          </a:xfrm>
          <a:prstGeom prst="rect">
            <a:avLst/>
          </a:prstGeom>
          <a:noFill/>
        </p:spPr>
        <p:txBody>
          <a:bodyPr wrap="square">
            <a:spAutoFit/>
          </a:bodyPr>
          <a:lstStyle/>
          <a:p>
            <a:pPr marL="285750" indent="-285750">
              <a:buFont typeface="Arial" panose="020B0604020202020204" pitchFamily="34" charset="0"/>
              <a:buChar char="•"/>
            </a:pPr>
            <a:r>
              <a:rPr lang="en-CA" dirty="0"/>
              <a:t>A Management Group is a container of:</a:t>
            </a:r>
          </a:p>
          <a:p>
            <a:pPr marL="742950" lvl="1" indent="-285750">
              <a:buFont typeface="Arial" panose="020B0604020202020204" pitchFamily="34" charset="0"/>
              <a:buChar char="•"/>
            </a:pPr>
            <a:r>
              <a:rPr lang="en-CA" dirty="0"/>
              <a:t>Other Management Groups, and/or;</a:t>
            </a:r>
          </a:p>
          <a:p>
            <a:pPr marL="742950" lvl="1" indent="-285750">
              <a:buFont typeface="Arial" panose="020B0604020202020204" pitchFamily="34" charset="0"/>
              <a:buChar char="•"/>
            </a:pPr>
            <a:r>
              <a:rPr lang="en-CA" dirty="0"/>
              <a:t>Subscriptions</a:t>
            </a:r>
          </a:p>
          <a:p>
            <a:endParaRPr lang="en-CA" dirty="0"/>
          </a:p>
          <a:p>
            <a:pPr marL="285750" indent="-285750">
              <a:buFont typeface="Arial" panose="020B0604020202020204" pitchFamily="34" charset="0"/>
              <a:buChar char="•"/>
            </a:pPr>
            <a:r>
              <a:rPr lang="en-CA" dirty="0"/>
              <a:t>Analogous to an OU in Active Directory</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Management Groups are used to apply Azure Policy and RBAC to all MG’s and Subscriptions that are contained within them</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There is a root Management Group that is always there</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You can nest MG’s 6 levels deep, and subscriptions sit below the last (6</a:t>
            </a:r>
            <a:r>
              <a:rPr lang="en-CA" baseline="30000" dirty="0"/>
              <a:t>th</a:t>
            </a:r>
            <a:r>
              <a:rPr lang="en-CA" dirty="0"/>
              <a:t>) tier</a:t>
            </a:r>
          </a:p>
        </p:txBody>
      </p:sp>
    </p:spTree>
    <p:extLst>
      <p:ext uri="{BB962C8B-B14F-4D97-AF65-F5344CB8AC3E}">
        <p14:creationId xmlns:p14="http://schemas.microsoft.com/office/powerpoint/2010/main" val="3552570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FEE2B-382B-39D3-44F7-FD884537833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5AC7FD-CC11-8E2A-E9B5-BF184D603CE2}"/>
              </a:ext>
            </a:extLst>
          </p:cNvPr>
          <p:cNvSpPr txBox="1"/>
          <p:nvPr/>
        </p:nvSpPr>
        <p:spPr>
          <a:xfrm>
            <a:off x="304800" y="688703"/>
            <a:ext cx="6096000" cy="523220"/>
          </a:xfrm>
          <a:prstGeom prst="rect">
            <a:avLst/>
          </a:prstGeom>
          <a:noFill/>
        </p:spPr>
        <p:txBody>
          <a:bodyPr wrap="square">
            <a:spAutoFit/>
          </a:bodyPr>
          <a:lstStyle/>
          <a:p>
            <a:r>
              <a:rPr lang="en-CA" sz="2800" b="1" dirty="0"/>
              <a:t>Management Groups Best Practices</a:t>
            </a:r>
          </a:p>
        </p:txBody>
      </p:sp>
      <p:sp>
        <p:nvSpPr>
          <p:cNvPr id="6" name="TextBox 5">
            <a:extLst>
              <a:ext uri="{FF2B5EF4-FFF2-40B4-BE49-F238E27FC236}">
                <a16:creationId xmlns:a16="http://schemas.microsoft.com/office/drawing/2014/main" id="{8571AA84-787C-64CA-AC0B-38C7D39232AC}"/>
              </a:ext>
            </a:extLst>
          </p:cNvPr>
          <p:cNvSpPr txBox="1"/>
          <p:nvPr/>
        </p:nvSpPr>
        <p:spPr>
          <a:xfrm>
            <a:off x="304800" y="1679140"/>
            <a:ext cx="7596554" cy="4856714"/>
          </a:xfrm>
          <a:prstGeom prst="rect">
            <a:avLst/>
          </a:prstGeom>
          <a:noFill/>
        </p:spPr>
        <p:txBody>
          <a:bodyPr wrap="square">
            <a:spAutoFit/>
          </a:bodyPr>
          <a:lstStyle/>
          <a:p>
            <a:pPr marL="336217" indent="-336217" defTabSz="914386">
              <a:spcBef>
                <a:spcPct val="20000"/>
              </a:spcBef>
              <a:buSzPct val="90000"/>
              <a:buFont typeface="Arial" panose="020B0604020202020204" pitchFamily="34" charset="0"/>
              <a:buChar char="•"/>
            </a:pPr>
            <a:r>
              <a:rPr lang="en-US" dirty="0">
                <a:solidFill>
                  <a:srgbClr val="353535"/>
                </a:solidFill>
              </a:rPr>
              <a:t>Design your hierarchy based on the design of your organization; </a:t>
            </a:r>
          </a:p>
          <a:p>
            <a:pPr marL="336217" indent="-336217" defTabSz="914386">
              <a:spcBef>
                <a:spcPct val="20000"/>
              </a:spcBef>
              <a:buSzPct val="90000"/>
            </a:pPr>
            <a:endParaRPr lang="en-US" dirty="0">
              <a:solidFill>
                <a:srgbClr val="353535"/>
              </a:solidFill>
            </a:endParaRPr>
          </a:p>
          <a:p>
            <a:pPr marL="336217" indent="-336217" defTabSz="914386">
              <a:spcBef>
                <a:spcPct val="20000"/>
              </a:spcBef>
              <a:buSzPct val="90000"/>
              <a:buFont typeface="Arial" panose="020B0604020202020204" pitchFamily="34" charset="0"/>
              <a:buChar char="•"/>
            </a:pPr>
            <a:r>
              <a:rPr lang="en-US" dirty="0">
                <a:solidFill>
                  <a:srgbClr val="353535"/>
                </a:solidFill>
              </a:rPr>
              <a:t>The root MG is for global configuration</a:t>
            </a:r>
          </a:p>
          <a:p>
            <a:pPr marL="793427" lvl="1" indent="-336217" defTabSz="914386">
              <a:spcBef>
                <a:spcPct val="20000"/>
              </a:spcBef>
              <a:buSzPct val="90000"/>
              <a:buFont typeface="Arial" panose="020B0604020202020204" pitchFamily="34" charset="0"/>
              <a:buChar char="•"/>
            </a:pPr>
            <a:r>
              <a:rPr lang="en-US" dirty="0">
                <a:solidFill>
                  <a:srgbClr val="353535"/>
                </a:solidFill>
              </a:rPr>
              <a:t>Be careful with MG level assignments as they will cascade through large chunks of your hierarchy</a:t>
            </a:r>
          </a:p>
          <a:p>
            <a:pPr marL="336217" indent="-336217" defTabSz="914386">
              <a:spcBef>
                <a:spcPct val="20000"/>
              </a:spcBef>
              <a:buSzPct val="90000"/>
              <a:buFont typeface="Arial" panose="020B0604020202020204" pitchFamily="34" charset="0"/>
              <a:buChar char="•"/>
            </a:pPr>
            <a:endParaRPr lang="en-US" dirty="0">
              <a:solidFill>
                <a:srgbClr val="353535"/>
              </a:solidFill>
            </a:endParaRPr>
          </a:p>
          <a:p>
            <a:pPr marL="336217" indent="-336217" defTabSz="914386">
              <a:spcBef>
                <a:spcPct val="20000"/>
              </a:spcBef>
              <a:buSzPct val="90000"/>
              <a:buFont typeface="Arial" panose="020B0604020202020204" pitchFamily="34" charset="0"/>
              <a:buChar char="•"/>
            </a:pPr>
            <a:r>
              <a:rPr lang="en-US" dirty="0">
                <a:solidFill>
                  <a:srgbClr val="353535"/>
                </a:solidFill>
              </a:rPr>
              <a:t>Try not to repeat yourself. Assign common policies and RBAC higher up in your hierarchy</a:t>
            </a:r>
          </a:p>
          <a:p>
            <a:pPr marL="336217" indent="-336217" defTabSz="914386">
              <a:spcBef>
                <a:spcPct val="20000"/>
              </a:spcBef>
              <a:buSzPct val="90000"/>
              <a:buFont typeface="Arial" panose="020B0604020202020204" pitchFamily="34" charset="0"/>
              <a:buChar char="•"/>
            </a:pPr>
            <a:endParaRPr lang="en-US" dirty="0">
              <a:solidFill>
                <a:srgbClr val="353535"/>
              </a:solidFill>
            </a:endParaRPr>
          </a:p>
          <a:p>
            <a:pPr marL="336217" indent="-336217" defTabSz="914386">
              <a:spcBef>
                <a:spcPct val="20000"/>
              </a:spcBef>
              <a:buSzPct val="90000"/>
              <a:buFont typeface="Arial" panose="020B0604020202020204" pitchFamily="34" charset="0"/>
              <a:buChar char="•"/>
            </a:pPr>
            <a:r>
              <a:rPr lang="en-US" dirty="0">
                <a:solidFill>
                  <a:srgbClr val="353535"/>
                </a:solidFill>
              </a:rPr>
              <a:t>Built-in RBAC roles for MGs (MG contributor, MG reader)</a:t>
            </a:r>
          </a:p>
          <a:p>
            <a:pPr marL="336217" indent="-336217" defTabSz="914386">
              <a:spcBef>
                <a:spcPct val="20000"/>
              </a:spcBef>
              <a:buSzPct val="90000"/>
              <a:buFont typeface="Arial" panose="020B0604020202020204" pitchFamily="34" charset="0"/>
              <a:buChar char="•"/>
            </a:pPr>
            <a:endParaRPr lang="en-US" dirty="0">
              <a:solidFill>
                <a:srgbClr val="353535"/>
              </a:solidFill>
            </a:endParaRPr>
          </a:p>
          <a:p>
            <a:pPr marL="336217" indent="-336217" defTabSz="914386">
              <a:spcBef>
                <a:spcPct val="20000"/>
              </a:spcBef>
              <a:buSzPct val="90000"/>
              <a:buFont typeface="Arial" panose="020B0604020202020204" pitchFamily="34" charset="0"/>
              <a:buChar char="•"/>
            </a:pPr>
            <a:r>
              <a:rPr lang="en-US" dirty="0">
                <a:solidFill>
                  <a:srgbClr val="353535"/>
                </a:solidFill>
              </a:rPr>
              <a:t>Need subscription owner access to move to another MG</a:t>
            </a:r>
          </a:p>
          <a:p>
            <a:pPr marL="336217" indent="-336217" defTabSz="914386">
              <a:spcBef>
                <a:spcPct val="20000"/>
              </a:spcBef>
              <a:buSzPct val="90000"/>
              <a:buFont typeface="Arial" panose="020B0604020202020204" pitchFamily="34" charset="0"/>
              <a:buChar char="•"/>
            </a:pPr>
            <a:endParaRPr lang="en-US" dirty="0">
              <a:solidFill>
                <a:srgbClr val="353535"/>
              </a:solidFill>
            </a:endParaRPr>
          </a:p>
          <a:p>
            <a:pPr marL="336217" indent="-336217" defTabSz="914386">
              <a:spcBef>
                <a:spcPct val="20000"/>
              </a:spcBef>
              <a:buSzPct val="90000"/>
              <a:buFont typeface="Arial" panose="020B0604020202020204" pitchFamily="34" charset="0"/>
              <a:buChar char="•"/>
            </a:pPr>
            <a:r>
              <a:rPr lang="en-US" dirty="0">
                <a:solidFill>
                  <a:srgbClr val="353535"/>
                </a:solidFill>
              </a:rPr>
              <a:t>Deploy a “company root” MG under the Microsoft MG</a:t>
            </a:r>
          </a:p>
          <a:p>
            <a:endParaRPr lang="en-CA" dirty="0"/>
          </a:p>
        </p:txBody>
      </p:sp>
      <p:pic>
        <p:nvPicPr>
          <p:cNvPr id="3" name="Picture 2" descr="A screenshot of a cell phone&#10;&#10;Description automatically generated">
            <a:extLst>
              <a:ext uri="{FF2B5EF4-FFF2-40B4-BE49-F238E27FC236}">
                <a16:creationId xmlns:a16="http://schemas.microsoft.com/office/drawing/2014/main" id="{0720EAD7-74D6-1F1E-C8F8-3BCE023A3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5833" y="1967585"/>
            <a:ext cx="4482381" cy="1994815"/>
          </a:xfrm>
          <a:prstGeom prst="rect">
            <a:avLst/>
          </a:prstGeom>
        </p:spPr>
      </p:pic>
    </p:spTree>
    <p:extLst>
      <p:ext uri="{BB962C8B-B14F-4D97-AF65-F5344CB8AC3E}">
        <p14:creationId xmlns:p14="http://schemas.microsoft.com/office/powerpoint/2010/main" val="2343438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FAC9F-1710-B5CF-8A41-8E342E58C88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D16B585-1A52-D5CD-9023-643F60961E7E}"/>
              </a:ext>
            </a:extLst>
          </p:cNvPr>
          <p:cNvSpPr txBox="1"/>
          <p:nvPr/>
        </p:nvSpPr>
        <p:spPr>
          <a:xfrm>
            <a:off x="304799" y="337011"/>
            <a:ext cx="9155723" cy="769441"/>
          </a:xfrm>
          <a:prstGeom prst="rect">
            <a:avLst/>
          </a:prstGeom>
          <a:noFill/>
        </p:spPr>
        <p:txBody>
          <a:bodyPr wrap="square">
            <a:spAutoFit/>
          </a:bodyPr>
          <a:lstStyle/>
          <a:p>
            <a:r>
              <a:rPr lang="en-CA" sz="4400" b="1" dirty="0"/>
              <a:t>Subscription | Design considerations</a:t>
            </a:r>
          </a:p>
        </p:txBody>
      </p:sp>
      <p:sp>
        <p:nvSpPr>
          <p:cNvPr id="2" name="TextBox 1">
            <a:extLst>
              <a:ext uri="{FF2B5EF4-FFF2-40B4-BE49-F238E27FC236}">
                <a16:creationId xmlns:a16="http://schemas.microsoft.com/office/drawing/2014/main" id="{D6E3C74C-E3BE-3617-8F87-CFF985DB7A9A}"/>
              </a:ext>
            </a:extLst>
          </p:cNvPr>
          <p:cNvSpPr txBox="1"/>
          <p:nvPr/>
        </p:nvSpPr>
        <p:spPr>
          <a:xfrm>
            <a:off x="304799" y="1284510"/>
            <a:ext cx="11413065" cy="338554"/>
          </a:xfrm>
          <a:prstGeom prst="rect">
            <a:avLst/>
          </a:prstGeom>
          <a:noFill/>
        </p:spPr>
        <p:txBody>
          <a:bodyPr wrap="square" rtlCol="0">
            <a:spAutoFit/>
          </a:bodyPr>
          <a:lstStyle/>
          <a:p>
            <a:pPr algn="ctr" defTabSz="672303">
              <a:defRPr/>
            </a:pPr>
            <a:r>
              <a:rPr lang="en-US" sz="1600" dirty="0"/>
              <a:t>Develop the Subscription, Network, Storage, Availability and Administrative models together in order to have a cohesive approach</a:t>
            </a:r>
          </a:p>
        </p:txBody>
      </p:sp>
      <p:sp>
        <p:nvSpPr>
          <p:cNvPr id="4" name="TextBox 3">
            <a:extLst>
              <a:ext uri="{FF2B5EF4-FFF2-40B4-BE49-F238E27FC236}">
                <a16:creationId xmlns:a16="http://schemas.microsoft.com/office/drawing/2014/main" id="{43BC59C2-6868-BFB6-B334-A286AB3175A9}"/>
              </a:ext>
            </a:extLst>
          </p:cNvPr>
          <p:cNvSpPr txBox="1"/>
          <p:nvPr/>
        </p:nvSpPr>
        <p:spPr>
          <a:xfrm>
            <a:off x="497580" y="1872414"/>
            <a:ext cx="4231669" cy="307777"/>
          </a:xfrm>
          <a:prstGeom prst="rect">
            <a:avLst/>
          </a:prstGeom>
          <a:noFill/>
        </p:spPr>
        <p:txBody>
          <a:bodyPr wrap="square" rtlCol="0">
            <a:spAutoFit/>
          </a:bodyPr>
          <a:lstStyle/>
          <a:p>
            <a:pPr algn="ctr" defTabSz="672303">
              <a:defRPr/>
            </a:pPr>
            <a:r>
              <a:rPr lang="en-US" sz="1400" dirty="0"/>
              <a:t>Service (Process) Design Model</a:t>
            </a:r>
          </a:p>
        </p:txBody>
      </p:sp>
      <p:sp>
        <p:nvSpPr>
          <p:cNvPr id="6" name="TextBox 5">
            <a:extLst>
              <a:ext uri="{FF2B5EF4-FFF2-40B4-BE49-F238E27FC236}">
                <a16:creationId xmlns:a16="http://schemas.microsoft.com/office/drawing/2014/main" id="{C2A5746D-2426-6FBC-C3B3-26373F5B1AF0}"/>
              </a:ext>
            </a:extLst>
          </p:cNvPr>
          <p:cNvSpPr txBox="1"/>
          <p:nvPr/>
        </p:nvSpPr>
        <p:spPr>
          <a:xfrm>
            <a:off x="5099744" y="1880986"/>
            <a:ext cx="4126316" cy="307777"/>
          </a:xfrm>
          <a:prstGeom prst="rect">
            <a:avLst/>
          </a:prstGeom>
          <a:noFill/>
        </p:spPr>
        <p:txBody>
          <a:bodyPr wrap="square" rtlCol="0">
            <a:spAutoFit/>
          </a:bodyPr>
          <a:lstStyle/>
          <a:p>
            <a:pPr algn="ctr" defTabSz="672303">
              <a:defRPr/>
            </a:pPr>
            <a:r>
              <a:rPr lang="en-US" sz="1400" dirty="0"/>
              <a:t>Organizational Unit</a:t>
            </a:r>
            <a:r>
              <a:rPr lang="en-US" sz="993" dirty="0">
                <a:latin typeface="Segoe UI"/>
              </a:rPr>
              <a:t> </a:t>
            </a:r>
            <a:r>
              <a:rPr lang="en-US" sz="1400" dirty="0"/>
              <a:t>Design Model</a:t>
            </a:r>
          </a:p>
        </p:txBody>
      </p:sp>
      <p:pic>
        <p:nvPicPr>
          <p:cNvPr id="8" name="Picture 7">
            <a:extLst>
              <a:ext uri="{FF2B5EF4-FFF2-40B4-BE49-F238E27FC236}">
                <a16:creationId xmlns:a16="http://schemas.microsoft.com/office/drawing/2014/main" id="{1751FC7D-787A-55B7-3EC0-FE54B5E5AAB0}"/>
              </a:ext>
            </a:extLst>
          </p:cNvPr>
          <p:cNvPicPr>
            <a:picLocks noChangeAspect="1"/>
          </p:cNvPicPr>
          <p:nvPr/>
        </p:nvPicPr>
        <p:blipFill>
          <a:blip r:embed="rId3"/>
          <a:stretch>
            <a:fillRect/>
          </a:stretch>
        </p:blipFill>
        <p:spPr>
          <a:xfrm>
            <a:off x="497581" y="2285692"/>
            <a:ext cx="4231669" cy="1983806"/>
          </a:xfrm>
          <a:prstGeom prst="rect">
            <a:avLst/>
          </a:prstGeom>
          <a:ln>
            <a:solidFill>
              <a:srgbClr val="0A5BBA"/>
            </a:solidFill>
          </a:ln>
        </p:spPr>
      </p:pic>
      <p:pic>
        <p:nvPicPr>
          <p:cNvPr id="9" name="Picture 8">
            <a:extLst>
              <a:ext uri="{FF2B5EF4-FFF2-40B4-BE49-F238E27FC236}">
                <a16:creationId xmlns:a16="http://schemas.microsoft.com/office/drawing/2014/main" id="{10438D73-030E-45D2-76DF-DC6835355CB6}"/>
              </a:ext>
            </a:extLst>
          </p:cNvPr>
          <p:cNvPicPr>
            <a:picLocks noChangeAspect="1"/>
          </p:cNvPicPr>
          <p:nvPr/>
        </p:nvPicPr>
        <p:blipFill>
          <a:blip r:embed="rId4"/>
          <a:stretch>
            <a:fillRect/>
          </a:stretch>
        </p:blipFill>
        <p:spPr>
          <a:xfrm>
            <a:off x="5334206" y="2285692"/>
            <a:ext cx="4126316" cy="1983806"/>
          </a:xfrm>
          <a:prstGeom prst="rect">
            <a:avLst/>
          </a:prstGeom>
          <a:ln>
            <a:solidFill>
              <a:srgbClr val="0A5BBA"/>
            </a:solidFill>
          </a:ln>
        </p:spPr>
      </p:pic>
      <p:sp>
        <p:nvSpPr>
          <p:cNvPr id="10" name="TextBox 9">
            <a:extLst>
              <a:ext uri="{FF2B5EF4-FFF2-40B4-BE49-F238E27FC236}">
                <a16:creationId xmlns:a16="http://schemas.microsoft.com/office/drawing/2014/main" id="{B251F878-6ACC-5D38-23EE-C21ADBD1C1AB}"/>
              </a:ext>
            </a:extLst>
          </p:cNvPr>
          <p:cNvSpPr txBox="1"/>
          <p:nvPr/>
        </p:nvSpPr>
        <p:spPr>
          <a:xfrm>
            <a:off x="1125415" y="4357590"/>
            <a:ext cx="7646437" cy="307777"/>
          </a:xfrm>
          <a:prstGeom prst="rect">
            <a:avLst/>
          </a:prstGeom>
          <a:noFill/>
        </p:spPr>
        <p:txBody>
          <a:bodyPr wrap="square" rtlCol="0">
            <a:spAutoFit/>
          </a:bodyPr>
          <a:lstStyle/>
          <a:p>
            <a:pPr algn="ctr" defTabSz="672303">
              <a:defRPr/>
            </a:pPr>
            <a:r>
              <a:rPr lang="en-US" sz="1400" dirty="0"/>
              <a:t>Items to look at when designing the subscription model</a:t>
            </a:r>
          </a:p>
        </p:txBody>
      </p:sp>
      <p:sp>
        <p:nvSpPr>
          <p:cNvPr id="11" name="TextBox 10">
            <a:extLst>
              <a:ext uri="{FF2B5EF4-FFF2-40B4-BE49-F238E27FC236}">
                <a16:creationId xmlns:a16="http://schemas.microsoft.com/office/drawing/2014/main" id="{3AD26FCC-2E5E-9CC5-E729-7886298840EE}"/>
              </a:ext>
            </a:extLst>
          </p:cNvPr>
          <p:cNvSpPr txBox="1"/>
          <p:nvPr/>
        </p:nvSpPr>
        <p:spPr>
          <a:xfrm>
            <a:off x="1828800" y="4690814"/>
            <a:ext cx="3625629" cy="1938992"/>
          </a:xfrm>
          <a:prstGeom prst="rect">
            <a:avLst/>
          </a:prstGeom>
          <a:noFill/>
        </p:spPr>
        <p:txBody>
          <a:bodyPr wrap="square" rtlCol="0">
            <a:spAutoFit/>
          </a:bodyPr>
          <a:lstStyle/>
          <a:p>
            <a:pPr defTabSz="672303">
              <a:defRPr/>
            </a:pPr>
            <a:r>
              <a:rPr lang="en-US" sz="1200" b="1" dirty="0"/>
              <a:t>Business Requirements</a:t>
            </a:r>
          </a:p>
          <a:p>
            <a:pPr marL="210095" indent="-210095" defTabSz="672303">
              <a:buFont typeface="Arial" panose="020B0604020202020204" pitchFamily="34" charset="0"/>
              <a:buChar char="•"/>
              <a:defRPr/>
            </a:pPr>
            <a:r>
              <a:rPr lang="en-US" sz="1200" dirty="0"/>
              <a:t>Accountability </a:t>
            </a:r>
          </a:p>
          <a:p>
            <a:pPr marL="210095" indent="-210095" defTabSz="672303">
              <a:buFont typeface="Arial" panose="020B0604020202020204" pitchFamily="34" charset="0"/>
              <a:buChar char="•"/>
              <a:defRPr/>
            </a:pPr>
            <a:r>
              <a:rPr lang="en-US" sz="1200" dirty="0"/>
              <a:t>Audit/Compliance </a:t>
            </a:r>
          </a:p>
          <a:p>
            <a:pPr marL="210095" indent="-210095" defTabSz="672303">
              <a:buFont typeface="Arial" panose="020B0604020202020204" pitchFamily="34" charset="0"/>
              <a:buChar char="•"/>
              <a:defRPr/>
            </a:pPr>
            <a:r>
              <a:rPr lang="en-US" sz="1200" dirty="0"/>
              <a:t>Performance</a:t>
            </a:r>
          </a:p>
          <a:p>
            <a:pPr marL="210095" indent="-210095" defTabSz="672303">
              <a:buFont typeface="Arial" panose="020B0604020202020204" pitchFamily="34" charset="0"/>
              <a:buChar char="•"/>
              <a:defRPr/>
            </a:pPr>
            <a:r>
              <a:rPr lang="en-US" sz="1200" dirty="0"/>
              <a:t>Availability &amp; Recoverability</a:t>
            </a:r>
          </a:p>
          <a:p>
            <a:pPr marL="210095" indent="-210095" defTabSz="672303">
              <a:buFont typeface="Arial" panose="020B0604020202020204" pitchFamily="34" charset="0"/>
              <a:buChar char="•"/>
              <a:defRPr/>
            </a:pPr>
            <a:endParaRPr lang="en-US" sz="1200" dirty="0"/>
          </a:p>
          <a:p>
            <a:pPr defTabSz="672303">
              <a:defRPr/>
            </a:pPr>
            <a:r>
              <a:rPr lang="en-US" sz="1200" b="1" dirty="0"/>
              <a:t>Technical Requirements</a:t>
            </a:r>
          </a:p>
          <a:p>
            <a:pPr marL="210095" indent="-210095" defTabSz="672303">
              <a:buFont typeface="Arial" panose="020B0604020202020204" pitchFamily="34" charset="0"/>
              <a:buChar char="•"/>
              <a:defRPr/>
            </a:pPr>
            <a:r>
              <a:rPr lang="en-US" sz="1200" dirty="0"/>
              <a:t>Network Connectivity (shared or dedicated)</a:t>
            </a:r>
          </a:p>
          <a:p>
            <a:pPr marL="210095" indent="-210095" defTabSz="672303">
              <a:buFont typeface="Arial" panose="020B0604020202020204" pitchFamily="34" charset="0"/>
              <a:buChar char="•"/>
              <a:defRPr/>
            </a:pPr>
            <a:r>
              <a:rPr lang="en-US" sz="1200" dirty="0"/>
              <a:t>Active directory requirements, clustering, identity, management tools</a:t>
            </a:r>
          </a:p>
        </p:txBody>
      </p:sp>
      <p:sp>
        <p:nvSpPr>
          <p:cNvPr id="12" name="TextBox 11">
            <a:extLst>
              <a:ext uri="{FF2B5EF4-FFF2-40B4-BE49-F238E27FC236}">
                <a16:creationId xmlns:a16="http://schemas.microsoft.com/office/drawing/2014/main" id="{FBFDD277-344B-76AA-2257-C1C506F2211B}"/>
              </a:ext>
            </a:extLst>
          </p:cNvPr>
          <p:cNvSpPr txBox="1"/>
          <p:nvPr/>
        </p:nvSpPr>
        <p:spPr>
          <a:xfrm>
            <a:off x="5899906" y="4768199"/>
            <a:ext cx="4126315" cy="1569660"/>
          </a:xfrm>
          <a:prstGeom prst="rect">
            <a:avLst/>
          </a:prstGeom>
          <a:noFill/>
        </p:spPr>
        <p:txBody>
          <a:bodyPr wrap="square" rtlCol="0">
            <a:spAutoFit/>
          </a:bodyPr>
          <a:lstStyle/>
          <a:p>
            <a:pPr defTabSz="672303">
              <a:defRPr/>
            </a:pPr>
            <a:r>
              <a:rPr lang="en-US" sz="1200" b="1" dirty="0"/>
              <a:t>Security Requirements</a:t>
            </a:r>
          </a:p>
          <a:p>
            <a:pPr marL="210095" indent="-210095" defTabSz="672303">
              <a:buFont typeface="Arial" panose="020B0604020202020204" pitchFamily="34" charset="0"/>
              <a:buChar char="•"/>
              <a:defRPr/>
            </a:pPr>
            <a:r>
              <a:rPr lang="en-US" sz="1200" dirty="0"/>
              <a:t>Who are the subscription administrators</a:t>
            </a:r>
          </a:p>
          <a:p>
            <a:pPr marL="210095" indent="-210095" defTabSz="672303">
              <a:buFont typeface="Arial" panose="020B0604020202020204" pitchFamily="34" charset="0"/>
              <a:buChar char="•"/>
              <a:defRPr/>
            </a:pPr>
            <a:r>
              <a:rPr lang="en-US" sz="1200" dirty="0"/>
              <a:t>Least privilege model</a:t>
            </a:r>
          </a:p>
          <a:p>
            <a:pPr marL="210095" indent="-210095" defTabSz="672303">
              <a:buFont typeface="Arial" panose="020B0604020202020204" pitchFamily="34" charset="0"/>
              <a:buChar char="•"/>
              <a:defRPr/>
            </a:pPr>
            <a:endParaRPr lang="en-US" sz="1200" dirty="0"/>
          </a:p>
          <a:p>
            <a:pPr defTabSz="672303">
              <a:defRPr/>
            </a:pPr>
            <a:r>
              <a:rPr lang="en-US" sz="1200" b="1" dirty="0"/>
              <a:t>Scalability Requirements</a:t>
            </a:r>
          </a:p>
          <a:p>
            <a:pPr marL="210095" indent="-210095" defTabSz="672303">
              <a:buFont typeface="Arial" panose="020B0604020202020204" pitchFamily="34" charset="0"/>
              <a:buChar char="•"/>
              <a:defRPr/>
            </a:pPr>
            <a:r>
              <a:rPr lang="en-US" sz="1200" dirty="0"/>
              <a:t>Growth plans</a:t>
            </a:r>
          </a:p>
          <a:p>
            <a:pPr marL="210095" indent="-210095" defTabSz="672303">
              <a:buFont typeface="Arial" panose="020B0604020202020204" pitchFamily="34" charset="0"/>
              <a:buChar char="•"/>
              <a:defRPr/>
            </a:pPr>
            <a:r>
              <a:rPr lang="en-US" sz="1200" dirty="0"/>
              <a:t>Allocation of limited resources</a:t>
            </a:r>
          </a:p>
          <a:p>
            <a:pPr marL="210095" indent="-210095" defTabSz="672303">
              <a:buFont typeface="Arial" panose="020B0604020202020204" pitchFamily="34" charset="0"/>
              <a:buChar char="•"/>
              <a:defRPr/>
            </a:pPr>
            <a:r>
              <a:rPr lang="en-US" sz="1200" dirty="0"/>
              <a:t>Evolution over time (users, shared access, resource limits)</a:t>
            </a:r>
          </a:p>
        </p:txBody>
      </p:sp>
    </p:spTree>
    <p:extLst>
      <p:ext uri="{BB962C8B-B14F-4D97-AF65-F5344CB8AC3E}">
        <p14:creationId xmlns:p14="http://schemas.microsoft.com/office/powerpoint/2010/main" val="368469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9A156-B80E-F877-65ED-322A5F941D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EAB359-FABC-206F-1874-0D92204163FE}"/>
              </a:ext>
            </a:extLst>
          </p:cNvPr>
          <p:cNvSpPr txBox="1"/>
          <p:nvPr/>
        </p:nvSpPr>
        <p:spPr>
          <a:xfrm>
            <a:off x="304799" y="337011"/>
            <a:ext cx="9155723" cy="769441"/>
          </a:xfrm>
          <a:prstGeom prst="rect">
            <a:avLst/>
          </a:prstGeom>
          <a:noFill/>
        </p:spPr>
        <p:txBody>
          <a:bodyPr wrap="square">
            <a:spAutoFit/>
          </a:bodyPr>
          <a:lstStyle/>
          <a:p>
            <a:r>
              <a:rPr lang="en-CA" sz="4400" b="1" dirty="0"/>
              <a:t>Subscription Democratization </a:t>
            </a:r>
          </a:p>
        </p:txBody>
      </p:sp>
      <p:pic>
        <p:nvPicPr>
          <p:cNvPr id="3" name="Content Placeholder 3">
            <a:extLst>
              <a:ext uri="{FF2B5EF4-FFF2-40B4-BE49-F238E27FC236}">
                <a16:creationId xmlns:a16="http://schemas.microsoft.com/office/drawing/2014/main" id="{6BAFDB56-580F-1C99-67F5-D09E230CD52A}"/>
              </a:ext>
            </a:extLst>
          </p:cNvPr>
          <p:cNvPicPr>
            <a:picLocks noChangeAspect="1"/>
          </p:cNvPicPr>
          <p:nvPr/>
        </p:nvPicPr>
        <p:blipFill rotWithShape="1">
          <a:blip r:embed="rId3"/>
          <a:stretch/>
        </p:blipFill>
        <p:spPr>
          <a:xfrm>
            <a:off x="342901" y="1584325"/>
            <a:ext cx="5588643" cy="2975952"/>
          </a:xfrm>
          <a:prstGeom prst="rect">
            <a:avLst/>
          </a:prstGeom>
          <a:noFill/>
        </p:spPr>
      </p:pic>
      <p:sp>
        <p:nvSpPr>
          <p:cNvPr id="13" name="TextBox 12">
            <a:extLst>
              <a:ext uri="{FF2B5EF4-FFF2-40B4-BE49-F238E27FC236}">
                <a16:creationId xmlns:a16="http://schemas.microsoft.com/office/drawing/2014/main" id="{AA527165-F97B-167B-8DA6-B8E340375D9B}"/>
              </a:ext>
            </a:extLst>
          </p:cNvPr>
          <p:cNvSpPr txBox="1"/>
          <p:nvPr/>
        </p:nvSpPr>
        <p:spPr>
          <a:xfrm>
            <a:off x="6260458" y="2008220"/>
            <a:ext cx="6096000" cy="1200329"/>
          </a:xfrm>
          <a:prstGeom prst="rect">
            <a:avLst/>
          </a:prstGeom>
          <a:noFill/>
        </p:spPr>
        <p:txBody>
          <a:bodyPr wrap="square">
            <a:spAutoFit/>
          </a:bodyPr>
          <a:lstStyle/>
          <a:p>
            <a:r>
              <a:rPr kumimoji="0" lang="en-US" sz="1800" b="0" i="0" u="none" strike="noStrike" kern="1200" cap="none" spc="0" normalizeH="0" baseline="0" noProof="0" dirty="0">
                <a:ln>
                  <a:noFill/>
                </a:ln>
                <a:solidFill>
                  <a:srgbClr val="3A3838"/>
                </a:solidFill>
                <a:effectLst/>
                <a:uLnTx/>
                <a:uFillTx/>
                <a:ea typeface="+mn-ea"/>
                <a:cs typeface="+mn-cs"/>
              </a:rPr>
              <a:t>Subscriptions should be used as a unit of management and scale aligned with business needs and priorities, to support business areas and portfolio owners to accelerate application migrations and new application development</a:t>
            </a:r>
            <a:endParaRPr lang="en-CA" dirty="0"/>
          </a:p>
        </p:txBody>
      </p:sp>
    </p:spTree>
    <p:extLst>
      <p:ext uri="{BB962C8B-B14F-4D97-AF65-F5344CB8AC3E}">
        <p14:creationId xmlns:p14="http://schemas.microsoft.com/office/powerpoint/2010/main" val="130376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C91EC-E030-3D71-B6CE-5871A79060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287D16B-BBAE-696E-0388-E100979D8EB2}"/>
              </a:ext>
            </a:extLst>
          </p:cNvPr>
          <p:cNvSpPr txBox="1"/>
          <p:nvPr/>
        </p:nvSpPr>
        <p:spPr>
          <a:xfrm>
            <a:off x="211015" y="794211"/>
            <a:ext cx="8053753" cy="523220"/>
          </a:xfrm>
          <a:prstGeom prst="rect">
            <a:avLst/>
          </a:prstGeom>
          <a:noFill/>
        </p:spPr>
        <p:txBody>
          <a:bodyPr wrap="square">
            <a:spAutoFit/>
          </a:bodyPr>
          <a:lstStyle/>
          <a:p>
            <a:r>
              <a:rPr lang="en-CA" sz="2800" b="1" dirty="0"/>
              <a:t>What is an Azure Landing Zone?</a:t>
            </a:r>
          </a:p>
        </p:txBody>
      </p:sp>
      <p:sp>
        <p:nvSpPr>
          <p:cNvPr id="3" name="TextBox 2">
            <a:extLst>
              <a:ext uri="{FF2B5EF4-FFF2-40B4-BE49-F238E27FC236}">
                <a16:creationId xmlns:a16="http://schemas.microsoft.com/office/drawing/2014/main" id="{7955072F-F4BB-FE84-D55D-067B875E3F7E}"/>
              </a:ext>
            </a:extLst>
          </p:cNvPr>
          <p:cNvSpPr txBox="1"/>
          <p:nvPr/>
        </p:nvSpPr>
        <p:spPr>
          <a:xfrm>
            <a:off x="211015" y="1850631"/>
            <a:ext cx="10773508" cy="1477328"/>
          </a:xfrm>
          <a:prstGeom prst="rect">
            <a:avLst/>
          </a:prstGeom>
          <a:noFill/>
        </p:spPr>
        <p:txBody>
          <a:bodyPr wrap="square">
            <a:spAutoFit/>
          </a:bodyPr>
          <a:lstStyle/>
          <a:p>
            <a:r>
              <a:rPr lang="en-US" dirty="0"/>
              <a:t>An Azure Landing Zone is a set of guidelines, design principles, and resources that provide a secure, scalable, and well-governed foundation for deploying workloads in Microsoft Azure.</a:t>
            </a:r>
            <a:br>
              <a:rPr lang="en-US" dirty="0"/>
            </a:br>
            <a:endParaRPr lang="en-US" dirty="0"/>
          </a:p>
          <a:p>
            <a:r>
              <a:rPr lang="en-US" dirty="0"/>
              <a:t>It ensures that all Azure environments are built consistently following best practices for security, compliance, networking, and identity.</a:t>
            </a:r>
            <a:endParaRPr lang="en-CA" dirty="0"/>
          </a:p>
        </p:txBody>
      </p:sp>
    </p:spTree>
    <p:extLst>
      <p:ext uri="{BB962C8B-B14F-4D97-AF65-F5344CB8AC3E}">
        <p14:creationId xmlns:p14="http://schemas.microsoft.com/office/powerpoint/2010/main" val="1710920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4109-7171-9CF1-0432-24C600575C5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7D42F4-827B-D7E2-F611-B08F3A547903}"/>
              </a:ext>
            </a:extLst>
          </p:cNvPr>
          <p:cNvSpPr txBox="1"/>
          <p:nvPr/>
        </p:nvSpPr>
        <p:spPr>
          <a:xfrm>
            <a:off x="2637692" y="2716796"/>
            <a:ext cx="8053753" cy="769441"/>
          </a:xfrm>
          <a:prstGeom prst="rect">
            <a:avLst/>
          </a:prstGeom>
          <a:noFill/>
        </p:spPr>
        <p:txBody>
          <a:bodyPr wrap="square">
            <a:spAutoFit/>
          </a:bodyPr>
          <a:lstStyle/>
          <a:p>
            <a:r>
              <a:rPr lang="en-CA" sz="4400" b="1" dirty="0"/>
              <a:t>Azure Landing Zone Architecture</a:t>
            </a:r>
          </a:p>
        </p:txBody>
      </p:sp>
    </p:spTree>
    <p:extLst>
      <p:ext uri="{BB962C8B-B14F-4D97-AF65-F5344CB8AC3E}">
        <p14:creationId xmlns:p14="http://schemas.microsoft.com/office/powerpoint/2010/main" val="2596886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E0CD-2D67-80CC-4BBB-4B11D41BEED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C8E97A5-D12B-2001-0F9A-79E62ADD5FA7}"/>
              </a:ext>
            </a:extLst>
          </p:cNvPr>
          <p:cNvPicPr>
            <a:picLocks noChangeAspect="1"/>
          </p:cNvPicPr>
          <p:nvPr/>
        </p:nvPicPr>
        <p:blipFill>
          <a:blip r:embed="rId3"/>
          <a:stretch>
            <a:fillRect/>
          </a:stretch>
        </p:blipFill>
        <p:spPr>
          <a:xfrm>
            <a:off x="913942" y="-1"/>
            <a:ext cx="9730612" cy="6840979"/>
          </a:xfrm>
          <a:prstGeom prst="rect">
            <a:avLst/>
          </a:prstGeom>
        </p:spPr>
      </p:pic>
    </p:spTree>
    <p:extLst>
      <p:ext uri="{BB962C8B-B14F-4D97-AF65-F5344CB8AC3E}">
        <p14:creationId xmlns:p14="http://schemas.microsoft.com/office/powerpoint/2010/main" val="249274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F8CA-6C7B-66F4-036E-4D42300E14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E135B4-FD66-A398-010D-4225DA09DF13}"/>
              </a:ext>
            </a:extLst>
          </p:cNvPr>
          <p:cNvSpPr txBox="1"/>
          <p:nvPr/>
        </p:nvSpPr>
        <p:spPr>
          <a:xfrm>
            <a:off x="234462" y="219781"/>
            <a:ext cx="8053753" cy="523220"/>
          </a:xfrm>
          <a:prstGeom prst="rect">
            <a:avLst/>
          </a:prstGeom>
          <a:noFill/>
        </p:spPr>
        <p:txBody>
          <a:bodyPr wrap="square">
            <a:spAutoFit/>
          </a:bodyPr>
          <a:lstStyle/>
          <a:p>
            <a:r>
              <a:rPr lang="en-CA" sz="2800" b="1" dirty="0"/>
              <a:t>Enterprise-scale Design Principles</a:t>
            </a:r>
          </a:p>
        </p:txBody>
      </p:sp>
      <p:graphicFrame>
        <p:nvGraphicFramePr>
          <p:cNvPr id="3" name="Content Placeholder 2">
            <a:extLst>
              <a:ext uri="{FF2B5EF4-FFF2-40B4-BE49-F238E27FC236}">
                <a16:creationId xmlns:a16="http://schemas.microsoft.com/office/drawing/2014/main" id="{12E468A8-2425-BDB8-7762-F751204C1482}"/>
              </a:ext>
            </a:extLst>
          </p:cNvPr>
          <p:cNvGraphicFramePr/>
          <p:nvPr>
            <p:extLst>
              <p:ext uri="{D42A27DB-BD31-4B8C-83A1-F6EECF244321}">
                <p14:modId xmlns:p14="http://schemas.microsoft.com/office/powerpoint/2010/main" val="1573500713"/>
              </p:ext>
            </p:extLst>
          </p:nvPr>
        </p:nvGraphicFramePr>
        <p:xfrm>
          <a:off x="7301006" y="1076326"/>
          <a:ext cx="3914775" cy="362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CAF enterprise-scale landing zone architecture">
            <a:extLst>
              <a:ext uri="{FF2B5EF4-FFF2-40B4-BE49-F238E27FC236}">
                <a16:creationId xmlns:a16="http://schemas.microsoft.com/office/drawing/2014/main" id="{0B22EAE9-D7F1-C832-F556-4982F81F458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6727" t="50275" r="15812" b="-6727"/>
          <a:stretch/>
        </p:blipFill>
        <p:spPr bwMode="auto">
          <a:xfrm>
            <a:off x="443152" y="1010961"/>
            <a:ext cx="3557279" cy="32500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40861A6-9EF6-2D1B-13C0-33C527CEBF9D}"/>
              </a:ext>
            </a:extLst>
          </p:cNvPr>
          <p:cNvSpPr txBox="1"/>
          <p:nvPr/>
        </p:nvSpPr>
        <p:spPr>
          <a:xfrm>
            <a:off x="351692" y="4528975"/>
            <a:ext cx="6096000" cy="1200329"/>
          </a:xfrm>
          <a:prstGeom prst="rect">
            <a:avLst/>
          </a:prstGeom>
          <a:noFill/>
        </p:spPr>
        <p:txBody>
          <a:bodyPr wrap="square">
            <a:spAutoFit/>
          </a:bodyPr>
          <a:lstStyle/>
          <a:p>
            <a:pPr marL="0" indent="0">
              <a:buNone/>
            </a:pPr>
            <a:r>
              <a:rPr lang="en-US" sz="1800" dirty="0">
                <a:solidFill>
                  <a:srgbClr val="24292E"/>
                </a:solidFill>
                <a:latin typeface="+mn-lt"/>
              </a:rPr>
              <a:t>Subscriptions are to be used as a unit of management and scale aligned with business needs and priorities, to support business areas and portfolio owners to accelerate application migrations and new application development. </a:t>
            </a:r>
            <a:endParaRPr lang="en-US" dirty="0">
              <a:latin typeface="+mn-lt"/>
            </a:endParaRPr>
          </a:p>
        </p:txBody>
      </p:sp>
    </p:spTree>
    <p:extLst>
      <p:ext uri="{BB962C8B-B14F-4D97-AF65-F5344CB8AC3E}">
        <p14:creationId xmlns:p14="http://schemas.microsoft.com/office/powerpoint/2010/main" val="4291350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77F1F-997E-E40C-5776-A7CB74B192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CFAB90-6CED-B17D-59D2-7AE4E3C3F7DC}"/>
              </a:ext>
            </a:extLst>
          </p:cNvPr>
          <p:cNvSpPr txBox="1"/>
          <p:nvPr/>
        </p:nvSpPr>
        <p:spPr>
          <a:xfrm>
            <a:off x="234462" y="219781"/>
            <a:ext cx="8053753" cy="523220"/>
          </a:xfrm>
          <a:prstGeom prst="rect">
            <a:avLst/>
          </a:prstGeom>
          <a:noFill/>
        </p:spPr>
        <p:txBody>
          <a:bodyPr wrap="square">
            <a:spAutoFit/>
          </a:bodyPr>
          <a:lstStyle/>
          <a:p>
            <a:r>
              <a:rPr lang="en-CA" sz="2800" b="1" dirty="0"/>
              <a:t>Enterprise-scale Design Principles</a:t>
            </a:r>
          </a:p>
        </p:txBody>
      </p:sp>
      <p:graphicFrame>
        <p:nvGraphicFramePr>
          <p:cNvPr id="2" name="Content Placeholder 2">
            <a:extLst>
              <a:ext uri="{FF2B5EF4-FFF2-40B4-BE49-F238E27FC236}">
                <a16:creationId xmlns:a16="http://schemas.microsoft.com/office/drawing/2014/main" id="{7C45740E-011E-8A7D-2E9C-8501E44C312A}"/>
              </a:ext>
            </a:extLst>
          </p:cNvPr>
          <p:cNvGraphicFramePr/>
          <p:nvPr>
            <p:extLst>
              <p:ext uri="{D42A27DB-BD31-4B8C-83A1-F6EECF244321}">
                <p14:modId xmlns:p14="http://schemas.microsoft.com/office/powerpoint/2010/main" val="2691800290"/>
              </p:ext>
            </p:extLst>
          </p:nvPr>
        </p:nvGraphicFramePr>
        <p:xfrm>
          <a:off x="7547189" y="1076326"/>
          <a:ext cx="3914775" cy="362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36E538E3-C9BB-3978-47F2-E50801293C61}"/>
              </a:ext>
            </a:extLst>
          </p:cNvPr>
          <p:cNvSpPr txBox="1"/>
          <p:nvPr/>
        </p:nvSpPr>
        <p:spPr>
          <a:xfrm>
            <a:off x="730036" y="1951672"/>
            <a:ext cx="6096000" cy="1477328"/>
          </a:xfrm>
          <a:prstGeom prst="rect">
            <a:avLst/>
          </a:prstGeom>
          <a:noFill/>
        </p:spPr>
        <p:txBody>
          <a:bodyPr wrap="square">
            <a:spAutoFit/>
          </a:bodyPr>
          <a:lstStyle/>
          <a:p>
            <a:pPr marL="0" indent="0">
              <a:buNone/>
            </a:pPr>
            <a:r>
              <a:rPr lang="en-US" sz="1800" dirty="0">
                <a:solidFill>
                  <a:srgbClr val="24292E"/>
                </a:solidFill>
                <a:latin typeface="+mn-lt"/>
              </a:rPr>
              <a:t>Azure Policy should be used to provide the </a:t>
            </a:r>
            <a:r>
              <a:rPr lang="en-US" sz="1800" b="1" dirty="0">
                <a:solidFill>
                  <a:srgbClr val="24292E"/>
                </a:solidFill>
                <a:latin typeface="+mn-lt"/>
              </a:rPr>
              <a:t>guard-rails</a:t>
            </a:r>
            <a:r>
              <a:rPr lang="en-US" sz="1800" dirty="0">
                <a:solidFill>
                  <a:srgbClr val="24292E"/>
                </a:solidFill>
                <a:latin typeface="+mn-lt"/>
              </a:rPr>
              <a:t> and ensure the continued compliance of the customer platform and applications deployed onto it, whilst also providing application owners sufficient freedom and a secure unhindered path to cloud.</a:t>
            </a:r>
            <a:endParaRPr lang="en-US" sz="3200" dirty="0">
              <a:latin typeface="+mn-lt"/>
            </a:endParaRPr>
          </a:p>
        </p:txBody>
      </p:sp>
    </p:spTree>
    <p:extLst>
      <p:ext uri="{BB962C8B-B14F-4D97-AF65-F5344CB8AC3E}">
        <p14:creationId xmlns:p14="http://schemas.microsoft.com/office/powerpoint/2010/main" val="2098087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ED993-A03D-6E0B-4631-872CE836F6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7457E5-5D92-74EE-FD22-73501A02E49F}"/>
              </a:ext>
            </a:extLst>
          </p:cNvPr>
          <p:cNvSpPr txBox="1"/>
          <p:nvPr/>
        </p:nvSpPr>
        <p:spPr>
          <a:xfrm>
            <a:off x="234462" y="219781"/>
            <a:ext cx="8053753" cy="523220"/>
          </a:xfrm>
          <a:prstGeom prst="rect">
            <a:avLst/>
          </a:prstGeom>
          <a:noFill/>
        </p:spPr>
        <p:txBody>
          <a:bodyPr wrap="square">
            <a:spAutoFit/>
          </a:bodyPr>
          <a:lstStyle/>
          <a:p>
            <a:r>
              <a:rPr lang="en-CA" sz="2800" b="1" dirty="0"/>
              <a:t>Enterprise-scale Design Principles</a:t>
            </a:r>
          </a:p>
        </p:txBody>
      </p:sp>
      <p:graphicFrame>
        <p:nvGraphicFramePr>
          <p:cNvPr id="3" name="Content Placeholder 2">
            <a:extLst>
              <a:ext uri="{FF2B5EF4-FFF2-40B4-BE49-F238E27FC236}">
                <a16:creationId xmlns:a16="http://schemas.microsoft.com/office/drawing/2014/main" id="{09CED17D-7F5F-77E4-02E4-55E51D00DF54}"/>
              </a:ext>
            </a:extLst>
          </p:cNvPr>
          <p:cNvGraphicFramePr/>
          <p:nvPr>
            <p:extLst>
              <p:ext uri="{D42A27DB-BD31-4B8C-83A1-F6EECF244321}">
                <p14:modId xmlns:p14="http://schemas.microsoft.com/office/powerpoint/2010/main" val="1677815689"/>
              </p:ext>
            </p:extLst>
          </p:nvPr>
        </p:nvGraphicFramePr>
        <p:xfrm>
          <a:off x="7500299" y="1076326"/>
          <a:ext cx="3914775" cy="362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513DCF3A-F5E5-90DB-30A4-B1D6DACF235E}"/>
              </a:ext>
            </a:extLst>
          </p:cNvPr>
          <p:cNvSpPr txBox="1"/>
          <p:nvPr/>
        </p:nvSpPr>
        <p:spPr>
          <a:xfrm>
            <a:off x="363416" y="1723293"/>
            <a:ext cx="6532957" cy="1477328"/>
          </a:xfrm>
          <a:prstGeom prst="rect">
            <a:avLst/>
          </a:prstGeom>
          <a:noFill/>
        </p:spPr>
        <p:txBody>
          <a:bodyPr wrap="square">
            <a:spAutoFit/>
          </a:bodyPr>
          <a:lstStyle/>
          <a:p>
            <a:pPr marL="0" indent="0">
              <a:buNone/>
            </a:pPr>
            <a:r>
              <a:rPr lang="en-US" sz="1800" dirty="0">
                <a:solidFill>
                  <a:srgbClr val="24292E"/>
                </a:solidFill>
                <a:latin typeface="+mn-lt"/>
              </a:rPr>
              <a:t>The Enterprise-scale architecture should not consider any abstraction layers such as customer developed portals or tooling and should provide a consistent experience for both </a:t>
            </a:r>
            <a:r>
              <a:rPr lang="en-US" sz="1800" b="1" dirty="0" err="1">
                <a:solidFill>
                  <a:srgbClr val="24292E"/>
                </a:solidFill>
                <a:latin typeface="+mn-lt"/>
              </a:rPr>
              <a:t>AppOps</a:t>
            </a:r>
            <a:r>
              <a:rPr lang="en-US" sz="1800" dirty="0">
                <a:solidFill>
                  <a:srgbClr val="24292E"/>
                </a:solidFill>
                <a:latin typeface="+mn-lt"/>
              </a:rPr>
              <a:t> (centrally managed operation teams) and </a:t>
            </a:r>
            <a:r>
              <a:rPr lang="en-US" sz="1800" b="1" dirty="0">
                <a:solidFill>
                  <a:srgbClr val="24292E"/>
                </a:solidFill>
                <a:latin typeface="+mn-lt"/>
              </a:rPr>
              <a:t>DevOps</a:t>
            </a:r>
            <a:r>
              <a:rPr lang="en-US" sz="1800" dirty="0">
                <a:solidFill>
                  <a:srgbClr val="24292E"/>
                </a:solidFill>
                <a:latin typeface="+mn-lt"/>
              </a:rPr>
              <a:t> (dedicated application operation teams). </a:t>
            </a:r>
          </a:p>
        </p:txBody>
      </p:sp>
    </p:spTree>
    <p:extLst>
      <p:ext uri="{BB962C8B-B14F-4D97-AF65-F5344CB8AC3E}">
        <p14:creationId xmlns:p14="http://schemas.microsoft.com/office/powerpoint/2010/main" val="1510322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03AC-B33D-ACCD-D62E-60A7B30A0A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094134-ADBA-0786-BAF0-11B5559C3086}"/>
              </a:ext>
            </a:extLst>
          </p:cNvPr>
          <p:cNvSpPr txBox="1"/>
          <p:nvPr/>
        </p:nvSpPr>
        <p:spPr>
          <a:xfrm>
            <a:off x="234462" y="219781"/>
            <a:ext cx="8053753" cy="523220"/>
          </a:xfrm>
          <a:prstGeom prst="rect">
            <a:avLst/>
          </a:prstGeom>
          <a:noFill/>
        </p:spPr>
        <p:txBody>
          <a:bodyPr wrap="square">
            <a:spAutoFit/>
          </a:bodyPr>
          <a:lstStyle/>
          <a:p>
            <a:r>
              <a:rPr lang="en-CA" sz="2800" b="1" dirty="0"/>
              <a:t>Enterprise-scale Design Principles</a:t>
            </a:r>
          </a:p>
        </p:txBody>
      </p:sp>
      <p:graphicFrame>
        <p:nvGraphicFramePr>
          <p:cNvPr id="2" name="Content Placeholder 2">
            <a:extLst>
              <a:ext uri="{FF2B5EF4-FFF2-40B4-BE49-F238E27FC236}">
                <a16:creationId xmlns:a16="http://schemas.microsoft.com/office/drawing/2014/main" id="{E0BD01C3-D382-92FA-574B-F5CF6D99696A}"/>
              </a:ext>
            </a:extLst>
          </p:cNvPr>
          <p:cNvGraphicFramePr/>
          <p:nvPr>
            <p:extLst>
              <p:ext uri="{D42A27DB-BD31-4B8C-83A1-F6EECF244321}">
                <p14:modId xmlns:p14="http://schemas.microsoft.com/office/powerpoint/2010/main" val="1531105900"/>
              </p:ext>
            </p:extLst>
          </p:nvPr>
        </p:nvGraphicFramePr>
        <p:xfrm>
          <a:off x="7500299" y="1076326"/>
          <a:ext cx="3914775" cy="362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114059A5-DC27-F6E6-F1E3-47678E75557A}"/>
              </a:ext>
            </a:extLst>
          </p:cNvPr>
          <p:cNvSpPr txBox="1"/>
          <p:nvPr/>
        </p:nvSpPr>
        <p:spPr>
          <a:xfrm>
            <a:off x="539262" y="1951672"/>
            <a:ext cx="6096000" cy="1477328"/>
          </a:xfrm>
          <a:prstGeom prst="rect">
            <a:avLst/>
          </a:prstGeom>
          <a:noFill/>
        </p:spPr>
        <p:txBody>
          <a:bodyPr wrap="square">
            <a:spAutoFit/>
          </a:bodyPr>
          <a:lstStyle/>
          <a:p>
            <a:pPr marL="0" indent="0">
              <a:buNone/>
            </a:pPr>
            <a:r>
              <a:rPr lang="en-US" sz="1800" dirty="0">
                <a:solidFill>
                  <a:srgbClr val="24292E"/>
                </a:solidFill>
                <a:latin typeface="+mn-lt"/>
              </a:rPr>
              <a:t>We should focus on application centric migrations and development rather than a pure infrastructure "lift and shift" migration (i.e. movement of virtual machines) and should not differentiate between old/new applications or IaaS/PaaS applications. </a:t>
            </a:r>
          </a:p>
        </p:txBody>
      </p:sp>
    </p:spTree>
    <p:extLst>
      <p:ext uri="{BB962C8B-B14F-4D97-AF65-F5344CB8AC3E}">
        <p14:creationId xmlns:p14="http://schemas.microsoft.com/office/powerpoint/2010/main" val="835071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E8072-654B-FB7C-3E0C-F1FD54D6731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1CDF037-3486-3778-F103-D136C184F756}"/>
              </a:ext>
            </a:extLst>
          </p:cNvPr>
          <p:cNvSpPr txBox="1"/>
          <p:nvPr/>
        </p:nvSpPr>
        <p:spPr>
          <a:xfrm>
            <a:off x="234462" y="219781"/>
            <a:ext cx="8053753" cy="523220"/>
          </a:xfrm>
          <a:prstGeom prst="rect">
            <a:avLst/>
          </a:prstGeom>
          <a:noFill/>
        </p:spPr>
        <p:txBody>
          <a:bodyPr wrap="square">
            <a:spAutoFit/>
          </a:bodyPr>
          <a:lstStyle/>
          <a:p>
            <a:r>
              <a:rPr lang="en-CA" sz="2800" b="1" dirty="0"/>
              <a:t>Enterprise-scale Design Principles</a:t>
            </a:r>
          </a:p>
        </p:txBody>
      </p:sp>
      <p:graphicFrame>
        <p:nvGraphicFramePr>
          <p:cNvPr id="2" name="Content Placeholder 2">
            <a:extLst>
              <a:ext uri="{FF2B5EF4-FFF2-40B4-BE49-F238E27FC236}">
                <a16:creationId xmlns:a16="http://schemas.microsoft.com/office/drawing/2014/main" id="{6C3FBCCA-F4F2-5893-0A75-28F226C9A6D6}"/>
              </a:ext>
            </a:extLst>
          </p:cNvPr>
          <p:cNvGraphicFramePr/>
          <p:nvPr>
            <p:extLst>
              <p:ext uri="{D42A27DB-BD31-4B8C-83A1-F6EECF244321}">
                <p14:modId xmlns:p14="http://schemas.microsoft.com/office/powerpoint/2010/main" val="662253422"/>
              </p:ext>
            </p:extLst>
          </p:nvPr>
        </p:nvGraphicFramePr>
        <p:xfrm>
          <a:off x="7500299" y="1076326"/>
          <a:ext cx="3914775" cy="362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0E3F0150-F73D-13CD-CE38-80DCB849D0AD}"/>
              </a:ext>
            </a:extLst>
          </p:cNvPr>
          <p:cNvSpPr txBox="1"/>
          <p:nvPr/>
        </p:nvSpPr>
        <p:spPr>
          <a:xfrm>
            <a:off x="539262" y="1951672"/>
            <a:ext cx="6096000" cy="1477328"/>
          </a:xfrm>
          <a:prstGeom prst="rect">
            <a:avLst/>
          </a:prstGeom>
          <a:noFill/>
        </p:spPr>
        <p:txBody>
          <a:bodyPr wrap="square">
            <a:spAutoFit/>
          </a:bodyPr>
          <a:lstStyle/>
          <a:p>
            <a:r>
              <a:rPr lang="en-US" dirty="0">
                <a:solidFill>
                  <a:srgbClr val="24292E"/>
                </a:solidFill>
              </a:rPr>
              <a:t>The </a:t>
            </a:r>
            <a:r>
              <a:rPr lang="en-US" b="1" dirty="0">
                <a:solidFill>
                  <a:srgbClr val="24292E"/>
                </a:solidFill>
              </a:rPr>
              <a:t>Enterprise Scale architecture </a:t>
            </a:r>
            <a:r>
              <a:rPr lang="en-US" dirty="0">
                <a:solidFill>
                  <a:srgbClr val="24292E"/>
                </a:solidFill>
              </a:rPr>
              <a:t>approach advocates the use of native platform services and capabilities whenever possible, which should be aligned with Azure platform roadmaps to ensure new capabilities are made available within customer environments.</a:t>
            </a:r>
          </a:p>
        </p:txBody>
      </p:sp>
    </p:spTree>
    <p:extLst>
      <p:ext uri="{BB962C8B-B14F-4D97-AF65-F5344CB8AC3E}">
        <p14:creationId xmlns:p14="http://schemas.microsoft.com/office/powerpoint/2010/main" val="1228096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A82DD4E-DDB8-49CB-82D1-935E4AADC8F0}"/>
              </a:ext>
            </a:extLst>
          </p:cNvPr>
          <p:cNvSpPr>
            <a:spLocks noGrp="1"/>
          </p:cNvSpPr>
          <p:nvPr>
            <p:ph type="title"/>
          </p:nvPr>
        </p:nvSpPr>
        <p:spPr>
          <a:xfrm>
            <a:off x="838200" y="365125"/>
            <a:ext cx="10075985" cy="572721"/>
          </a:xfrm>
        </p:spPr>
        <p:txBody>
          <a:bodyPr wrap="square" anchor="t">
            <a:normAutofit/>
          </a:bodyPr>
          <a:lstStyle/>
          <a:p>
            <a:pPr algn="ctr"/>
            <a:r>
              <a:rPr lang="en-US" sz="2800" dirty="0">
                <a:solidFill>
                  <a:schemeClr val="accent2"/>
                </a:solidFill>
              </a:rPr>
              <a:t>ALZ for 50</a:t>
            </a:r>
            <a:r>
              <a:rPr lang="en-US" sz="2800" dirty="0">
                <a:solidFill>
                  <a:schemeClr val="accent3"/>
                </a:solidFill>
              </a:rPr>
              <a:t> </a:t>
            </a:r>
            <a:r>
              <a:rPr lang="en-US" sz="2800" dirty="0">
                <a:solidFill>
                  <a:schemeClr val="accent2"/>
                </a:solidFill>
              </a:rPr>
              <a:t>Workloads</a:t>
            </a:r>
          </a:p>
        </p:txBody>
      </p:sp>
      <p:pic>
        <p:nvPicPr>
          <p:cNvPr id="3" name="Picture 2">
            <a:extLst>
              <a:ext uri="{FF2B5EF4-FFF2-40B4-BE49-F238E27FC236}">
                <a16:creationId xmlns:a16="http://schemas.microsoft.com/office/drawing/2014/main" id="{E52D8B1B-74BE-4EEA-A407-31D004B016BB}"/>
              </a:ext>
            </a:extLst>
          </p:cNvPr>
          <p:cNvPicPr>
            <a:picLocks noChangeAspect="1"/>
          </p:cNvPicPr>
          <p:nvPr/>
        </p:nvPicPr>
        <p:blipFill>
          <a:blip r:embed="rId3"/>
          <a:stretch>
            <a:fillRect/>
          </a:stretch>
        </p:blipFill>
        <p:spPr>
          <a:xfrm>
            <a:off x="2247364" y="1066799"/>
            <a:ext cx="7904821" cy="5578701"/>
          </a:xfrm>
          <a:prstGeom prst="rect">
            <a:avLst/>
          </a:prstGeom>
        </p:spPr>
      </p:pic>
    </p:spTree>
    <p:extLst>
      <p:ext uri="{BB962C8B-B14F-4D97-AF65-F5344CB8AC3E}">
        <p14:creationId xmlns:p14="http://schemas.microsoft.com/office/powerpoint/2010/main" val="124930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9BC1-4694-6DF3-1F4B-EA2535425FB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449AF2E-99E9-362B-EEFB-3D2DFD0995A7}"/>
              </a:ext>
            </a:extLst>
          </p:cNvPr>
          <p:cNvSpPr>
            <a:spLocks noGrp="1"/>
          </p:cNvSpPr>
          <p:nvPr>
            <p:ph type="title"/>
          </p:nvPr>
        </p:nvSpPr>
        <p:spPr>
          <a:xfrm>
            <a:off x="838200" y="365125"/>
            <a:ext cx="10075985" cy="572721"/>
          </a:xfrm>
        </p:spPr>
        <p:txBody>
          <a:bodyPr wrap="square" anchor="t">
            <a:normAutofit/>
          </a:bodyPr>
          <a:lstStyle/>
          <a:p>
            <a:pPr algn="ctr"/>
            <a:r>
              <a:rPr lang="en-US" sz="2800" dirty="0">
                <a:solidFill>
                  <a:schemeClr val="accent2"/>
                </a:solidFill>
              </a:rPr>
              <a:t>ALZ for 100</a:t>
            </a:r>
            <a:r>
              <a:rPr lang="en-US" sz="2800" dirty="0">
                <a:solidFill>
                  <a:schemeClr val="accent3"/>
                </a:solidFill>
              </a:rPr>
              <a:t> </a:t>
            </a:r>
            <a:r>
              <a:rPr lang="en-US" sz="2800" dirty="0">
                <a:solidFill>
                  <a:schemeClr val="accent2"/>
                </a:solidFill>
              </a:rPr>
              <a:t>Workloads</a:t>
            </a:r>
          </a:p>
        </p:txBody>
      </p:sp>
      <p:pic>
        <p:nvPicPr>
          <p:cNvPr id="2" name="Picture 1">
            <a:extLst>
              <a:ext uri="{FF2B5EF4-FFF2-40B4-BE49-F238E27FC236}">
                <a16:creationId xmlns:a16="http://schemas.microsoft.com/office/drawing/2014/main" id="{E158CFA8-9252-A50B-9556-830330EBF5DB}"/>
              </a:ext>
            </a:extLst>
          </p:cNvPr>
          <p:cNvPicPr>
            <a:picLocks noChangeAspect="1"/>
          </p:cNvPicPr>
          <p:nvPr/>
        </p:nvPicPr>
        <p:blipFill rotWithShape="1">
          <a:blip r:embed="rId3"/>
          <a:srcRect l="5224"/>
          <a:stretch/>
        </p:blipFill>
        <p:spPr>
          <a:xfrm>
            <a:off x="2032614" y="1421632"/>
            <a:ext cx="7720985" cy="5071243"/>
          </a:xfrm>
          <a:prstGeom prst="rect">
            <a:avLst/>
          </a:prstGeom>
          <a:noFill/>
        </p:spPr>
      </p:pic>
    </p:spTree>
    <p:extLst>
      <p:ext uri="{BB962C8B-B14F-4D97-AF65-F5344CB8AC3E}">
        <p14:creationId xmlns:p14="http://schemas.microsoft.com/office/powerpoint/2010/main" val="12688858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487B2-8554-EDC3-3438-A0DBFC65CFB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3D83D73-D5B4-3D25-47DB-8D757EFCB8C1}"/>
              </a:ext>
            </a:extLst>
          </p:cNvPr>
          <p:cNvSpPr>
            <a:spLocks noGrp="1"/>
          </p:cNvSpPr>
          <p:nvPr>
            <p:ph type="title"/>
          </p:nvPr>
        </p:nvSpPr>
        <p:spPr>
          <a:xfrm>
            <a:off x="838200" y="365125"/>
            <a:ext cx="10075985" cy="572721"/>
          </a:xfrm>
        </p:spPr>
        <p:txBody>
          <a:bodyPr wrap="square" anchor="t">
            <a:normAutofit/>
          </a:bodyPr>
          <a:lstStyle/>
          <a:p>
            <a:pPr algn="ctr"/>
            <a:r>
              <a:rPr lang="en-US" sz="2800" dirty="0">
                <a:solidFill>
                  <a:schemeClr val="accent2"/>
                </a:solidFill>
              </a:rPr>
              <a:t>ALZ for 200</a:t>
            </a:r>
            <a:r>
              <a:rPr lang="en-US" sz="2800" dirty="0">
                <a:solidFill>
                  <a:schemeClr val="accent3"/>
                </a:solidFill>
              </a:rPr>
              <a:t> </a:t>
            </a:r>
            <a:r>
              <a:rPr lang="en-US" sz="2800" dirty="0">
                <a:solidFill>
                  <a:schemeClr val="accent2"/>
                </a:solidFill>
              </a:rPr>
              <a:t>Workloads</a:t>
            </a:r>
          </a:p>
        </p:txBody>
      </p:sp>
      <p:pic>
        <p:nvPicPr>
          <p:cNvPr id="3" name="Picture 2">
            <a:extLst>
              <a:ext uri="{FF2B5EF4-FFF2-40B4-BE49-F238E27FC236}">
                <a16:creationId xmlns:a16="http://schemas.microsoft.com/office/drawing/2014/main" id="{DCE654F1-7839-192C-F6AD-4D89E7B9F1C4}"/>
              </a:ext>
            </a:extLst>
          </p:cNvPr>
          <p:cNvPicPr>
            <a:picLocks noChangeAspect="1"/>
          </p:cNvPicPr>
          <p:nvPr/>
        </p:nvPicPr>
        <p:blipFill>
          <a:blip r:embed="rId3">
            <a:clrChange>
              <a:clrFrom>
                <a:srgbClr val="000000"/>
              </a:clrFrom>
              <a:clrTo>
                <a:srgbClr val="000000">
                  <a:alpha val="0"/>
                </a:srgbClr>
              </a:clrTo>
            </a:clrChange>
          </a:blip>
          <a:stretch>
            <a:fillRect/>
          </a:stretch>
        </p:blipFill>
        <p:spPr>
          <a:xfrm>
            <a:off x="1344316" y="1524000"/>
            <a:ext cx="9335407" cy="4951440"/>
          </a:xfrm>
          <a:prstGeom prst="rect">
            <a:avLst/>
          </a:prstGeom>
        </p:spPr>
      </p:pic>
    </p:spTree>
    <p:extLst>
      <p:ext uri="{BB962C8B-B14F-4D97-AF65-F5344CB8AC3E}">
        <p14:creationId xmlns:p14="http://schemas.microsoft.com/office/powerpoint/2010/main" val="6605580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B6684-F24A-BC24-4E00-C8689185C72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41D7C69-C9C5-1588-B9AA-3886F4C2F0EE}"/>
              </a:ext>
            </a:extLst>
          </p:cNvPr>
          <p:cNvSpPr>
            <a:spLocks noGrp="1"/>
          </p:cNvSpPr>
          <p:nvPr>
            <p:ph type="title"/>
          </p:nvPr>
        </p:nvSpPr>
        <p:spPr>
          <a:xfrm>
            <a:off x="838200" y="365125"/>
            <a:ext cx="10075985" cy="572721"/>
          </a:xfrm>
        </p:spPr>
        <p:txBody>
          <a:bodyPr wrap="square" anchor="t">
            <a:normAutofit/>
          </a:bodyPr>
          <a:lstStyle/>
          <a:p>
            <a:pPr algn="ctr"/>
            <a:r>
              <a:rPr lang="en-US" sz="2800" dirty="0">
                <a:solidFill>
                  <a:schemeClr val="accent2"/>
                </a:solidFill>
              </a:rPr>
              <a:t>ALZ for 10,000</a:t>
            </a:r>
            <a:r>
              <a:rPr lang="en-US" sz="2800" dirty="0">
                <a:solidFill>
                  <a:schemeClr val="accent3"/>
                </a:solidFill>
              </a:rPr>
              <a:t> </a:t>
            </a:r>
            <a:r>
              <a:rPr lang="en-US" sz="2800" dirty="0">
                <a:solidFill>
                  <a:schemeClr val="accent2"/>
                </a:solidFill>
              </a:rPr>
              <a:t>Workloads</a:t>
            </a:r>
          </a:p>
        </p:txBody>
      </p:sp>
      <p:pic>
        <p:nvPicPr>
          <p:cNvPr id="2" name="Picture 1">
            <a:extLst>
              <a:ext uri="{FF2B5EF4-FFF2-40B4-BE49-F238E27FC236}">
                <a16:creationId xmlns:a16="http://schemas.microsoft.com/office/drawing/2014/main" id="{47D2554A-DACD-1AC1-06B5-357F9CC2A6A6}"/>
              </a:ext>
            </a:extLst>
          </p:cNvPr>
          <p:cNvPicPr>
            <a:picLocks noChangeAspect="1"/>
          </p:cNvPicPr>
          <p:nvPr/>
        </p:nvPicPr>
        <p:blipFill>
          <a:blip r:embed="rId3">
            <a:clrChange>
              <a:clrFrom>
                <a:srgbClr val="000000"/>
              </a:clrFrom>
              <a:clrTo>
                <a:srgbClr val="000000">
                  <a:alpha val="0"/>
                </a:srgbClr>
              </a:clrTo>
            </a:clrChange>
          </a:blip>
          <a:stretch>
            <a:fillRect/>
          </a:stretch>
        </p:blipFill>
        <p:spPr>
          <a:xfrm>
            <a:off x="1378377" y="1725531"/>
            <a:ext cx="9102054" cy="4559271"/>
          </a:xfrm>
          <a:prstGeom prst="rect">
            <a:avLst/>
          </a:prstGeom>
        </p:spPr>
      </p:pic>
    </p:spTree>
    <p:extLst>
      <p:ext uri="{BB962C8B-B14F-4D97-AF65-F5344CB8AC3E}">
        <p14:creationId xmlns:p14="http://schemas.microsoft.com/office/powerpoint/2010/main" val="2866075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43004-7F8A-51A6-2FC5-C87D771C8C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00F410-094F-B5D4-A93D-E819EDEB4D85}"/>
              </a:ext>
            </a:extLst>
          </p:cNvPr>
          <p:cNvSpPr txBox="1"/>
          <p:nvPr/>
        </p:nvSpPr>
        <p:spPr>
          <a:xfrm>
            <a:off x="2637692" y="2716796"/>
            <a:ext cx="8053753" cy="769441"/>
          </a:xfrm>
          <a:prstGeom prst="rect">
            <a:avLst/>
          </a:prstGeom>
          <a:noFill/>
        </p:spPr>
        <p:txBody>
          <a:bodyPr wrap="square">
            <a:spAutoFit/>
          </a:bodyPr>
          <a:lstStyle/>
          <a:p>
            <a:r>
              <a:rPr lang="en-CA" sz="4400" b="1" dirty="0"/>
              <a:t>Cloud Operating Model</a:t>
            </a:r>
          </a:p>
        </p:txBody>
      </p:sp>
    </p:spTree>
    <p:extLst>
      <p:ext uri="{BB962C8B-B14F-4D97-AF65-F5344CB8AC3E}">
        <p14:creationId xmlns:p14="http://schemas.microsoft.com/office/powerpoint/2010/main" val="3118579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7A640-1A5A-E181-F94C-4F2915A53E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762E190-AEDA-5266-1343-AE6CF6F62E02}"/>
              </a:ext>
            </a:extLst>
          </p:cNvPr>
          <p:cNvSpPr txBox="1"/>
          <p:nvPr/>
        </p:nvSpPr>
        <p:spPr>
          <a:xfrm>
            <a:off x="234462" y="219781"/>
            <a:ext cx="8053753" cy="523220"/>
          </a:xfrm>
          <a:prstGeom prst="rect">
            <a:avLst/>
          </a:prstGeom>
          <a:noFill/>
        </p:spPr>
        <p:txBody>
          <a:bodyPr wrap="square">
            <a:spAutoFit/>
          </a:bodyPr>
          <a:lstStyle/>
          <a:p>
            <a:r>
              <a:rPr lang="en-CA" sz="2800" b="1" dirty="0"/>
              <a:t>Cloud Operating Models</a:t>
            </a:r>
          </a:p>
        </p:txBody>
      </p:sp>
      <p:graphicFrame>
        <p:nvGraphicFramePr>
          <p:cNvPr id="6" name="Content Placeholder 5">
            <a:extLst>
              <a:ext uri="{FF2B5EF4-FFF2-40B4-BE49-F238E27FC236}">
                <a16:creationId xmlns:a16="http://schemas.microsoft.com/office/drawing/2014/main" id="{851A5B63-C489-E1AD-B8C0-0888101E7D98}"/>
              </a:ext>
            </a:extLst>
          </p:cNvPr>
          <p:cNvGraphicFramePr>
            <a:graphicFrameLocks/>
          </p:cNvGraphicFramePr>
          <p:nvPr>
            <p:extLst>
              <p:ext uri="{D42A27DB-BD31-4B8C-83A1-F6EECF244321}">
                <p14:modId xmlns:p14="http://schemas.microsoft.com/office/powerpoint/2010/main" val="29374918"/>
              </p:ext>
            </p:extLst>
          </p:nvPr>
        </p:nvGraphicFramePr>
        <p:xfrm>
          <a:off x="339970" y="1514963"/>
          <a:ext cx="8504240" cy="3205480"/>
        </p:xfrm>
        <a:graphic>
          <a:graphicData uri="http://schemas.openxmlformats.org/drawingml/2006/table">
            <a:tbl>
              <a:tblPr firstRow="1" bandRow="1">
                <a:tableStyleId>{5C22544A-7EE6-4342-B048-85BDC9FD1C3A}</a:tableStyleId>
              </a:tblPr>
              <a:tblGrid>
                <a:gridCol w="1700848">
                  <a:extLst>
                    <a:ext uri="{9D8B030D-6E8A-4147-A177-3AD203B41FA5}">
                      <a16:colId xmlns:a16="http://schemas.microsoft.com/office/drawing/2014/main" val="3756117712"/>
                    </a:ext>
                  </a:extLst>
                </a:gridCol>
                <a:gridCol w="1700848">
                  <a:extLst>
                    <a:ext uri="{9D8B030D-6E8A-4147-A177-3AD203B41FA5}">
                      <a16:colId xmlns:a16="http://schemas.microsoft.com/office/drawing/2014/main" val="686228890"/>
                    </a:ext>
                  </a:extLst>
                </a:gridCol>
                <a:gridCol w="1700848">
                  <a:extLst>
                    <a:ext uri="{9D8B030D-6E8A-4147-A177-3AD203B41FA5}">
                      <a16:colId xmlns:a16="http://schemas.microsoft.com/office/drawing/2014/main" val="1204751039"/>
                    </a:ext>
                  </a:extLst>
                </a:gridCol>
                <a:gridCol w="1700848">
                  <a:extLst>
                    <a:ext uri="{9D8B030D-6E8A-4147-A177-3AD203B41FA5}">
                      <a16:colId xmlns:a16="http://schemas.microsoft.com/office/drawing/2014/main" val="3174538938"/>
                    </a:ext>
                  </a:extLst>
                </a:gridCol>
                <a:gridCol w="1700848">
                  <a:extLst>
                    <a:ext uri="{9D8B030D-6E8A-4147-A177-3AD203B41FA5}">
                      <a16:colId xmlns:a16="http://schemas.microsoft.com/office/drawing/2014/main" val="3722299782"/>
                    </a:ext>
                  </a:extLst>
                </a:gridCol>
              </a:tblGrid>
              <a:tr h="370840">
                <a:tc>
                  <a:txBody>
                    <a:bodyPr/>
                    <a:lstStyle/>
                    <a:p>
                      <a:pPr algn="l" fontAlgn="t">
                        <a:buNone/>
                      </a:pPr>
                      <a:r>
                        <a:rPr lang="en-US" sz="1200" dirty="0">
                          <a:effectLst/>
                        </a:rPr>
                        <a:t>Operations approach</a:t>
                      </a:r>
                    </a:p>
                  </a:txBody>
                  <a:tcPr/>
                </a:tc>
                <a:tc>
                  <a:txBody>
                    <a:bodyPr/>
                    <a:lstStyle/>
                    <a:p>
                      <a:pPr algn="l" fontAlgn="t">
                        <a:buNone/>
                      </a:pPr>
                      <a:r>
                        <a:rPr lang="en-US" sz="1200">
                          <a:effectLst/>
                        </a:rPr>
                        <a:t>Best for</a:t>
                      </a:r>
                    </a:p>
                  </a:txBody>
                  <a:tcPr/>
                </a:tc>
                <a:tc>
                  <a:txBody>
                    <a:bodyPr/>
                    <a:lstStyle/>
                    <a:p>
                      <a:pPr algn="l" fontAlgn="t">
                        <a:buNone/>
                      </a:pPr>
                      <a:r>
                        <a:rPr lang="en-US" sz="1200">
                          <a:effectLst/>
                        </a:rPr>
                        <a:t>Responsibilities</a:t>
                      </a:r>
                    </a:p>
                  </a:txBody>
                  <a:tcPr/>
                </a:tc>
                <a:tc>
                  <a:txBody>
                    <a:bodyPr/>
                    <a:lstStyle/>
                    <a:p>
                      <a:pPr algn="l" fontAlgn="t">
                        <a:buNone/>
                      </a:pPr>
                      <a:r>
                        <a:rPr lang="en-US" sz="1200">
                          <a:effectLst/>
                        </a:rPr>
                        <a:t>Pros</a:t>
                      </a:r>
                    </a:p>
                  </a:txBody>
                  <a:tcPr/>
                </a:tc>
                <a:tc>
                  <a:txBody>
                    <a:bodyPr/>
                    <a:lstStyle/>
                    <a:p>
                      <a:pPr algn="l" fontAlgn="t">
                        <a:buNone/>
                      </a:pPr>
                      <a:r>
                        <a:rPr lang="en-US" sz="1200">
                          <a:effectLst/>
                        </a:rPr>
                        <a:t>Cons</a:t>
                      </a:r>
                    </a:p>
                  </a:txBody>
                  <a:tcPr/>
                </a:tc>
                <a:extLst>
                  <a:ext uri="{0D108BD9-81ED-4DB2-BD59-A6C34878D82A}">
                    <a16:rowId xmlns:a16="http://schemas.microsoft.com/office/drawing/2014/main" val="1031982733"/>
                  </a:ext>
                </a:extLst>
              </a:tr>
              <a:tr h="370840">
                <a:tc>
                  <a:txBody>
                    <a:bodyPr/>
                    <a:lstStyle/>
                    <a:p>
                      <a:pPr algn="l" fontAlgn="t">
                        <a:buNone/>
                      </a:pPr>
                      <a:r>
                        <a:rPr lang="en-US" sz="1200">
                          <a:effectLst/>
                        </a:rPr>
                        <a:t>Centralized</a:t>
                      </a:r>
                    </a:p>
                  </a:txBody>
                  <a:tcPr/>
                </a:tc>
                <a:tc>
                  <a:txBody>
                    <a:bodyPr/>
                    <a:lstStyle/>
                    <a:p>
                      <a:pPr algn="l" fontAlgn="t">
                        <a:buNone/>
                      </a:pPr>
                      <a:r>
                        <a:rPr lang="en-US" sz="1200" dirty="0">
                          <a:effectLst/>
                        </a:rPr>
                        <a:t>Startups, single-cloud estates</a:t>
                      </a:r>
                    </a:p>
                  </a:txBody>
                  <a:tcPr/>
                </a:tc>
                <a:tc>
                  <a:txBody>
                    <a:bodyPr/>
                    <a:lstStyle/>
                    <a:p>
                      <a:pPr algn="l" fontAlgn="t">
                        <a:buNone/>
                      </a:pPr>
                      <a:r>
                        <a:rPr lang="en-CA" sz="1200">
                          <a:effectLst/>
                        </a:rPr>
                        <a:t>One cloud team manages every function</a:t>
                      </a:r>
                    </a:p>
                  </a:txBody>
                  <a:tcPr/>
                </a:tc>
                <a:tc>
                  <a:txBody>
                    <a:bodyPr/>
                    <a:lstStyle/>
                    <a:p>
                      <a:pPr algn="l" fontAlgn="t">
                        <a:buNone/>
                      </a:pPr>
                      <a:r>
                        <a:rPr lang="en-US" sz="1200">
                          <a:effectLst/>
                        </a:rPr>
                        <a:t>Simpler control, uniform standards</a:t>
                      </a:r>
                    </a:p>
                  </a:txBody>
                  <a:tcPr/>
                </a:tc>
                <a:tc>
                  <a:txBody>
                    <a:bodyPr/>
                    <a:lstStyle/>
                    <a:p>
                      <a:pPr algn="l" fontAlgn="t">
                        <a:buNone/>
                      </a:pPr>
                      <a:r>
                        <a:rPr lang="en-CA" sz="1200">
                          <a:effectLst/>
                        </a:rPr>
                        <a:t>One team becomes a bottleneck as scale grows</a:t>
                      </a:r>
                    </a:p>
                  </a:txBody>
                  <a:tcPr/>
                </a:tc>
                <a:extLst>
                  <a:ext uri="{0D108BD9-81ED-4DB2-BD59-A6C34878D82A}">
                    <a16:rowId xmlns:a16="http://schemas.microsoft.com/office/drawing/2014/main" val="1892478776"/>
                  </a:ext>
                </a:extLst>
              </a:tr>
              <a:tr h="370840">
                <a:tc>
                  <a:txBody>
                    <a:bodyPr/>
                    <a:lstStyle/>
                    <a:p>
                      <a:pPr algn="l" fontAlgn="t">
                        <a:buNone/>
                      </a:pPr>
                      <a:r>
                        <a:rPr lang="en-US" sz="1200">
                          <a:effectLst/>
                        </a:rPr>
                        <a:t>Shared Management</a:t>
                      </a:r>
                    </a:p>
                  </a:txBody>
                  <a:tcPr/>
                </a:tc>
                <a:tc>
                  <a:txBody>
                    <a:bodyPr/>
                    <a:lstStyle/>
                    <a:p>
                      <a:pPr algn="l" fontAlgn="t">
                        <a:buNone/>
                      </a:pPr>
                      <a:r>
                        <a:rPr lang="en-CA" sz="1200" dirty="0">
                          <a:effectLst/>
                        </a:rPr>
                        <a:t>Mid-size or enterprise estates, hybrid, or multicloud</a:t>
                      </a:r>
                    </a:p>
                  </a:txBody>
                  <a:tcPr/>
                </a:tc>
                <a:tc>
                  <a:txBody>
                    <a:bodyPr/>
                    <a:lstStyle/>
                    <a:p>
                      <a:pPr algn="l" fontAlgn="t">
                        <a:buNone/>
                      </a:pPr>
                      <a:r>
                        <a:rPr lang="en-CA" sz="1200" dirty="0">
                          <a:effectLst/>
                        </a:rPr>
                        <a:t>Platform teams build the </a:t>
                      </a:r>
                      <a:r>
                        <a:rPr lang="en-CA" sz="1200" u="none" strike="noStrike" dirty="0">
                          <a:solidFill>
                            <a:srgbClr val="0065B3"/>
                          </a:solidFill>
                          <a:effectLst/>
                          <a:hlinkClick r:id="rId3"/>
                        </a:rPr>
                        <a:t>platform landing zones</a:t>
                      </a:r>
                      <a:r>
                        <a:rPr lang="en-CA" sz="1200" dirty="0">
                          <a:effectLst/>
                        </a:rPr>
                        <a:t>, manages shared services, and governance guardrails.</a:t>
                      </a:r>
                      <a:br>
                        <a:rPr lang="en-CA" sz="1200" dirty="0">
                          <a:effectLst/>
                        </a:rPr>
                      </a:br>
                      <a:r>
                        <a:rPr lang="en-CA" sz="1200" dirty="0">
                          <a:effectLst/>
                        </a:rPr>
                        <a:t>Workload teams work autonomously within guardrails</a:t>
                      </a:r>
                    </a:p>
                  </a:txBody>
                  <a:tcPr/>
                </a:tc>
                <a:tc>
                  <a:txBody>
                    <a:bodyPr/>
                    <a:lstStyle/>
                    <a:p>
                      <a:pPr algn="l" fontAlgn="t">
                        <a:buNone/>
                      </a:pPr>
                      <a:r>
                        <a:rPr lang="en-CA" sz="1200" dirty="0">
                          <a:effectLst/>
                        </a:rPr>
                        <a:t>Balances standards with team agility</a:t>
                      </a:r>
                    </a:p>
                  </a:txBody>
                  <a:tcPr/>
                </a:tc>
                <a:tc>
                  <a:txBody>
                    <a:bodyPr/>
                    <a:lstStyle/>
                    <a:p>
                      <a:pPr algn="l" fontAlgn="t">
                        <a:buNone/>
                      </a:pPr>
                      <a:r>
                        <a:rPr lang="en-CA" sz="1200">
                          <a:effectLst/>
                        </a:rPr>
                        <a:t>Requires clear responsibilities and strong coordination</a:t>
                      </a:r>
                    </a:p>
                  </a:txBody>
                  <a:tcPr/>
                </a:tc>
                <a:extLst>
                  <a:ext uri="{0D108BD9-81ED-4DB2-BD59-A6C34878D82A}">
                    <a16:rowId xmlns:a16="http://schemas.microsoft.com/office/drawing/2014/main" val="3657382270"/>
                  </a:ext>
                </a:extLst>
              </a:tr>
              <a:tr h="370840">
                <a:tc>
                  <a:txBody>
                    <a:bodyPr/>
                    <a:lstStyle/>
                    <a:p>
                      <a:pPr algn="l" fontAlgn="t">
                        <a:buNone/>
                      </a:pPr>
                      <a:r>
                        <a:rPr lang="en-US" sz="1200">
                          <a:effectLst/>
                        </a:rPr>
                        <a:t>Decentralized</a:t>
                      </a:r>
                    </a:p>
                  </a:txBody>
                  <a:tcPr/>
                </a:tc>
                <a:tc>
                  <a:txBody>
                    <a:bodyPr/>
                    <a:lstStyle/>
                    <a:p>
                      <a:pPr algn="l" fontAlgn="t">
                        <a:buNone/>
                      </a:pPr>
                      <a:r>
                        <a:rPr lang="en-US" sz="1200">
                          <a:effectLst/>
                        </a:rPr>
                        <a:t>Tech-savvy startups, innovation programs</a:t>
                      </a:r>
                    </a:p>
                  </a:txBody>
                  <a:tcPr/>
                </a:tc>
                <a:tc>
                  <a:txBody>
                    <a:bodyPr/>
                    <a:lstStyle/>
                    <a:p>
                      <a:pPr algn="l" fontAlgn="t">
                        <a:buNone/>
                      </a:pPr>
                      <a:r>
                        <a:rPr lang="en-CA" sz="1200">
                          <a:effectLst/>
                        </a:rPr>
                        <a:t>Each team owns every cloud task</a:t>
                      </a:r>
                    </a:p>
                  </a:txBody>
                  <a:tcPr/>
                </a:tc>
                <a:tc>
                  <a:txBody>
                    <a:bodyPr/>
                    <a:lstStyle/>
                    <a:p>
                      <a:pPr algn="l" fontAlgn="t">
                        <a:buNone/>
                      </a:pPr>
                      <a:r>
                        <a:rPr lang="en-US" sz="1200">
                          <a:effectLst/>
                        </a:rPr>
                        <a:t>High speed and autonomy</a:t>
                      </a:r>
                    </a:p>
                  </a:txBody>
                  <a:tcPr/>
                </a:tc>
                <a:tc>
                  <a:txBody>
                    <a:bodyPr/>
                    <a:lstStyle/>
                    <a:p>
                      <a:pPr algn="l" fontAlgn="t">
                        <a:buNone/>
                      </a:pPr>
                      <a:r>
                        <a:rPr lang="en-CA" sz="1200" dirty="0">
                          <a:effectLst/>
                        </a:rPr>
                        <a:t>Weaker standardization, higher risk of security gaps</a:t>
                      </a:r>
                    </a:p>
                  </a:txBody>
                  <a:tcPr/>
                </a:tc>
                <a:extLst>
                  <a:ext uri="{0D108BD9-81ED-4DB2-BD59-A6C34878D82A}">
                    <a16:rowId xmlns:a16="http://schemas.microsoft.com/office/drawing/2014/main" val="542679318"/>
                  </a:ext>
                </a:extLst>
              </a:tr>
            </a:tbl>
          </a:graphicData>
        </a:graphic>
      </p:graphicFrame>
    </p:spTree>
    <p:extLst>
      <p:ext uri="{BB962C8B-B14F-4D97-AF65-F5344CB8AC3E}">
        <p14:creationId xmlns:p14="http://schemas.microsoft.com/office/powerpoint/2010/main" val="1417681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1374-9300-6D06-382B-290A48BBA8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0735B27-09AB-E653-0D81-492E25775A9E}"/>
              </a:ext>
            </a:extLst>
          </p:cNvPr>
          <p:cNvSpPr txBox="1"/>
          <p:nvPr/>
        </p:nvSpPr>
        <p:spPr>
          <a:xfrm>
            <a:off x="1008186" y="2716796"/>
            <a:ext cx="9683260" cy="769441"/>
          </a:xfrm>
          <a:prstGeom prst="rect">
            <a:avLst/>
          </a:prstGeom>
          <a:noFill/>
        </p:spPr>
        <p:txBody>
          <a:bodyPr wrap="square">
            <a:spAutoFit/>
          </a:bodyPr>
          <a:lstStyle/>
          <a:p>
            <a:r>
              <a:rPr lang="en-CA" sz="4400" b="1" dirty="0"/>
              <a:t>Cloud Authorization and Authentication</a:t>
            </a:r>
          </a:p>
        </p:txBody>
      </p:sp>
    </p:spTree>
    <p:extLst>
      <p:ext uri="{BB962C8B-B14F-4D97-AF65-F5344CB8AC3E}">
        <p14:creationId xmlns:p14="http://schemas.microsoft.com/office/powerpoint/2010/main" val="1882561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99ACA-8E49-3391-11AC-FE17306520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3D7CEA3-8413-0D9A-AD00-9F6AE83EB255}"/>
              </a:ext>
            </a:extLst>
          </p:cNvPr>
          <p:cNvSpPr txBox="1"/>
          <p:nvPr/>
        </p:nvSpPr>
        <p:spPr>
          <a:xfrm>
            <a:off x="234462" y="219781"/>
            <a:ext cx="8053753" cy="523220"/>
          </a:xfrm>
          <a:prstGeom prst="rect">
            <a:avLst/>
          </a:prstGeom>
          <a:noFill/>
        </p:spPr>
        <p:txBody>
          <a:bodyPr wrap="square">
            <a:spAutoFit/>
          </a:bodyPr>
          <a:lstStyle/>
          <a:p>
            <a:r>
              <a:rPr lang="en-CA" sz="2800" b="1" dirty="0"/>
              <a:t>Entra Directory Services</a:t>
            </a:r>
          </a:p>
        </p:txBody>
      </p:sp>
      <p:sp>
        <p:nvSpPr>
          <p:cNvPr id="3" name="TextBox 2">
            <a:extLst>
              <a:ext uri="{FF2B5EF4-FFF2-40B4-BE49-F238E27FC236}">
                <a16:creationId xmlns:a16="http://schemas.microsoft.com/office/drawing/2014/main" id="{F1301431-331A-31D1-15E7-6251E97CD12D}"/>
              </a:ext>
            </a:extLst>
          </p:cNvPr>
          <p:cNvSpPr txBox="1"/>
          <p:nvPr/>
        </p:nvSpPr>
        <p:spPr>
          <a:xfrm>
            <a:off x="550985" y="1268831"/>
            <a:ext cx="9108830" cy="2308324"/>
          </a:xfrm>
          <a:prstGeom prst="rect">
            <a:avLst/>
          </a:prstGeom>
          <a:noFill/>
        </p:spPr>
        <p:txBody>
          <a:bodyPr wrap="square">
            <a:spAutoFit/>
          </a:bodyPr>
          <a:lstStyle/>
          <a:p>
            <a:endParaRPr lang="en-US" dirty="0"/>
          </a:p>
          <a:p>
            <a:pPr marL="285750" indent="-285750">
              <a:buFont typeface="Arial" panose="020B0604020202020204" pitchFamily="34" charset="0"/>
              <a:buChar char="•"/>
            </a:pPr>
            <a:r>
              <a:rPr lang="en-US" dirty="0"/>
              <a:t>Microsoft Entra ID (free) -&gt; Azure, Office 365 </a:t>
            </a:r>
          </a:p>
          <a:p>
            <a:endParaRPr lang="en-US" dirty="0"/>
          </a:p>
          <a:p>
            <a:pPr marL="285750" indent="-285750">
              <a:buFont typeface="Arial" panose="020B0604020202020204" pitchFamily="34" charset="0"/>
              <a:buChar char="•"/>
            </a:pPr>
            <a:r>
              <a:rPr lang="en-US" dirty="0"/>
              <a:t>Microsoft Entra ID B2C -&gt; Customer Identity and Access Management (CIAM)</a:t>
            </a:r>
          </a:p>
          <a:p>
            <a:endParaRPr lang="en-US" dirty="0"/>
          </a:p>
          <a:p>
            <a:pPr marL="285750" indent="-285750">
              <a:buFont typeface="Arial" panose="020B0604020202020204" pitchFamily="34" charset="0"/>
              <a:buChar char="•"/>
            </a:pPr>
            <a:r>
              <a:rPr lang="en-US" dirty="0"/>
              <a:t>Microsoft Entra ID Domain Services - &gt; DC as a Service</a:t>
            </a:r>
          </a:p>
          <a:p>
            <a:endParaRPr lang="en-US" dirty="0"/>
          </a:p>
          <a:p>
            <a:pPr marL="285750" indent="-285750">
              <a:buFont typeface="Arial" panose="020B0604020202020204" pitchFamily="34" charset="0"/>
              <a:buChar char="•"/>
            </a:pPr>
            <a:r>
              <a:rPr lang="en-US" dirty="0"/>
              <a:t>Microsoft Entra ID Basic/Premium (EMS/M365) -&gt; IDaaS</a:t>
            </a:r>
          </a:p>
        </p:txBody>
      </p:sp>
    </p:spTree>
    <p:extLst>
      <p:ext uri="{BB962C8B-B14F-4D97-AF65-F5344CB8AC3E}">
        <p14:creationId xmlns:p14="http://schemas.microsoft.com/office/powerpoint/2010/main" val="902707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809F-A1F0-B7EC-2B50-B0E096A278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76FFF7-BC5B-F750-4B3E-76274828D61F}"/>
              </a:ext>
            </a:extLst>
          </p:cNvPr>
          <p:cNvSpPr txBox="1"/>
          <p:nvPr/>
        </p:nvSpPr>
        <p:spPr>
          <a:xfrm>
            <a:off x="234462" y="219781"/>
            <a:ext cx="8053753" cy="523220"/>
          </a:xfrm>
          <a:prstGeom prst="rect">
            <a:avLst/>
          </a:prstGeom>
          <a:noFill/>
        </p:spPr>
        <p:txBody>
          <a:bodyPr wrap="square">
            <a:spAutoFit/>
          </a:bodyPr>
          <a:lstStyle/>
          <a:p>
            <a:r>
              <a:rPr lang="en-CA" sz="2800" b="1" dirty="0"/>
              <a:t>Identity Management Patterns</a:t>
            </a:r>
          </a:p>
        </p:txBody>
      </p:sp>
      <p:graphicFrame>
        <p:nvGraphicFramePr>
          <p:cNvPr id="2" name="Table 4">
            <a:extLst>
              <a:ext uri="{FF2B5EF4-FFF2-40B4-BE49-F238E27FC236}">
                <a16:creationId xmlns:a16="http://schemas.microsoft.com/office/drawing/2014/main" id="{B918A9BB-7518-958E-C3FD-251C6810FA3D}"/>
              </a:ext>
            </a:extLst>
          </p:cNvPr>
          <p:cNvGraphicFramePr>
            <a:graphicFrameLocks noGrp="1"/>
          </p:cNvGraphicFramePr>
          <p:nvPr>
            <p:extLst>
              <p:ext uri="{D42A27DB-BD31-4B8C-83A1-F6EECF244321}">
                <p14:modId xmlns:p14="http://schemas.microsoft.com/office/powerpoint/2010/main" val="2396072337"/>
              </p:ext>
            </p:extLst>
          </p:nvPr>
        </p:nvGraphicFramePr>
        <p:xfrm>
          <a:off x="360475" y="1506283"/>
          <a:ext cx="10342692" cy="4468168"/>
        </p:xfrm>
        <a:graphic>
          <a:graphicData uri="http://schemas.openxmlformats.org/drawingml/2006/table">
            <a:tbl>
              <a:tblPr firstRow="1" bandRow="1">
                <a:tableStyleId>{5940675A-B579-460E-94D1-54222C63F5DA}</a:tableStyleId>
              </a:tblPr>
              <a:tblGrid>
                <a:gridCol w="1024446">
                  <a:extLst>
                    <a:ext uri="{9D8B030D-6E8A-4147-A177-3AD203B41FA5}">
                      <a16:colId xmlns:a16="http://schemas.microsoft.com/office/drawing/2014/main" val="620852999"/>
                    </a:ext>
                  </a:extLst>
                </a:gridCol>
                <a:gridCol w="2261373">
                  <a:extLst>
                    <a:ext uri="{9D8B030D-6E8A-4147-A177-3AD203B41FA5}">
                      <a16:colId xmlns:a16="http://schemas.microsoft.com/office/drawing/2014/main" val="1609791250"/>
                    </a:ext>
                  </a:extLst>
                </a:gridCol>
                <a:gridCol w="2539085">
                  <a:extLst>
                    <a:ext uri="{9D8B030D-6E8A-4147-A177-3AD203B41FA5}">
                      <a16:colId xmlns:a16="http://schemas.microsoft.com/office/drawing/2014/main" val="3367431431"/>
                    </a:ext>
                  </a:extLst>
                </a:gridCol>
                <a:gridCol w="2434943">
                  <a:extLst>
                    <a:ext uri="{9D8B030D-6E8A-4147-A177-3AD203B41FA5}">
                      <a16:colId xmlns:a16="http://schemas.microsoft.com/office/drawing/2014/main" val="3652794328"/>
                    </a:ext>
                  </a:extLst>
                </a:gridCol>
                <a:gridCol w="2082845">
                  <a:extLst>
                    <a:ext uri="{9D8B030D-6E8A-4147-A177-3AD203B41FA5}">
                      <a16:colId xmlns:a16="http://schemas.microsoft.com/office/drawing/2014/main" val="3776565437"/>
                    </a:ext>
                  </a:extLst>
                </a:gridCol>
              </a:tblGrid>
              <a:tr h="443838">
                <a:tc>
                  <a:txBody>
                    <a:bodyPr/>
                    <a:lstStyle/>
                    <a:p>
                      <a:endParaRPr lang="en-US" sz="1000" b="1">
                        <a:solidFill>
                          <a:schemeClr val="bg1"/>
                        </a:solidFill>
                      </a:endParaRPr>
                    </a:p>
                  </a:txBody>
                  <a:tcPr marL="67446" marR="67446" marT="33723" marB="33723">
                    <a:solidFill>
                      <a:srgbClr val="002050"/>
                    </a:solidFill>
                  </a:tcPr>
                </a:tc>
                <a:tc>
                  <a:txBody>
                    <a:bodyPr/>
                    <a:lstStyle/>
                    <a:p>
                      <a:r>
                        <a:rPr lang="en-US" sz="1000" b="1" dirty="0">
                          <a:solidFill>
                            <a:schemeClr val="bg1"/>
                          </a:solidFill>
                        </a:rPr>
                        <a:t>Cloud Baseline </a:t>
                      </a:r>
                    </a:p>
                    <a:p>
                      <a:r>
                        <a:rPr lang="en-US" sz="1000" b="1" dirty="0">
                          <a:solidFill>
                            <a:schemeClr val="bg1"/>
                          </a:solidFill>
                        </a:rPr>
                        <a:t>(Azure AD)</a:t>
                      </a:r>
                    </a:p>
                  </a:txBody>
                  <a:tcPr marL="67446" marR="67446" marT="33723" marB="33723">
                    <a:solidFill>
                      <a:srgbClr val="002050"/>
                    </a:solidFill>
                  </a:tcPr>
                </a:tc>
                <a:tc>
                  <a:txBody>
                    <a:bodyPr/>
                    <a:lstStyle/>
                    <a:p>
                      <a:r>
                        <a:rPr lang="en-US" sz="1000" b="1">
                          <a:solidFill>
                            <a:schemeClr val="bg1"/>
                          </a:solidFill>
                        </a:rPr>
                        <a:t>Directory Synchronization</a:t>
                      </a:r>
                    </a:p>
                  </a:txBody>
                  <a:tcPr marL="67446" marR="67446" marT="33723" marB="33723">
                    <a:solidFill>
                      <a:srgbClr val="002050"/>
                    </a:solidFill>
                  </a:tcPr>
                </a:tc>
                <a:tc>
                  <a:txBody>
                    <a:bodyPr/>
                    <a:lstStyle/>
                    <a:p>
                      <a:r>
                        <a:rPr lang="en-US" sz="1000" b="1">
                          <a:solidFill>
                            <a:schemeClr val="bg1"/>
                          </a:solidFill>
                        </a:rPr>
                        <a:t>Cloud-hosted domain services</a:t>
                      </a:r>
                    </a:p>
                  </a:txBody>
                  <a:tcPr marL="67446" marR="67446" marT="33723" marB="33723">
                    <a:solidFill>
                      <a:srgbClr val="002050"/>
                    </a:solidFill>
                  </a:tcPr>
                </a:tc>
                <a:tc>
                  <a:txBody>
                    <a:bodyPr/>
                    <a:lstStyle/>
                    <a:p>
                      <a:r>
                        <a:rPr lang="en-US" sz="1000" b="1" dirty="0">
                          <a:solidFill>
                            <a:schemeClr val="bg1"/>
                          </a:solidFill>
                        </a:rPr>
                        <a:t>Active Directory Federation Services</a:t>
                      </a:r>
                    </a:p>
                  </a:txBody>
                  <a:tcPr marL="67446" marR="67446" marT="33723" marB="33723">
                    <a:solidFill>
                      <a:srgbClr val="002050"/>
                    </a:solidFill>
                  </a:tcPr>
                </a:tc>
                <a:extLst>
                  <a:ext uri="{0D108BD9-81ED-4DB2-BD59-A6C34878D82A}">
                    <a16:rowId xmlns:a16="http://schemas.microsoft.com/office/drawing/2014/main" val="610409218"/>
                  </a:ext>
                </a:extLst>
              </a:tr>
              <a:tr h="1895992">
                <a:tc>
                  <a:txBody>
                    <a:bodyPr/>
                    <a:lstStyle/>
                    <a:p>
                      <a:r>
                        <a:rPr lang="en-US" sz="900" i="1">
                          <a:latin typeface="Segoe UI" panose="020B0502040204020203" pitchFamily="34" charset="0"/>
                          <a:cs typeface="Segoe UI" panose="020B0502040204020203" pitchFamily="34" charset="0"/>
                        </a:rPr>
                        <a:t>When to use</a:t>
                      </a:r>
                    </a:p>
                  </a:txBody>
                  <a:tcPr marL="67446" marR="67446" marT="33723" marB="33723"/>
                </a:tc>
                <a:tc>
                  <a:txBody>
                    <a:bodyPr/>
                    <a:lstStyle/>
                    <a:p>
                      <a:r>
                        <a:rPr lang="en-US" sz="900" b="0" i="0" u="none" strike="noStrike" kern="1200" dirty="0">
                          <a:solidFill>
                            <a:schemeClr val="tx1"/>
                          </a:solidFill>
                          <a:effectLst/>
                          <a:latin typeface="Segoe UI" panose="020B0502040204020203" pitchFamily="34" charset="0"/>
                          <a:ea typeface="+mn-ea"/>
                          <a:cs typeface="Segoe UI" panose="020B0502040204020203" pitchFamily="34" charset="0"/>
                        </a:rPr>
                        <a:t>Organization lacks an on-premises identity solution, and plans on migrating workloads to be compatible with cloud-based authentication mechanisms</a:t>
                      </a:r>
                      <a:endParaRPr lang="en-US" sz="900" dirty="0">
                        <a:latin typeface="Segoe UI" panose="020B0502040204020203" pitchFamily="34" charset="0"/>
                        <a:cs typeface="Segoe UI" panose="020B0502040204020203" pitchFamily="34" charset="0"/>
                      </a:endParaRPr>
                    </a:p>
                  </a:txBody>
                  <a:tcPr marL="67446" marR="67446" marT="33723" marB="33723"/>
                </a:tc>
                <a:tc>
                  <a:txBody>
                    <a:bodyPr/>
                    <a:lstStyle/>
                    <a:p>
                      <a:r>
                        <a:rPr lang="en-US" sz="900" dirty="0">
                          <a:latin typeface="Segoe UI" panose="020B0502040204020203" pitchFamily="34" charset="0"/>
                          <a:cs typeface="Segoe UI" panose="020B0502040204020203" pitchFamily="34" charset="0"/>
                        </a:rPr>
                        <a:t>For organizations with existing on-premises Active Directory infrastructure; best solution for preserving existing user and access management</a:t>
                      </a:r>
                    </a:p>
                  </a:txBody>
                  <a:tcPr marL="67446" marR="67446" marT="33723" marB="33723"/>
                </a:tc>
                <a:tc>
                  <a:txBody>
                    <a:bodyPr/>
                    <a:lstStyle/>
                    <a:p>
                      <a:r>
                        <a:rPr lang="en-US" sz="900" kern="1200">
                          <a:solidFill>
                            <a:schemeClr val="tx1"/>
                          </a:solidFill>
                          <a:latin typeface="Segoe UI" panose="020B0502040204020203" pitchFamily="34" charset="0"/>
                          <a:ea typeface="+mn-ea"/>
                          <a:cs typeface="Segoe UI" panose="020B0502040204020203" pitchFamily="34" charset="0"/>
                        </a:rPr>
                        <a:t>Workloads that depend on claims-based authentication using legacy protocols such as Kerberos or NTLM, and they cannot be refactored to accept modern authentication protocols such as SAML or OAuth and OpenID Connect.</a:t>
                      </a:r>
                    </a:p>
                  </a:txBody>
                  <a:tcPr marL="67446" marR="67446" marT="33723" marB="33723"/>
                </a:tc>
                <a:tc>
                  <a:txBody>
                    <a:bodyPr/>
                    <a:lstStyle/>
                    <a:p>
                      <a:r>
                        <a:rPr lang="en-US" sz="900" kern="1200" dirty="0">
                          <a:solidFill>
                            <a:schemeClr val="tx1"/>
                          </a:solidFill>
                          <a:latin typeface="Segoe UI" panose="020B0502040204020203" pitchFamily="34" charset="0"/>
                          <a:ea typeface="+mn-ea"/>
                          <a:cs typeface="Segoe UI" panose="020B0502040204020203" pitchFamily="34" charset="0"/>
                        </a:rPr>
                        <a:t>Identity federation establishes trust relationships across multiple identity management systems to allow common authentication and authorization capabilities. </a:t>
                      </a:r>
                    </a:p>
                  </a:txBody>
                  <a:tcPr marL="67446" marR="67446" marT="33723" marB="33723"/>
                </a:tc>
                <a:extLst>
                  <a:ext uri="{0D108BD9-81ED-4DB2-BD59-A6C34878D82A}">
                    <a16:rowId xmlns:a16="http://schemas.microsoft.com/office/drawing/2014/main" val="51044914"/>
                  </a:ext>
                </a:extLst>
              </a:tr>
              <a:tr h="2128338">
                <a:tc>
                  <a:txBody>
                    <a:bodyPr/>
                    <a:lstStyle/>
                    <a:p>
                      <a:r>
                        <a:rPr lang="en-US" sz="900" i="1">
                          <a:latin typeface="Segoe UI" panose="020B0502040204020203" pitchFamily="34" charset="0"/>
                          <a:cs typeface="Segoe UI" panose="020B0502040204020203" pitchFamily="34" charset="0"/>
                        </a:rPr>
                        <a:t>Assumptions</a:t>
                      </a:r>
                    </a:p>
                  </a:txBody>
                  <a:tcPr marL="67446" marR="67446" marT="33723" marB="33723"/>
                </a:tc>
                <a:tc>
                  <a:txBody>
                    <a:bodyPr/>
                    <a:lstStyle/>
                    <a:p>
                      <a:pPr marL="171450" indent="-171450">
                        <a:buFont typeface="Arial" panose="020B0604020202020204" pitchFamily="34" charset="0"/>
                        <a:buChar char="•"/>
                      </a:pPr>
                      <a:r>
                        <a:rPr lang="en-US" sz="900">
                          <a:latin typeface="Segoe UI" panose="020B0502040204020203" pitchFamily="34" charset="0"/>
                          <a:cs typeface="Segoe UI" panose="020B0502040204020203" pitchFamily="34" charset="0"/>
                        </a:rPr>
                        <a:t>Cloud-based resources will not have dependencies on on-premises directory services or Active Directory servers</a:t>
                      </a:r>
                    </a:p>
                    <a:p>
                      <a:pPr marL="171450" indent="-171450">
                        <a:buFont typeface="Arial" panose="020B0604020202020204" pitchFamily="34" charset="0"/>
                        <a:buChar char="•"/>
                      </a:pPr>
                      <a:r>
                        <a:rPr lang="en-US" sz="900">
                          <a:latin typeface="Segoe UI" panose="020B0502040204020203" pitchFamily="34" charset="0"/>
                          <a:cs typeface="Segoe UI" panose="020B0502040204020203" pitchFamily="34" charset="0"/>
                        </a:rPr>
                        <a:t>Workloads being migrated either support authentication mechanisms compatible with Azure AD </a:t>
                      </a:r>
                    </a:p>
                    <a:p>
                      <a:pPr marL="171450" indent="-171450">
                        <a:buFont typeface="Arial" panose="020B0604020202020204" pitchFamily="34" charset="0"/>
                        <a:buChar char="•"/>
                      </a:pPr>
                      <a:r>
                        <a:rPr lang="en-US" sz="900">
                          <a:latin typeface="Segoe UI" panose="020B0502040204020203" pitchFamily="34" charset="0"/>
                          <a:cs typeface="Segoe UI" panose="020B0502040204020203" pitchFamily="34" charset="0"/>
                        </a:rPr>
                        <a:t>Existing workloads that depend on legacy authentication methods such as Kerberos might need to be refactored</a:t>
                      </a:r>
                    </a:p>
                  </a:txBody>
                  <a:tcPr marL="67446" marR="67446" marT="33723" marB="33723"/>
                </a:tc>
                <a:tc>
                  <a:txBody>
                    <a:bodyPr/>
                    <a:lstStyle/>
                    <a:p>
                      <a:pPr marL="171450" indent="-171450">
                        <a:buFont typeface="Arial" panose="020B0604020202020204" pitchFamily="34" charset="0"/>
                        <a:buChar char="•"/>
                      </a:pPr>
                      <a:r>
                        <a:rPr lang="en-US" sz="900">
                          <a:latin typeface="Segoe UI" panose="020B0502040204020203" pitchFamily="34" charset="0"/>
                          <a:cs typeface="Segoe UI" panose="020B0502040204020203" pitchFamily="34" charset="0"/>
                        </a:rPr>
                        <a:t>You need to maintain a common set of user accounts and groups across your cloud and on-premises IT infrastructure.</a:t>
                      </a:r>
                    </a:p>
                    <a:p>
                      <a:pPr marL="171450" indent="-171450">
                        <a:buFont typeface="Arial" panose="020B0604020202020204" pitchFamily="34" charset="0"/>
                        <a:buChar char="•"/>
                      </a:pPr>
                      <a:r>
                        <a:rPr lang="en-US" sz="900">
                          <a:latin typeface="Segoe UI" panose="020B0502040204020203" pitchFamily="34" charset="0"/>
                          <a:cs typeface="Segoe UI" panose="020B0502040204020203" pitchFamily="34" charset="0"/>
                        </a:rPr>
                        <a:t>Your on-premises identity services support replication with Azure AD.</a:t>
                      </a:r>
                    </a:p>
                  </a:txBody>
                  <a:tcPr marL="67446" marR="67446" marT="33723" marB="33723"/>
                </a:tc>
                <a:tc>
                  <a:txBody>
                    <a:bodyPr/>
                    <a:lstStyle/>
                    <a:p>
                      <a:pPr marL="171450" indent="-171450">
                        <a:buFont typeface="Arial" panose="020B0604020202020204" pitchFamily="34" charset="0"/>
                        <a:buChar char="•"/>
                      </a:pPr>
                      <a:r>
                        <a:rPr lang="en-US" sz="900" kern="1200" dirty="0">
                          <a:solidFill>
                            <a:schemeClr val="tx1"/>
                          </a:solidFill>
                          <a:latin typeface="Segoe UI" panose="020B0502040204020203" pitchFamily="34" charset="0"/>
                          <a:ea typeface="+mn-ea"/>
                          <a:cs typeface="Segoe UI" panose="020B0502040204020203" pitchFamily="34" charset="0"/>
                        </a:rPr>
                        <a:t>Your workloads depend on claims-based authentication using protocols like Kerberos or NTLM.</a:t>
                      </a:r>
                    </a:p>
                    <a:p>
                      <a:pPr marL="171450" indent="-171450">
                        <a:buFont typeface="Arial" panose="020B0604020202020204" pitchFamily="34" charset="0"/>
                        <a:buChar char="•"/>
                      </a:pPr>
                      <a:r>
                        <a:rPr lang="en-US" sz="900" kern="1200" dirty="0">
                          <a:solidFill>
                            <a:schemeClr val="tx1"/>
                          </a:solidFill>
                          <a:latin typeface="Segoe UI" panose="020B0502040204020203" pitchFamily="34" charset="0"/>
                          <a:ea typeface="+mn-ea"/>
                          <a:cs typeface="Segoe UI" panose="020B0502040204020203" pitchFamily="34" charset="0"/>
                        </a:rPr>
                        <a:t>Your workload virtual machines need to be domain-joined for management or application of Active Directory group policy purposes.</a:t>
                      </a:r>
                    </a:p>
                    <a:p>
                      <a:endParaRPr lang="en-US" sz="900" dirty="0">
                        <a:latin typeface="Segoe UI" panose="020B0502040204020203" pitchFamily="34" charset="0"/>
                        <a:cs typeface="Segoe UI" panose="020B0502040204020203" pitchFamily="34" charset="0"/>
                      </a:endParaRPr>
                    </a:p>
                  </a:txBody>
                  <a:tcPr marL="67446" marR="67446" marT="33723" marB="33723"/>
                </a:tc>
                <a:tc>
                  <a:txBody>
                    <a:bodyPr/>
                    <a:lstStyle/>
                    <a:p>
                      <a:pPr marL="171450" indent="-171450">
                        <a:buFont typeface="Arial" panose="020B0604020202020204" pitchFamily="34" charset="0"/>
                        <a:buChar char="•"/>
                      </a:pPr>
                      <a:r>
                        <a:rPr lang="en-US" sz="900" dirty="0">
                          <a:latin typeface="Segoe UI" panose="020B0502040204020203" pitchFamily="34" charset="0"/>
                          <a:cs typeface="Segoe UI" panose="020B0502040204020203" pitchFamily="34" charset="0"/>
                        </a:rPr>
                        <a:t>You need single sign on capability across multiple identity management systems</a:t>
                      </a:r>
                    </a:p>
                  </a:txBody>
                  <a:tcPr marL="67446" marR="67446" marT="33723" marB="33723"/>
                </a:tc>
                <a:extLst>
                  <a:ext uri="{0D108BD9-81ED-4DB2-BD59-A6C34878D82A}">
                    <a16:rowId xmlns:a16="http://schemas.microsoft.com/office/drawing/2014/main" val="2712141786"/>
                  </a:ext>
                </a:extLst>
              </a:tr>
            </a:tbl>
          </a:graphicData>
        </a:graphic>
      </p:graphicFrame>
    </p:spTree>
    <p:extLst>
      <p:ext uri="{BB962C8B-B14F-4D97-AF65-F5344CB8AC3E}">
        <p14:creationId xmlns:p14="http://schemas.microsoft.com/office/powerpoint/2010/main" val="4200656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39BB-624F-EFB7-4266-38BE8498F18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F255AE7-1F61-D635-AB6C-144818D44CE7}"/>
              </a:ext>
            </a:extLst>
          </p:cNvPr>
          <p:cNvSpPr txBox="1"/>
          <p:nvPr/>
        </p:nvSpPr>
        <p:spPr>
          <a:xfrm>
            <a:off x="1008186" y="2716796"/>
            <a:ext cx="9683260" cy="769441"/>
          </a:xfrm>
          <a:prstGeom prst="rect">
            <a:avLst/>
          </a:prstGeom>
          <a:noFill/>
        </p:spPr>
        <p:txBody>
          <a:bodyPr wrap="square">
            <a:spAutoFit/>
          </a:bodyPr>
          <a:lstStyle/>
          <a:p>
            <a:r>
              <a:rPr lang="en-CA" sz="4400" b="1" dirty="0"/>
              <a:t>Role Based Access Control (RBAC)</a:t>
            </a:r>
          </a:p>
        </p:txBody>
      </p:sp>
    </p:spTree>
    <p:extLst>
      <p:ext uri="{BB962C8B-B14F-4D97-AF65-F5344CB8AC3E}">
        <p14:creationId xmlns:p14="http://schemas.microsoft.com/office/powerpoint/2010/main" val="4243657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59523-FEA6-F654-5963-3314E0124CE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E1FC68-97CC-2FFE-604A-A42A6C4CAA81}"/>
              </a:ext>
            </a:extLst>
          </p:cNvPr>
          <p:cNvSpPr txBox="1"/>
          <p:nvPr/>
        </p:nvSpPr>
        <p:spPr>
          <a:xfrm>
            <a:off x="234462" y="219781"/>
            <a:ext cx="8053753" cy="523220"/>
          </a:xfrm>
          <a:prstGeom prst="rect">
            <a:avLst/>
          </a:prstGeom>
          <a:noFill/>
        </p:spPr>
        <p:txBody>
          <a:bodyPr wrap="square">
            <a:spAutoFit/>
          </a:bodyPr>
          <a:lstStyle/>
          <a:p>
            <a:r>
              <a:rPr lang="en-CA" sz="2800" b="1" dirty="0"/>
              <a:t>Azure Role-Based Access Control (RBAC)</a:t>
            </a:r>
          </a:p>
        </p:txBody>
      </p:sp>
      <p:sp>
        <p:nvSpPr>
          <p:cNvPr id="3" name="Text Placeholder 5">
            <a:extLst>
              <a:ext uri="{FF2B5EF4-FFF2-40B4-BE49-F238E27FC236}">
                <a16:creationId xmlns:a16="http://schemas.microsoft.com/office/drawing/2014/main" id="{AF582009-311D-722B-2559-362EF3C19D8D}"/>
              </a:ext>
            </a:extLst>
          </p:cNvPr>
          <p:cNvSpPr txBox="1">
            <a:spLocks/>
          </p:cNvSpPr>
          <p:nvPr/>
        </p:nvSpPr>
        <p:spPr>
          <a:xfrm>
            <a:off x="234461" y="1409112"/>
            <a:ext cx="6072553" cy="3573195"/>
          </a:xfrm>
          <a:prstGeom prst="rect">
            <a:avLst/>
          </a:prstGeom>
        </p:spPr>
        <p:txBody>
          <a:bodyPr/>
          <a:lstStyle>
            <a:lvl1pPr algn="l" rtl="0" fontAlgn="base">
              <a:lnSpc>
                <a:spcPct val="120000"/>
              </a:lnSpc>
              <a:spcBef>
                <a:spcPct val="20000"/>
              </a:spcBef>
              <a:spcAft>
                <a:spcPct val="0"/>
              </a:spcAft>
              <a:buFont typeface="+mj-lt"/>
              <a:defRPr sz="1428">
                <a:solidFill>
                  <a:schemeClr val="bg1"/>
                </a:solidFill>
                <a:latin typeface="+mn-lt"/>
                <a:ea typeface="Segoe Pro Light"/>
                <a:cs typeface="Segoe Pro Light"/>
              </a:defRPr>
            </a:lvl1pPr>
            <a:lvl2pPr algn="l" rtl="0" fontAlgn="base">
              <a:lnSpc>
                <a:spcPct val="120000"/>
              </a:lnSpc>
              <a:spcBef>
                <a:spcPct val="20000"/>
              </a:spcBef>
              <a:spcAft>
                <a:spcPct val="0"/>
              </a:spcAft>
              <a:defRPr sz="1428">
                <a:solidFill>
                  <a:schemeClr val="bg1"/>
                </a:solidFill>
                <a:latin typeface="+mn-lt"/>
                <a:ea typeface="Segoe Pro Light"/>
                <a:cs typeface="Segoe Pro Light"/>
              </a:defRPr>
            </a:lvl2pPr>
            <a:lvl3pPr marL="349724" indent="-349724" algn="l" rtl="0" fontAlgn="base">
              <a:lnSpc>
                <a:spcPct val="120000"/>
              </a:lnSpc>
              <a:spcBef>
                <a:spcPct val="20000"/>
              </a:spcBef>
              <a:spcAft>
                <a:spcPct val="0"/>
              </a:spcAft>
              <a:defRPr sz="1428">
                <a:solidFill>
                  <a:schemeClr val="bg1"/>
                </a:solidFill>
                <a:latin typeface="+mn-lt"/>
                <a:ea typeface="Segoe Pro Light"/>
                <a:cs typeface="Segoe Pro Light"/>
              </a:defRPr>
            </a:lvl3pPr>
            <a:lvl4pPr algn="l" rtl="0" fontAlgn="base">
              <a:lnSpc>
                <a:spcPct val="120000"/>
              </a:lnSpc>
              <a:spcBef>
                <a:spcPct val="20000"/>
              </a:spcBef>
              <a:spcAft>
                <a:spcPct val="0"/>
              </a:spcAft>
              <a:buFont typeface="Arial" panose="020B0604020202020204" pitchFamily="34" charset="0"/>
              <a:defRPr sz="1428">
                <a:solidFill>
                  <a:schemeClr val="bg1"/>
                </a:solidFill>
                <a:latin typeface="+mn-lt"/>
                <a:ea typeface="Segoe Pro Light"/>
                <a:cs typeface="Segoe Pro Light"/>
              </a:defRPr>
            </a:lvl4pPr>
            <a:lvl5pPr algn="l" rtl="0" fontAlgn="base">
              <a:lnSpc>
                <a:spcPct val="120000"/>
              </a:lnSpc>
              <a:spcBef>
                <a:spcPct val="20000"/>
              </a:spcBef>
              <a:spcAft>
                <a:spcPct val="0"/>
              </a:spcAft>
              <a:defRPr sz="1428">
                <a:solidFill>
                  <a:schemeClr val="bg1"/>
                </a:solidFill>
                <a:latin typeface="+mn-lt"/>
                <a:ea typeface="Segoe Pro Light"/>
                <a:cs typeface="Segoe Pro Light"/>
              </a:defRPr>
            </a:lvl5pPr>
            <a:lvl6pPr marL="466298" algn="l" rtl="0" fontAlgn="base">
              <a:lnSpc>
                <a:spcPct val="120000"/>
              </a:lnSpc>
              <a:spcBef>
                <a:spcPct val="20000"/>
              </a:spcBef>
              <a:spcAft>
                <a:spcPct val="0"/>
              </a:spcAft>
              <a:defRPr sz="1428">
                <a:solidFill>
                  <a:schemeClr val="bg1"/>
                </a:solidFill>
                <a:latin typeface="+mn-lt"/>
                <a:ea typeface="Segoe Pro Light"/>
                <a:cs typeface="Segoe Pro Light"/>
              </a:defRPr>
            </a:lvl6pPr>
            <a:lvl7pPr marL="932597" algn="l" rtl="0" fontAlgn="base">
              <a:lnSpc>
                <a:spcPct val="120000"/>
              </a:lnSpc>
              <a:spcBef>
                <a:spcPct val="20000"/>
              </a:spcBef>
              <a:spcAft>
                <a:spcPct val="0"/>
              </a:spcAft>
              <a:defRPr sz="1428">
                <a:solidFill>
                  <a:schemeClr val="bg1"/>
                </a:solidFill>
                <a:latin typeface="+mn-lt"/>
                <a:ea typeface="Segoe Pro Light"/>
                <a:cs typeface="Segoe Pro Light"/>
              </a:defRPr>
            </a:lvl7pPr>
            <a:lvl8pPr marL="1398895" algn="l" rtl="0" fontAlgn="base">
              <a:lnSpc>
                <a:spcPct val="120000"/>
              </a:lnSpc>
              <a:spcBef>
                <a:spcPct val="20000"/>
              </a:spcBef>
              <a:spcAft>
                <a:spcPct val="0"/>
              </a:spcAft>
              <a:defRPr sz="1428">
                <a:solidFill>
                  <a:schemeClr val="bg1"/>
                </a:solidFill>
                <a:latin typeface="+mn-lt"/>
                <a:ea typeface="Segoe Pro Light"/>
                <a:cs typeface="Segoe Pro Light"/>
              </a:defRPr>
            </a:lvl8pPr>
            <a:lvl9pPr marL="1865193" algn="l" rtl="0" fontAlgn="base">
              <a:lnSpc>
                <a:spcPct val="120000"/>
              </a:lnSpc>
              <a:spcBef>
                <a:spcPct val="20000"/>
              </a:spcBef>
              <a:spcAft>
                <a:spcPct val="0"/>
              </a:spcAft>
              <a:defRPr sz="1428">
                <a:solidFill>
                  <a:schemeClr val="bg1"/>
                </a:solidFill>
                <a:latin typeface="+mn-lt"/>
                <a:ea typeface="Segoe Pro Light"/>
                <a:cs typeface="Segoe Pro Light"/>
              </a:defRPr>
            </a:lvl9pPr>
          </a:lstStyle>
          <a:p>
            <a:pPr marL="252163" marR="0" lvl="0" indent="-252163" algn="l" defTabSz="672434" rtl="0" eaLnBrk="1" fontAlgn="base" latinLnBrk="0" hangingPunct="1">
              <a:lnSpc>
                <a:spcPct val="120000"/>
              </a:lnSpc>
              <a:spcBef>
                <a:spcPct val="2000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E7E6E6">
                    <a:lumMod val="10000"/>
                  </a:srgbClr>
                </a:solidFill>
                <a:effectLst/>
                <a:uLnTx/>
                <a:uFillTx/>
              </a:rPr>
              <a:t>Fine-grained access control to Azure “control plane”</a:t>
            </a:r>
          </a:p>
          <a:p>
            <a:pPr marL="252163" marR="0" lvl="0" indent="-252163" algn="l" defTabSz="672434" rtl="0" eaLnBrk="1" fontAlgn="base" latinLnBrk="0" hangingPunct="1">
              <a:lnSpc>
                <a:spcPct val="120000"/>
              </a:lnSpc>
              <a:spcBef>
                <a:spcPct val="2000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E7E6E6">
                    <a:lumMod val="10000"/>
                  </a:srgbClr>
                </a:solidFill>
                <a:effectLst/>
                <a:uLnTx/>
                <a:uFillTx/>
              </a:rPr>
              <a:t>Grant access by assigning </a:t>
            </a:r>
            <a:r>
              <a:rPr kumimoji="0" lang="en-US" sz="1800" b="0" i="0" u="sng" strike="noStrike" kern="0" cap="none" spc="0" normalizeH="0" baseline="0" noProof="0" dirty="0">
                <a:ln>
                  <a:noFill/>
                </a:ln>
                <a:solidFill>
                  <a:srgbClr val="E7E6E6">
                    <a:lumMod val="10000"/>
                  </a:srgbClr>
                </a:solidFill>
                <a:effectLst/>
                <a:uLnTx/>
                <a:uFillTx/>
              </a:rPr>
              <a:t>Security Principal</a:t>
            </a:r>
            <a:r>
              <a:rPr kumimoji="0" lang="en-US" sz="1800" b="0" i="0" u="none" strike="noStrike" kern="0" cap="none" spc="0" normalizeH="0" baseline="0" noProof="0" dirty="0">
                <a:ln>
                  <a:noFill/>
                </a:ln>
                <a:solidFill>
                  <a:srgbClr val="E7E6E6">
                    <a:lumMod val="10000"/>
                  </a:srgbClr>
                </a:solidFill>
                <a:effectLst/>
                <a:uLnTx/>
                <a:uFillTx/>
              </a:rPr>
              <a:t> a </a:t>
            </a:r>
            <a:r>
              <a:rPr kumimoji="0" lang="en-US" sz="1800" b="0" i="0" u="sng" strike="noStrike" kern="0" cap="none" spc="0" normalizeH="0" baseline="0" noProof="0" dirty="0">
                <a:ln>
                  <a:noFill/>
                </a:ln>
                <a:solidFill>
                  <a:srgbClr val="E7E6E6">
                    <a:lumMod val="10000"/>
                  </a:srgbClr>
                </a:solidFill>
                <a:effectLst/>
                <a:uLnTx/>
                <a:uFillTx/>
              </a:rPr>
              <a:t>Role</a:t>
            </a:r>
            <a:r>
              <a:rPr kumimoji="0" lang="en-US" sz="1800" b="0" i="0" u="none" strike="noStrike" kern="0" cap="none" spc="0" normalizeH="0" baseline="0" noProof="0" dirty="0">
                <a:ln>
                  <a:noFill/>
                </a:ln>
                <a:solidFill>
                  <a:srgbClr val="E7E6E6">
                    <a:lumMod val="10000"/>
                  </a:srgbClr>
                </a:solidFill>
                <a:effectLst/>
                <a:uLnTx/>
                <a:uFillTx/>
              </a:rPr>
              <a:t> at a </a:t>
            </a:r>
            <a:r>
              <a:rPr kumimoji="0" lang="en-US" sz="1800" b="0" i="0" u="sng" strike="noStrike" kern="0" cap="none" spc="0" normalizeH="0" baseline="0" noProof="0" dirty="0">
                <a:ln>
                  <a:noFill/>
                </a:ln>
                <a:solidFill>
                  <a:srgbClr val="E7E6E6">
                    <a:lumMod val="10000"/>
                  </a:srgbClr>
                </a:solidFill>
                <a:effectLst/>
                <a:uLnTx/>
                <a:uFillTx/>
              </a:rPr>
              <a:t>Scope</a:t>
            </a:r>
          </a:p>
          <a:p>
            <a:pPr marL="938084" marR="0" lvl="3" indent="-252163" algn="l" defTabSz="672434" rtl="0" eaLnBrk="1" fontAlgn="base" latinLnBrk="0" hangingPunct="1">
              <a:lnSpc>
                <a:spcPct val="120000"/>
              </a:lnSpc>
              <a:spcBef>
                <a:spcPct val="2000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E7E6E6">
                    <a:lumMod val="10000"/>
                  </a:srgbClr>
                </a:solidFill>
                <a:effectLst/>
                <a:uLnTx/>
                <a:uFillTx/>
              </a:rPr>
              <a:t>Security Principal:  User, group, or service principal</a:t>
            </a:r>
          </a:p>
          <a:p>
            <a:pPr marL="938084" marR="0" lvl="3" indent="-252163" algn="l" defTabSz="672434" rtl="0" eaLnBrk="1" fontAlgn="base" latinLnBrk="0" hangingPunct="1">
              <a:lnSpc>
                <a:spcPct val="120000"/>
              </a:lnSpc>
              <a:spcBef>
                <a:spcPct val="2000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E7E6E6">
                    <a:lumMod val="10000"/>
                  </a:srgbClr>
                </a:solidFill>
                <a:effectLst/>
                <a:uLnTx/>
                <a:uFillTx/>
              </a:rPr>
              <a:t>Role:  Built-in or custom role</a:t>
            </a:r>
          </a:p>
          <a:p>
            <a:pPr marL="938084" marR="0" lvl="3" indent="-252163" algn="l" defTabSz="672434" rtl="0" eaLnBrk="1" fontAlgn="base" latinLnBrk="0" hangingPunct="1">
              <a:lnSpc>
                <a:spcPct val="120000"/>
              </a:lnSpc>
              <a:spcBef>
                <a:spcPct val="2000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E7E6E6">
                    <a:lumMod val="10000"/>
                  </a:srgbClr>
                </a:solidFill>
                <a:effectLst/>
                <a:uLnTx/>
                <a:uFillTx/>
              </a:rPr>
              <a:t>Scope:  Subscription, resource group, or resource</a:t>
            </a:r>
          </a:p>
          <a:p>
            <a:pPr marL="252163" marR="0" lvl="0" indent="-252163" algn="l" defTabSz="672434" rtl="0" eaLnBrk="1" fontAlgn="base" latinLnBrk="0" hangingPunct="1">
              <a:lnSpc>
                <a:spcPct val="120000"/>
              </a:lnSpc>
              <a:spcBef>
                <a:spcPct val="2000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srgbClr val="E7E6E6">
                    <a:lumMod val="10000"/>
                  </a:srgbClr>
                </a:solidFill>
                <a:effectLst/>
                <a:uLnTx/>
                <a:uFillTx/>
              </a:rPr>
              <a:t>Assignments are inherited down the resource hierarchy</a:t>
            </a:r>
          </a:p>
        </p:txBody>
      </p:sp>
      <p:grpSp>
        <p:nvGrpSpPr>
          <p:cNvPr id="4" name="Group 3">
            <a:extLst>
              <a:ext uri="{FF2B5EF4-FFF2-40B4-BE49-F238E27FC236}">
                <a16:creationId xmlns:a16="http://schemas.microsoft.com/office/drawing/2014/main" id="{C6F0B923-1D6B-B04D-6314-CCB308006990}"/>
              </a:ext>
            </a:extLst>
          </p:cNvPr>
          <p:cNvGrpSpPr/>
          <p:nvPr/>
        </p:nvGrpSpPr>
        <p:grpSpPr>
          <a:xfrm>
            <a:off x="7241345" y="1061525"/>
            <a:ext cx="3115240" cy="3655957"/>
            <a:chOff x="7011260" y="1071971"/>
            <a:chExt cx="5121294" cy="5785656"/>
          </a:xfrm>
        </p:grpSpPr>
        <p:pic>
          <p:nvPicPr>
            <p:cNvPr id="6" name="Picture 5">
              <a:extLst>
                <a:ext uri="{FF2B5EF4-FFF2-40B4-BE49-F238E27FC236}">
                  <a16:creationId xmlns:a16="http://schemas.microsoft.com/office/drawing/2014/main" id="{D07C7D0F-284C-8D20-BFFF-6A8A2AF4A4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1260" y="1164459"/>
              <a:ext cx="5121294" cy="5693168"/>
            </a:xfrm>
            <a:prstGeom prst="rect">
              <a:avLst/>
            </a:prstGeom>
          </p:spPr>
        </p:pic>
        <p:sp>
          <p:nvSpPr>
            <p:cNvPr id="7" name="Rectangle 6">
              <a:extLst>
                <a:ext uri="{FF2B5EF4-FFF2-40B4-BE49-F238E27FC236}">
                  <a16:creationId xmlns:a16="http://schemas.microsoft.com/office/drawing/2014/main" id="{EABB2398-9FAF-0CBC-5DB5-CDC99BB41885}"/>
                </a:ext>
              </a:extLst>
            </p:cNvPr>
            <p:cNvSpPr/>
            <p:nvPr/>
          </p:nvSpPr>
          <p:spPr>
            <a:xfrm>
              <a:off x="8105902" y="1071971"/>
              <a:ext cx="2852669" cy="116575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15"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8" name="Rectangle 7">
              <a:extLst>
                <a:ext uri="{FF2B5EF4-FFF2-40B4-BE49-F238E27FC236}">
                  <a16:creationId xmlns:a16="http://schemas.microsoft.com/office/drawing/2014/main" id="{0BC24368-F5CF-2903-9051-B34B3F201DDB}"/>
                </a:ext>
              </a:extLst>
            </p:cNvPr>
            <p:cNvSpPr/>
            <p:nvPr/>
          </p:nvSpPr>
          <p:spPr>
            <a:xfrm>
              <a:off x="7120270" y="4420199"/>
              <a:ext cx="1654913" cy="243742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15"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9" name="Rectangle 8">
              <a:extLst>
                <a:ext uri="{FF2B5EF4-FFF2-40B4-BE49-F238E27FC236}">
                  <a16:creationId xmlns:a16="http://schemas.microsoft.com/office/drawing/2014/main" id="{6C5679B2-7D88-4520-3DAC-8D42E4B70BC6}"/>
                </a:ext>
              </a:extLst>
            </p:cNvPr>
            <p:cNvSpPr/>
            <p:nvPr/>
          </p:nvSpPr>
          <p:spPr>
            <a:xfrm>
              <a:off x="10131114" y="4373046"/>
              <a:ext cx="2001440" cy="243742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15"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3750065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83A33-271D-E84C-F714-AA4065F2BAF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687F71-37E1-5678-9B07-11761B757C32}"/>
              </a:ext>
            </a:extLst>
          </p:cNvPr>
          <p:cNvSpPr txBox="1"/>
          <p:nvPr/>
        </p:nvSpPr>
        <p:spPr>
          <a:xfrm>
            <a:off x="234462" y="219781"/>
            <a:ext cx="8053753" cy="523220"/>
          </a:xfrm>
          <a:prstGeom prst="rect">
            <a:avLst/>
          </a:prstGeom>
          <a:noFill/>
        </p:spPr>
        <p:txBody>
          <a:bodyPr wrap="square">
            <a:spAutoFit/>
          </a:bodyPr>
          <a:lstStyle/>
          <a:p>
            <a:r>
              <a:rPr lang="en-CA" sz="2800" b="1" dirty="0"/>
              <a:t>Azure Role-Based Access Control (RBAC)</a:t>
            </a:r>
          </a:p>
        </p:txBody>
      </p:sp>
      <p:sp>
        <p:nvSpPr>
          <p:cNvPr id="2" name="TextBox 1">
            <a:extLst>
              <a:ext uri="{FF2B5EF4-FFF2-40B4-BE49-F238E27FC236}">
                <a16:creationId xmlns:a16="http://schemas.microsoft.com/office/drawing/2014/main" id="{03E2943A-4956-B255-CCB9-2184A7945445}"/>
              </a:ext>
            </a:extLst>
          </p:cNvPr>
          <p:cNvSpPr txBox="1"/>
          <p:nvPr/>
        </p:nvSpPr>
        <p:spPr>
          <a:xfrm>
            <a:off x="367864" y="1086738"/>
            <a:ext cx="5831596" cy="470898"/>
          </a:xfrm>
          <a:prstGeom prst="rect">
            <a:avLst/>
          </a:prstGeom>
          <a:noFill/>
        </p:spPr>
        <p:txBody>
          <a:bodyPr wrap="none" lIns="137160" tIns="109728" rIns="137160" bIns="109728" rtlCol="0">
            <a:spAutoFit/>
          </a:bodyPr>
          <a:lstStyle/>
          <a:p>
            <a:pPr marL="0" marR="0" lvl="0" indent="0" algn="ctr" defTabSz="699539" rtl="0" eaLnBrk="1" fontAlgn="auto" latinLnBrk="0" hangingPunct="1">
              <a:lnSpc>
                <a:spcPct val="90000"/>
              </a:lnSpc>
              <a:spcBef>
                <a:spcPts val="0"/>
              </a:spcBef>
              <a:spcAft>
                <a:spcPts val="450"/>
              </a:spcAft>
              <a:buClrTx/>
              <a:buSzTx/>
              <a:buFontTx/>
              <a:buNone/>
              <a:tabLst/>
              <a:defRPr/>
            </a:pPr>
            <a:r>
              <a:rPr kumimoji="0" lang="en-US" sz="1800" b="0" i="0" u="none" strike="noStrike" kern="1200" cap="none" spc="0" normalizeH="0" baseline="0" noProof="0" dirty="0">
                <a:ln>
                  <a:noFill/>
                </a:ln>
                <a:solidFill>
                  <a:srgbClr val="1A1A1A"/>
                </a:solidFill>
                <a:effectLst/>
                <a:uLnTx/>
                <a:uFillTx/>
                <a:ea typeface="+mn-ea"/>
                <a:cs typeface="+mn-cs"/>
              </a:rPr>
              <a:t>“Use minimum role assignments to get normal work done.”</a:t>
            </a:r>
          </a:p>
        </p:txBody>
      </p:sp>
      <p:graphicFrame>
        <p:nvGraphicFramePr>
          <p:cNvPr id="22" name="Table 21">
            <a:extLst>
              <a:ext uri="{FF2B5EF4-FFF2-40B4-BE49-F238E27FC236}">
                <a16:creationId xmlns:a16="http://schemas.microsoft.com/office/drawing/2014/main" id="{6EBFADCB-7443-8725-391D-5251F97EA087}"/>
              </a:ext>
            </a:extLst>
          </p:cNvPr>
          <p:cNvGraphicFramePr>
            <a:graphicFrameLocks noGrp="1"/>
          </p:cNvGraphicFramePr>
          <p:nvPr>
            <p:extLst>
              <p:ext uri="{D42A27DB-BD31-4B8C-83A1-F6EECF244321}">
                <p14:modId xmlns:p14="http://schemas.microsoft.com/office/powerpoint/2010/main" val="3794609156"/>
              </p:ext>
            </p:extLst>
          </p:nvPr>
        </p:nvGraphicFramePr>
        <p:xfrm>
          <a:off x="553768" y="2073419"/>
          <a:ext cx="8263890" cy="3393012"/>
        </p:xfrm>
        <a:graphic>
          <a:graphicData uri="http://schemas.openxmlformats.org/drawingml/2006/table">
            <a:tbl>
              <a:tblPr firstRow="1" bandRow="1">
                <a:tableStyleId>{5940675A-B579-460E-94D1-54222C63F5DA}</a:tableStyleId>
              </a:tblPr>
              <a:tblGrid>
                <a:gridCol w="1652778">
                  <a:extLst>
                    <a:ext uri="{9D8B030D-6E8A-4147-A177-3AD203B41FA5}">
                      <a16:colId xmlns:a16="http://schemas.microsoft.com/office/drawing/2014/main" val="813604122"/>
                    </a:ext>
                  </a:extLst>
                </a:gridCol>
                <a:gridCol w="1652778">
                  <a:extLst>
                    <a:ext uri="{9D8B030D-6E8A-4147-A177-3AD203B41FA5}">
                      <a16:colId xmlns:a16="http://schemas.microsoft.com/office/drawing/2014/main" val="3307734309"/>
                    </a:ext>
                  </a:extLst>
                </a:gridCol>
                <a:gridCol w="1652778">
                  <a:extLst>
                    <a:ext uri="{9D8B030D-6E8A-4147-A177-3AD203B41FA5}">
                      <a16:colId xmlns:a16="http://schemas.microsoft.com/office/drawing/2014/main" val="3211117242"/>
                    </a:ext>
                  </a:extLst>
                </a:gridCol>
                <a:gridCol w="1652778">
                  <a:extLst>
                    <a:ext uri="{9D8B030D-6E8A-4147-A177-3AD203B41FA5}">
                      <a16:colId xmlns:a16="http://schemas.microsoft.com/office/drawing/2014/main" val="2434212200"/>
                    </a:ext>
                  </a:extLst>
                </a:gridCol>
                <a:gridCol w="1652778">
                  <a:extLst>
                    <a:ext uri="{9D8B030D-6E8A-4147-A177-3AD203B41FA5}">
                      <a16:colId xmlns:a16="http://schemas.microsoft.com/office/drawing/2014/main" val="1839643801"/>
                    </a:ext>
                  </a:extLst>
                </a:gridCol>
              </a:tblGrid>
              <a:tr h="494958">
                <a:tc>
                  <a:txBody>
                    <a:bodyPr/>
                    <a:lstStyle/>
                    <a:p>
                      <a:endParaRPr lang="en-US" sz="1000" dirty="0"/>
                    </a:p>
                  </a:txBody>
                  <a:tcPr marL="68580" marR="68580" marT="34290" marB="34290"/>
                </a:tc>
                <a:tc>
                  <a:txBody>
                    <a:bodyPr/>
                    <a:lstStyle/>
                    <a:p>
                      <a:r>
                        <a:rPr lang="en-US" sz="1000" dirty="0"/>
                        <a:t>Reader</a:t>
                      </a:r>
                    </a:p>
                  </a:txBody>
                  <a:tcPr marL="68580" marR="68580" marT="34290" marB="34290"/>
                </a:tc>
                <a:tc>
                  <a:txBody>
                    <a:bodyPr/>
                    <a:lstStyle/>
                    <a:p>
                      <a:r>
                        <a:rPr lang="en-US" sz="1000"/>
                        <a:t>Resource-specific or Custom role</a:t>
                      </a:r>
                    </a:p>
                  </a:txBody>
                  <a:tcPr marL="68580" marR="68580" marT="34290" marB="34290"/>
                </a:tc>
                <a:tc>
                  <a:txBody>
                    <a:bodyPr/>
                    <a:lstStyle/>
                    <a:p>
                      <a:r>
                        <a:rPr lang="en-US" sz="1000"/>
                        <a:t>Contributor</a:t>
                      </a:r>
                    </a:p>
                  </a:txBody>
                  <a:tcPr marL="68580" marR="68580" marT="34290" marB="34290"/>
                </a:tc>
                <a:tc>
                  <a:txBody>
                    <a:bodyPr/>
                    <a:lstStyle/>
                    <a:p>
                      <a:r>
                        <a:rPr lang="en-US" sz="1000"/>
                        <a:t>Owner</a:t>
                      </a:r>
                    </a:p>
                  </a:txBody>
                  <a:tcPr marL="68580" marR="68580" marT="34290" marB="34290"/>
                </a:tc>
                <a:extLst>
                  <a:ext uri="{0D108BD9-81ED-4DB2-BD59-A6C34878D82A}">
                    <a16:rowId xmlns:a16="http://schemas.microsoft.com/office/drawing/2014/main" val="1238097895"/>
                  </a:ext>
                </a:extLst>
              </a:tr>
              <a:tr h="641771">
                <a:tc>
                  <a:txBody>
                    <a:bodyPr/>
                    <a:lstStyle/>
                    <a:p>
                      <a:r>
                        <a:rPr lang="en-CA" sz="1000" dirty="0"/>
                        <a:t>Management Group</a:t>
                      </a:r>
                      <a:endParaRPr lang="en-US" sz="1000" dirty="0"/>
                    </a:p>
                  </a:txBody>
                  <a:tcPr marL="68580" marR="68580" marT="34290" marB="34290"/>
                </a:tc>
                <a:tc>
                  <a:txBody>
                    <a:bodyPr/>
                    <a:lstStyle/>
                    <a:p>
                      <a:endParaRPr lang="en-US" sz="1000" dirty="0"/>
                    </a:p>
                  </a:txBody>
                  <a:tcPr marL="68580" marR="68580" marT="34290" marB="34290"/>
                </a:tc>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extLst>
                  <a:ext uri="{0D108BD9-81ED-4DB2-BD59-A6C34878D82A}">
                    <a16:rowId xmlns:a16="http://schemas.microsoft.com/office/drawing/2014/main" val="2968584961"/>
                  </a:ext>
                </a:extLst>
              </a:tr>
              <a:tr h="497840">
                <a:tc>
                  <a:txBody>
                    <a:bodyPr/>
                    <a:lstStyle/>
                    <a:p>
                      <a:r>
                        <a:rPr lang="en-US" sz="1000" dirty="0"/>
                        <a:t>Subscription</a:t>
                      </a:r>
                    </a:p>
                    <a:p>
                      <a:endParaRPr lang="en-US" sz="1000" dirty="0"/>
                    </a:p>
                    <a:p>
                      <a:endParaRPr lang="en-US" sz="1000" dirty="0"/>
                    </a:p>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extLst>
                  <a:ext uri="{0D108BD9-81ED-4DB2-BD59-A6C34878D82A}">
                    <a16:rowId xmlns:a16="http://schemas.microsoft.com/office/drawing/2014/main" val="2253018243"/>
                  </a:ext>
                </a:extLst>
              </a:tr>
              <a:tr h="591820">
                <a:tc>
                  <a:txBody>
                    <a:bodyPr/>
                    <a:lstStyle/>
                    <a:p>
                      <a:r>
                        <a:rPr lang="en-US" sz="1000" dirty="0"/>
                        <a:t>Resource Group</a:t>
                      </a:r>
                    </a:p>
                    <a:p>
                      <a:endParaRPr lang="en-US" sz="1000" dirty="0"/>
                    </a:p>
                    <a:p>
                      <a:endParaRPr lang="en-US" sz="1000" dirty="0"/>
                    </a:p>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extLst>
                  <a:ext uri="{0D108BD9-81ED-4DB2-BD59-A6C34878D82A}">
                    <a16:rowId xmlns:a16="http://schemas.microsoft.com/office/drawing/2014/main" val="4164217137"/>
                  </a:ext>
                </a:extLst>
              </a:tr>
              <a:tr h="899923">
                <a:tc>
                  <a:txBody>
                    <a:bodyPr/>
                    <a:lstStyle/>
                    <a:p>
                      <a:r>
                        <a:rPr lang="en-US" sz="1000" dirty="0"/>
                        <a:t>Resource</a:t>
                      </a:r>
                    </a:p>
                    <a:p>
                      <a:endParaRPr lang="en-US" sz="1000" dirty="0"/>
                    </a:p>
                    <a:p>
                      <a:endParaRPr lang="en-US" sz="1000" dirty="0"/>
                    </a:p>
                    <a:p>
                      <a:endParaRPr lang="en-US" sz="1000" dirty="0"/>
                    </a:p>
                  </a:txBody>
                  <a:tcPr marL="68580" marR="68580" marT="34290" marB="34290"/>
                </a:tc>
                <a:tc>
                  <a:txBody>
                    <a:bodyPr/>
                    <a:lstStyle/>
                    <a:p>
                      <a:endParaRPr lang="en-US" sz="1000" dirty="0"/>
                    </a:p>
                  </a:txBody>
                  <a:tcPr marL="68580" marR="68580" marT="34290" marB="34290"/>
                </a:tc>
                <a:tc>
                  <a:txBody>
                    <a:bodyPr/>
                    <a:lstStyle/>
                    <a:p>
                      <a:endParaRPr lang="en-US" sz="1000"/>
                    </a:p>
                  </a:txBody>
                  <a:tcPr marL="68580" marR="68580" marT="34290" marB="34290"/>
                </a:tc>
                <a:tc>
                  <a:txBody>
                    <a:bodyPr/>
                    <a:lstStyle/>
                    <a:p>
                      <a:endParaRPr lang="en-US" sz="1000"/>
                    </a:p>
                  </a:txBody>
                  <a:tcPr marL="68580" marR="68580" marT="34290" marB="34290"/>
                </a:tc>
                <a:tc>
                  <a:txBody>
                    <a:bodyPr/>
                    <a:lstStyle/>
                    <a:p>
                      <a:endParaRPr lang="en-US" sz="1000" dirty="0"/>
                    </a:p>
                  </a:txBody>
                  <a:tcPr marL="68580" marR="68580" marT="34290" marB="34290"/>
                </a:tc>
                <a:extLst>
                  <a:ext uri="{0D108BD9-81ED-4DB2-BD59-A6C34878D82A}">
                    <a16:rowId xmlns:a16="http://schemas.microsoft.com/office/drawing/2014/main" val="976495021"/>
                  </a:ext>
                </a:extLst>
              </a:tr>
            </a:tbl>
          </a:graphicData>
        </a:graphic>
      </p:graphicFrame>
      <p:sp>
        <p:nvSpPr>
          <p:cNvPr id="23" name="Rectangle 22">
            <a:extLst>
              <a:ext uri="{FF2B5EF4-FFF2-40B4-BE49-F238E27FC236}">
                <a16:creationId xmlns:a16="http://schemas.microsoft.com/office/drawing/2014/main" id="{4244B366-1ACF-76FD-EB13-2D8E26B31114}"/>
              </a:ext>
            </a:extLst>
          </p:cNvPr>
          <p:cNvSpPr/>
          <p:nvPr/>
        </p:nvSpPr>
        <p:spPr bwMode="auto">
          <a:xfrm>
            <a:off x="2298079" y="2734041"/>
            <a:ext cx="1370493" cy="1605915"/>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ctr" anchorCtr="0" forceAA="0" compatLnSpc="1">
            <a:prstTxWarp prst="textNoShape">
              <a:avLst/>
            </a:prstTxWarp>
            <a:noAutofit/>
          </a:bodyPr>
          <a:lstStyle/>
          <a:p>
            <a:pPr marL="0" marR="0" lvl="0" indent="0" algn="ctr" defTabSz="699337"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Observers</a:t>
            </a:r>
          </a:p>
        </p:txBody>
      </p:sp>
      <p:sp>
        <p:nvSpPr>
          <p:cNvPr id="24" name="Rectangle 23">
            <a:extLst>
              <a:ext uri="{FF2B5EF4-FFF2-40B4-BE49-F238E27FC236}">
                <a16:creationId xmlns:a16="http://schemas.microsoft.com/office/drawing/2014/main" id="{F759795F-E926-3859-98C5-CC19534718CA}"/>
              </a:ext>
            </a:extLst>
          </p:cNvPr>
          <p:cNvSpPr/>
          <p:nvPr/>
        </p:nvSpPr>
        <p:spPr bwMode="auto">
          <a:xfrm>
            <a:off x="3955558" y="2734040"/>
            <a:ext cx="2914650" cy="1605915"/>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ctr" anchorCtr="0" forceAA="0" compatLnSpc="1">
            <a:prstTxWarp prst="textNoShape">
              <a:avLst/>
            </a:prstTxWarp>
            <a:noAutofit/>
          </a:bodyPr>
          <a:lstStyle/>
          <a:p>
            <a:pPr marL="0" marR="0" lvl="0" indent="0" algn="ctr" defTabSz="699337"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People doing real work</a:t>
            </a:r>
          </a:p>
        </p:txBody>
      </p:sp>
      <p:sp>
        <p:nvSpPr>
          <p:cNvPr id="25" name="Rectangle 24">
            <a:extLst>
              <a:ext uri="{FF2B5EF4-FFF2-40B4-BE49-F238E27FC236}">
                <a16:creationId xmlns:a16="http://schemas.microsoft.com/office/drawing/2014/main" id="{EA761CD5-3AC0-7F04-A4D0-9AD508EF40D7}"/>
              </a:ext>
            </a:extLst>
          </p:cNvPr>
          <p:cNvSpPr/>
          <p:nvPr/>
        </p:nvSpPr>
        <p:spPr bwMode="auto">
          <a:xfrm>
            <a:off x="7281832" y="2734040"/>
            <a:ext cx="1371600" cy="1605915"/>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ctr" anchorCtr="0" forceAA="0" compatLnSpc="1">
            <a:prstTxWarp prst="textNoShape">
              <a:avLst/>
            </a:prstTxWarp>
            <a:noAutofit/>
          </a:bodyPr>
          <a:lstStyle/>
          <a:p>
            <a:pPr marL="0" marR="0" lvl="0" indent="0" algn="ctr" defTabSz="699337"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Top Level Admin</a:t>
            </a:r>
          </a:p>
        </p:txBody>
      </p:sp>
      <p:sp>
        <p:nvSpPr>
          <p:cNvPr id="26" name="Rectangle 25">
            <a:extLst>
              <a:ext uri="{FF2B5EF4-FFF2-40B4-BE49-F238E27FC236}">
                <a16:creationId xmlns:a16="http://schemas.microsoft.com/office/drawing/2014/main" id="{0DD2BC87-55DB-BA96-858B-BEF98429EAF4}"/>
              </a:ext>
            </a:extLst>
          </p:cNvPr>
          <p:cNvSpPr/>
          <p:nvPr/>
        </p:nvSpPr>
        <p:spPr bwMode="auto">
          <a:xfrm>
            <a:off x="2281040" y="4638119"/>
            <a:ext cx="6460418" cy="724913"/>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ctr" anchorCtr="0" forceAA="0" compatLnSpc="1">
            <a:prstTxWarp prst="textNoShape">
              <a:avLst/>
            </a:prstTxWarp>
            <a:noAutofit/>
          </a:bodyPr>
          <a:lstStyle/>
          <a:p>
            <a:pPr marL="0" marR="0" lvl="0" indent="0" algn="ctr" defTabSz="699337"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ea typeface="Segoe UI" pitchFamily="34" charset="0"/>
                <a:cs typeface="Segoe UI" pitchFamily="34" charset="0"/>
              </a:rPr>
              <a:t>Automation or Targeted Debug</a:t>
            </a:r>
          </a:p>
        </p:txBody>
      </p:sp>
    </p:spTree>
    <p:extLst>
      <p:ext uri="{BB962C8B-B14F-4D97-AF65-F5344CB8AC3E}">
        <p14:creationId xmlns:p14="http://schemas.microsoft.com/office/powerpoint/2010/main" val="1767427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011C-4506-483B-3FE7-E2A0277E7C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8BCC855-81DD-1956-D22B-0F5962EF11A5}"/>
              </a:ext>
            </a:extLst>
          </p:cNvPr>
          <p:cNvSpPr txBox="1"/>
          <p:nvPr/>
        </p:nvSpPr>
        <p:spPr>
          <a:xfrm>
            <a:off x="234462" y="219781"/>
            <a:ext cx="8053753" cy="523220"/>
          </a:xfrm>
          <a:prstGeom prst="rect">
            <a:avLst/>
          </a:prstGeom>
          <a:noFill/>
        </p:spPr>
        <p:txBody>
          <a:bodyPr wrap="square">
            <a:spAutoFit/>
          </a:bodyPr>
          <a:lstStyle/>
          <a:p>
            <a:r>
              <a:rPr lang="en-CA" sz="2800" b="1" dirty="0"/>
              <a:t>Custom RBAC Roles</a:t>
            </a:r>
          </a:p>
        </p:txBody>
      </p:sp>
      <p:graphicFrame>
        <p:nvGraphicFramePr>
          <p:cNvPr id="3" name="Content Placeholder 9">
            <a:extLst>
              <a:ext uri="{FF2B5EF4-FFF2-40B4-BE49-F238E27FC236}">
                <a16:creationId xmlns:a16="http://schemas.microsoft.com/office/drawing/2014/main" id="{24D16B78-D086-270F-EF2D-B40CFBCAC0E7}"/>
              </a:ext>
            </a:extLst>
          </p:cNvPr>
          <p:cNvGraphicFramePr>
            <a:graphicFrameLocks/>
          </p:cNvGraphicFramePr>
          <p:nvPr>
            <p:extLst>
              <p:ext uri="{D42A27DB-BD31-4B8C-83A1-F6EECF244321}">
                <p14:modId xmlns:p14="http://schemas.microsoft.com/office/powerpoint/2010/main" val="2354302132"/>
              </p:ext>
            </p:extLst>
          </p:nvPr>
        </p:nvGraphicFramePr>
        <p:xfrm>
          <a:off x="234462" y="1358766"/>
          <a:ext cx="8504236" cy="3906520"/>
        </p:xfrm>
        <a:graphic>
          <a:graphicData uri="http://schemas.openxmlformats.org/drawingml/2006/table">
            <a:tbl>
              <a:tblPr firstRow="1" bandRow="1">
                <a:tableStyleId>{5C22544A-7EE6-4342-B048-85BDC9FD1C3A}</a:tableStyleId>
              </a:tblPr>
              <a:tblGrid>
                <a:gridCol w="1758950">
                  <a:extLst>
                    <a:ext uri="{9D8B030D-6E8A-4147-A177-3AD203B41FA5}">
                      <a16:colId xmlns:a16="http://schemas.microsoft.com/office/drawing/2014/main" val="2550692711"/>
                    </a:ext>
                  </a:extLst>
                </a:gridCol>
                <a:gridCol w="1758950">
                  <a:extLst>
                    <a:ext uri="{9D8B030D-6E8A-4147-A177-3AD203B41FA5}">
                      <a16:colId xmlns:a16="http://schemas.microsoft.com/office/drawing/2014/main" val="2822508376"/>
                    </a:ext>
                  </a:extLst>
                </a:gridCol>
                <a:gridCol w="2860277">
                  <a:extLst>
                    <a:ext uri="{9D8B030D-6E8A-4147-A177-3AD203B41FA5}">
                      <a16:colId xmlns:a16="http://schemas.microsoft.com/office/drawing/2014/main" val="1253227627"/>
                    </a:ext>
                  </a:extLst>
                </a:gridCol>
                <a:gridCol w="2126059">
                  <a:extLst>
                    <a:ext uri="{9D8B030D-6E8A-4147-A177-3AD203B41FA5}">
                      <a16:colId xmlns:a16="http://schemas.microsoft.com/office/drawing/2014/main" val="3669000220"/>
                    </a:ext>
                  </a:extLst>
                </a:gridCol>
              </a:tblGrid>
              <a:tr h="370840">
                <a:tc>
                  <a:txBody>
                    <a:bodyPr/>
                    <a:lstStyle/>
                    <a:p>
                      <a:pPr algn="l" fontAlgn="t"/>
                      <a:r>
                        <a:rPr lang="en-US" sz="900" dirty="0">
                          <a:effectLst/>
                        </a:rPr>
                        <a:t>Administrative role or area</a:t>
                      </a:r>
                    </a:p>
                  </a:txBody>
                  <a:tcPr/>
                </a:tc>
                <a:tc>
                  <a:txBody>
                    <a:bodyPr/>
                    <a:lstStyle/>
                    <a:p>
                      <a:pPr algn="l" fontAlgn="t"/>
                      <a:r>
                        <a:rPr lang="en-US" sz="900">
                          <a:effectLst/>
                        </a:rPr>
                        <a:t>Description</a:t>
                      </a:r>
                    </a:p>
                  </a:txBody>
                  <a:tcPr/>
                </a:tc>
                <a:tc>
                  <a:txBody>
                    <a:bodyPr/>
                    <a:lstStyle/>
                    <a:p>
                      <a:pPr algn="l" fontAlgn="t"/>
                      <a:r>
                        <a:rPr lang="en-US" sz="900" dirty="0">
                          <a:effectLst/>
                        </a:rPr>
                        <a:t>Actions</a:t>
                      </a:r>
                    </a:p>
                  </a:txBody>
                  <a:tcPr/>
                </a:tc>
                <a:tc>
                  <a:txBody>
                    <a:bodyPr/>
                    <a:lstStyle/>
                    <a:p>
                      <a:pPr algn="l" fontAlgn="t"/>
                      <a:r>
                        <a:rPr lang="en-US" sz="900" dirty="0" err="1">
                          <a:effectLst/>
                        </a:rPr>
                        <a:t>NotActions</a:t>
                      </a:r>
                      <a:endParaRPr lang="en-US" sz="900" dirty="0">
                        <a:effectLst/>
                      </a:endParaRPr>
                    </a:p>
                  </a:txBody>
                  <a:tcPr/>
                </a:tc>
                <a:extLst>
                  <a:ext uri="{0D108BD9-81ED-4DB2-BD59-A6C34878D82A}">
                    <a16:rowId xmlns:a16="http://schemas.microsoft.com/office/drawing/2014/main" val="55250726"/>
                  </a:ext>
                </a:extLst>
              </a:tr>
              <a:tr h="370840">
                <a:tc>
                  <a:txBody>
                    <a:bodyPr/>
                    <a:lstStyle/>
                    <a:p>
                      <a:pPr algn="l" fontAlgn="t"/>
                      <a:r>
                        <a:rPr lang="en-US" sz="800" dirty="0">
                          <a:effectLst/>
                        </a:rPr>
                        <a:t>Subscription Owner</a:t>
                      </a:r>
                    </a:p>
                  </a:txBody>
                  <a:tcPr/>
                </a:tc>
                <a:tc>
                  <a:txBody>
                    <a:bodyPr/>
                    <a:lstStyle/>
                    <a:p>
                      <a:pPr algn="l" fontAlgn="t"/>
                      <a:r>
                        <a:rPr lang="en-CA" sz="800" dirty="0">
                          <a:effectLst/>
                        </a:rPr>
                        <a:t>Delegated role for the subscription owner</a:t>
                      </a:r>
                    </a:p>
                  </a:txBody>
                  <a:tcPr/>
                </a:tc>
                <a:tc>
                  <a:txBody>
                    <a:bodyPr/>
                    <a:lstStyle/>
                    <a:p>
                      <a:pPr algn="l" fontAlgn="t"/>
                      <a:r>
                        <a:rPr lang="en-US" sz="800">
                          <a:effectLst/>
                        </a:rPr>
                        <a:t>*</a:t>
                      </a:r>
                    </a:p>
                  </a:txBody>
                  <a:tcPr/>
                </a:tc>
                <a:tc>
                  <a:txBody>
                    <a:bodyPr/>
                    <a:lstStyle/>
                    <a:p>
                      <a:pPr algn="l" fontAlgn="t"/>
                      <a:r>
                        <a:rPr lang="en-US" sz="800" dirty="0" err="1">
                          <a:effectLst/>
                        </a:rPr>
                        <a:t>Microsoft.Authorization</a:t>
                      </a:r>
                      <a:r>
                        <a:rPr lang="en-US" sz="800" dirty="0">
                          <a:effectLst/>
                        </a:rPr>
                        <a:t>/*/write, </a:t>
                      </a:r>
                    </a:p>
                    <a:p>
                      <a:pPr algn="l" fontAlgn="t"/>
                      <a:r>
                        <a:rPr lang="en-US" sz="800" dirty="0" err="1">
                          <a:effectLst/>
                        </a:rPr>
                        <a:t>Microsoft.Network</a:t>
                      </a:r>
                      <a:r>
                        <a:rPr lang="en-US" sz="800" dirty="0">
                          <a:effectLst/>
                        </a:rPr>
                        <a:t>/</a:t>
                      </a:r>
                      <a:r>
                        <a:rPr lang="en-US" sz="800" dirty="0" err="1">
                          <a:effectLst/>
                        </a:rPr>
                        <a:t>vpnGateways</a:t>
                      </a:r>
                      <a:r>
                        <a:rPr lang="en-US" sz="800" dirty="0">
                          <a:effectLst/>
                        </a:rPr>
                        <a:t>/*,</a:t>
                      </a:r>
                      <a:br>
                        <a:rPr lang="en-US" sz="800" dirty="0">
                          <a:effectLst/>
                        </a:rPr>
                      </a:br>
                      <a:r>
                        <a:rPr lang="en-US" sz="800" dirty="0" err="1">
                          <a:effectLst/>
                        </a:rPr>
                        <a:t>Microsoft.Network</a:t>
                      </a:r>
                      <a:r>
                        <a:rPr lang="en-US" sz="800" dirty="0">
                          <a:effectLst/>
                        </a:rPr>
                        <a:t>/</a:t>
                      </a:r>
                      <a:r>
                        <a:rPr lang="en-US" sz="800" dirty="0" err="1">
                          <a:effectLst/>
                        </a:rPr>
                        <a:t>expressRouteCircuits</a:t>
                      </a:r>
                      <a:r>
                        <a:rPr lang="en-US" sz="800" dirty="0">
                          <a:effectLst/>
                        </a:rPr>
                        <a:t>/*,</a:t>
                      </a:r>
                      <a:br>
                        <a:rPr lang="en-US" sz="800" dirty="0">
                          <a:effectLst/>
                        </a:rPr>
                      </a:br>
                      <a:r>
                        <a:rPr lang="en-US" sz="800" dirty="0" err="1">
                          <a:effectLst/>
                        </a:rPr>
                        <a:t>Microsoft.Network</a:t>
                      </a:r>
                      <a:r>
                        <a:rPr lang="en-US" sz="800" dirty="0">
                          <a:effectLst/>
                        </a:rPr>
                        <a:t>/</a:t>
                      </a:r>
                      <a:r>
                        <a:rPr lang="en-US" sz="800" dirty="0" err="1">
                          <a:effectLst/>
                        </a:rPr>
                        <a:t>routeTables</a:t>
                      </a:r>
                      <a:r>
                        <a:rPr lang="en-US" sz="800" dirty="0">
                          <a:effectLst/>
                        </a:rPr>
                        <a:t>/write,</a:t>
                      </a:r>
                      <a:br>
                        <a:rPr lang="en-US" sz="800" dirty="0">
                          <a:effectLst/>
                        </a:rPr>
                      </a:br>
                      <a:r>
                        <a:rPr lang="en-US" sz="800" dirty="0" err="1">
                          <a:effectLst/>
                        </a:rPr>
                        <a:t>Microsoft.Network</a:t>
                      </a:r>
                      <a:r>
                        <a:rPr lang="en-US" sz="800" dirty="0">
                          <a:effectLst/>
                        </a:rPr>
                        <a:t>/</a:t>
                      </a:r>
                      <a:r>
                        <a:rPr lang="en-US" sz="800" dirty="0" err="1">
                          <a:effectLst/>
                        </a:rPr>
                        <a:t>vpnSites</a:t>
                      </a:r>
                      <a:r>
                        <a:rPr lang="en-US" sz="800" dirty="0">
                          <a:effectLst/>
                        </a:rPr>
                        <a:t>/*</a:t>
                      </a:r>
                    </a:p>
                  </a:txBody>
                  <a:tcPr/>
                </a:tc>
                <a:extLst>
                  <a:ext uri="{0D108BD9-81ED-4DB2-BD59-A6C34878D82A}">
                    <a16:rowId xmlns:a16="http://schemas.microsoft.com/office/drawing/2014/main" val="2306427113"/>
                  </a:ext>
                </a:extLst>
              </a:tr>
              <a:tr h="370840">
                <a:tc>
                  <a:txBody>
                    <a:bodyPr/>
                    <a:lstStyle/>
                    <a:p>
                      <a:pPr algn="l" fontAlgn="t"/>
                      <a:r>
                        <a:rPr lang="en-CA" sz="800">
                          <a:effectLst/>
                        </a:rPr>
                        <a:t>Application Owner (DevOps, App operations)</a:t>
                      </a:r>
                    </a:p>
                  </a:txBody>
                  <a:tcPr/>
                </a:tc>
                <a:tc>
                  <a:txBody>
                    <a:bodyPr/>
                    <a:lstStyle/>
                    <a:p>
                      <a:pPr algn="l" fontAlgn="t"/>
                      <a:r>
                        <a:rPr lang="en-CA" sz="800">
                          <a:effectLst/>
                        </a:rPr>
                        <a:t>Contributor role for the application or operations team at the subscription scope</a:t>
                      </a:r>
                    </a:p>
                  </a:txBody>
                  <a:tcPr/>
                </a:tc>
                <a:tc>
                  <a:txBody>
                    <a:bodyPr/>
                    <a:lstStyle/>
                    <a:p>
                      <a:pPr algn="l" fontAlgn="t"/>
                      <a:r>
                        <a:rPr lang="en-US" sz="800" dirty="0">
                          <a:effectLst/>
                        </a:rPr>
                        <a:t>*</a:t>
                      </a:r>
                    </a:p>
                  </a:txBody>
                  <a:tcPr/>
                </a:tc>
                <a:tc>
                  <a:txBody>
                    <a:bodyPr/>
                    <a:lstStyle/>
                    <a:p>
                      <a:pPr algn="l" fontAlgn="t"/>
                      <a:r>
                        <a:rPr lang="en-US" sz="800" dirty="0" err="1">
                          <a:effectLst/>
                        </a:rPr>
                        <a:t>Microsoft.Authorization</a:t>
                      </a:r>
                      <a:r>
                        <a:rPr lang="en-US" sz="800" dirty="0">
                          <a:effectLst/>
                        </a:rPr>
                        <a:t>/*/write, </a:t>
                      </a:r>
                    </a:p>
                    <a:p>
                      <a:pPr algn="l" fontAlgn="t"/>
                      <a:r>
                        <a:rPr lang="en-US" sz="800" dirty="0" err="1">
                          <a:effectLst/>
                        </a:rPr>
                        <a:t>Microsoft.Network</a:t>
                      </a:r>
                      <a:r>
                        <a:rPr lang="en-US" sz="800" dirty="0">
                          <a:effectLst/>
                        </a:rPr>
                        <a:t>/</a:t>
                      </a:r>
                      <a:r>
                        <a:rPr lang="en-US" sz="800" dirty="0" err="1">
                          <a:effectLst/>
                        </a:rPr>
                        <a:t>publicIPAddresses</a:t>
                      </a:r>
                      <a:r>
                        <a:rPr lang="en-US" sz="800" dirty="0">
                          <a:effectLst/>
                        </a:rPr>
                        <a:t>/write,</a:t>
                      </a:r>
                      <a:br>
                        <a:rPr lang="en-US" sz="800" dirty="0">
                          <a:effectLst/>
                        </a:rPr>
                      </a:br>
                      <a:r>
                        <a:rPr lang="en-US" sz="800" dirty="0" err="1">
                          <a:effectLst/>
                        </a:rPr>
                        <a:t>Microsoft.Network</a:t>
                      </a:r>
                      <a:r>
                        <a:rPr lang="en-US" sz="800" dirty="0">
                          <a:effectLst/>
                        </a:rPr>
                        <a:t>/</a:t>
                      </a:r>
                      <a:r>
                        <a:rPr lang="en-US" sz="800" dirty="0" err="1">
                          <a:effectLst/>
                        </a:rPr>
                        <a:t>virtualNetworks</a:t>
                      </a:r>
                      <a:r>
                        <a:rPr lang="en-US" sz="800" dirty="0">
                          <a:effectLst/>
                        </a:rPr>
                        <a:t>/write,</a:t>
                      </a:r>
                      <a:br>
                        <a:rPr lang="en-US" sz="800" dirty="0">
                          <a:effectLst/>
                        </a:rPr>
                      </a:br>
                      <a:r>
                        <a:rPr lang="en-US" sz="800" dirty="0" err="1">
                          <a:effectLst/>
                        </a:rPr>
                        <a:t>Microsoft.KeyVault</a:t>
                      </a:r>
                      <a:r>
                        <a:rPr lang="en-US" sz="800" dirty="0">
                          <a:effectLst/>
                        </a:rPr>
                        <a:t>/locations/</a:t>
                      </a:r>
                      <a:r>
                        <a:rPr lang="en-US" sz="800" dirty="0" err="1">
                          <a:effectLst/>
                        </a:rPr>
                        <a:t>deletedVaults</a:t>
                      </a:r>
                      <a:r>
                        <a:rPr lang="en-US" sz="800" dirty="0">
                          <a:effectLst/>
                        </a:rPr>
                        <a:t>/purge/action</a:t>
                      </a:r>
                    </a:p>
                  </a:txBody>
                  <a:tcPr/>
                </a:tc>
                <a:extLst>
                  <a:ext uri="{0D108BD9-81ED-4DB2-BD59-A6C34878D82A}">
                    <a16:rowId xmlns:a16="http://schemas.microsoft.com/office/drawing/2014/main" val="45153915"/>
                  </a:ext>
                </a:extLst>
              </a:tr>
              <a:tr h="370840">
                <a:tc>
                  <a:txBody>
                    <a:bodyPr/>
                    <a:lstStyle/>
                    <a:p>
                      <a:pPr algn="l" fontAlgn="t"/>
                      <a:r>
                        <a:rPr lang="en-US" sz="800">
                          <a:effectLst/>
                        </a:rPr>
                        <a:t>Network management (NetOps)</a:t>
                      </a:r>
                    </a:p>
                  </a:txBody>
                  <a:tcPr/>
                </a:tc>
                <a:tc>
                  <a:txBody>
                    <a:bodyPr/>
                    <a:lstStyle/>
                    <a:p>
                      <a:pPr algn="l" fontAlgn="t"/>
                      <a:r>
                        <a:rPr lang="en-CA" sz="800">
                          <a:effectLst/>
                        </a:rPr>
                        <a:t>Manages platform-wide global connectivity, such as virtual networks, UDRs, NSGs, NVAs, VPNs, Azure ExpressRoute, and others</a:t>
                      </a:r>
                    </a:p>
                  </a:txBody>
                  <a:tcPr/>
                </a:tc>
                <a:tc>
                  <a:txBody>
                    <a:bodyPr/>
                    <a:lstStyle/>
                    <a:p>
                      <a:pPr algn="l" fontAlgn="t"/>
                      <a:r>
                        <a:rPr lang="en-US" sz="800" dirty="0">
                          <a:effectLst/>
                        </a:rPr>
                        <a:t>*/read,</a:t>
                      </a:r>
                      <a:br>
                        <a:rPr lang="en-US" sz="800" dirty="0">
                          <a:effectLst/>
                        </a:rPr>
                      </a:br>
                      <a:r>
                        <a:rPr lang="en-US" sz="800" dirty="0" err="1">
                          <a:effectLst/>
                        </a:rPr>
                        <a:t>Microsoft.Network</a:t>
                      </a:r>
                      <a:r>
                        <a:rPr lang="en-US" sz="800" dirty="0">
                          <a:effectLst/>
                        </a:rPr>
                        <a:t>/*,</a:t>
                      </a:r>
                      <a:br>
                        <a:rPr lang="en-US" sz="800" dirty="0">
                          <a:effectLst/>
                        </a:rPr>
                      </a:br>
                      <a:r>
                        <a:rPr lang="en-US" sz="800" dirty="0" err="1">
                          <a:effectLst/>
                        </a:rPr>
                        <a:t>Microsoft.Resources</a:t>
                      </a:r>
                      <a:r>
                        <a:rPr lang="en-US" sz="800" dirty="0">
                          <a:effectLst/>
                        </a:rPr>
                        <a:t>/deployments/*,</a:t>
                      </a:r>
                      <a:br>
                        <a:rPr lang="en-US" sz="800" dirty="0">
                          <a:effectLst/>
                        </a:rPr>
                      </a:br>
                      <a:r>
                        <a:rPr lang="en-US" sz="800" dirty="0" err="1">
                          <a:effectLst/>
                        </a:rPr>
                        <a:t>Microsoft.Support</a:t>
                      </a:r>
                      <a:r>
                        <a:rPr lang="en-US" sz="800" dirty="0">
                          <a:effectLst/>
                        </a:rPr>
                        <a:t>/*</a:t>
                      </a:r>
                    </a:p>
                  </a:txBody>
                  <a:tcPr/>
                </a:tc>
                <a:tc>
                  <a:txBody>
                    <a:bodyPr/>
                    <a:lstStyle/>
                    <a:p>
                      <a:pPr algn="l" fontAlgn="t"/>
                      <a:endParaRPr lang="en-US" sz="800" dirty="0">
                        <a:effectLst/>
                      </a:endParaRPr>
                    </a:p>
                  </a:txBody>
                  <a:tcPr/>
                </a:tc>
                <a:extLst>
                  <a:ext uri="{0D108BD9-81ED-4DB2-BD59-A6C34878D82A}">
                    <a16:rowId xmlns:a16="http://schemas.microsoft.com/office/drawing/2014/main" val="3291992570"/>
                  </a:ext>
                </a:extLst>
              </a:tr>
              <a:tr h="370840">
                <a:tc>
                  <a:txBody>
                    <a:bodyPr/>
                    <a:lstStyle/>
                    <a:p>
                      <a:pPr algn="l" fontAlgn="t"/>
                      <a:r>
                        <a:rPr lang="en-US" sz="800" b="0" dirty="0">
                          <a:solidFill>
                            <a:schemeClr val="tx1"/>
                          </a:solidFill>
                          <a:effectLst/>
                        </a:rPr>
                        <a:t>Security operations (SecOps)</a:t>
                      </a:r>
                      <a:endParaRPr lang="en-US" sz="800" b="0" i="0" dirty="0">
                        <a:solidFill>
                          <a:schemeClr val="tx1"/>
                        </a:solidFill>
                        <a:effectLst/>
                        <a:latin typeface="Segoe UI" panose="020B0502040204020203" pitchFamily="34" charset="0"/>
                      </a:endParaRPr>
                    </a:p>
                  </a:txBody>
                  <a:tcPr/>
                </a:tc>
                <a:tc>
                  <a:txBody>
                    <a:bodyPr/>
                    <a:lstStyle/>
                    <a:p>
                      <a:pPr algn="l" fontAlgn="t"/>
                      <a:r>
                        <a:rPr lang="en-CA" sz="800" b="0">
                          <a:solidFill>
                            <a:schemeClr val="tx1"/>
                          </a:solidFill>
                          <a:effectLst/>
                        </a:rPr>
                        <a:t>Security Administrator role with a horizontal view across the entire Azure estate and the Key Vault purge policy</a:t>
                      </a:r>
                      <a:endParaRPr lang="en-CA" sz="800" b="0" i="0">
                        <a:solidFill>
                          <a:schemeClr val="tx1"/>
                        </a:solidFill>
                        <a:effectLst/>
                        <a:latin typeface="Segoe UI" panose="020B0502040204020203" pitchFamily="34" charset="0"/>
                      </a:endParaRPr>
                    </a:p>
                  </a:txBody>
                  <a:tcPr/>
                </a:tc>
                <a:tc>
                  <a:txBody>
                    <a:bodyPr/>
                    <a:lstStyle/>
                    <a:p>
                      <a:pPr algn="l" fontAlgn="t"/>
                      <a:r>
                        <a:rPr lang="en-US" sz="800" b="0" dirty="0">
                          <a:solidFill>
                            <a:schemeClr val="tx1"/>
                          </a:solidFill>
                          <a:effectLst/>
                        </a:rPr>
                        <a:t>*/read,</a:t>
                      </a:r>
                      <a:br>
                        <a:rPr lang="en-US" sz="800" b="0" dirty="0">
                          <a:solidFill>
                            <a:schemeClr val="tx1"/>
                          </a:solidFill>
                          <a:effectLst/>
                        </a:rPr>
                      </a:br>
                      <a:r>
                        <a:rPr lang="en-US" sz="800" b="0" dirty="0">
                          <a:solidFill>
                            <a:schemeClr val="tx1"/>
                          </a:solidFill>
                          <a:effectLst/>
                        </a:rPr>
                        <a:t>*/register/action,</a:t>
                      </a:r>
                      <a:br>
                        <a:rPr lang="en-US" sz="800" b="0" dirty="0">
                          <a:solidFill>
                            <a:schemeClr val="tx1"/>
                          </a:solidFill>
                          <a:effectLst/>
                        </a:rPr>
                      </a:br>
                      <a:r>
                        <a:rPr lang="en-US" sz="800" b="0" dirty="0" err="1">
                          <a:solidFill>
                            <a:schemeClr val="tx1"/>
                          </a:solidFill>
                          <a:effectLst/>
                        </a:rPr>
                        <a:t>Microsoft.KeyVault</a:t>
                      </a:r>
                      <a:r>
                        <a:rPr lang="en-US" sz="800" b="0" dirty="0">
                          <a:solidFill>
                            <a:schemeClr val="tx1"/>
                          </a:solidFill>
                          <a:effectLst/>
                        </a:rPr>
                        <a:t>/locations/</a:t>
                      </a:r>
                      <a:r>
                        <a:rPr lang="en-US" sz="800" b="0" dirty="0" err="1">
                          <a:solidFill>
                            <a:schemeClr val="tx1"/>
                          </a:solidFill>
                          <a:effectLst/>
                        </a:rPr>
                        <a:t>deletedVaults</a:t>
                      </a:r>
                      <a:r>
                        <a:rPr lang="en-US" sz="800" b="0" dirty="0">
                          <a:solidFill>
                            <a:schemeClr val="tx1"/>
                          </a:solidFill>
                          <a:effectLst/>
                        </a:rPr>
                        <a:t>/purge/action,</a:t>
                      </a:r>
                      <a:br>
                        <a:rPr lang="en-US" sz="800" b="0" dirty="0">
                          <a:solidFill>
                            <a:schemeClr val="tx1"/>
                          </a:solidFill>
                          <a:effectLst/>
                        </a:rPr>
                      </a:br>
                      <a:r>
                        <a:rPr lang="en-US" sz="800" b="0" dirty="0" err="1">
                          <a:solidFill>
                            <a:schemeClr val="tx1"/>
                          </a:solidFill>
                          <a:effectLst/>
                        </a:rPr>
                        <a:t>Microsoft.PolicyInsights</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Microsoft.Authorization</a:t>
                      </a:r>
                      <a:r>
                        <a:rPr lang="en-US" sz="800" b="0" dirty="0">
                          <a:solidFill>
                            <a:schemeClr val="tx1"/>
                          </a:solidFill>
                          <a:effectLst/>
                        </a:rPr>
                        <a:t>/</a:t>
                      </a:r>
                      <a:r>
                        <a:rPr lang="en-US" sz="800" b="0" dirty="0" err="1">
                          <a:solidFill>
                            <a:schemeClr val="tx1"/>
                          </a:solidFill>
                          <a:effectLst/>
                        </a:rPr>
                        <a:t>policyAssignments</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Microsoft.Authorization</a:t>
                      </a:r>
                      <a:r>
                        <a:rPr lang="en-US" sz="800" b="0" dirty="0">
                          <a:solidFill>
                            <a:schemeClr val="tx1"/>
                          </a:solidFill>
                          <a:effectLst/>
                        </a:rPr>
                        <a:t>/</a:t>
                      </a:r>
                      <a:r>
                        <a:rPr lang="en-US" sz="800" b="0" dirty="0" err="1">
                          <a:solidFill>
                            <a:schemeClr val="tx1"/>
                          </a:solidFill>
                          <a:effectLst/>
                        </a:rPr>
                        <a:t>policyDefinitions</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Microsoft.Authorization</a:t>
                      </a:r>
                      <a:r>
                        <a:rPr lang="en-US" sz="800" b="0" dirty="0">
                          <a:solidFill>
                            <a:schemeClr val="tx1"/>
                          </a:solidFill>
                          <a:effectLst/>
                        </a:rPr>
                        <a:t>/</a:t>
                      </a:r>
                      <a:r>
                        <a:rPr lang="en-US" sz="800" b="0" dirty="0" err="1">
                          <a:solidFill>
                            <a:schemeClr val="tx1"/>
                          </a:solidFill>
                          <a:effectLst/>
                        </a:rPr>
                        <a:t>policyExemptions</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Microsoft.Authorization</a:t>
                      </a:r>
                      <a:r>
                        <a:rPr lang="en-US" sz="800" b="0" dirty="0">
                          <a:solidFill>
                            <a:schemeClr val="tx1"/>
                          </a:solidFill>
                          <a:effectLst/>
                        </a:rPr>
                        <a:t>/</a:t>
                      </a:r>
                      <a:r>
                        <a:rPr lang="en-US" sz="800" b="0" dirty="0" err="1">
                          <a:solidFill>
                            <a:schemeClr val="tx1"/>
                          </a:solidFill>
                          <a:effectLst/>
                        </a:rPr>
                        <a:t>policySetDefinitions</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Microsoft.Insights</a:t>
                      </a:r>
                      <a:r>
                        <a:rPr lang="en-US" sz="800" b="0" dirty="0">
                          <a:solidFill>
                            <a:schemeClr val="tx1"/>
                          </a:solidFill>
                          <a:effectLst/>
                        </a:rPr>
                        <a:t>/</a:t>
                      </a:r>
                      <a:r>
                        <a:rPr lang="en-US" sz="800" b="0" dirty="0" err="1">
                          <a:solidFill>
                            <a:schemeClr val="tx1"/>
                          </a:solidFill>
                          <a:effectLst/>
                        </a:rPr>
                        <a:t>alertRules</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Microsoft.Resources</a:t>
                      </a:r>
                      <a:r>
                        <a:rPr lang="en-US" sz="800" b="0" dirty="0">
                          <a:solidFill>
                            <a:schemeClr val="tx1"/>
                          </a:solidFill>
                          <a:effectLst/>
                        </a:rPr>
                        <a:t>/deployments/*,</a:t>
                      </a:r>
                      <a:br>
                        <a:rPr lang="en-US" sz="800" b="0" dirty="0">
                          <a:solidFill>
                            <a:schemeClr val="tx1"/>
                          </a:solidFill>
                          <a:effectLst/>
                        </a:rPr>
                      </a:br>
                      <a:r>
                        <a:rPr lang="en-US" sz="800" b="0" dirty="0" err="1">
                          <a:solidFill>
                            <a:schemeClr val="tx1"/>
                          </a:solidFill>
                          <a:effectLst/>
                        </a:rPr>
                        <a:t>Microsoft.Security</a:t>
                      </a:r>
                      <a:r>
                        <a:rPr lang="en-US" sz="800" b="0" dirty="0">
                          <a:solidFill>
                            <a:schemeClr val="tx1"/>
                          </a:solidFill>
                          <a:effectLst/>
                        </a:rPr>
                        <a:t>/*,</a:t>
                      </a:r>
                      <a:br>
                        <a:rPr lang="en-US" sz="800" b="0" dirty="0">
                          <a:solidFill>
                            <a:schemeClr val="tx1"/>
                          </a:solidFill>
                          <a:effectLst/>
                        </a:rPr>
                      </a:br>
                      <a:r>
                        <a:rPr lang="en-US" sz="800" b="0" dirty="0" err="1">
                          <a:solidFill>
                            <a:schemeClr val="tx1"/>
                          </a:solidFill>
                          <a:effectLst/>
                        </a:rPr>
                        <a:t>Microsoft.Support</a:t>
                      </a:r>
                      <a:r>
                        <a:rPr lang="en-US" sz="800" b="0" dirty="0">
                          <a:solidFill>
                            <a:schemeClr val="tx1"/>
                          </a:solidFill>
                          <a:effectLst/>
                        </a:rPr>
                        <a:t>/*</a:t>
                      </a:r>
                      <a:endParaRPr lang="en-US" sz="800" b="0" i="0" dirty="0">
                        <a:solidFill>
                          <a:schemeClr val="tx1"/>
                        </a:solidFill>
                        <a:effectLst/>
                        <a:latin typeface="Segoe UI" panose="020B0502040204020203" pitchFamily="34" charset="0"/>
                      </a:endParaRPr>
                    </a:p>
                  </a:txBody>
                  <a:tcPr/>
                </a:tc>
                <a:tc>
                  <a:txBody>
                    <a:bodyPr/>
                    <a:lstStyle/>
                    <a:p>
                      <a:endParaRPr lang="en-US" sz="800" dirty="0">
                        <a:solidFill>
                          <a:schemeClr val="tx1"/>
                        </a:solidFill>
                      </a:endParaRPr>
                    </a:p>
                  </a:txBody>
                  <a:tcPr/>
                </a:tc>
                <a:extLst>
                  <a:ext uri="{0D108BD9-81ED-4DB2-BD59-A6C34878D82A}">
                    <a16:rowId xmlns:a16="http://schemas.microsoft.com/office/drawing/2014/main" val="3172708858"/>
                  </a:ext>
                </a:extLst>
              </a:tr>
            </a:tbl>
          </a:graphicData>
        </a:graphic>
      </p:graphicFrame>
    </p:spTree>
    <p:extLst>
      <p:ext uri="{BB962C8B-B14F-4D97-AF65-F5344CB8AC3E}">
        <p14:creationId xmlns:p14="http://schemas.microsoft.com/office/powerpoint/2010/main" val="3458172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3B59-DCF6-7432-AA77-E83A271A05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BEC85A-6D86-8BCB-6540-EE6AFE713DEF}"/>
              </a:ext>
            </a:extLst>
          </p:cNvPr>
          <p:cNvSpPr txBox="1"/>
          <p:nvPr/>
        </p:nvSpPr>
        <p:spPr>
          <a:xfrm>
            <a:off x="234462" y="219781"/>
            <a:ext cx="8053753" cy="523220"/>
          </a:xfrm>
          <a:prstGeom prst="rect">
            <a:avLst/>
          </a:prstGeom>
          <a:noFill/>
        </p:spPr>
        <p:txBody>
          <a:bodyPr wrap="square">
            <a:spAutoFit/>
          </a:bodyPr>
          <a:lstStyle/>
          <a:p>
            <a:r>
              <a:rPr lang="en-CA" sz="2800" b="1" dirty="0"/>
              <a:t>Best Practices for Locking Down Access</a:t>
            </a:r>
          </a:p>
        </p:txBody>
      </p:sp>
      <p:sp>
        <p:nvSpPr>
          <p:cNvPr id="4" name="TextBox 3">
            <a:extLst>
              <a:ext uri="{FF2B5EF4-FFF2-40B4-BE49-F238E27FC236}">
                <a16:creationId xmlns:a16="http://schemas.microsoft.com/office/drawing/2014/main" id="{5ACEDFB5-1B50-B244-8572-2FB9B4975CBE}"/>
              </a:ext>
            </a:extLst>
          </p:cNvPr>
          <p:cNvSpPr txBox="1"/>
          <p:nvPr/>
        </p:nvSpPr>
        <p:spPr>
          <a:xfrm>
            <a:off x="621323" y="1859340"/>
            <a:ext cx="8675077" cy="3139321"/>
          </a:xfrm>
          <a:prstGeom prst="rect">
            <a:avLst/>
          </a:prstGeom>
          <a:noFill/>
        </p:spPr>
        <p:txBody>
          <a:bodyPr wrap="square">
            <a:spAutoFit/>
          </a:bodyPr>
          <a:lstStyle/>
          <a:p>
            <a:endParaRPr lang="en-US" sz="18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800" dirty="0">
                <a:cs typeface="Segoe UI" panose="020B0502040204020203" pitchFamily="34" charset="0"/>
              </a:rPr>
              <a:t>Make sure people automatically lose access when they leave</a:t>
            </a:r>
          </a:p>
          <a:p>
            <a:endParaRPr lang="en-US" sz="1800" dirty="0">
              <a:cs typeface="Segoe UI" panose="020B0502040204020203" pitchFamily="34" charset="0"/>
            </a:endParaRPr>
          </a:p>
          <a:p>
            <a:pPr marL="285750" indent="-285750">
              <a:buFont typeface="Arial" panose="020B0604020202020204" pitchFamily="34" charset="0"/>
              <a:buChar char="•"/>
            </a:pPr>
            <a:r>
              <a:rPr lang="en-US" sz="1800" dirty="0">
                <a:cs typeface="Segoe UI" panose="020B0502040204020203" pitchFamily="34" charset="0"/>
              </a:rPr>
              <a:t>Use multi-factor authentication for all Azure users</a:t>
            </a:r>
          </a:p>
          <a:p>
            <a:endParaRPr lang="en-US" sz="1800" dirty="0">
              <a:cs typeface="Segoe UI" panose="020B0502040204020203" pitchFamily="34" charset="0"/>
            </a:endParaRPr>
          </a:p>
          <a:p>
            <a:pPr marL="285750" indent="-285750">
              <a:buFont typeface="Arial" panose="020B0604020202020204" pitchFamily="34" charset="0"/>
              <a:buChar char="•"/>
            </a:pPr>
            <a:r>
              <a:rPr lang="en-US" sz="1800" dirty="0">
                <a:cs typeface="Segoe UI" panose="020B0502040204020203" pitchFamily="34" charset="0"/>
              </a:rPr>
              <a:t>Use “break glass” accounts for Account &amp; Service Admins</a:t>
            </a:r>
          </a:p>
          <a:p>
            <a:endParaRPr lang="en-US" sz="1800" dirty="0">
              <a:cs typeface="Segoe UI" panose="020B0502040204020203" pitchFamily="34" charset="0"/>
            </a:endParaRPr>
          </a:p>
          <a:p>
            <a:pPr marL="285750" indent="-285750">
              <a:buFont typeface="Arial" panose="020B0604020202020204" pitchFamily="34" charset="0"/>
              <a:buChar char="•"/>
            </a:pPr>
            <a:r>
              <a:rPr lang="en-US" sz="1800" dirty="0">
                <a:cs typeface="Segoe UI" panose="020B0502040204020203" pitchFamily="34" charset="0"/>
              </a:rPr>
              <a:t>Give people minimum access needed for day-to-day work</a:t>
            </a:r>
          </a:p>
          <a:p>
            <a:endParaRPr lang="en-US" sz="1800" dirty="0">
              <a:cs typeface="Segoe UI" panose="020B0502040204020203" pitchFamily="34" charset="0"/>
            </a:endParaRPr>
          </a:p>
          <a:p>
            <a:pPr marL="285750" indent="-285750">
              <a:buFont typeface="Arial" panose="020B0604020202020204" pitchFamily="34" charset="0"/>
              <a:buChar char="•"/>
            </a:pPr>
            <a:r>
              <a:rPr lang="en-US" sz="1800" dirty="0">
                <a:cs typeface="Segoe UI" panose="020B0502040204020203" pitchFamily="34" charset="0"/>
              </a:rPr>
              <a:t>Use Managed Identities and KeyVault to keep credentials out of code or broadly-acceptable configurations</a:t>
            </a:r>
          </a:p>
        </p:txBody>
      </p:sp>
    </p:spTree>
    <p:extLst>
      <p:ext uri="{BB962C8B-B14F-4D97-AF65-F5344CB8AC3E}">
        <p14:creationId xmlns:p14="http://schemas.microsoft.com/office/powerpoint/2010/main" val="33041697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EF464-05EB-6344-351C-5DE058645E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164BC54-AB91-6C84-8B8E-FE3978C27FE7}"/>
              </a:ext>
            </a:extLst>
          </p:cNvPr>
          <p:cNvSpPr txBox="1"/>
          <p:nvPr/>
        </p:nvSpPr>
        <p:spPr>
          <a:xfrm>
            <a:off x="2813540" y="2659559"/>
            <a:ext cx="7819291" cy="769441"/>
          </a:xfrm>
          <a:prstGeom prst="rect">
            <a:avLst/>
          </a:prstGeom>
          <a:noFill/>
        </p:spPr>
        <p:txBody>
          <a:bodyPr wrap="square">
            <a:spAutoFit/>
          </a:bodyPr>
          <a:lstStyle/>
          <a:p>
            <a:r>
              <a:rPr lang="en-CA" sz="4400" b="1" dirty="0"/>
              <a:t>Naming and Tagging</a:t>
            </a:r>
          </a:p>
        </p:txBody>
      </p:sp>
    </p:spTree>
    <p:extLst>
      <p:ext uri="{BB962C8B-B14F-4D97-AF65-F5344CB8AC3E}">
        <p14:creationId xmlns:p14="http://schemas.microsoft.com/office/powerpoint/2010/main" val="6305208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97BC7-3594-B4A0-0AFF-CD9F0065671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3B579D-4A24-5126-DCE4-9F8777637071}"/>
              </a:ext>
            </a:extLst>
          </p:cNvPr>
          <p:cNvSpPr txBox="1"/>
          <p:nvPr/>
        </p:nvSpPr>
        <p:spPr>
          <a:xfrm>
            <a:off x="234462" y="219781"/>
            <a:ext cx="8053753" cy="523220"/>
          </a:xfrm>
          <a:prstGeom prst="rect">
            <a:avLst/>
          </a:prstGeom>
          <a:noFill/>
        </p:spPr>
        <p:txBody>
          <a:bodyPr wrap="square">
            <a:spAutoFit/>
          </a:bodyPr>
          <a:lstStyle/>
          <a:p>
            <a:r>
              <a:rPr lang="en-CA" sz="2800" b="1" dirty="0"/>
              <a:t>Considerations for Naming and Tagging</a:t>
            </a:r>
          </a:p>
        </p:txBody>
      </p:sp>
      <p:sp>
        <p:nvSpPr>
          <p:cNvPr id="4" name="TextBox 3">
            <a:extLst>
              <a:ext uri="{FF2B5EF4-FFF2-40B4-BE49-F238E27FC236}">
                <a16:creationId xmlns:a16="http://schemas.microsoft.com/office/drawing/2014/main" id="{F0336597-775B-A4B8-3B81-F25F1C14DC00}"/>
              </a:ext>
            </a:extLst>
          </p:cNvPr>
          <p:cNvSpPr txBox="1"/>
          <p:nvPr/>
        </p:nvSpPr>
        <p:spPr>
          <a:xfrm>
            <a:off x="621322" y="1390417"/>
            <a:ext cx="7561385" cy="3139321"/>
          </a:xfrm>
          <a:prstGeom prst="rect">
            <a:avLst/>
          </a:prstGeom>
          <a:noFill/>
        </p:spPr>
        <p:txBody>
          <a:bodyPr wrap="square">
            <a:spAutoFit/>
          </a:bodyPr>
          <a:lstStyle/>
          <a:p>
            <a:pPr marL="285750" indent="-285750">
              <a:buFont typeface="Arial" panose="020B0604020202020204" pitchFamily="34" charset="0"/>
              <a:buChar char="•"/>
            </a:pPr>
            <a:r>
              <a:rPr lang="en-US" dirty="0"/>
              <a:t>Naming</a:t>
            </a:r>
          </a:p>
          <a:p>
            <a:pPr marL="742950" lvl="1" indent="-285750">
              <a:buFont typeface="Arial" panose="020B0604020202020204" pitchFamily="34" charset="0"/>
              <a:buChar char="•"/>
            </a:pPr>
            <a:r>
              <a:rPr lang="en-US" dirty="0"/>
              <a:t>Resource management</a:t>
            </a:r>
          </a:p>
          <a:p>
            <a:endParaRPr lang="en-US" dirty="0"/>
          </a:p>
          <a:p>
            <a:pPr marL="285750" indent="-285750">
              <a:buFont typeface="Arial" panose="020B0604020202020204" pitchFamily="34" charset="0"/>
              <a:buChar char="•"/>
            </a:pPr>
            <a:r>
              <a:rPr lang="en-US" dirty="0"/>
              <a:t>Tagging</a:t>
            </a:r>
          </a:p>
          <a:p>
            <a:pPr marL="742950" lvl="1" indent="-285750">
              <a:buFont typeface="Arial" panose="020B0604020202020204" pitchFamily="34" charset="0"/>
              <a:buChar char="•"/>
            </a:pPr>
            <a:r>
              <a:rPr lang="en-US" dirty="0"/>
              <a:t>Resource management</a:t>
            </a:r>
          </a:p>
          <a:p>
            <a:pPr marL="742950" lvl="1" indent="-285750">
              <a:buFont typeface="Arial" panose="020B0604020202020204" pitchFamily="34" charset="0"/>
              <a:buChar char="•"/>
            </a:pPr>
            <a:r>
              <a:rPr lang="en-US" dirty="0"/>
              <a:t>Cost management and optimization (ROI, cost tracking, budgets, alerts)</a:t>
            </a:r>
          </a:p>
          <a:p>
            <a:pPr marL="742950" lvl="1" indent="-285750">
              <a:buFont typeface="Arial" panose="020B0604020202020204" pitchFamily="34" charset="0"/>
              <a:buChar char="•"/>
            </a:pPr>
            <a:r>
              <a:rPr lang="en-US" dirty="0"/>
              <a:t>Operations management</a:t>
            </a:r>
          </a:p>
          <a:p>
            <a:pPr marL="742950" lvl="1" indent="-285750">
              <a:buFont typeface="Arial" panose="020B0604020202020204" pitchFamily="34" charset="0"/>
              <a:buChar char="•"/>
            </a:pPr>
            <a:r>
              <a:rPr lang="en-US" dirty="0"/>
              <a:t>Security</a:t>
            </a:r>
          </a:p>
          <a:p>
            <a:pPr marL="742950" lvl="1" indent="-285750">
              <a:buFont typeface="Arial" panose="020B0604020202020204" pitchFamily="34" charset="0"/>
              <a:buChar char="•"/>
            </a:pPr>
            <a:r>
              <a:rPr lang="en-US" dirty="0"/>
              <a:t>Governance/regulatory compliance</a:t>
            </a:r>
          </a:p>
          <a:p>
            <a:pPr marL="742950" lvl="1" indent="-285750">
              <a:buFont typeface="Arial" panose="020B0604020202020204" pitchFamily="34" charset="0"/>
              <a:buChar char="•"/>
            </a:pPr>
            <a:r>
              <a:rPr lang="en-US" dirty="0"/>
              <a:t>Automation</a:t>
            </a:r>
          </a:p>
          <a:p>
            <a:pPr marL="742950" lvl="1" indent="-285750">
              <a:buFont typeface="Arial" panose="020B0604020202020204" pitchFamily="34" charset="0"/>
              <a:buChar char="•"/>
            </a:pPr>
            <a:r>
              <a:rPr lang="en-US" dirty="0"/>
              <a:t>Workload optimization</a:t>
            </a:r>
          </a:p>
        </p:txBody>
      </p:sp>
    </p:spTree>
    <p:extLst>
      <p:ext uri="{BB962C8B-B14F-4D97-AF65-F5344CB8AC3E}">
        <p14:creationId xmlns:p14="http://schemas.microsoft.com/office/powerpoint/2010/main" val="5023832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E4618-8B8A-B137-1A4F-2D4FDBE382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527FACA-68CD-1215-D3C2-EEE11A9830E2}"/>
              </a:ext>
            </a:extLst>
          </p:cNvPr>
          <p:cNvSpPr txBox="1"/>
          <p:nvPr/>
        </p:nvSpPr>
        <p:spPr>
          <a:xfrm>
            <a:off x="234462" y="219781"/>
            <a:ext cx="8053753" cy="523220"/>
          </a:xfrm>
          <a:prstGeom prst="rect">
            <a:avLst/>
          </a:prstGeom>
          <a:noFill/>
        </p:spPr>
        <p:txBody>
          <a:bodyPr wrap="square">
            <a:spAutoFit/>
          </a:bodyPr>
          <a:lstStyle/>
          <a:p>
            <a:r>
              <a:rPr lang="en-CA" sz="2800" b="1" dirty="0"/>
              <a:t>Cloud Adoption Framework Says...</a:t>
            </a:r>
          </a:p>
        </p:txBody>
      </p:sp>
      <p:sp>
        <p:nvSpPr>
          <p:cNvPr id="6" name="TextBox 5">
            <a:extLst>
              <a:ext uri="{FF2B5EF4-FFF2-40B4-BE49-F238E27FC236}">
                <a16:creationId xmlns:a16="http://schemas.microsoft.com/office/drawing/2014/main" id="{D0D5D1BD-CD7E-1CBB-E5FC-F22777F6BB07}"/>
              </a:ext>
            </a:extLst>
          </p:cNvPr>
          <p:cNvSpPr txBox="1"/>
          <p:nvPr/>
        </p:nvSpPr>
        <p:spPr>
          <a:xfrm>
            <a:off x="468922" y="1188111"/>
            <a:ext cx="7561386" cy="3970318"/>
          </a:xfrm>
          <a:prstGeom prst="rect">
            <a:avLst/>
          </a:prstGeom>
          <a:noFill/>
        </p:spPr>
        <p:txBody>
          <a:bodyPr wrap="square">
            <a:spAutoFit/>
          </a:bodyPr>
          <a:lstStyle/>
          <a:p>
            <a:pPr marL="285750" indent="-285750">
              <a:buFont typeface="Arial" panose="020B0604020202020204" pitchFamily="34" charset="0"/>
              <a:buChar char="•"/>
            </a:pPr>
            <a:r>
              <a:rPr lang="en-US" dirty="0"/>
              <a:t>Scope is critical</a:t>
            </a:r>
          </a:p>
          <a:p>
            <a:pPr marL="742950" lvl="1" indent="-285750">
              <a:buFont typeface="Arial" panose="020B0604020202020204" pitchFamily="34" charset="0"/>
              <a:buChar char="•"/>
            </a:pPr>
            <a:r>
              <a:rPr lang="en-US" dirty="0"/>
              <a:t>On prem scope is usually “entire org” but cloud usually isn’t</a:t>
            </a:r>
          </a:p>
          <a:p>
            <a:endParaRPr lang="en-US" dirty="0"/>
          </a:p>
          <a:p>
            <a:pPr marL="285750" indent="-285750">
              <a:buFont typeface="Arial" panose="020B0604020202020204" pitchFamily="34" charset="0"/>
              <a:buChar char="•"/>
            </a:pPr>
            <a:r>
              <a:rPr lang="en-US" dirty="0"/>
              <a:t>Generally</a:t>
            </a:r>
          </a:p>
          <a:p>
            <a:pPr marL="742950" lvl="1" indent="-285750">
              <a:buFont typeface="Arial" panose="020B0604020202020204" pitchFamily="34" charset="0"/>
              <a:buChar char="•"/>
            </a:pPr>
            <a:r>
              <a:rPr lang="en-US" dirty="0"/>
              <a:t>&lt;type&gt;-[&lt;component1&gt;]-[&lt;component2&gt;]-…-[&lt;componentN&gt;]-[&lt;###&gt;]</a:t>
            </a:r>
          </a:p>
          <a:p>
            <a:pPr marL="742950" lvl="1" indent="-285750">
              <a:buFont typeface="Arial" panose="020B0604020202020204" pitchFamily="34" charset="0"/>
              <a:buChar char="•"/>
            </a:pPr>
            <a:r>
              <a:rPr lang="en-US" dirty="0"/>
              <a:t>Components:</a:t>
            </a:r>
          </a:p>
          <a:p>
            <a:pPr marL="1200150" lvl="2" indent="-285750">
              <a:buFont typeface="Arial" panose="020B0604020202020204" pitchFamily="34" charset="0"/>
              <a:buChar char="•"/>
            </a:pPr>
            <a:r>
              <a:rPr lang="en-US" dirty="0"/>
              <a:t>Business unit (fin, mktg, product, it, corp)</a:t>
            </a:r>
          </a:p>
          <a:p>
            <a:pPr marL="1200150" lvl="2" indent="-285750">
              <a:buFont typeface="Arial" panose="020B0604020202020204" pitchFamily="34" charset="0"/>
              <a:buChar char="•"/>
            </a:pPr>
            <a:r>
              <a:rPr lang="en-US" dirty="0"/>
              <a:t>Subscription type (prod, shared, client, devtest)</a:t>
            </a:r>
          </a:p>
          <a:p>
            <a:pPr marL="1200150" lvl="2" indent="-285750">
              <a:buFont typeface="Arial" panose="020B0604020202020204" pitchFamily="34" charset="0"/>
              <a:buChar char="•"/>
            </a:pPr>
            <a:r>
              <a:rPr lang="en-US" dirty="0"/>
              <a:t>App or service name (sharepoint, navigator, hadoop)</a:t>
            </a:r>
          </a:p>
          <a:p>
            <a:pPr marL="1200150" lvl="2" indent="-285750">
              <a:buFont typeface="Arial" panose="020B0604020202020204" pitchFamily="34" charset="0"/>
              <a:buChar char="•"/>
            </a:pPr>
            <a:r>
              <a:rPr lang="en-US" dirty="0"/>
              <a:t>Environment (prod, dev, qa, stage, int, test)</a:t>
            </a:r>
          </a:p>
          <a:p>
            <a:pPr marL="1200150" lvl="2" indent="-285750">
              <a:buFont typeface="Arial" panose="020B0604020202020204" pitchFamily="34" charset="0"/>
              <a:buChar char="•"/>
            </a:pPr>
            <a:r>
              <a:rPr lang="en-US" dirty="0"/>
              <a:t>Region (westus, eastus, cancent)</a:t>
            </a:r>
          </a:p>
          <a:p>
            <a:pPr marL="742950" lvl="1" indent="-285750">
              <a:buFont typeface="Arial" panose="020B0604020202020204" pitchFamily="34" charset="0"/>
              <a:buChar char="•"/>
            </a:pPr>
            <a:r>
              <a:rPr lang="en-US" dirty="0"/>
              <a:t>Components can be in any order that makes sense</a:t>
            </a:r>
          </a:p>
          <a:p>
            <a:pPr marL="285750" indent="-285750">
              <a:buFont typeface="Arial" panose="020B0604020202020204" pitchFamily="34" charset="0"/>
              <a:buChar char="•"/>
            </a:pPr>
            <a:r>
              <a:rPr lang="en-US" dirty="0"/>
              <a:t>Use the minimum number of components possible</a:t>
            </a:r>
          </a:p>
          <a:p>
            <a:pPr marL="285750" indent="-285750">
              <a:buFont typeface="Arial" panose="020B0604020202020204" pitchFamily="34" charset="0"/>
              <a:buChar char="•"/>
            </a:pPr>
            <a:r>
              <a:rPr lang="en-US" dirty="0"/>
              <a:t>Standardize on lowercase names</a:t>
            </a:r>
          </a:p>
        </p:txBody>
      </p:sp>
    </p:spTree>
    <p:extLst>
      <p:ext uri="{BB962C8B-B14F-4D97-AF65-F5344CB8AC3E}">
        <p14:creationId xmlns:p14="http://schemas.microsoft.com/office/powerpoint/2010/main" val="2690788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608-C5B9-D1B4-0B26-A4B14F07B4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4B3CE0-1A16-0E98-16D5-45886C9CA407}"/>
              </a:ext>
            </a:extLst>
          </p:cNvPr>
          <p:cNvSpPr txBox="1"/>
          <p:nvPr/>
        </p:nvSpPr>
        <p:spPr>
          <a:xfrm>
            <a:off x="234462" y="219781"/>
            <a:ext cx="8053753" cy="523220"/>
          </a:xfrm>
          <a:prstGeom prst="rect">
            <a:avLst/>
          </a:prstGeom>
          <a:noFill/>
        </p:spPr>
        <p:txBody>
          <a:bodyPr wrap="square">
            <a:spAutoFit/>
          </a:bodyPr>
          <a:lstStyle/>
          <a:p>
            <a:r>
              <a:rPr lang="en-CA" sz="2800" b="1" dirty="0"/>
              <a:t>Naming Convention Example</a:t>
            </a:r>
          </a:p>
        </p:txBody>
      </p:sp>
      <p:sp>
        <p:nvSpPr>
          <p:cNvPr id="3" name="TextBox 2">
            <a:extLst>
              <a:ext uri="{FF2B5EF4-FFF2-40B4-BE49-F238E27FC236}">
                <a16:creationId xmlns:a16="http://schemas.microsoft.com/office/drawing/2014/main" id="{2E5604B4-D1D1-E0C7-85D6-CB1C38A49BCE}"/>
              </a:ext>
            </a:extLst>
          </p:cNvPr>
          <p:cNvSpPr txBox="1"/>
          <p:nvPr/>
        </p:nvSpPr>
        <p:spPr>
          <a:xfrm>
            <a:off x="-218643" y="1110734"/>
            <a:ext cx="4091354" cy="369332"/>
          </a:xfrm>
          <a:prstGeom prst="rect">
            <a:avLst/>
          </a:prstGeom>
          <a:noFill/>
        </p:spPr>
        <p:txBody>
          <a:bodyPr wrap="square">
            <a:spAutoFit/>
          </a:bodyPr>
          <a:lstStyle/>
          <a:p>
            <a:pPr algn="ctr" defTabSz="914377">
              <a:defRPr/>
            </a:pPr>
            <a:r>
              <a:rPr lang="en-US" sz="1800" dirty="0">
                <a:solidFill>
                  <a:srgbClr val="554700"/>
                </a:solidFill>
                <a:cs typeface="Segoe UI" panose="020B0502040204020203" pitchFamily="34" charset="0"/>
              </a:rPr>
              <a:t>Divide naming into segments</a:t>
            </a:r>
          </a:p>
        </p:txBody>
      </p:sp>
      <p:graphicFrame>
        <p:nvGraphicFramePr>
          <p:cNvPr id="4" name="Table 10">
            <a:extLst>
              <a:ext uri="{FF2B5EF4-FFF2-40B4-BE49-F238E27FC236}">
                <a16:creationId xmlns:a16="http://schemas.microsoft.com/office/drawing/2014/main" id="{77B175F4-4AD6-FC3B-5EB3-8FC33F823876}"/>
              </a:ext>
            </a:extLst>
          </p:cNvPr>
          <p:cNvGraphicFramePr>
            <a:graphicFrameLocks noGrp="1"/>
          </p:cNvGraphicFramePr>
          <p:nvPr>
            <p:extLst>
              <p:ext uri="{D42A27DB-BD31-4B8C-83A1-F6EECF244321}">
                <p14:modId xmlns:p14="http://schemas.microsoft.com/office/powerpoint/2010/main" val="1879271997"/>
              </p:ext>
            </p:extLst>
          </p:nvPr>
        </p:nvGraphicFramePr>
        <p:xfrm>
          <a:off x="4528770" y="1110734"/>
          <a:ext cx="5836196" cy="1057692"/>
        </p:xfrm>
        <a:graphic>
          <a:graphicData uri="http://schemas.openxmlformats.org/drawingml/2006/table">
            <a:tbl>
              <a:tblPr firstRow="1" bandRow="1"/>
              <a:tblGrid>
                <a:gridCol w="1459049">
                  <a:extLst>
                    <a:ext uri="{9D8B030D-6E8A-4147-A177-3AD203B41FA5}">
                      <a16:colId xmlns:a16="http://schemas.microsoft.com/office/drawing/2014/main" val="47995527"/>
                    </a:ext>
                  </a:extLst>
                </a:gridCol>
                <a:gridCol w="1459049">
                  <a:extLst>
                    <a:ext uri="{9D8B030D-6E8A-4147-A177-3AD203B41FA5}">
                      <a16:colId xmlns:a16="http://schemas.microsoft.com/office/drawing/2014/main" val="2608958260"/>
                    </a:ext>
                  </a:extLst>
                </a:gridCol>
                <a:gridCol w="1459049">
                  <a:extLst>
                    <a:ext uri="{9D8B030D-6E8A-4147-A177-3AD203B41FA5}">
                      <a16:colId xmlns:a16="http://schemas.microsoft.com/office/drawing/2014/main" val="2549717378"/>
                    </a:ext>
                  </a:extLst>
                </a:gridCol>
                <a:gridCol w="1459049">
                  <a:extLst>
                    <a:ext uri="{9D8B030D-6E8A-4147-A177-3AD203B41FA5}">
                      <a16:colId xmlns:a16="http://schemas.microsoft.com/office/drawing/2014/main" val="1823073463"/>
                    </a:ext>
                  </a:extLst>
                </a:gridCol>
              </a:tblGrid>
              <a:tr h="363349">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Segment A</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Segment B</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Segment C</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Segment D</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47122362"/>
                  </a:ext>
                </a:extLst>
              </a:tr>
              <a:tr h="694343">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3 characters  </a:t>
                      </a:r>
                    </a:p>
                    <a:p>
                      <a:r>
                        <a:rPr lang="en-US" sz="1000" dirty="0">
                          <a:latin typeface="+mn-lt"/>
                          <a:cs typeface="Segoe UI" panose="020B0502040204020203" pitchFamily="34" charset="0"/>
                        </a:rPr>
                        <a:t>Resource type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3 – 5 characters  application name abbreviation </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3 – 4 characters</a:t>
                      </a:r>
                    </a:p>
                    <a:p>
                      <a:r>
                        <a:rPr lang="en-US" sz="1000" dirty="0">
                          <a:latin typeface="+mn-lt"/>
                          <a:cs typeface="Segoe UI" panose="020B0502040204020203" pitchFamily="34" charset="0"/>
                        </a:rPr>
                        <a:t>Environment type or name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Region and numeric sequence for deployment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1178538"/>
                  </a:ext>
                </a:extLst>
              </a:tr>
            </a:tbl>
          </a:graphicData>
        </a:graphic>
      </p:graphicFrame>
      <p:sp>
        <p:nvSpPr>
          <p:cNvPr id="8" name="TextBox 7">
            <a:extLst>
              <a:ext uri="{FF2B5EF4-FFF2-40B4-BE49-F238E27FC236}">
                <a16:creationId xmlns:a16="http://schemas.microsoft.com/office/drawing/2014/main" id="{47259A0F-E1FD-98FB-FCD0-F7924FCC2667}"/>
              </a:ext>
            </a:extLst>
          </p:cNvPr>
          <p:cNvSpPr txBox="1"/>
          <p:nvPr/>
        </p:nvSpPr>
        <p:spPr>
          <a:xfrm>
            <a:off x="-218643" y="2951946"/>
            <a:ext cx="5029199" cy="646331"/>
          </a:xfrm>
          <a:prstGeom prst="rect">
            <a:avLst/>
          </a:prstGeom>
          <a:noFill/>
        </p:spPr>
        <p:txBody>
          <a:bodyPr wrap="square">
            <a:spAutoFit/>
          </a:bodyPr>
          <a:lstStyle/>
          <a:p>
            <a:pPr algn="ctr" defTabSz="914377">
              <a:defRPr/>
            </a:pPr>
            <a:r>
              <a:rPr lang="en-US" sz="1800" dirty="0">
                <a:solidFill>
                  <a:srgbClr val="554700"/>
                </a:solidFill>
                <a:cs typeface="Segoe UI" panose="020B0502040204020203" pitchFamily="34" charset="0"/>
              </a:rPr>
              <a:t>Create abbreviations for environments </a:t>
            </a:r>
          </a:p>
          <a:p>
            <a:pPr algn="ctr" defTabSz="914377">
              <a:defRPr/>
            </a:pPr>
            <a:r>
              <a:rPr lang="en-US" sz="1800" dirty="0">
                <a:solidFill>
                  <a:srgbClr val="554700"/>
                </a:solidFill>
                <a:cs typeface="Segoe UI" panose="020B0502040204020203" pitchFamily="34" charset="0"/>
              </a:rPr>
              <a:t>and resources</a:t>
            </a:r>
          </a:p>
        </p:txBody>
      </p:sp>
      <p:graphicFrame>
        <p:nvGraphicFramePr>
          <p:cNvPr id="9" name="Table 14">
            <a:extLst>
              <a:ext uri="{FF2B5EF4-FFF2-40B4-BE49-F238E27FC236}">
                <a16:creationId xmlns:a16="http://schemas.microsoft.com/office/drawing/2014/main" id="{8FDE7EFF-4ECF-A65B-3C44-44EEB0A06102}"/>
              </a:ext>
            </a:extLst>
          </p:cNvPr>
          <p:cNvGraphicFramePr>
            <a:graphicFrameLocks noGrp="1"/>
          </p:cNvGraphicFramePr>
          <p:nvPr>
            <p:extLst>
              <p:ext uri="{D42A27DB-BD31-4B8C-83A1-F6EECF244321}">
                <p14:modId xmlns:p14="http://schemas.microsoft.com/office/powerpoint/2010/main" val="2759714326"/>
              </p:ext>
            </p:extLst>
          </p:nvPr>
        </p:nvGraphicFramePr>
        <p:xfrm>
          <a:off x="4528770" y="2674620"/>
          <a:ext cx="5227185" cy="1483360"/>
        </p:xfrm>
        <a:graphic>
          <a:graphicData uri="http://schemas.openxmlformats.org/drawingml/2006/table">
            <a:tbl>
              <a:tblPr firstRow="1" bandRow="1"/>
              <a:tblGrid>
                <a:gridCol w="1742395">
                  <a:extLst>
                    <a:ext uri="{9D8B030D-6E8A-4147-A177-3AD203B41FA5}">
                      <a16:colId xmlns:a16="http://schemas.microsoft.com/office/drawing/2014/main" val="662736821"/>
                    </a:ext>
                  </a:extLst>
                </a:gridCol>
                <a:gridCol w="1742395">
                  <a:extLst>
                    <a:ext uri="{9D8B030D-6E8A-4147-A177-3AD203B41FA5}">
                      <a16:colId xmlns:a16="http://schemas.microsoft.com/office/drawing/2014/main" val="2385285915"/>
                    </a:ext>
                  </a:extLst>
                </a:gridCol>
                <a:gridCol w="1742395">
                  <a:extLst>
                    <a:ext uri="{9D8B030D-6E8A-4147-A177-3AD203B41FA5}">
                      <a16:colId xmlns:a16="http://schemas.microsoft.com/office/drawing/2014/main" val="2632359249"/>
                    </a:ext>
                  </a:extLst>
                </a:gridCol>
              </a:tblGrid>
              <a:tr h="370840">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Environments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Applications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685800" rtl="0" eaLnBrk="1" latinLnBrk="0" hangingPunct="1">
                        <a:defRPr sz="1350" b="1" kern="1200">
                          <a:solidFill>
                            <a:schemeClr val="lt1"/>
                          </a:solidFill>
                          <a:latin typeface="Calibri" panose="020F0502020204030204"/>
                        </a:defRPr>
                      </a:lvl1pPr>
                      <a:lvl2pPr marL="342900" algn="l" defTabSz="685800" rtl="0" eaLnBrk="1" latinLnBrk="0" hangingPunct="1">
                        <a:defRPr sz="1350" b="1" kern="1200">
                          <a:solidFill>
                            <a:schemeClr val="lt1"/>
                          </a:solidFill>
                          <a:latin typeface="Calibri" panose="020F0502020204030204"/>
                        </a:defRPr>
                      </a:lvl2pPr>
                      <a:lvl3pPr marL="685800" algn="l" defTabSz="685800" rtl="0" eaLnBrk="1" latinLnBrk="0" hangingPunct="1">
                        <a:defRPr sz="1350" b="1" kern="1200">
                          <a:solidFill>
                            <a:schemeClr val="lt1"/>
                          </a:solidFill>
                          <a:latin typeface="Calibri" panose="020F0502020204030204"/>
                        </a:defRPr>
                      </a:lvl3pPr>
                      <a:lvl4pPr marL="1028700" algn="l" defTabSz="685800" rtl="0" eaLnBrk="1" latinLnBrk="0" hangingPunct="1">
                        <a:defRPr sz="1350" b="1" kern="1200">
                          <a:solidFill>
                            <a:schemeClr val="lt1"/>
                          </a:solidFill>
                          <a:latin typeface="Calibri" panose="020F0502020204030204"/>
                        </a:defRPr>
                      </a:lvl4pPr>
                      <a:lvl5pPr marL="1371600" algn="l" defTabSz="685800" rtl="0" eaLnBrk="1" latinLnBrk="0" hangingPunct="1">
                        <a:defRPr sz="1350" b="1" kern="1200">
                          <a:solidFill>
                            <a:schemeClr val="lt1"/>
                          </a:solidFill>
                          <a:latin typeface="Calibri" panose="020F0502020204030204"/>
                        </a:defRPr>
                      </a:lvl5pPr>
                      <a:lvl6pPr marL="1714500" algn="l" defTabSz="685800" rtl="0" eaLnBrk="1" latinLnBrk="0" hangingPunct="1">
                        <a:defRPr sz="1350" b="1" kern="1200">
                          <a:solidFill>
                            <a:schemeClr val="lt1"/>
                          </a:solidFill>
                          <a:latin typeface="Calibri" panose="020F0502020204030204"/>
                        </a:defRPr>
                      </a:lvl6pPr>
                      <a:lvl7pPr marL="2057400" algn="l" defTabSz="685800" rtl="0" eaLnBrk="1" latinLnBrk="0" hangingPunct="1">
                        <a:defRPr sz="1350" b="1" kern="1200">
                          <a:solidFill>
                            <a:schemeClr val="lt1"/>
                          </a:solidFill>
                          <a:latin typeface="Calibri" panose="020F0502020204030204"/>
                        </a:defRPr>
                      </a:lvl7pPr>
                      <a:lvl8pPr marL="2400300" algn="l" defTabSz="685800" rtl="0" eaLnBrk="1" latinLnBrk="0" hangingPunct="1">
                        <a:defRPr sz="1350" b="1" kern="1200">
                          <a:solidFill>
                            <a:schemeClr val="lt1"/>
                          </a:solidFill>
                          <a:latin typeface="Calibri" panose="020F0502020204030204"/>
                        </a:defRPr>
                      </a:lvl8pPr>
                      <a:lvl9pPr marL="2743200" algn="l" defTabSz="685800" rtl="0" eaLnBrk="1" latinLnBrk="0" hangingPunct="1">
                        <a:defRPr sz="1350" b="1" kern="1200">
                          <a:solidFill>
                            <a:schemeClr val="lt1"/>
                          </a:solidFill>
                          <a:latin typeface="Calibri" panose="020F0502020204030204"/>
                        </a:defRPr>
                      </a:lvl9pPr>
                    </a:lstStyle>
                    <a:p>
                      <a:r>
                        <a:rPr lang="en-US" sz="1000" dirty="0">
                          <a:latin typeface="+mn-lt"/>
                          <a:cs typeface="Segoe UI" panose="020B0502040204020203" pitchFamily="34" charset="0"/>
                        </a:rPr>
                        <a:t>Objects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776751515"/>
                  </a:ext>
                </a:extLst>
              </a:tr>
              <a:tr h="370840">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prd: Production</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ads: Active directory services </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ilb: Internal load balancer </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693345912"/>
                  </a:ext>
                </a:extLst>
              </a:tr>
              <a:tr h="370840">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pprd: pre-production  </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dbs: database services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pip: Public IP Address </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173008961"/>
                  </a:ext>
                </a:extLst>
              </a:tr>
              <a:tr h="370840">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qa: quality assurance </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ctx: citrix</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85800" rtl="0" eaLnBrk="1" latinLnBrk="0" hangingPunct="1">
                        <a:defRPr sz="1350" kern="1200">
                          <a:solidFill>
                            <a:schemeClr val="dk1"/>
                          </a:solidFill>
                          <a:latin typeface="Calibri" panose="020F0502020204030204"/>
                        </a:defRPr>
                      </a:lvl1pPr>
                      <a:lvl2pPr marL="342900" algn="l" defTabSz="685800" rtl="0" eaLnBrk="1" latinLnBrk="0" hangingPunct="1">
                        <a:defRPr sz="1350" kern="1200">
                          <a:solidFill>
                            <a:schemeClr val="dk1"/>
                          </a:solidFill>
                          <a:latin typeface="Calibri" panose="020F0502020204030204"/>
                        </a:defRPr>
                      </a:lvl2pPr>
                      <a:lvl3pPr marL="685800" algn="l" defTabSz="685800" rtl="0" eaLnBrk="1" latinLnBrk="0" hangingPunct="1">
                        <a:defRPr sz="1350" kern="1200">
                          <a:solidFill>
                            <a:schemeClr val="dk1"/>
                          </a:solidFill>
                          <a:latin typeface="Calibri" panose="020F0502020204030204"/>
                        </a:defRPr>
                      </a:lvl3pPr>
                      <a:lvl4pPr marL="1028700" algn="l" defTabSz="685800" rtl="0" eaLnBrk="1" latinLnBrk="0" hangingPunct="1">
                        <a:defRPr sz="1350" kern="1200">
                          <a:solidFill>
                            <a:schemeClr val="dk1"/>
                          </a:solidFill>
                          <a:latin typeface="Calibri" panose="020F0502020204030204"/>
                        </a:defRPr>
                      </a:lvl4pPr>
                      <a:lvl5pPr marL="1371600" algn="l" defTabSz="685800" rtl="0" eaLnBrk="1" latinLnBrk="0" hangingPunct="1">
                        <a:defRPr sz="1350" kern="1200">
                          <a:solidFill>
                            <a:schemeClr val="dk1"/>
                          </a:solidFill>
                          <a:latin typeface="Calibri" panose="020F0502020204030204"/>
                        </a:defRPr>
                      </a:lvl5pPr>
                      <a:lvl6pPr marL="1714500" algn="l" defTabSz="685800" rtl="0" eaLnBrk="1" latinLnBrk="0" hangingPunct="1">
                        <a:defRPr sz="1350" kern="1200">
                          <a:solidFill>
                            <a:schemeClr val="dk1"/>
                          </a:solidFill>
                          <a:latin typeface="Calibri" panose="020F0502020204030204"/>
                        </a:defRPr>
                      </a:lvl6pPr>
                      <a:lvl7pPr marL="2057400" algn="l" defTabSz="685800" rtl="0" eaLnBrk="1" latinLnBrk="0" hangingPunct="1">
                        <a:defRPr sz="1350" kern="1200">
                          <a:solidFill>
                            <a:schemeClr val="dk1"/>
                          </a:solidFill>
                          <a:latin typeface="Calibri" panose="020F0502020204030204"/>
                        </a:defRPr>
                      </a:lvl7pPr>
                      <a:lvl8pPr marL="2400300" algn="l" defTabSz="685800" rtl="0" eaLnBrk="1" latinLnBrk="0" hangingPunct="1">
                        <a:defRPr sz="1350" kern="1200">
                          <a:solidFill>
                            <a:schemeClr val="dk1"/>
                          </a:solidFill>
                          <a:latin typeface="Calibri" panose="020F0502020204030204"/>
                        </a:defRPr>
                      </a:lvl8pPr>
                      <a:lvl9pPr marL="2743200" algn="l" defTabSz="685800" rtl="0" eaLnBrk="1" latinLnBrk="0" hangingPunct="1">
                        <a:defRPr sz="1350" kern="1200">
                          <a:solidFill>
                            <a:schemeClr val="dk1"/>
                          </a:solidFill>
                          <a:latin typeface="Calibri" panose="020F0502020204030204"/>
                        </a:defRPr>
                      </a:lvl9pPr>
                    </a:lstStyle>
                    <a:p>
                      <a:r>
                        <a:rPr lang="en-US" sz="1000" dirty="0">
                          <a:latin typeface="+mn-lt"/>
                          <a:cs typeface="Segoe UI" panose="020B0502040204020203" pitchFamily="34" charset="0"/>
                        </a:rPr>
                        <a:t>str: Storage Account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40034153"/>
                  </a:ext>
                </a:extLst>
              </a:tr>
            </a:tbl>
          </a:graphicData>
        </a:graphic>
      </p:graphicFrame>
      <p:pic>
        <p:nvPicPr>
          <p:cNvPr id="10" name="Picture 9">
            <a:extLst>
              <a:ext uri="{FF2B5EF4-FFF2-40B4-BE49-F238E27FC236}">
                <a16:creationId xmlns:a16="http://schemas.microsoft.com/office/drawing/2014/main" id="{8AF214C6-52D6-A322-F168-6961FE22C2E7}"/>
              </a:ext>
            </a:extLst>
          </p:cNvPr>
          <p:cNvPicPr>
            <a:picLocks noChangeAspect="1"/>
          </p:cNvPicPr>
          <p:nvPr/>
        </p:nvPicPr>
        <p:blipFill>
          <a:blip r:embed="rId3"/>
          <a:stretch>
            <a:fillRect/>
          </a:stretch>
        </p:blipFill>
        <p:spPr>
          <a:xfrm>
            <a:off x="234462" y="4558168"/>
            <a:ext cx="5791200" cy="766664"/>
          </a:xfrm>
          <a:prstGeom prst="rect">
            <a:avLst/>
          </a:prstGeom>
        </p:spPr>
      </p:pic>
      <p:sp>
        <p:nvSpPr>
          <p:cNvPr id="11" name="TextBox 10">
            <a:extLst>
              <a:ext uri="{FF2B5EF4-FFF2-40B4-BE49-F238E27FC236}">
                <a16:creationId xmlns:a16="http://schemas.microsoft.com/office/drawing/2014/main" id="{B985A91A-4228-00F3-9233-DE24BDFB2CC9}"/>
              </a:ext>
            </a:extLst>
          </p:cNvPr>
          <p:cNvSpPr txBox="1"/>
          <p:nvPr/>
        </p:nvSpPr>
        <p:spPr>
          <a:xfrm>
            <a:off x="6025662" y="4741445"/>
            <a:ext cx="3314103" cy="400110"/>
          </a:xfrm>
          <a:prstGeom prst="rect">
            <a:avLst/>
          </a:prstGeom>
          <a:noFill/>
        </p:spPr>
        <p:txBody>
          <a:bodyPr wrap="square" rtlCol="0">
            <a:spAutoFit/>
          </a:bodyPr>
          <a:lstStyle/>
          <a:p>
            <a:pPr algn="ctr" defTabSz="914377">
              <a:defRPr/>
            </a:pPr>
            <a:r>
              <a:rPr lang="en-US" sz="2000" b="1" dirty="0">
                <a:solidFill>
                  <a:srgbClr val="554700"/>
                </a:solidFill>
                <a:cs typeface="Segoe UI" panose="020B0502040204020203" pitchFamily="34" charset="0"/>
              </a:rPr>
              <a:t>RG-ADS-PRD-CCA001</a:t>
            </a:r>
          </a:p>
        </p:txBody>
      </p:sp>
    </p:spTree>
    <p:extLst>
      <p:ext uri="{BB962C8B-B14F-4D97-AF65-F5344CB8AC3E}">
        <p14:creationId xmlns:p14="http://schemas.microsoft.com/office/powerpoint/2010/main" val="3754950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C4925-BBF6-B98C-E4E4-1484F5875AB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D08BDF1-FB09-5B2E-1EF5-35742B17127B}"/>
              </a:ext>
            </a:extLst>
          </p:cNvPr>
          <p:cNvSpPr txBox="1"/>
          <p:nvPr/>
        </p:nvSpPr>
        <p:spPr>
          <a:xfrm>
            <a:off x="234462" y="219781"/>
            <a:ext cx="8053753" cy="523220"/>
          </a:xfrm>
          <a:prstGeom prst="rect">
            <a:avLst/>
          </a:prstGeom>
          <a:noFill/>
        </p:spPr>
        <p:txBody>
          <a:bodyPr wrap="square">
            <a:spAutoFit/>
          </a:bodyPr>
          <a:lstStyle/>
          <a:p>
            <a:r>
              <a:rPr lang="en-CA" sz="2800" b="1" dirty="0"/>
              <a:t>Microsoft Best Practices</a:t>
            </a:r>
          </a:p>
        </p:txBody>
      </p:sp>
      <p:sp>
        <p:nvSpPr>
          <p:cNvPr id="6" name="TextBox 5">
            <a:extLst>
              <a:ext uri="{FF2B5EF4-FFF2-40B4-BE49-F238E27FC236}">
                <a16:creationId xmlns:a16="http://schemas.microsoft.com/office/drawing/2014/main" id="{FABDA444-E8E9-E7FE-554E-8CAC127CE129}"/>
              </a:ext>
            </a:extLst>
          </p:cNvPr>
          <p:cNvSpPr txBox="1"/>
          <p:nvPr/>
        </p:nvSpPr>
        <p:spPr>
          <a:xfrm>
            <a:off x="504091" y="1616929"/>
            <a:ext cx="8053753" cy="1354217"/>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dirty="0">
                <a:hlinkClick r:id="rId3"/>
              </a:rPr>
              <a:t>https://docs.microsoft.com/en-us/azure/cloud-adoption-framework/ready/azure-best-practices/naming-and-tagging</a:t>
            </a:r>
            <a:endParaRPr lang="en-US" dirty="0"/>
          </a:p>
          <a:p>
            <a:pPr>
              <a:spcAft>
                <a:spcPts val="600"/>
              </a:spcAft>
            </a:pPr>
            <a:endParaRPr lang="en-US" dirty="0"/>
          </a:p>
          <a:p>
            <a:pPr marL="285750" indent="-285750">
              <a:spcAft>
                <a:spcPts val="600"/>
              </a:spcAft>
              <a:buFont typeface="Arial" panose="020B0604020202020204" pitchFamily="34" charset="0"/>
              <a:buChar char="•"/>
            </a:pPr>
            <a:r>
              <a:rPr lang="en-US" dirty="0"/>
              <a:t>Cloud Adoption Framework -&gt; Ready -&gt; Best Practices -&gt; Resource Organization</a:t>
            </a:r>
          </a:p>
        </p:txBody>
      </p:sp>
    </p:spTree>
    <p:extLst>
      <p:ext uri="{BB962C8B-B14F-4D97-AF65-F5344CB8AC3E}">
        <p14:creationId xmlns:p14="http://schemas.microsoft.com/office/powerpoint/2010/main" val="30909260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576C0-3244-C2AB-A6EA-B127B83C2E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FCE7BF-D7B2-337D-C2DF-507E0B3E100A}"/>
              </a:ext>
            </a:extLst>
          </p:cNvPr>
          <p:cNvSpPr txBox="1"/>
          <p:nvPr/>
        </p:nvSpPr>
        <p:spPr>
          <a:xfrm>
            <a:off x="234462" y="219781"/>
            <a:ext cx="8053753" cy="523220"/>
          </a:xfrm>
          <a:prstGeom prst="rect">
            <a:avLst/>
          </a:prstGeom>
          <a:noFill/>
        </p:spPr>
        <p:txBody>
          <a:bodyPr wrap="square">
            <a:spAutoFit/>
          </a:bodyPr>
          <a:lstStyle/>
          <a:p>
            <a:r>
              <a:rPr lang="en-CA" sz="2800" b="1" dirty="0"/>
              <a:t>Tagging Decision Guide</a:t>
            </a:r>
          </a:p>
        </p:txBody>
      </p:sp>
      <p:pic>
        <p:nvPicPr>
          <p:cNvPr id="2" name="Content Placeholder 4" descr="A screenshot of text&#10;&#10;Description automatically generated">
            <a:extLst>
              <a:ext uri="{FF2B5EF4-FFF2-40B4-BE49-F238E27FC236}">
                <a16:creationId xmlns:a16="http://schemas.microsoft.com/office/drawing/2014/main" id="{0AA5E433-2E44-E97B-A47C-8E27E85A7B7B}"/>
              </a:ext>
            </a:extLst>
          </p:cNvPr>
          <p:cNvPicPr>
            <a:picLocks noChangeAspect="1"/>
          </p:cNvPicPr>
          <p:nvPr/>
        </p:nvPicPr>
        <p:blipFill>
          <a:blip r:embed="rId3"/>
          <a:stretch>
            <a:fillRect/>
          </a:stretch>
        </p:blipFill>
        <p:spPr>
          <a:xfrm>
            <a:off x="335866" y="1648485"/>
            <a:ext cx="8580120" cy="3561030"/>
          </a:xfrm>
          <a:prstGeom prst="rect">
            <a:avLst/>
          </a:prstGeom>
        </p:spPr>
      </p:pic>
    </p:spTree>
    <p:extLst>
      <p:ext uri="{BB962C8B-B14F-4D97-AF65-F5344CB8AC3E}">
        <p14:creationId xmlns:p14="http://schemas.microsoft.com/office/powerpoint/2010/main" val="31612415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27A99-3B0A-6FE9-6A9F-0226D76869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EE8A929-6B12-015A-CC67-CCECA5E6A67E}"/>
              </a:ext>
            </a:extLst>
          </p:cNvPr>
          <p:cNvSpPr txBox="1"/>
          <p:nvPr/>
        </p:nvSpPr>
        <p:spPr>
          <a:xfrm>
            <a:off x="328247" y="419073"/>
            <a:ext cx="8053753" cy="523220"/>
          </a:xfrm>
          <a:prstGeom prst="rect">
            <a:avLst/>
          </a:prstGeom>
          <a:noFill/>
        </p:spPr>
        <p:txBody>
          <a:bodyPr wrap="square">
            <a:spAutoFit/>
          </a:bodyPr>
          <a:lstStyle/>
          <a:p>
            <a:r>
              <a:rPr lang="en-CA" sz="2800" b="1" dirty="0"/>
              <a:t>Potential Tags</a:t>
            </a:r>
          </a:p>
        </p:txBody>
      </p:sp>
      <p:graphicFrame>
        <p:nvGraphicFramePr>
          <p:cNvPr id="3" name="Table 4">
            <a:extLst>
              <a:ext uri="{FF2B5EF4-FFF2-40B4-BE49-F238E27FC236}">
                <a16:creationId xmlns:a16="http://schemas.microsoft.com/office/drawing/2014/main" id="{46AE5306-F45A-F6E0-FBE0-BFBD74BC6944}"/>
              </a:ext>
            </a:extLst>
          </p:cNvPr>
          <p:cNvGraphicFramePr>
            <a:graphicFrameLocks/>
          </p:cNvGraphicFramePr>
          <p:nvPr>
            <p:extLst>
              <p:ext uri="{D42A27DB-BD31-4B8C-83A1-F6EECF244321}">
                <p14:modId xmlns:p14="http://schemas.microsoft.com/office/powerpoint/2010/main" val="748987916"/>
              </p:ext>
            </p:extLst>
          </p:nvPr>
        </p:nvGraphicFramePr>
        <p:xfrm>
          <a:off x="442658" y="1305824"/>
          <a:ext cx="7637360" cy="3729718"/>
        </p:xfrm>
        <a:graphic>
          <a:graphicData uri="http://schemas.openxmlformats.org/drawingml/2006/table">
            <a:tbl>
              <a:tblPr firstRow="1" bandRow="1">
                <a:tableStyleId>{5C22544A-7EE6-4342-B048-85BDC9FD1C3A}</a:tableStyleId>
              </a:tblPr>
              <a:tblGrid>
                <a:gridCol w="1524154">
                  <a:extLst>
                    <a:ext uri="{9D8B030D-6E8A-4147-A177-3AD203B41FA5}">
                      <a16:colId xmlns:a16="http://schemas.microsoft.com/office/drawing/2014/main" val="2297468892"/>
                    </a:ext>
                  </a:extLst>
                </a:gridCol>
                <a:gridCol w="2294526">
                  <a:extLst>
                    <a:ext uri="{9D8B030D-6E8A-4147-A177-3AD203B41FA5}">
                      <a16:colId xmlns:a16="http://schemas.microsoft.com/office/drawing/2014/main" val="4041880076"/>
                    </a:ext>
                  </a:extLst>
                </a:gridCol>
                <a:gridCol w="1909340">
                  <a:extLst>
                    <a:ext uri="{9D8B030D-6E8A-4147-A177-3AD203B41FA5}">
                      <a16:colId xmlns:a16="http://schemas.microsoft.com/office/drawing/2014/main" val="3089367533"/>
                    </a:ext>
                  </a:extLst>
                </a:gridCol>
                <a:gridCol w="1909340">
                  <a:extLst>
                    <a:ext uri="{9D8B030D-6E8A-4147-A177-3AD203B41FA5}">
                      <a16:colId xmlns:a16="http://schemas.microsoft.com/office/drawing/2014/main" val="343963168"/>
                    </a:ext>
                  </a:extLst>
                </a:gridCol>
              </a:tblGrid>
              <a:tr h="319690">
                <a:tc>
                  <a:txBody>
                    <a:bodyPr/>
                    <a:lstStyle/>
                    <a:p>
                      <a:r>
                        <a:rPr lang="en-CA" sz="1200" dirty="0"/>
                        <a:t>Tag Name</a:t>
                      </a:r>
                    </a:p>
                  </a:txBody>
                  <a:tcPr marL="121920" marR="121920" marT="60960" marB="60960"/>
                </a:tc>
                <a:tc>
                  <a:txBody>
                    <a:bodyPr/>
                    <a:lstStyle/>
                    <a:p>
                      <a:r>
                        <a:rPr lang="en-CA" sz="1200" dirty="0"/>
                        <a:t>Description</a:t>
                      </a:r>
                    </a:p>
                  </a:txBody>
                  <a:tcPr marL="121920" marR="121920" marT="60960" marB="60960"/>
                </a:tc>
                <a:tc>
                  <a:txBody>
                    <a:bodyPr/>
                    <a:lstStyle/>
                    <a:p>
                      <a:r>
                        <a:rPr lang="en-CA" sz="1200" dirty="0"/>
                        <a:t>e.g. Value</a:t>
                      </a:r>
                    </a:p>
                  </a:txBody>
                  <a:tcPr marL="121920" marR="121920" marT="60960" marB="60960"/>
                </a:tc>
                <a:tc>
                  <a:txBody>
                    <a:bodyPr/>
                    <a:lstStyle/>
                    <a:p>
                      <a:r>
                        <a:rPr lang="en-CA" sz="1200" dirty="0"/>
                        <a:t>Required?</a:t>
                      </a:r>
                    </a:p>
                  </a:txBody>
                  <a:tcPr marL="121920" marR="121920" marT="60960" marB="60960"/>
                </a:tc>
                <a:extLst>
                  <a:ext uri="{0D108BD9-81ED-4DB2-BD59-A6C34878D82A}">
                    <a16:rowId xmlns:a16="http://schemas.microsoft.com/office/drawing/2014/main" val="1248567446"/>
                  </a:ext>
                </a:extLst>
              </a:tr>
              <a:tr h="532817">
                <a:tc>
                  <a:txBody>
                    <a:bodyPr/>
                    <a:lstStyle/>
                    <a:p>
                      <a:r>
                        <a:rPr lang="en-CA" sz="1200" dirty="0"/>
                        <a:t>Environment</a:t>
                      </a:r>
                    </a:p>
                  </a:txBody>
                  <a:tcPr marL="121920" marR="121920" marT="60960" marB="60960"/>
                </a:tc>
                <a:tc>
                  <a:txBody>
                    <a:bodyPr/>
                    <a:lstStyle/>
                    <a:p>
                      <a:r>
                        <a:rPr lang="en-CA" sz="1200" dirty="0"/>
                        <a:t>Environment</a:t>
                      </a:r>
                    </a:p>
                  </a:txBody>
                  <a:tcPr marL="121920" marR="121920" marT="60960" marB="60960"/>
                </a:tc>
                <a:tc>
                  <a:txBody>
                    <a:bodyPr/>
                    <a:lstStyle/>
                    <a:p>
                      <a:r>
                        <a:rPr lang="en-CA" sz="1200" dirty="0"/>
                        <a:t>(one of) prod, test, dev</a:t>
                      </a:r>
                    </a:p>
                  </a:txBody>
                  <a:tcPr marL="121920" marR="121920" marT="60960" marB="60960"/>
                </a:tc>
                <a:tc>
                  <a:txBody>
                    <a:bodyPr/>
                    <a:lstStyle/>
                    <a:p>
                      <a:r>
                        <a:rPr lang="en-CA" sz="1200" dirty="0"/>
                        <a:t>Yes</a:t>
                      </a:r>
                    </a:p>
                  </a:txBody>
                  <a:tcPr marL="121920" marR="121920" marT="60960" marB="60960"/>
                </a:tc>
                <a:extLst>
                  <a:ext uri="{0D108BD9-81ED-4DB2-BD59-A6C34878D82A}">
                    <a16:rowId xmlns:a16="http://schemas.microsoft.com/office/drawing/2014/main" val="4286981897"/>
                  </a:ext>
                </a:extLst>
              </a:tr>
              <a:tr h="532817">
                <a:tc>
                  <a:txBody>
                    <a:bodyPr/>
                    <a:lstStyle/>
                    <a:p>
                      <a:r>
                        <a:rPr lang="en-CA" sz="1200" dirty="0"/>
                        <a:t>BusinessUnit</a:t>
                      </a:r>
                    </a:p>
                  </a:txBody>
                  <a:tcPr marL="121920" marR="121920" marT="60960" marB="60960"/>
                </a:tc>
                <a:tc>
                  <a:txBody>
                    <a:bodyPr/>
                    <a:lstStyle/>
                    <a:p>
                      <a:r>
                        <a:rPr lang="en-CA" sz="1200" dirty="0"/>
                        <a:t>Business unit to whom this workload belongs</a:t>
                      </a:r>
                    </a:p>
                  </a:txBody>
                  <a:tcPr marL="121920" marR="121920" marT="60960" marB="60960"/>
                </a:tc>
                <a:tc>
                  <a:txBody>
                    <a:bodyPr/>
                    <a:lstStyle/>
                    <a:p>
                      <a:r>
                        <a:rPr lang="en-CA" sz="1200" dirty="0"/>
                        <a:t>(any) IT</a:t>
                      </a:r>
                    </a:p>
                  </a:txBody>
                  <a:tcPr marL="121920" marR="121920" marT="60960" marB="60960"/>
                </a:tc>
                <a:tc>
                  <a:txBody>
                    <a:bodyPr/>
                    <a:lstStyle/>
                    <a:p>
                      <a:r>
                        <a:rPr lang="en-CA" sz="1200" dirty="0"/>
                        <a:t>Yes</a:t>
                      </a:r>
                    </a:p>
                  </a:txBody>
                  <a:tcPr marL="121920" marR="121920" marT="60960" marB="60960"/>
                </a:tc>
                <a:extLst>
                  <a:ext uri="{0D108BD9-81ED-4DB2-BD59-A6C34878D82A}">
                    <a16:rowId xmlns:a16="http://schemas.microsoft.com/office/drawing/2014/main" val="169426851"/>
                  </a:ext>
                </a:extLst>
              </a:tr>
              <a:tr h="532817">
                <a:tc>
                  <a:txBody>
                    <a:bodyPr/>
                    <a:lstStyle/>
                    <a:p>
                      <a:r>
                        <a:rPr lang="en-CA" sz="1200" dirty="0"/>
                        <a:t>ApplicationName</a:t>
                      </a:r>
                    </a:p>
                  </a:txBody>
                  <a:tcPr marL="121920" marR="121920" marT="60960" marB="60960"/>
                </a:tc>
                <a:tc>
                  <a:txBody>
                    <a:bodyPr/>
                    <a:lstStyle/>
                    <a:p>
                      <a:r>
                        <a:rPr lang="en-CA" sz="1200" dirty="0"/>
                        <a:t>A roll-up application name for all resources</a:t>
                      </a:r>
                    </a:p>
                  </a:txBody>
                  <a:tcPr marL="121920" marR="121920" marT="60960" marB="60960"/>
                </a:tc>
                <a:tc>
                  <a:txBody>
                    <a:bodyPr/>
                    <a:lstStyle/>
                    <a:p>
                      <a:r>
                        <a:rPr lang="en-CA" sz="1200" dirty="0"/>
                        <a:t>(any) SharePoint, Business App 1</a:t>
                      </a:r>
                    </a:p>
                  </a:txBody>
                  <a:tcPr marL="121920" marR="121920" marT="60960" marB="60960"/>
                </a:tc>
                <a:tc>
                  <a:txBody>
                    <a:bodyPr/>
                    <a:lstStyle/>
                    <a:p>
                      <a:r>
                        <a:rPr lang="en-CA" sz="1200" dirty="0"/>
                        <a:t>Yes</a:t>
                      </a:r>
                    </a:p>
                  </a:txBody>
                  <a:tcPr marL="121920" marR="121920" marT="60960" marB="60960"/>
                </a:tc>
                <a:extLst>
                  <a:ext uri="{0D108BD9-81ED-4DB2-BD59-A6C34878D82A}">
                    <a16:rowId xmlns:a16="http://schemas.microsoft.com/office/drawing/2014/main" val="2548125721"/>
                  </a:ext>
                </a:extLst>
              </a:tr>
              <a:tr h="959070">
                <a:tc>
                  <a:txBody>
                    <a:bodyPr/>
                    <a:lstStyle/>
                    <a:p>
                      <a:r>
                        <a:rPr lang="en-CA" sz="1200" dirty="0"/>
                        <a:t>ServiceLevel</a:t>
                      </a:r>
                    </a:p>
                  </a:txBody>
                  <a:tcPr marL="121920" marR="121920" marT="60960" marB="60960"/>
                </a:tc>
                <a:tc>
                  <a:txBody>
                    <a:bodyPr/>
                    <a:lstStyle/>
                    <a:p>
                      <a:r>
                        <a:rPr lang="en-CA" sz="1200" dirty="0"/>
                        <a:t>A description of the service level that this app receives (synonymous with SLA)</a:t>
                      </a:r>
                    </a:p>
                  </a:txBody>
                  <a:tcPr marL="121920" marR="121920" marT="60960" marB="60960"/>
                </a:tc>
                <a:tc>
                  <a:txBody>
                    <a:bodyPr/>
                    <a:lstStyle/>
                    <a:p>
                      <a:r>
                        <a:rPr lang="en-CA" sz="1200" dirty="0"/>
                        <a:t>(one of) critical, gold, silver, bronze</a:t>
                      </a:r>
                    </a:p>
                  </a:txBody>
                  <a:tcPr marL="121920" marR="121920" marT="60960" marB="60960"/>
                </a:tc>
                <a:tc>
                  <a:txBody>
                    <a:bodyPr/>
                    <a:lstStyle/>
                    <a:p>
                      <a:r>
                        <a:rPr lang="en-CA" sz="1200" dirty="0"/>
                        <a:t>Yes</a:t>
                      </a:r>
                    </a:p>
                  </a:txBody>
                  <a:tcPr marL="121920" marR="121920" marT="60960" marB="60960"/>
                </a:tc>
                <a:extLst>
                  <a:ext uri="{0D108BD9-81ED-4DB2-BD59-A6C34878D82A}">
                    <a16:rowId xmlns:a16="http://schemas.microsoft.com/office/drawing/2014/main" val="1709543026"/>
                  </a:ext>
                </a:extLst>
              </a:tr>
              <a:tr h="532817">
                <a:tc>
                  <a:txBody>
                    <a:bodyPr/>
                    <a:lstStyle/>
                    <a:p>
                      <a:r>
                        <a:rPr lang="en-CA" sz="1200" dirty="0"/>
                        <a:t>Owner</a:t>
                      </a:r>
                    </a:p>
                  </a:txBody>
                  <a:tcPr marL="121920" marR="121920" marT="60960" marB="60960"/>
                </a:tc>
                <a:tc>
                  <a:txBody>
                    <a:bodyPr/>
                    <a:lstStyle/>
                    <a:p>
                      <a:r>
                        <a:rPr lang="en-CA" sz="1200" dirty="0"/>
                        <a:t>An app owner email address</a:t>
                      </a:r>
                    </a:p>
                  </a:txBody>
                  <a:tcPr marL="121920" marR="121920" marT="60960" marB="60960"/>
                </a:tc>
                <a:tc>
                  <a:txBody>
                    <a:bodyPr/>
                    <a:lstStyle/>
                    <a:p>
                      <a:r>
                        <a:rPr lang="en-CA" sz="1200" dirty="0"/>
                        <a:t>(any) jsmith@contoso.com</a:t>
                      </a:r>
                    </a:p>
                  </a:txBody>
                  <a:tcPr marL="121920" marR="121920" marT="60960" marB="60960"/>
                </a:tc>
                <a:tc>
                  <a:txBody>
                    <a:bodyPr/>
                    <a:lstStyle/>
                    <a:p>
                      <a:r>
                        <a:rPr lang="en-CA" sz="1200" dirty="0"/>
                        <a:t>No</a:t>
                      </a:r>
                    </a:p>
                  </a:txBody>
                  <a:tcPr marL="121920" marR="121920" marT="60960" marB="60960"/>
                </a:tc>
                <a:extLst>
                  <a:ext uri="{0D108BD9-81ED-4DB2-BD59-A6C34878D82A}">
                    <a16:rowId xmlns:a16="http://schemas.microsoft.com/office/drawing/2014/main" val="2384798026"/>
                  </a:ext>
                </a:extLst>
              </a:tr>
              <a:tr h="319690">
                <a:tc>
                  <a:txBody>
                    <a:bodyPr/>
                    <a:lstStyle/>
                    <a:p>
                      <a:r>
                        <a:rPr lang="en-CA" sz="1200" dirty="0"/>
                        <a:t>CostCode</a:t>
                      </a:r>
                    </a:p>
                  </a:txBody>
                  <a:tcPr marL="121920" marR="121920" marT="60960" marB="60960"/>
                </a:tc>
                <a:tc>
                  <a:txBody>
                    <a:bodyPr/>
                    <a:lstStyle/>
                    <a:p>
                      <a:r>
                        <a:rPr lang="en-CA" sz="1200" dirty="0"/>
                        <a:t>A chargeback code</a:t>
                      </a:r>
                    </a:p>
                  </a:txBody>
                  <a:tcPr marL="121920" marR="121920" marT="60960" marB="60960"/>
                </a:tc>
                <a:tc>
                  <a:txBody>
                    <a:bodyPr/>
                    <a:lstStyle/>
                    <a:p>
                      <a:r>
                        <a:rPr lang="en-CA" sz="1200" dirty="0"/>
                        <a:t>12-5785</a:t>
                      </a:r>
                    </a:p>
                  </a:txBody>
                  <a:tcPr marL="121920" marR="121920" marT="60960" marB="60960"/>
                </a:tc>
                <a:tc>
                  <a:txBody>
                    <a:bodyPr/>
                    <a:lstStyle/>
                    <a:p>
                      <a:r>
                        <a:rPr lang="en-CA" sz="1200" dirty="0"/>
                        <a:t>No</a:t>
                      </a:r>
                    </a:p>
                  </a:txBody>
                  <a:tcPr marL="121920" marR="121920" marT="60960" marB="60960"/>
                </a:tc>
                <a:extLst>
                  <a:ext uri="{0D108BD9-81ED-4DB2-BD59-A6C34878D82A}">
                    <a16:rowId xmlns:a16="http://schemas.microsoft.com/office/drawing/2014/main" val="1259107063"/>
                  </a:ext>
                </a:extLst>
              </a:tr>
            </a:tbl>
          </a:graphicData>
        </a:graphic>
      </p:graphicFrame>
    </p:spTree>
    <p:extLst>
      <p:ext uri="{BB962C8B-B14F-4D97-AF65-F5344CB8AC3E}">
        <p14:creationId xmlns:p14="http://schemas.microsoft.com/office/powerpoint/2010/main" val="17799957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699</TotalTime>
  <Words>4070</Words>
  <Application>Microsoft Office PowerPoint</Application>
  <PresentationFormat>Widescreen</PresentationFormat>
  <Paragraphs>521</Paragraphs>
  <Slides>45</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Calibri</vt:lpstr>
      <vt:lpstr>Calibri Light</vt:lpstr>
      <vt:lpstr>Segoe UI</vt:lpstr>
      <vt:lpstr>Segoe UI Light</vt:lpstr>
      <vt:lpstr>Segoe UI Semibold</vt:lpstr>
      <vt:lpstr>Segoe UI Semilight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regions than any other cloud provider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ALZ for 50 Workloads</vt:lpstr>
      <vt:lpstr>ALZ for 100 Workloads</vt:lpstr>
      <vt:lpstr>ALZ for 200 Workloads</vt:lpstr>
      <vt:lpstr>ALZ for 10,000 Workloads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Omer Zubair</dc:creator>
  <cp:lastModifiedBy>Omer Zubair</cp:lastModifiedBy>
  <cp:revision>4</cp:revision>
  <dcterms:created xsi:type="dcterms:W3CDTF">2025-11-12T04:50:40Z</dcterms:created>
  <dcterms:modified xsi:type="dcterms:W3CDTF">2025-11-12T16:30:36Z</dcterms:modified>
</cp:coreProperties>
</file>