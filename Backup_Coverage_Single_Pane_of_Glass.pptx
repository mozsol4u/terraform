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9b91c60-a16a-5ef0-e397-0bc9bdafdf09}">
          <p14:sldIdLst>
            <p14:sldId id="256"/>
          </p14:sldIdLst>
        </p14:section>
        <p14:section name="Coverage" id="{03d0acad-9bf6-5ec5-8ae7-4b08b61ef601}">
          <p14:sldIdLst>
            <p14:sldId id="257"/>
          </p14:sldIdLst>
        </p14:section>
        <p14:section name="Outage impact" id="{43c4583c-39be-0889-af8e-f8468cd99134}">
          <p14:sldIdLst>
            <p14:sldId id="258"/>
          </p14:sldIdLst>
        </p14:section>
        <p14:section name="Critical services" id="{19f61f59-1081-b28b-0c27-32e77d228565}">
          <p14:sldIdLst>
            <p14:sldId id="259"/>
          </p14:sldIdLst>
        </p14:section>
        <p14:section name="Closing the gaps" id="{be88d023-7f91-aa27-b187-8f903f19a8e9}">
          <p14:sldIdLst>
            <p14:sldId id="260"/>
          </p14:sldIdLst>
        </p14:section>
        <p14:section name="Recovery" id="{f43d0e8b-b621-d199-a2c1-9962c1ed2469}">
          <p14:sldIdLst>
            <p14:sldId id="261"/>
          </p14:sldIdLst>
        </p14:section>
        <p14:section name="Summary" id="{d0171e67-666c-37a9-37df-e03ca562bb6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one consolidated view. Slide 2 shows what Azure Backup and the Azure platform protect today. Slide 3 shows what stops working in an Azure outage. Slide 4 covers Entra ID, GitHub and Azure DevOps, which sit outside Azure Backup. Slide 5 shows how Commvault or Rubrik fill the gaps. Slide 6 is the recovery sequence for a major Azure outage. Slide 7 summarises and lists next steps. The KPI counts come from the 23 workload types assessed in KDD section 1.1.1 (five protected by Azure Backup, seven platform-native, seven supported with conditions, four not covered: Logic Apps, Data Factory, AI Foundry, resource groups/networks; DevOps and GitHub are counted separately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matrix left to right: how each workload is protected today, whether an offsite copy exists in another Canadian region, and what is not captured. Green is Azure Backup. Blue is platform-native protection (the service’s own backup), which is by design and not a product weakness. Amber means protected with conditions. Grey means the resource is designed to be rebuilt from code. Red is a gap. Most data is well protected in region. The consistent weaknesses are: isolated offsite copies, rebuilding whole environments, identity retention and DevOps. Statuses are from KDD 1.1.1 and must be confirmed per subscription in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outage types. A zone outage is absorbed by zone-redundant design. A Canada Central region outage takes production down; backups replicate to Canada East with GRS vaults, but Cross Region Restore is available only for supported workloads, and restoring VMs needs compute capacity in a region where we currently run nothing. An Azure-wide or Entra ID outage is the worst case: the portal, Resource Manager and every Entra sign-in stop, so even backup consoles are inaccessible unless they have break-glass access. Entra ID and GitHub are global services, so they survive a regional outage, but Entra is itself a single point of dependency. Statuses are indicative and must be confirmed against each service’s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services the Azure Backup strategy does not protect, and they are the ones everything else depends on. Entra ID now has a native backup (generally available June 2026) but it keeps seven days and cannot recover hard-deleted objects. GitHub and Azure DevOps only offer time-limited native restore of deleted items. Resource groups and networks have no undelete at all; they are rebuilt from code, which means the code repositories must themselves be protected. Facts are from KDD 1.1.1, 2.2.6 and 2.2.7.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gap from slides 2 to 4 to what Commvault and Rubrik provide. The common thread is isolation (a copy that production credentials cannot delete), long-term retention (identity, DevOps, PaaS) and, for Commvault, automated rebuild of environments. The last column is important for honesty: a third-party product does not remove every Azure dependency. Restore targets, Entra ID and the SaaS platforms must be available, and rebuild needs capacity in the recovery region. The on-premises copy option in Option A is the one path that is fully independent of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order matters. First regain control with break-glass accounts that do not depend on Entra ID or the Azure portal. Second, recover identity, because nothing else can be reached without it; hybrid users are recovered in on-premises AD first and then resynchronised. Third, rebuild the foundation in the recovery region: resource groups, networks, Key Vault and PaaS configuration, from Cloud Rewind (Option A) or from IaC, which means the DevOps repositories may need restoring first. Fourth, restore data by tier from the isolated offsite copy. Fifth, validate, cut over and later fail back. Timings are indicative; the business-signed RPO and RTO per tier set the targets. The bottom box lists what has to exist beforehand; without an isolated copy, a recovery region plan and tested IaC, the sequence cannot be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three messages: core Azure data is well protected in region; the gaps are isolation, identity, DevOps and environment rebuild; a third-party platform closes them, with Option A (Commvault) recommended in the KDD and enhanced Azure Backup as the lower-cost alternative. The next steps mirror the KDD conditions of approval. Remind the audience that statuses and vendor capabilities are indicative until confirmed in discovery and the proof of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3A1D5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77240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Title</a:t>
            </a: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r>
              <a:rPr lang="en-US" sz="3000" b="1" dirty="0">
                <a:solidFill>
                  <a:schemeClr val="tx2"/>
                </a:solidFill>
              </a:rPr>
              <a:t>Title</a:t>
            </a:r>
            <a:endParaRPr lang="en-US" sz="3000" dirty="0"/>
          </a:p>
        </p:txBody>
      </p:sp>
      <p:sp>
        <p:nvSpPr>
          <p:cNvPr id="3" name="Text 0"/>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1000" dirty="0">
                <a:solidFill>
                  <a:srgbClr val="7F7F7F"/>
                </a:solidFill>
              </a:rPr>
              <a:t>Draft for discussion  |  Source: KDD v0.6 and Enterprise Platform Backup Requirements v0.1  |  30 October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400" b="1" spc="200" kern="0" dirty="0">
                <a:solidFill>
                  <a:srgbClr val="D9C8E8"/>
                </a:solidFill>
              </a:rPr>
              <a:t>BACKUP AND RECOVERY  |  SINGLE PANE OF GLASS</a:t>
            </a:r>
            <a:endParaRPr lang="en-US" sz="1400" dirty="0"/>
          </a:p>
        </p:txBody>
      </p:sp>
      <p:sp>
        <p:nvSpPr>
          <p:cNvPr id="3" name="Text 0"/>
          <p:cNvSpPr/>
          <p:nvPr>
            <p:ph idx="100" type="title" hasCustomPrompt="1"/>
          </p:nvPr>
        </p:nvSpPr>
        <p:spPr>
          <a:xfrm>
            <a:off x="548640" y="2011680"/>
            <a:ext cx="7772400" cy="1737360"/>
          </a:xfrm>
          <a:prstGeom prst="rect">
            <a:avLst/>
          </a:prstGeom>
          <a:noFill/>
          <a:ln/>
        </p:spPr>
        <p:txBody>
          <a:bodyPr wrap="square" lIns="0" tIns="0" rIns="0" bIns="0" rtlCol="0" anchor="t"/>
          <a:lstStyle/>
          <a:p>
            <a:pPr algn="l" indent="0" marL="0">
              <a:buNone/>
            </a:pPr>
            <a:r>
              <a:rPr lang="en-US" sz="4000" b="1" dirty="0">
                <a:solidFill>
                  <a:schemeClr val="bg1"/>
                </a:solidFill>
              </a:rPr>
              <a:t>Where we are protected, where we are exposed, and how we recover</a:t>
            </a:r>
            <a:endParaRPr lang="en-US" sz="4000" dirty="0"/>
          </a:p>
        </p:txBody>
      </p:sp>
      <p:sp>
        <p:nvSpPr>
          <p:cNvPr id="4" name="Subtitle"/>
          <p:cNvSpPr txBox="1"/>
          <p:nvPr/>
        </p:nvSpPr>
        <p:spPr>
          <a:xfrm>
            <a:off x="548640" y="3931920"/>
            <a:ext cx="7772400" cy="914400"/>
          </a:xfrm>
          <a:prstGeom prst="rect">
            <a:avLst/>
          </a:prstGeom>
          <a:noFill/>
          <a:ln/>
        </p:spPr>
        <p:txBody>
          <a:bodyPr wrap="square" lIns="0" tIns="0" rIns="0" bIns="0" rtlCol="0" anchor="t"/>
          <a:lstStyle/>
          <a:p>
            <a:pPr indent="0" marL="0">
              <a:buNone/>
            </a:pPr>
            <a:r>
              <a:rPr lang="en-US" sz="1500" dirty="0">
                <a:solidFill>
                  <a:srgbClr val="D9C8E8"/>
                </a:solidFill>
              </a:rPr>
              <a:t>Consolidated view of current Azure Backup coverage, the impact of an Azure outage, protection gaps for Entra ID and DevOps, and how a third-party platform closes them  |  30 October 2026</a:t>
            </a:r>
            <a:endParaRPr lang="en-US" sz="1500" dirty="0"/>
          </a:p>
        </p:txBody>
      </p:sp>
      <p:sp>
        <p:nvSpPr>
          <p:cNvPr id="5" name="KPI card 1"/>
          <p:cNvSpPr/>
          <p:nvPr/>
        </p:nvSpPr>
        <p:spPr>
          <a:xfrm>
            <a:off x="8686800" y="1325880"/>
            <a:ext cx="2971800" cy="1051560"/>
          </a:xfrm>
          <a:prstGeom prst="roundRect">
            <a:avLst>
              <a:gd name="adj" fmla="val 8696"/>
            </a:avLst>
          </a:prstGeom>
          <a:solidFill>
            <a:srgbClr val="4B2A66"/>
          </a:solidFill>
          <a:ln/>
        </p:spPr>
      </p:sp>
      <p:sp>
        <p:nvSpPr>
          <p:cNvPr id="6" name="KPI number 1"/>
          <p:cNvSpPr txBox="1"/>
          <p:nvPr/>
        </p:nvSpPr>
        <p:spPr>
          <a:xfrm>
            <a:off x="8869680" y="1325880"/>
            <a:ext cx="914400" cy="1051560"/>
          </a:xfrm>
          <a:prstGeom prst="rect">
            <a:avLst/>
          </a:prstGeom>
          <a:noFill/>
          <a:ln/>
        </p:spPr>
        <p:txBody>
          <a:bodyPr wrap="square" lIns="0" tIns="0" rIns="0" bIns="0" rtlCol="0" anchor="ctr"/>
          <a:lstStyle/>
          <a:p>
            <a:pPr indent="0" marL="0">
              <a:buNone/>
            </a:pPr>
            <a:r>
              <a:rPr lang="en-US" sz="3600" b="1" dirty="0">
                <a:solidFill>
                  <a:srgbClr val="FFFFFF"/>
                </a:solidFill>
              </a:rPr>
              <a:t>23</a:t>
            </a:r>
            <a:endParaRPr lang="en-US" sz="3600" dirty="0"/>
          </a:p>
        </p:txBody>
      </p:sp>
      <p:sp>
        <p:nvSpPr>
          <p:cNvPr id="7" name="KPI label 1"/>
          <p:cNvSpPr txBox="1"/>
          <p:nvPr/>
        </p:nvSpPr>
        <p:spPr>
          <a:xfrm>
            <a:off x="9829800" y="1325880"/>
            <a:ext cx="1737360" cy="1051560"/>
          </a:xfrm>
          <a:prstGeom prst="rect">
            <a:avLst/>
          </a:prstGeom>
          <a:noFill/>
          <a:ln/>
        </p:spPr>
        <p:txBody>
          <a:bodyPr wrap="square" lIns="0" tIns="0" rIns="0" bIns="0" rtlCol="0" anchor="ctr"/>
          <a:lstStyle/>
          <a:p>
            <a:pPr indent="0" marL="0">
              <a:buNone/>
            </a:pPr>
            <a:r>
              <a:rPr lang="en-US" sz="1300" dirty="0">
                <a:solidFill>
                  <a:srgbClr val="D9C8E8"/>
                </a:solidFill>
              </a:rPr>
              <a:t>workload types assessed</a:t>
            </a:r>
            <a:endParaRPr lang="en-US" sz="1300" dirty="0"/>
          </a:p>
        </p:txBody>
      </p:sp>
      <p:sp>
        <p:nvSpPr>
          <p:cNvPr id="8" name="KPI card 2"/>
          <p:cNvSpPr/>
          <p:nvPr/>
        </p:nvSpPr>
        <p:spPr>
          <a:xfrm>
            <a:off x="8686800" y="2560320"/>
            <a:ext cx="2971800" cy="1051560"/>
          </a:xfrm>
          <a:prstGeom prst="roundRect">
            <a:avLst>
              <a:gd name="adj" fmla="val 8696"/>
            </a:avLst>
          </a:prstGeom>
          <a:solidFill>
            <a:srgbClr val="4B2A66"/>
          </a:solidFill>
          <a:ln/>
        </p:spPr>
      </p:sp>
      <p:sp>
        <p:nvSpPr>
          <p:cNvPr id="9" name="KPI number 2"/>
          <p:cNvSpPr txBox="1"/>
          <p:nvPr/>
        </p:nvSpPr>
        <p:spPr>
          <a:xfrm>
            <a:off x="8869680" y="2560320"/>
            <a:ext cx="914400" cy="1051560"/>
          </a:xfrm>
          <a:prstGeom prst="rect">
            <a:avLst/>
          </a:prstGeom>
          <a:noFill/>
          <a:ln/>
        </p:spPr>
        <p:txBody>
          <a:bodyPr wrap="square" lIns="0" tIns="0" rIns="0" bIns="0" rtlCol="0" anchor="ctr"/>
          <a:lstStyle/>
          <a:p>
            <a:pPr indent="0" marL="0">
              <a:buNone/>
            </a:pPr>
            <a:r>
              <a:rPr lang="en-US" sz="3600" b="1" dirty="0">
                <a:solidFill>
                  <a:srgbClr val="FFFFFF"/>
                </a:solidFill>
              </a:rPr>
              <a:t>5</a:t>
            </a:r>
            <a:endParaRPr lang="en-US" sz="3600" dirty="0"/>
          </a:p>
        </p:txBody>
      </p:sp>
      <p:sp>
        <p:nvSpPr>
          <p:cNvPr id="10" name="KPI label 2"/>
          <p:cNvSpPr txBox="1"/>
          <p:nvPr/>
        </p:nvSpPr>
        <p:spPr>
          <a:xfrm>
            <a:off x="9829800" y="2560320"/>
            <a:ext cx="1737360" cy="1051560"/>
          </a:xfrm>
          <a:prstGeom prst="rect">
            <a:avLst/>
          </a:prstGeom>
          <a:noFill/>
          <a:ln/>
        </p:spPr>
        <p:txBody>
          <a:bodyPr wrap="square" lIns="0" tIns="0" rIns="0" bIns="0" rtlCol="0" anchor="ctr"/>
          <a:lstStyle/>
          <a:p>
            <a:pPr indent="0" marL="0">
              <a:buNone/>
            </a:pPr>
            <a:r>
              <a:rPr lang="en-US" sz="1300" dirty="0">
                <a:solidFill>
                  <a:srgbClr val="D9C8E8"/>
                </a:solidFill>
              </a:rPr>
              <a:t>protected by Azure Backup</a:t>
            </a:r>
            <a:endParaRPr lang="en-US" sz="1300" dirty="0"/>
          </a:p>
        </p:txBody>
      </p:sp>
      <p:sp>
        <p:nvSpPr>
          <p:cNvPr id="11" name="KPI card 3"/>
          <p:cNvSpPr/>
          <p:nvPr/>
        </p:nvSpPr>
        <p:spPr>
          <a:xfrm>
            <a:off x="8686800" y="3794760"/>
            <a:ext cx="2971800" cy="1051560"/>
          </a:xfrm>
          <a:prstGeom prst="roundRect">
            <a:avLst>
              <a:gd name="adj" fmla="val 8696"/>
            </a:avLst>
          </a:prstGeom>
          <a:solidFill>
            <a:srgbClr val="4B2A66"/>
          </a:solidFill>
          <a:ln/>
        </p:spPr>
      </p:sp>
      <p:sp>
        <p:nvSpPr>
          <p:cNvPr id="12" name="KPI number 3"/>
          <p:cNvSpPr txBox="1"/>
          <p:nvPr/>
        </p:nvSpPr>
        <p:spPr>
          <a:xfrm>
            <a:off x="8869680" y="3794760"/>
            <a:ext cx="914400" cy="1051560"/>
          </a:xfrm>
          <a:prstGeom prst="rect">
            <a:avLst/>
          </a:prstGeom>
          <a:noFill/>
          <a:ln/>
        </p:spPr>
        <p:txBody>
          <a:bodyPr wrap="square" lIns="0" tIns="0" rIns="0" bIns="0" rtlCol="0" anchor="ctr"/>
          <a:lstStyle/>
          <a:p>
            <a:pPr indent="0" marL="0">
              <a:buNone/>
            </a:pPr>
            <a:r>
              <a:rPr lang="en-US" sz="3600" b="1" dirty="0">
                <a:solidFill>
                  <a:srgbClr val="FFFFFF"/>
                </a:solidFill>
              </a:rPr>
              <a:t>7</a:t>
            </a:r>
            <a:endParaRPr lang="en-US" sz="3600" dirty="0"/>
          </a:p>
        </p:txBody>
      </p:sp>
      <p:sp>
        <p:nvSpPr>
          <p:cNvPr id="13" name="KPI label 3"/>
          <p:cNvSpPr txBox="1"/>
          <p:nvPr/>
        </p:nvSpPr>
        <p:spPr>
          <a:xfrm>
            <a:off x="9829800" y="3794760"/>
            <a:ext cx="1737360" cy="1051560"/>
          </a:xfrm>
          <a:prstGeom prst="rect">
            <a:avLst/>
          </a:prstGeom>
          <a:noFill/>
          <a:ln/>
        </p:spPr>
        <p:txBody>
          <a:bodyPr wrap="square" lIns="0" tIns="0" rIns="0" bIns="0" rtlCol="0" anchor="ctr"/>
          <a:lstStyle/>
          <a:p>
            <a:pPr indent="0" marL="0">
              <a:buNone/>
            </a:pPr>
            <a:r>
              <a:rPr lang="en-US" sz="1300" dirty="0">
                <a:solidFill>
                  <a:srgbClr val="D9C8E8"/>
                </a:solidFill>
              </a:rPr>
              <a:t>platform-native only</a:t>
            </a:r>
            <a:endParaRPr lang="en-US" sz="1300" dirty="0"/>
          </a:p>
        </p:txBody>
      </p:sp>
      <p:sp>
        <p:nvSpPr>
          <p:cNvPr id="14" name="KPI card 4"/>
          <p:cNvSpPr/>
          <p:nvPr/>
        </p:nvSpPr>
        <p:spPr>
          <a:xfrm>
            <a:off x="8686800" y="5029200"/>
            <a:ext cx="2971800" cy="1051560"/>
          </a:xfrm>
          <a:prstGeom prst="roundRect">
            <a:avLst>
              <a:gd name="adj" fmla="val 8696"/>
            </a:avLst>
          </a:prstGeom>
          <a:solidFill>
            <a:srgbClr val="4B2A66"/>
          </a:solidFill>
          <a:ln/>
        </p:spPr>
      </p:sp>
      <p:sp>
        <p:nvSpPr>
          <p:cNvPr id="15" name="KPI number 4"/>
          <p:cNvSpPr txBox="1"/>
          <p:nvPr/>
        </p:nvSpPr>
        <p:spPr>
          <a:xfrm>
            <a:off x="8869680" y="5029200"/>
            <a:ext cx="914400" cy="1051560"/>
          </a:xfrm>
          <a:prstGeom prst="rect">
            <a:avLst/>
          </a:prstGeom>
          <a:noFill/>
          <a:ln/>
        </p:spPr>
        <p:txBody>
          <a:bodyPr wrap="square" lIns="0" tIns="0" rIns="0" bIns="0" rtlCol="0" anchor="ctr"/>
          <a:lstStyle/>
          <a:p>
            <a:pPr indent="0" marL="0">
              <a:buNone/>
            </a:pPr>
            <a:r>
              <a:rPr lang="en-US" sz="3600" b="1" dirty="0">
                <a:solidFill>
                  <a:srgbClr val="F4B6B6"/>
                </a:solidFill>
              </a:rPr>
              <a:t>4</a:t>
            </a:r>
            <a:endParaRPr lang="en-US" sz="3600" dirty="0"/>
          </a:p>
        </p:txBody>
      </p:sp>
      <p:sp>
        <p:nvSpPr>
          <p:cNvPr id="16" name="KPI label 4"/>
          <p:cNvSpPr txBox="1"/>
          <p:nvPr/>
        </p:nvSpPr>
        <p:spPr>
          <a:xfrm>
            <a:off x="9829800" y="5029200"/>
            <a:ext cx="1737360" cy="1051560"/>
          </a:xfrm>
          <a:prstGeom prst="rect">
            <a:avLst/>
          </a:prstGeom>
          <a:noFill/>
          <a:ln/>
        </p:spPr>
        <p:txBody>
          <a:bodyPr wrap="square" lIns="0" tIns="0" rIns="0" bIns="0" rtlCol="0" anchor="ctr"/>
          <a:lstStyle/>
          <a:p>
            <a:pPr indent="0" marL="0">
              <a:buNone/>
            </a:pPr>
            <a:r>
              <a:rPr lang="en-US" sz="1300" dirty="0">
                <a:solidFill>
                  <a:srgbClr val="D9C8E8"/>
                </a:solidFill>
              </a:rPr>
              <a:t>not covered today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Current protection coverage: Azure Backup today</a:t>
            </a:r>
            <a:endParaRPr lang="en-US" sz="3000" dirty="0"/>
          </a:p>
        </p:txBody>
      </p:sp>
      <p:graphicFrame>
        <p:nvGraphicFramePr>
          <p:cNvPr id="3" name="Coverage matrix"/>
          <p:cNvGraphicFramePr>
            <a:graphicFrameLocks noGrp="1"/>
          </p:cNvGraphicFramePr>
          <p:nvPr>
            <p:extLst>
              <p:ext uri="{D42A27DB-BD31-4B8C-83A1-F6EECF244321}">
                <p14:modId xmlns:p14="http://schemas.microsoft.com/office/powerpoint/2010/main" val="1579011935"/>
              </p:ext>
            </p:extLst>
          </p:nvPr>
        </p:nvGraphicFramePr>
        <p:xfrm>
          <a:off x="548640" y="1051560"/>
          <a:ext cx="11091672" cy="914400"/>
        </p:xfrm>
        <a:graphic>
          <a:graphicData uri="http://schemas.openxmlformats.org/drawingml/2006/table">
            <a:tbl>
              <a:tblPr/>
              <a:tblGrid>
                <a:gridCol w="3291840"/>
                <a:gridCol w="1600200"/>
                <a:gridCol w="2240280"/>
                <a:gridCol w="3959352"/>
              </a:tblGrid>
              <a:tr h="246888">
                <a:tc>
                  <a:txBody>
                    <a:bodyPr/>
                    <a:lstStyle/>
                    <a:p>
                      <a:pPr indent="0" marL="0">
                        <a:buNone/>
                      </a:pPr>
                      <a:r>
                        <a:rPr lang="en-US" sz="1100" b="1" dirty="0">
                          <a:solidFill>
                            <a:srgbClr val="FFFFFF"/>
                          </a:solidFill>
                        </a:rPr>
                        <a:t>Workload / service</a:t>
                      </a:r>
                      <a:endParaRPr lang="en-US" sz="11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100" b="1" dirty="0">
                          <a:solidFill>
                            <a:srgbClr val="FFFFFF"/>
                          </a:solidFill>
                        </a:rPr>
                        <a:t>Protection today</a:t>
                      </a:r>
                      <a:endParaRPr lang="en-US" sz="11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100" b="1" dirty="0">
                          <a:solidFill>
                            <a:srgbClr val="FFFFFF"/>
                          </a:solidFill>
                        </a:rPr>
                        <a:t>Offsite copy in Canada</a:t>
                      </a:r>
                      <a:endParaRPr lang="en-US" sz="11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100" b="1" dirty="0">
                          <a:solidFill>
                            <a:srgbClr val="FFFFFF"/>
                          </a:solidFill>
                        </a:rPr>
                        <a:t>What is not captured</a:t>
                      </a:r>
                      <a:endParaRPr lang="en-US" sz="11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r>
              <a:tr h="246888">
                <a:tc gridSpan="4">
                  <a:txBody>
                    <a:bodyPr/>
                    <a:lstStyle/>
                    <a:p>
                      <a:pPr indent="0" marL="0">
                        <a:buNone/>
                      </a:pPr>
                      <a:r>
                        <a:rPr lang="en-US" sz="1000" b="1" dirty="0">
                          <a:solidFill>
                            <a:srgbClr val="582873"/>
                          </a:solidFill>
                        </a:rPr>
                        <a:t>Compute and infrastructure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EFF8"/>
                    </a:solidFill>
                  </a:tcPr>
                </a:tc>
                <a:tc hMerge="1">
                  <a:tcPr/>
                </a:tc>
                <a:tc hMerge="1">
                  <a:tcPr/>
                </a:tc>
                <a:tc hMerge="1">
                  <a:tcPr/>
                </a:tc>
              </a:tr>
              <a:tr h="246888">
                <a:tc>
                  <a:txBody>
                    <a:bodyPr/>
                    <a:lstStyle/>
                    <a:p>
                      <a:pPr indent="0" marL="0">
                        <a:buNone/>
                      </a:pPr>
                      <a:r>
                        <a:rPr lang="en-US" sz="1000" dirty="0">
                          <a:solidFill>
                            <a:srgbClr val="262626"/>
                          </a:solidFill>
                        </a:rPr>
                        <a:t>Windows / Linux VMs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Azure Backup</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GRS replica (if vault is GRS)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indent="0" marL="0">
                        <a:buNone/>
                      </a:pPr>
                      <a:r>
                        <a:rPr lang="en-US" sz="1000" dirty="0">
                          <a:solidFill>
                            <a:srgbClr val="262626"/>
                          </a:solidFill>
                        </a:rPr>
                        <a:t>Restore into Canada East depends on capacity</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a:txBody>
                    <a:bodyPr/>
                    <a:lstStyle/>
                    <a:p>
                      <a:pPr indent="0" marL="0">
                        <a:buNone/>
                      </a:pPr>
                      <a:r>
                        <a:rPr lang="en-US" sz="1000" dirty="0">
                          <a:solidFill>
                            <a:srgbClr val="262626"/>
                          </a:solidFill>
                        </a:rPr>
                        <a:t>Scale sets, managed disks, Oracle on VMs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8A6500"/>
                          </a:solidFill>
                        </a:rPr>
                        <a:t>Partial / conditions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9C1F1F"/>
                          </a:solidFill>
                        </a:rPr>
                        <a:t>Snapshots stay in-region</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c>
                  <a:txBody>
                    <a:bodyPr/>
                    <a:lstStyle/>
                    <a:p>
                      <a:pPr indent="0" marL="0">
                        <a:buNone/>
                      </a:pPr>
                      <a:r>
                        <a:rPr lang="en-US" sz="1000" dirty="0">
                          <a:solidFill>
                            <a:srgbClr val="262626"/>
                          </a:solidFill>
                        </a:rPr>
                        <a:t>Uniform scale sets; disk snapshots in same subscription; Oracle PITR needs RMAN scripts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gridSpan="4">
                  <a:txBody>
                    <a:bodyPr/>
                    <a:lstStyle/>
                    <a:p>
                      <a:pPr indent="0" marL="0">
                        <a:buNone/>
                      </a:pPr>
                      <a:r>
                        <a:rPr lang="en-US" sz="1000" b="1" dirty="0">
                          <a:solidFill>
                            <a:srgbClr val="582873"/>
                          </a:solidFill>
                        </a:rPr>
                        <a:t>Databases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EFF8"/>
                    </a:solidFill>
                  </a:tcPr>
                </a:tc>
                <a:tc hMerge="1">
                  <a:tcPr/>
                </a:tc>
                <a:tc hMerge="1">
                  <a:tcPr/>
                </a:tc>
                <a:tc hMerge="1">
                  <a:tcPr/>
                </a:tc>
              </a:tr>
              <a:tr h="246888">
                <a:tc>
                  <a:txBody>
                    <a:bodyPr/>
                    <a:lstStyle/>
                    <a:p>
                      <a:pPr indent="0" marL="0">
                        <a:buNone/>
                      </a:pPr>
                      <a:r>
                        <a:rPr lang="en-US" sz="1000" dirty="0">
                          <a:solidFill>
                            <a:srgbClr val="262626"/>
                          </a:solidFill>
                        </a:rPr>
                        <a:t>SQL Server on VMs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Azure Backup</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GRS replica</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indent="0" marL="0">
                        <a:buNone/>
                      </a:pPr>
                      <a:r>
                        <a:rPr lang="en-US" sz="1000" dirty="0">
                          <a:solidFill>
                            <a:srgbClr val="262626"/>
                          </a:solidFill>
                        </a:rPr>
                        <a:t>15-minute log backups; policy per instance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a:txBody>
                    <a:bodyPr/>
                    <a:lstStyle/>
                    <a:p>
                      <a:pPr indent="0" marL="0">
                        <a:buNone/>
                      </a:pPr>
                      <a:r>
                        <a:rPr lang="en-US" sz="1000" dirty="0">
                          <a:solidFill>
                            <a:srgbClr val="262626"/>
                          </a:solidFill>
                        </a:rPr>
                        <a:t>SQL DB / MI, MySQL, Cosmos DB</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1F5C99"/>
                          </a:solidFill>
                        </a:rPr>
                        <a:t>Platform-native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FE3F7"/>
                    </a:solidFill>
                  </a:tcPr>
                </a:tc>
                <a:tc>
                  <a:txBody>
                    <a:bodyPr/>
                    <a:lstStyle/>
                    <a:p>
                      <a:pPr algn="ctr" indent="0" marL="0">
                        <a:buNone/>
                      </a:pPr>
                      <a:r>
                        <a:rPr lang="en-US" sz="1000" b="1" dirty="0">
                          <a:solidFill>
                            <a:srgbClr val="8A6500"/>
                          </a:solidFill>
                        </a:rPr>
                        <a:t>Geo-backup per service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indent="0" marL="0">
                        <a:buNone/>
                      </a:pPr>
                      <a:r>
                        <a:rPr lang="en-US" sz="1000" dirty="0">
                          <a:solidFill>
                            <a:srgbClr val="262626"/>
                          </a:solidFill>
                        </a:rPr>
                        <a:t>Short native retention (7–35 days); same tenant; no isolated copy</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a:txBody>
                    <a:bodyPr/>
                    <a:lstStyle/>
                    <a:p>
                      <a:pPr indent="0" marL="0">
                        <a:buNone/>
                      </a:pPr>
                      <a:r>
                        <a:rPr lang="en-US" sz="1000" dirty="0">
                          <a:solidFill>
                            <a:srgbClr val="262626"/>
                          </a:solidFill>
                        </a:rPr>
                        <a:t>PostgreSQL Flexible Server</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8A6500"/>
                          </a:solidFill>
                        </a:rPr>
                        <a:t>Partial / conditions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8A6500"/>
                          </a:solidFill>
                        </a:rPr>
                        <a:t>Geo-backup</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indent="0" marL="0">
                        <a:buNone/>
                      </a:pPr>
                      <a:r>
                        <a:rPr lang="en-US" sz="1000" dirty="0">
                          <a:solidFill>
                            <a:srgbClr val="262626"/>
                          </a:solidFill>
                        </a:rPr>
                        <a:t>Vaulted backup ≤ 1 TB, weekly, restore to files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gridSpan="4">
                  <a:txBody>
                    <a:bodyPr/>
                    <a:lstStyle/>
                    <a:p>
                      <a:pPr indent="0" marL="0">
                        <a:buNone/>
                      </a:pPr>
                      <a:r>
                        <a:rPr lang="en-US" sz="1000" b="1" dirty="0">
                          <a:solidFill>
                            <a:srgbClr val="582873"/>
                          </a:solidFill>
                        </a:rPr>
                        <a:t>Storage, containers and keys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EFF8"/>
                    </a:solidFill>
                  </a:tcPr>
                </a:tc>
                <a:tc hMerge="1">
                  <a:tcPr/>
                </a:tc>
                <a:tc hMerge="1">
                  <a:tcPr/>
                </a:tc>
                <a:tc hMerge="1">
                  <a:tcPr/>
                </a:tc>
              </a:tr>
              <a:tr h="246888">
                <a:tc>
                  <a:txBody>
                    <a:bodyPr/>
                    <a:lstStyle/>
                    <a:p>
                      <a:pPr indent="0" marL="0">
                        <a:buNone/>
                      </a:pPr>
                      <a:r>
                        <a:rPr lang="en-US" sz="1000" dirty="0">
                          <a:solidFill>
                            <a:srgbClr val="262626"/>
                          </a:solidFill>
                        </a:rPr>
                        <a:t>Azure Files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Azure Backup</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Vaulted tier</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indent="0" marL="0">
                        <a:buNone/>
                      </a:pPr>
                      <a:r>
                        <a:rPr lang="en-US" sz="1000" dirty="0">
                          <a:solidFill>
                            <a:srgbClr val="262626"/>
                          </a:solidFill>
                        </a:rPr>
                        <a:t>Confirm cross-region option per share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a:txBody>
                    <a:bodyPr/>
                    <a:lstStyle/>
                    <a:p>
                      <a:pPr indent="0" marL="0">
                        <a:buNone/>
                      </a:pPr>
                      <a:r>
                        <a:rPr lang="en-US" sz="1000" dirty="0">
                          <a:solidFill>
                            <a:srgbClr val="262626"/>
                          </a:solidFill>
                        </a:rPr>
                        <a:t>Blob / ADLS Gen2, AKS volumes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8A6500"/>
                          </a:solidFill>
                        </a:rPr>
                        <a:t>Partial / conditions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9C1F1F"/>
                          </a:solidFill>
                        </a:rPr>
                        <a:t>No cross-region restore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c>
                  <a:txBody>
                    <a:bodyPr/>
                    <a:lstStyle/>
                    <a:p>
                      <a:pPr indent="0" marL="0">
                        <a:buNone/>
                      </a:pPr>
                      <a:r>
                        <a:rPr lang="en-US" sz="1000" dirty="0">
                          <a:solidFill>
                            <a:srgbClr val="262626"/>
                          </a:solidFill>
                        </a:rPr>
                        <a:t>Archive tier blobs excluded; AKS Azure Disk volumes only</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a:txBody>
                    <a:bodyPr/>
                    <a:lstStyle/>
                    <a:p>
                      <a:pPr indent="0" marL="0">
                        <a:buNone/>
                      </a:pPr>
                      <a:r>
                        <a:rPr lang="en-US" sz="1000" dirty="0">
                          <a:solidFill>
                            <a:srgbClr val="262626"/>
                          </a:solidFill>
                        </a:rPr>
                        <a:t>Key Vault</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1F5C99"/>
                          </a:solidFill>
                        </a:rPr>
                        <a:t>Platform-native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FE3F7"/>
                    </a:solidFill>
                  </a:tcPr>
                </a:tc>
                <a:tc>
                  <a:txBody>
                    <a:bodyPr/>
                    <a:lstStyle/>
                    <a:p>
                      <a:pPr algn="ctr" indent="0" marL="0">
                        <a:buNone/>
                      </a:pPr>
                      <a:r>
                        <a:rPr lang="en-US" sz="1000" b="1" dirty="0">
                          <a:solidFill>
                            <a:srgbClr val="1F5C99"/>
                          </a:solidFill>
                        </a:rPr>
                        <a:t>Replicated to paired region</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FE3F7"/>
                    </a:solidFill>
                  </a:tcPr>
                </a:tc>
                <a:tc>
                  <a:txBody>
                    <a:bodyPr/>
                    <a:lstStyle/>
                    <a:p>
                      <a:pPr indent="0" marL="0">
                        <a:buNone/>
                      </a:pPr>
                      <a:r>
                        <a:rPr lang="en-US" sz="1000" dirty="0">
                          <a:solidFill>
                            <a:srgbClr val="262626"/>
                          </a:solidFill>
                        </a:rPr>
                        <a:t>No whole-vault backup; config in IaC</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gridSpan="4">
                  <a:txBody>
                    <a:bodyPr/>
                    <a:lstStyle/>
                    <a:p>
                      <a:pPr indent="0" marL="0">
                        <a:buNone/>
                      </a:pPr>
                      <a:r>
                        <a:rPr lang="en-US" sz="1000" b="1" dirty="0">
                          <a:solidFill>
                            <a:srgbClr val="582873"/>
                          </a:solidFill>
                        </a:rPr>
                        <a:t>Integration, analytics, AI and platform</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EFF8"/>
                    </a:solidFill>
                  </a:tcPr>
                </a:tc>
                <a:tc hMerge="1">
                  <a:tcPr/>
                </a:tc>
                <a:tc hMerge="1">
                  <a:tcPr/>
                </a:tc>
                <a:tc hMerge="1">
                  <a:tcPr/>
                </a:tc>
              </a:tr>
              <a:tr h="246888">
                <a:tc>
                  <a:txBody>
                    <a:bodyPr/>
                    <a:lstStyle/>
                    <a:p>
                      <a:pPr indent="0" marL="0">
                        <a:buNone/>
                      </a:pPr>
                      <a:r>
                        <a:rPr lang="en-US" sz="1000" dirty="0">
                          <a:solidFill>
                            <a:srgbClr val="262626"/>
                          </a:solidFill>
                        </a:rPr>
                        <a:t>Functions, Synapse, Automation, Log Analytics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8A6500"/>
                          </a:solidFill>
                        </a:rPr>
                        <a:t>Partial / conditions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9C1F1F"/>
                          </a:solidFill>
                        </a:rPr>
                        <a:t>Not covered</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c>
                  <a:txBody>
                    <a:bodyPr/>
                    <a:lstStyle/>
                    <a:p>
                      <a:pPr indent="0" marL="0">
                        <a:buNone/>
                      </a:pPr>
                      <a:r>
                        <a:rPr lang="en-US" sz="1000" dirty="0">
                          <a:solidFill>
                            <a:srgbClr val="262626"/>
                          </a:solidFill>
                        </a:rPr>
                        <a:t>Plan-dependent; run history and logs not backed up</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a:txBody>
                    <a:bodyPr/>
                    <a:lstStyle/>
                    <a:p>
                      <a:pPr indent="0" marL="0">
                        <a:buNone/>
                      </a:pPr>
                      <a:r>
                        <a:rPr lang="en-US" sz="1000" dirty="0">
                          <a:solidFill>
                            <a:srgbClr val="262626"/>
                          </a:solidFill>
                        </a:rPr>
                        <a:t>Logic Apps, Data Factory, AI Foundry</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404040"/>
                          </a:solidFill>
                        </a:rPr>
                        <a:t>Rebuild by design (IaC)</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6E6E6"/>
                    </a:solidFill>
                  </a:tcPr>
                </a:tc>
                <a:tc>
                  <a:txBody>
                    <a:bodyPr/>
                    <a:lstStyle/>
                    <a:p>
                      <a:pPr algn="ctr" indent="0" marL="0">
                        <a:buNone/>
                      </a:pPr>
                      <a:r>
                        <a:rPr lang="en-US" sz="1000" b="1" dirty="0">
                          <a:solidFill>
                            <a:srgbClr val="9C1F1F"/>
                          </a:solidFill>
                        </a:rPr>
                        <a:t>Not covered</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c>
                  <a:txBody>
                    <a:bodyPr/>
                    <a:lstStyle/>
                    <a:p>
                      <a:pPr indent="0" marL="0">
                        <a:buNone/>
                      </a:pPr>
                      <a:r>
                        <a:rPr lang="en-US" sz="1000" dirty="0">
                          <a:solidFill>
                            <a:srgbClr val="262626"/>
                          </a:solidFill>
                        </a:rPr>
                        <a:t>Rebuilt from Git / IaC only; connections and settings must be in code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a:txBody>
                    <a:bodyPr/>
                    <a:lstStyle/>
                    <a:p>
                      <a:pPr indent="0" marL="0">
                        <a:buNone/>
                      </a:pPr>
                      <a:r>
                        <a:rPr lang="en-US" sz="1000" dirty="0">
                          <a:solidFill>
                            <a:srgbClr val="262626"/>
                          </a:solidFill>
                        </a:rPr>
                        <a:t>Resource groups, VNets, NSGs, DNS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404040"/>
                          </a:solidFill>
                        </a:rPr>
                        <a:t>Rebuild by design (IaC)</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6E6E6"/>
                    </a:solidFill>
                  </a:tcPr>
                </a:tc>
                <a:tc>
                  <a:txBody>
                    <a:bodyPr/>
                    <a:lstStyle/>
                    <a:p>
                      <a:pPr algn="ctr" indent="0" marL="0">
                        <a:buNone/>
                      </a:pPr>
                      <a:r>
                        <a:rPr lang="en-US" sz="1000" b="1" dirty="0">
                          <a:solidFill>
                            <a:srgbClr val="9C1F1F"/>
                          </a:solidFill>
                        </a:rPr>
                        <a:t>Not covered</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c>
                  <a:txBody>
                    <a:bodyPr/>
                    <a:lstStyle/>
                    <a:p>
                      <a:pPr indent="0" marL="0">
                        <a:buNone/>
                      </a:pPr>
                      <a:r>
                        <a:rPr lang="en-US" sz="1000" dirty="0">
                          <a:solidFill>
                            <a:srgbClr val="262626"/>
                          </a:solidFill>
                        </a:rPr>
                        <a:t>No undelete; deletion removes every member resource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gridSpan="4">
                  <a:txBody>
                    <a:bodyPr/>
                    <a:lstStyle/>
                    <a:p>
                      <a:pPr indent="0" marL="0">
                        <a:buNone/>
                      </a:pPr>
                      <a:r>
                        <a:rPr lang="en-US" sz="1000" b="1" dirty="0">
                          <a:solidFill>
                            <a:srgbClr val="582873"/>
                          </a:solidFill>
                        </a:rPr>
                        <a:t>Identity and DevOps (see slide 4)</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EFF8"/>
                    </a:solidFill>
                  </a:tcPr>
                </a:tc>
                <a:tc hMerge="1">
                  <a:tcPr/>
                </a:tc>
                <a:tc hMerge="1">
                  <a:tcPr/>
                </a:tc>
                <a:tc hMerge="1">
                  <a:tcPr/>
                </a:tc>
              </a:tr>
              <a:tr h="246888">
                <a:tc>
                  <a:txBody>
                    <a:bodyPr/>
                    <a:lstStyle/>
                    <a:p>
                      <a:pPr indent="0" marL="0">
                        <a:buNone/>
                      </a:pPr>
                      <a:r>
                        <a:rPr lang="en-US" sz="1000" dirty="0">
                          <a:solidFill>
                            <a:srgbClr val="262626"/>
                          </a:solidFill>
                        </a:rPr>
                        <a:t>Microsoft Entra ID</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1F5C99"/>
                          </a:solidFill>
                        </a:rPr>
                        <a:t>Platform-native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FE3F7"/>
                    </a:solidFill>
                  </a:tcPr>
                </a:tc>
                <a:tc>
                  <a:txBody>
                    <a:bodyPr/>
                    <a:lstStyle/>
                    <a:p>
                      <a:pPr algn="ctr" indent="0" marL="0">
                        <a:buNone/>
                      </a:pPr>
                      <a:r>
                        <a:rPr lang="en-US" sz="1000" b="1" dirty="0">
                          <a:solidFill>
                            <a:srgbClr val="9C1F1F"/>
                          </a:solidFill>
                        </a:rPr>
                        <a:t>Held inside the service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c>
                  <a:txBody>
                    <a:bodyPr/>
                    <a:lstStyle/>
                    <a:p>
                      <a:pPr indent="0" marL="0">
                        <a:buNone/>
                      </a:pPr>
                      <a:r>
                        <a:rPr lang="en-US" sz="1000" dirty="0">
                          <a:solidFill>
                            <a:srgbClr val="262626"/>
                          </a:solidFill>
                        </a:rPr>
                        <a:t>7-day native backups; hard deletes not recoverable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46888">
                <a:tc>
                  <a:txBody>
                    <a:bodyPr/>
                    <a:lstStyle/>
                    <a:p>
                      <a:pPr indent="0" marL="0">
                        <a:buNone/>
                      </a:pPr>
                      <a:r>
                        <a:rPr lang="en-US" sz="1000" dirty="0">
                          <a:solidFill>
                            <a:srgbClr val="262626"/>
                          </a:solidFill>
                        </a:rPr>
                        <a:t>Azure DevOps, GitHub</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9C1F1F"/>
                          </a:solidFill>
                        </a:rPr>
                        <a:t>Not covered</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c>
                  <a:txBody>
                    <a:bodyPr/>
                    <a:lstStyle/>
                    <a:p>
                      <a:pPr algn="ctr" indent="0" marL="0">
                        <a:buNone/>
                      </a:pPr>
                      <a:r>
                        <a:rPr lang="en-US" sz="1000" b="1" dirty="0">
                          <a:solidFill>
                            <a:srgbClr val="9C1F1F"/>
                          </a:solidFill>
                        </a:rPr>
                        <a:t>Not covered</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c>
                  <a:txBody>
                    <a:bodyPr/>
                    <a:lstStyle/>
                    <a:p>
                      <a:pPr indent="0" marL="0">
                        <a:buNone/>
                      </a:pPr>
                      <a:r>
                        <a:rPr lang="en-US" sz="1000" dirty="0">
                          <a:solidFill>
                            <a:srgbClr val="262626"/>
                          </a:solidFill>
                        </a:rPr>
                        <a:t>Native retention only (28 / 90 days); no customer-controlled backup</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4" name="Legend swatch AB"/>
          <p:cNvSpPr/>
          <p:nvPr/>
        </p:nvSpPr>
        <p:spPr>
          <a:xfrm>
            <a:off x="548640" y="6108192"/>
            <a:ext cx="256032" cy="182880"/>
          </a:xfrm>
          <a:prstGeom prst="rect">
            <a:avLst/>
          </a:prstGeom>
          <a:solidFill>
            <a:srgbClr val="C6E5B3"/>
          </a:solidFill>
          <a:ln/>
        </p:spPr>
      </p:sp>
      <p:sp>
        <p:nvSpPr>
          <p:cNvPr id="5" name="Legend label AB"/>
          <p:cNvSpPr txBox="1"/>
          <p:nvPr/>
        </p:nvSpPr>
        <p:spPr>
          <a:xfrm>
            <a:off x="850392" y="6062472"/>
            <a:ext cx="1828800" cy="274320"/>
          </a:xfrm>
          <a:prstGeom prst="rect">
            <a:avLst/>
          </a:prstGeom>
          <a:noFill/>
          <a:ln/>
        </p:spPr>
        <p:txBody>
          <a:bodyPr wrap="square" lIns="0" tIns="0" rIns="0" bIns="0" rtlCol="0" anchor="ctr"/>
          <a:lstStyle/>
          <a:p>
            <a:pPr indent="0" marL="0">
              <a:buNone/>
            </a:pPr>
            <a:r>
              <a:rPr lang="en-US" sz="1000" dirty="0">
                <a:solidFill>
                  <a:srgbClr val="404040"/>
                </a:solidFill>
              </a:rPr>
              <a:t>Azure Backup</a:t>
            </a:r>
            <a:endParaRPr lang="en-US" sz="1000" dirty="0"/>
          </a:p>
        </p:txBody>
      </p:sp>
      <p:sp>
        <p:nvSpPr>
          <p:cNvPr id="6" name="Legend swatch PN"/>
          <p:cNvSpPr/>
          <p:nvPr/>
        </p:nvSpPr>
        <p:spPr>
          <a:xfrm>
            <a:off x="1947672" y="6108192"/>
            <a:ext cx="256032" cy="182880"/>
          </a:xfrm>
          <a:prstGeom prst="rect">
            <a:avLst/>
          </a:prstGeom>
          <a:solidFill>
            <a:srgbClr val="CFE3F7"/>
          </a:solidFill>
          <a:ln/>
        </p:spPr>
      </p:sp>
      <p:sp>
        <p:nvSpPr>
          <p:cNvPr id="7" name="Legend label PN"/>
          <p:cNvSpPr txBox="1"/>
          <p:nvPr/>
        </p:nvSpPr>
        <p:spPr>
          <a:xfrm>
            <a:off x="2249424" y="6062472"/>
            <a:ext cx="1828800" cy="274320"/>
          </a:xfrm>
          <a:prstGeom prst="rect">
            <a:avLst/>
          </a:prstGeom>
          <a:noFill/>
          <a:ln/>
        </p:spPr>
        <p:txBody>
          <a:bodyPr wrap="square" lIns="0" tIns="0" rIns="0" bIns="0" rtlCol="0" anchor="ctr"/>
          <a:lstStyle/>
          <a:p>
            <a:pPr indent="0" marL="0">
              <a:buNone/>
            </a:pPr>
            <a:r>
              <a:rPr lang="en-US" sz="1000" dirty="0">
                <a:solidFill>
                  <a:srgbClr val="404040"/>
                </a:solidFill>
              </a:rPr>
              <a:t>Platform-native</a:t>
            </a:r>
            <a:endParaRPr lang="en-US" sz="1000" dirty="0"/>
          </a:p>
        </p:txBody>
      </p:sp>
      <p:sp>
        <p:nvSpPr>
          <p:cNvPr id="8" name="Legend swatch PC"/>
          <p:cNvSpPr/>
          <p:nvPr/>
        </p:nvSpPr>
        <p:spPr>
          <a:xfrm>
            <a:off x="3552444" y="6108192"/>
            <a:ext cx="256032" cy="182880"/>
          </a:xfrm>
          <a:prstGeom prst="rect">
            <a:avLst/>
          </a:prstGeom>
          <a:solidFill>
            <a:srgbClr val="FFE699"/>
          </a:solidFill>
          <a:ln/>
        </p:spPr>
      </p:sp>
      <p:sp>
        <p:nvSpPr>
          <p:cNvPr id="9" name="Legend label PC"/>
          <p:cNvSpPr txBox="1"/>
          <p:nvPr/>
        </p:nvSpPr>
        <p:spPr>
          <a:xfrm>
            <a:off x="3854196" y="6062472"/>
            <a:ext cx="1828800" cy="274320"/>
          </a:xfrm>
          <a:prstGeom prst="rect">
            <a:avLst/>
          </a:prstGeom>
          <a:noFill/>
          <a:ln/>
        </p:spPr>
        <p:txBody>
          <a:bodyPr wrap="square" lIns="0" tIns="0" rIns="0" bIns="0" rtlCol="0" anchor="ctr"/>
          <a:lstStyle/>
          <a:p>
            <a:pPr indent="0" marL="0">
              <a:buNone/>
            </a:pPr>
            <a:r>
              <a:rPr lang="en-US" sz="1000" dirty="0">
                <a:solidFill>
                  <a:srgbClr val="404040"/>
                </a:solidFill>
              </a:rPr>
              <a:t>Partial / conditions</a:t>
            </a:r>
            <a:endParaRPr lang="en-US" sz="1000" dirty="0"/>
          </a:p>
        </p:txBody>
      </p:sp>
      <p:sp>
        <p:nvSpPr>
          <p:cNvPr id="10" name="Legend swatch IAC"/>
          <p:cNvSpPr/>
          <p:nvPr/>
        </p:nvSpPr>
        <p:spPr>
          <a:xfrm>
            <a:off x="5500116" y="6108192"/>
            <a:ext cx="256032" cy="182880"/>
          </a:xfrm>
          <a:prstGeom prst="rect">
            <a:avLst/>
          </a:prstGeom>
          <a:solidFill>
            <a:srgbClr val="E6E6E6"/>
          </a:solidFill>
          <a:ln/>
        </p:spPr>
      </p:sp>
      <p:sp>
        <p:nvSpPr>
          <p:cNvPr id="11" name="Legend label IAC"/>
          <p:cNvSpPr txBox="1"/>
          <p:nvPr/>
        </p:nvSpPr>
        <p:spPr>
          <a:xfrm>
            <a:off x="5801868" y="6062472"/>
            <a:ext cx="1828800" cy="274320"/>
          </a:xfrm>
          <a:prstGeom prst="rect">
            <a:avLst/>
          </a:prstGeom>
          <a:noFill/>
          <a:ln/>
        </p:spPr>
        <p:txBody>
          <a:bodyPr wrap="square" lIns="0" tIns="0" rIns="0" bIns="0" rtlCol="0" anchor="ctr"/>
          <a:lstStyle/>
          <a:p>
            <a:pPr indent="0" marL="0">
              <a:buNone/>
            </a:pPr>
            <a:r>
              <a:rPr lang="en-US" sz="1000" dirty="0">
                <a:solidFill>
                  <a:srgbClr val="404040"/>
                </a:solidFill>
              </a:rPr>
              <a:t>Rebuild by design (IaC)</a:t>
            </a:r>
            <a:endParaRPr lang="en-US" sz="1000" dirty="0"/>
          </a:p>
        </p:txBody>
      </p:sp>
      <p:sp>
        <p:nvSpPr>
          <p:cNvPr id="12" name="Legend swatch GAP"/>
          <p:cNvSpPr/>
          <p:nvPr/>
        </p:nvSpPr>
        <p:spPr>
          <a:xfrm>
            <a:off x="7630668" y="6108192"/>
            <a:ext cx="256032" cy="182880"/>
          </a:xfrm>
          <a:prstGeom prst="rect">
            <a:avLst/>
          </a:prstGeom>
          <a:solidFill>
            <a:srgbClr val="F4B6B6"/>
          </a:solidFill>
          <a:ln/>
        </p:spPr>
      </p:sp>
      <p:sp>
        <p:nvSpPr>
          <p:cNvPr id="13" name="Legend label GAP"/>
          <p:cNvSpPr txBox="1"/>
          <p:nvPr/>
        </p:nvSpPr>
        <p:spPr>
          <a:xfrm>
            <a:off x="7932420" y="6062472"/>
            <a:ext cx="1828800" cy="274320"/>
          </a:xfrm>
          <a:prstGeom prst="rect">
            <a:avLst/>
          </a:prstGeom>
          <a:noFill/>
          <a:ln/>
        </p:spPr>
        <p:txBody>
          <a:bodyPr wrap="square" lIns="0" tIns="0" rIns="0" bIns="0" rtlCol="0" anchor="ctr"/>
          <a:lstStyle/>
          <a:p>
            <a:pPr indent="0" marL="0">
              <a:buNone/>
            </a:pPr>
            <a:r>
              <a:rPr lang="en-US" sz="1000" dirty="0">
                <a:solidFill>
                  <a:srgbClr val="404040"/>
                </a:solidFill>
              </a:rPr>
              <a:t>Not covered</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What is unavailable in an Azure outage, by outage type</a:t>
            </a:r>
            <a:endParaRPr lang="en-US" sz="3000" dirty="0"/>
          </a:p>
        </p:txBody>
      </p:sp>
      <p:graphicFrame>
        <p:nvGraphicFramePr>
          <p:cNvPr id="4" name="Outage impact table"/>
          <p:cNvGraphicFramePr>
            <a:graphicFrameLocks noGrp="1"/>
          </p:cNvGraphicFramePr>
          <p:nvPr>
            <p:extLst>
              <p:ext uri="{D42A27DB-BD31-4B8C-83A1-F6EECF244321}">
                <p14:modId xmlns:p14="http://schemas.microsoft.com/office/powerpoint/2010/main" val="1579011935"/>
              </p:ext>
            </p:extLst>
          </p:nvPr>
        </p:nvGraphicFramePr>
        <p:xfrm>
          <a:off x="548640" y="1051560"/>
          <a:ext cx="11091672" cy="914400"/>
        </p:xfrm>
        <a:graphic>
          <a:graphicData uri="http://schemas.openxmlformats.org/drawingml/2006/table">
            <a:tbl>
              <a:tblPr/>
              <a:tblGrid>
                <a:gridCol w="3200400"/>
                <a:gridCol w="2377440"/>
                <a:gridCol w="3017520"/>
                <a:gridCol w="2496312"/>
              </a:tblGrid>
              <a:tr h="384048">
                <a:tc>
                  <a:txBody>
                    <a:bodyPr/>
                    <a:lstStyle/>
                    <a:p>
                      <a:pPr indent="0" marL="0">
                        <a:buNone/>
                      </a:pPr>
                      <a:r>
                        <a:rPr lang="en-US" sz="1100" b="1" dirty="0">
                          <a:solidFill>
                            <a:srgbClr val="FFFFFF"/>
                          </a:solidFill>
                        </a:rPr>
                        <a:t>Service</a:t>
                      </a:r>
                      <a:endParaRPr lang="en-US" sz="11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100" b="1" dirty="0">
                          <a:solidFill>
                            <a:srgbClr val="FFFFFF"/>
                          </a:solidFill>
                        </a:rPr>
                        <a:t>Zone outage in Canada Central</a:t>
                      </a:r>
                      <a:endParaRPr lang="en-US" sz="11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100" b="1" dirty="0">
                          <a:solidFill>
                            <a:srgbClr val="FFFFFF"/>
                          </a:solidFill>
                        </a:rPr>
                        <a:t>Canada Central region outage</a:t>
                      </a:r>
                      <a:endParaRPr lang="en-US" sz="11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100" b="1" dirty="0">
                          <a:solidFill>
                            <a:srgbClr val="FFFFFF"/>
                          </a:solidFill>
                        </a:rPr>
                        <a:t>Azure-wide or Entra ID outage</a:t>
                      </a:r>
                      <a:endParaRPr lang="en-US" sz="11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r>
              <a:tr h="384048">
                <a:tc>
                  <a:txBody>
                    <a:bodyPr/>
                    <a:lstStyle/>
                    <a:p>
                      <a:pPr indent="0" marL="0">
                        <a:buNone/>
                      </a:pPr>
                      <a:r>
                        <a:rPr lang="en-US" sz="1000" dirty="0">
                          <a:solidFill>
                            <a:srgbClr val="262626"/>
                          </a:solidFill>
                        </a:rPr>
                        <a:t>Production VMs, AKS, PaaS apps and databases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Available (zone-redundant)</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9C1F1F"/>
                          </a:solidFill>
                        </a:rPr>
                        <a:t>Unavailable until restored or failed over</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c>
                  <a:txBody>
                    <a:bodyPr/>
                    <a:lstStyle/>
                    <a:p>
                      <a:pPr algn="ctr" indent="0" marL="0">
                        <a:buNone/>
                      </a:pPr>
                      <a:r>
                        <a:rPr lang="en-US" sz="1000" b="1" dirty="0">
                          <a:solidFill>
                            <a:srgbClr val="9C1F1F"/>
                          </a:solidFill>
                        </a:rPr>
                        <a:t>Unavailable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r>
              <a:tr h="384048">
                <a:tc>
                  <a:txBody>
                    <a:bodyPr/>
                    <a:lstStyle/>
                    <a:p>
                      <a:pPr indent="0" marL="0">
                        <a:buNone/>
                      </a:pPr>
                      <a:r>
                        <a:rPr lang="en-US" sz="1000" dirty="0">
                          <a:solidFill>
                            <a:srgbClr val="262626"/>
                          </a:solidFill>
                        </a:rPr>
                        <a:t>Blob / ADLS, Files (ZRS)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Read-only if RA-GRS; else unavailable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9C1F1F"/>
                          </a:solidFill>
                        </a:rPr>
                        <a:t>Unavailable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r>
              <a:tr h="384048">
                <a:tc>
                  <a:txBody>
                    <a:bodyPr/>
                    <a:lstStyle/>
                    <a:p>
                      <a:pPr indent="0" marL="0">
                        <a:buNone/>
                      </a:pPr>
                      <a:r>
                        <a:rPr lang="en-US" sz="1000" dirty="0">
                          <a:solidFill>
                            <a:srgbClr val="262626"/>
                          </a:solidFill>
                        </a:rPr>
                        <a:t>Azure Backup vaults and recovery points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GRS replica in Canada East; CRR for supported workloads only</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9C1F1F"/>
                          </a:solidFill>
                        </a:rPr>
                        <a:t>Portal and restore APIs unavailable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r>
              <a:tr h="384048">
                <a:tc>
                  <a:txBody>
                    <a:bodyPr/>
                    <a:lstStyle/>
                    <a:p>
                      <a:pPr indent="0" marL="0">
                        <a:buNone/>
                      </a:pPr>
                      <a:r>
                        <a:rPr lang="en-US" sz="1000" dirty="0">
                          <a:solidFill>
                            <a:srgbClr val="262626"/>
                          </a:solidFill>
                        </a:rPr>
                        <a:t>Native PaaS backups (SQL, Cosmos DB, PostgreSQL)</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Geo-restore to paired region where enabled</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9C1F1F"/>
                          </a:solidFill>
                        </a:rPr>
                        <a:t>Unavailable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r>
              <a:tr h="384048">
                <a:tc>
                  <a:txBody>
                    <a:bodyPr/>
                    <a:lstStyle/>
                    <a:p>
                      <a:pPr indent="0" marL="0">
                        <a:buNone/>
                      </a:pPr>
                      <a:r>
                        <a:rPr lang="en-US" sz="1000" dirty="0">
                          <a:solidFill>
                            <a:srgbClr val="262626"/>
                          </a:solidFill>
                        </a:rPr>
                        <a:t>Key Vault</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Read-only from paired region</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9C1F1F"/>
                          </a:solidFill>
                        </a:rPr>
                        <a:t>Unavailable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r>
              <a:tr h="384048">
                <a:tc>
                  <a:txBody>
                    <a:bodyPr/>
                    <a:lstStyle/>
                    <a:p>
                      <a:pPr indent="0" marL="0">
                        <a:buNone/>
                      </a:pPr>
                      <a:r>
                        <a:rPr lang="en-US" sz="1000" dirty="0">
                          <a:solidFill>
                            <a:srgbClr val="262626"/>
                          </a:solidFill>
                        </a:rPr>
                        <a:t>Microsoft Entra ID (sign-in, Conditional Access)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Global service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3B7D23"/>
                          </a:solidFill>
                        </a:rPr>
                        <a:t>Global service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9C1F1F"/>
                          </a:solidFill>
                        </a:rPr>
                        <a:t>Nothing that signs in with Entra works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r>
              <a:tr h="384048">
                <a:tc>
                  <a:txBody>
                    <a:bodyPr/>
                    <a:lstStyle/>
                    <a:p>
                      <a:pPr indent="0" marL="0">
                        <a:buNone/>
                      </a:pPr>
                      <a:r>
                        <a:rPr lang="en-US" sz="1000" dirty="0">
                          <a:solidFill>
                            <a:srgbClr val="262626"/>
                          </a:solidFill>
                        </a:rPr>
                        <a:t>Azure DevOps Services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Microsoft-managed; depends on hosting region</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9C1F1F"/>
                          </a:solidFill>
                        </a:rPr>
                        <a:t>Entra sign-in dependency</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r>
              <a:tr h="384048">
                <a:tc>
                  <a:txBody>
                    <a:bodyPr/>
                    <a:lstStyle/>
                    <a:p>
                      <a:pPr indent="0" marL="0">
                        <a:buNone/>
                      </a:pPr>
                      <a:r>
                        <a:rPr lang="en-US" sz="1000" dirty="0">
                          <a:solidFill>
                            <a:srgbClr val="262626"/>
                          </a:solidFill>
                        </a:rPr>
                        <a:t>GitHub Enterprise Cloud</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Independent of Azure region</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3B7D23"/>
                          </a:solidFill>
                        </a:rPr>
                        <a:t>Independent of Azure region</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Available if not using Entra SSO</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r>
              <a:tr h="384048">
                <a:tc>
                  <a:txBody>
                    <a:bodyPr/>
                    <a:lstStyle/>
                    <a:p>
                      <a:pPr indent="0" marL="0">
                        <a:buNone/>
                      </a:pPr>
                      <a:r>
                        <a:rPr lang="en-US" sz="1000" dirty="0">
                          <a:solidFill>
                            <a:srgbClr val="262626"/>
                          </a:solidFill>
                        </a:rPr>
                        <a:t>Backup consoles (Azure Backup Center / third-party SaaS)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8A6500"/>
                          </a:solidFill>
                        </a:rPr>
                        <a:t>Azure console needs ARM; SaaS consoles independent of region</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E699"/>
                    </a:solidFill>
                  </a:tcPr>
                </a:tc>
                <a:tc>
                  <a:txBody>
                    <a:bodyPr/>
                    <a:lstStyle/>
                    <a:p>
                      <a:pPr algn="ctr" indent="0" marL="0">
                        <a:buNone/>
                      </a:pPr>
                      <a:r>
                        <a:rPr lang="en-US" sz="1000" b="1" dirty="0">
                          <a:solidFill>
                            <a:srgbClr val="9C1F1F"/>
                          </a:solidFill>
                        </a:rPr>
                        <a:t>Azure console; SaaS consoles need Entra unless break-glass</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B6B6"/>
                    </a:solidFill>
                  </a:tcPr>
                </a:tc>
              </a:tr>
              <a:tr h="384048">
                <a:tc>
                  <a:txBody>
                    <a:bodyPr/>
                    <a:lstStyle/>
                    <a:p>
                      <a:pPr indent="0" marL="0">
                        <a:buNone/>
                      </a:pPr>
                      <a:r>
                        <a:rPr lang="en-US" sz="1000" dirty="0">
                          <a:solidFill>
                            <a:srgbClr val="262626"/>
                          </a:solidFill>
                        </a:rPr>
                        <a:t>On-premises data centres and Commvault estate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00" b="1" dirty="0">
                          <a:solidFill>
                            <a:srgbClr val="3B7D23"/>
                          </a:solidFill>
                        </a:rPr>
                        <a:t>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3B7D23"/>
                          </a:solidFill>
                        </a:rPr>
                        <a:t>Available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c>
                  <a:txBody>
                    <a:bodyPr/>
                    <a:lstStyle/>
                    <a:p>
                      <a:pPr algn="ctr" indent="0" marL="0">
                        <a:buNone/>
                      </a:pPr>
                      <a:r>
                        <a:rPr lang="en-US" sz="1000" b="1" dirty="0">
                          <a:solidFill>
                            <a:srgbClr val="3B7D23"/>
                          </a:solidFill>
                        </a:rPr>
                        <a:t>Independent of Azure</a:t>
                      </a:r>
                      <a:endParaRPr lang="en-US" sz="1000" dirty="0"/>
                    </a:p>
                  </a:txBody>
                  <a:tcPr marL="54864" marR="54864" marT="18288" marB="18288"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6E5B3"/>
                    </a:solidFill>
                  </a:tcPr>
                </a:tc>
              </a:tr>
            </a:tbl>
          </a:graphicData>
        </a:graphic>
      </p:graphicFrame>
      <p:sp>
        <p:nvSpPr>
          <p:cNvPr id="4" name="Outage note box"/>
          <p:cNvSpPr/>
          <p:nvPr/>
        </p:nvSpPr>
        <p:spPr>
          <a:xfrm>
            <a:off x="548640" y="5532120"/>
            <a:ext cx="11091672" cy="594360"/>
          </a:xfrm>
          <a:prstGeom prst="roundRect">
            <a:avLst>
              <a:gd name="adj" fmla="val 12308"/>
            </a:avLst>
          </a:prstGeom>
          <a:solidFill>
            <a:srgbClr val="F4EFF8"/>
          </a:solidFill>
          <a:ln/>
        </p:spPr>
      </p:sp>
      <p:pic>
        <p:nvPicPr>
          <p:cNvPr id="5" name="Outage note icon" descr="preencoded.png">    </p:cNvPr>
          <p:cNvPicPr>
            <a:picLocks noChangeAspect="1"/>
          </p:cNvPicPr>
          <p:nvPr/>
        </p:nvPicPr>
        <p:blipFill>
          <a:blip r:embed="rId1"/>
          <a:stretch>
            <a:fillRect/>
          </a:stretch>
        </p:blipFill>
        <p:spPr>
          <a:xfrm>
            <a:off x="713232" y="5669280"/>
            <a:ext cx="320040" cy="320040"/>
          </a:xfrm>
          <a:prstGeom prst="rect">
            <a:avLst/>
          </a:prstGeom>
        </p:spPr>
      </p:pic>
      <p:sp>
        <p:nvSpPr>
          <p:cNvPr id="6" name="Outage note"/>
          <p:cNvSpPr txBox="1"/>
          <p:nvPr/>
        </p:nvSpPr>
        <p:spPr>
          <a:xfrm>
            <a:off x="1143000" y="5532120"/>
            <a:ext cx="10378440" cy="594360"/>
          </a:xfrm>
          <a:prstGeom prst="rect">
            <a:avLst/>
          </a:prstGeom>
          <a:noFill/>
          <a:ln/>
        </p:spPr>
        <p:txBody>
          <a:bodyPr wrap="square" lIns="0" tIns="0" rIns="0" bIns="0" rtlCol="0" anchor="ctr"/>
          <a:lstStyle/>
          <a:p>
            <a:pPr indent="0" marL="0">
              <a:buNone/>
            </a:pPr>
            <a:r>
              <a:rPr lang="en-US" sz="1200" dirty="0">
                <a:solidFill>
                  <a:srgbClr val="262626"/>
                </a:solidFill>
              </a:rPr>
              <a:t>Key point: backups that live only in Azure share Azure’s failure modes. A regional outage leaves recovery dependent on Canada East capacity; an Entra ID outage blocks every console that uses Entra sign-in. Recovery therefore needs an isolated copy, a tested recovery region and break-glass access.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Critical services outside Azure Backup</a:t>
            </a:r>
            <a:endParaRPr lang="en-US" sz="3000" dirty="0"/>
          </a:p>
        </p:txBody>
      </p:sp>
      <p:sp>
        <p:nvSpPr>
          <p:cNvPr id="3" name="Critical card 1"/>
          <p:cNvSpPr/>
          <p:nvPr/>
        </p:nvSpPr>
        <p:spPr>
          <a:xfrm>
            <a:off x="548640" y="1097280"/>
            <a:ext cx="11091672" cy="1188720"/>
          </a:xfrm>
          <a:prstGeom prst="roundRect">
            <a:avLst>
              <a:gd name="adj" fmla="val 615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4" name="Critical 1 circle"/>
          <p:cNvSpPr/>
          <p:nvPr/>
        </p:nvSpPr>
        <p:spPr>
          <a:xfrm>
            <a:off x="731520" y="1389888"/>
            <a:ext cx="603504" cy="603504"/>
          </a:xfrm>
          <a:prstGeom prst="ellipse">
            <a:avLst/>
          </a:prstGeom>
          <a:solidFill>
            <a:srgbClr val="582873"/>
          </a:solidFill>
          <a:ln/>
        </p:spPr>
      </p:sp>
      <p:pic>
        <p:nvPicPr>
          <p:cNvPr id="5" name="Critical 1 icon" descr="preencoded.png">    </p:cNvPr>
          <p:cNvPicPr>
            <a:picLocks noChangeAspect="1"/>
          </p:cNvPicPr>
          <p:nvPr/>
        </p:nvPicPr>
        <p:blipFill>
          <a:blip r:embed="rId1"/>
          <a:stretch>
            <a:fillRect/>
          </a:stretch>
        </p:blipFill>
        <p:spPr>
          <a:xfrm>
            <a:off x="882396" y="1540764"/>
            <a:ext cx="301752" cy="301752"/>
          </a:xfrm>
          <a:prstGeom prst="rect">
            <a:avLst/>
          </a:prstGeom>
        </p:spPr>
      </p:pic>
      <p:sp>
        <p:nvSpPr>
          <p:cNvPr id="6" name="Critical heading 1"/>
          <p:cNvSpPr txBox="1"/>
          <p:nvPr/>
        </p:nvSpPr>
        <p:spPr>
          <a:xfrm>
            <a:off x="1508760" y="1188720"/>
            <a:ext cx="2286000" cy="502920"/>
          </a:xfrm>
          <a:prstGeom prst="rect">
            <a:avLst/>
          </a:prstGeom>
          <a:noFill/>
          <a:ln/>
        </p:spPr>
        <p:txBody>
          <a:bodyPr wrap="square" lIns="0" tIns="0" rIns="0" bIns="0" rtlCol="0" anchor="ctr"/>
          <a:lstStyle/>
          <a:p>
            <a:pPr indent="0" marL="0">
              <a:buNone/>
            </a:pPr>
            <a:r>
              <a:rPr lang="en-US" sz="1600" b="1" dirty="0">
                <a:solidFill>
                  <a:srgbClr val="262626"/>
                </a:solidFill>
              </a:rPr>
              <a:t>Microsoft Entra ID</a:t>
            </a:r>
            <a:endParaRPr lang="en-US" sz="1600" dirty="0"/>
          </a:p>
        </p:txBody>
      </p:sp>
      <p:sp>
        <p:nvSpPr>
          <p:cNvPr id="7" name="Critical why 1"/>
          <p:cNvSpPr txBox="1"/>
          <p:nvPr/>
        </p:nvSpPr>
        <p:spPr>
          <a:xfrm>
            <a:off x="1508760" y="1691640"/>
            <a:ext cx="2286000" cy="548640"/>
          </a:xfrm>
          <a:prstGeom prst="rect">
            <a:avLst/>
          </a:prstGeom>
          <a:noFill/>
          <a:ln/>
        </p:spPr>
        <p:txBody>
          <a:bodyPr wrap="square" lIns="0" tIns="0" rIns="0" bIns="0" rtlCol="0" anchor="t"/>
          <a:lstStyle/>
          <a:p>
            <a:pPr indent="0" marL="0">
              <a:buNone/>
            </a:pPr>
            <a:r>
              <a:rPr lang="en-US" sz="1100" i="1" dirty="0">
                <a:solidFill>
                  <a:srgbClr val="2E8B88"/>
                </a:solidFill>
              </a:rPr>
              <a:t>Every Azure and Microsoft 365 workload depends on it.</a:t>
            </a:r>
            <a:endParaRPr lang="en-US" sz="1100" dirty="0"/>
          </a:p>
        </p:txBody>
      </p:sp>
      <p:sp>
        <p:nvSpPr>
          <p:cNvPr id="8" name="Critical today 1"/>
          <p:cNvSpPr txBox="1"/>
          <p:nvPr/>
        </p:nvSpPr>
        <p:spPr>
          <a:xfrm>
            <a:off x="3977640" y="1188720"/>
            <a:ext cx="3657600" cy="1005840"/>
          </a:xfrm>
          <a:prstGeom prst="rect">
            <a:avLst/>
          </a:prstGeom>
          <a:noFill/>
          <a:ln/>
        </p:spPr>
        <p:txBody>
          <a:bodyPr wrap="square" lIns="0" tIns="0" rIns="0" bIns="0" rtlCol="0" anchor="t"/>
          <a:lstStyle/>
          <a:p>
            <a:pPr indent="0" marL="0">
              <a:buNone/>
            </a:pPr>
            <a:r>
              <a:rPr lang="en-US" sz="1150" b="1" dirty="0">
                <a:solidFill>
                  <a:srgbClr val="1F5C99"/>
                </a:solidFill>
              </a:rPr>
              <a:t>Today  </a:t>
            </a:r>
            <a:pPr indent="0" marL="0">
              <a:buNone/>
            </a:pPr>
            <a:r>
              <a:rPr lang="en-US" sz="1150" dirty="0">
                <a:solidFill>
                  <a:srgbClr val="262626"/>
                </a:solidFill>
              </a:rPr>
              <a:t>Native: recycle bin (30 days) and Entra Backup and Recovery (daily, 7 days, tamper-proof, in the Microsoft service).</a:t>
            </a:r>
            <a:endParaRPr lang="en-US" sz="1150" dirty="0"/>
          </a:p>
        </p:txBody>
      </p:sp>
      <p:sp>
        <p:nvSpPr>
          <p:cNvPr id="9" name="Critical gap 1"/>
          <p:cNvSpPr txBox="1"/>
          <p:nvPr/>
        </p:nvSpPr>
        <p:spPr>
          <a:xfrm>
            <a:off x="7818120" y="1188720"/>
            <a:ext cx="3657600" cy="1005840"/>
          </a:xfrm>
          <a:prstGeom prst="rect">
            <a:avLst/>
          </a:prstGeom>
          <a:noFill/>
          <a:ln/>
        </p:spPr>
        <p:txBody>
          <a:bodyPr wrap="square" lIns="0" tIns="0" rIns="0" bIns="0" rtlCol="0" anchor="t"/>
          <a:lstStyle/>
          <a:p>
            <a:pPr indent="0" marL="0">
              <a:buNone/>
            </a:pPr>
            <a:r>
              <a:rPr lang="en-US" sz="1150" b="1" dirty="0">
                <a:solidFill>
                  <a:srgbClr val="9C1F1F"/>
                </a:solidFill>
              </a:rPr>
              <a:t>Gap  </a:t>
            </a:r>
            <a:pPr indent="0" marL="0">
              <a:buNone/>
            </a:pPr>
            <a:r>
              <a:rPr lang="en-US" sz="1150" dirty="0">
                <a:solidFill>
                  <a:srgbClr val="262626"/>
                </a:solidFill>
              </a:rPr>
              <a:t>Gap: hard-deleted objects cannot be recovered; no long-term or externally held copy; dependent on the same service during an outage.</a:t>
            </a:r>
            <a:endParaRPr lang="en-US" sz="1150" dirty="0"/>
          </a:p>
        </p:txBody>
      </p:sp>
      <p:sp>
        <p:nvSpPr>
          <p:cNvPr id="10" name="Critical card 2"/>
          <p:cNvSpPr/>
          <p:nvPr/>
        </p:nvSpPr>
        <p:spPr>
          <a:xfrm>
            <a:off x="548640" y="2395728"/>
            <a:ext cx="11091672" cy="1188720"/>
          </a:xfrm>
          <a:prstGeom prst="roundRect">
            <a:avLst>
              <a:gd name="adj" fmla="val 615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11" name="Critical 2 circle"/>
          <p:cNvSpPr/>
          <p:nvPr/>
        </p:nvSpPr>
        <p:spPr>
          <a:xfrm>
            <a:off x="731520" y="2688336"/>
            <a:ext cx="603504" cy="603504"/>
          </a:xfrm>
          <a:prstGeom prst="ellipse">
            <a:avLst/>
          </a:prstGeom>
          <a:solidFill>
            <a:srgbClr val="AD1D84"/>
          </a:solidFill>
          <a:ln/>
        </p:spPr>
      </p:sp>
      <p:pic>
        <p:nvPicPr>
          <p:cNvPr id="12" name="Critical 2 icon" descr="preencoded.png">    </p:cNvPr>
          <p:cNvPicPr>
            <a:picLocks noChangeAspect="1"/>
          </p:cNvPicPr>
          <p:nvPr/>
        </p:nvPicPr>
        <p:blipFill>
          <a:blip r:embed="rId2"/>
          <a:stretch>
            <a:fillRect/>
          </a:stretch>
        </p:blipFill>
        <p:spPr>
          <a:xfrm>
            <a:off x="882396" y="2839212"/>
            <a:ext cx="301752" cy="301752"/>
          </a:xfrm>
          <a:prstGeom prst="rect">
            <a:avLst/>
          </a:prstGeom>
        </p:spPr>
      </p:pic>
      <p:sp>
        <p:nvSpPr>
          <p:cNvPr id="13" name="Critical heading 2"/>
          <p:cNvSpPr txBox="1"/>
          <p:nvPr/>
        </p:nvSpPr>
        <p:spPr>
          <a:xfrm>
            <a:off x="1508760" y="2487168"/>
            <a:ext cx="2286000" cy="502920"/>
          </a:xfrm>
          <a:prstGeom prst="rect">
            <a:avLst/>
          </a:prstGeom>
          <a:noFill/>
          <a:ln/>
        </p:spPr>
        <p:txBody>
          <a:bodyPr wrap="square" lIns="0" tIns="0" rIns="0" bIns="0" rtlCol="0" anchor="ctr"/>
          <a:lstStyle/>
          <a:p>
            <a:pPr indent="0" marL="0">
              <a:buNone/>
            </a:pPr>
            <a:r>
              <a:rPr lang="en-US" sz="1600" b="1" dirty="0">
                <a:solidFill>
                  <a:srgbClr val="262626"/>
                </a:solidFill>
              </a:rPr>
              <a:t>GitHub Enterprise Cloud</a:t>
            </a:r>
            <a:endParaRPr lang="en-US" sz="1600" dirty="0"/>
          </a:p>
        </p:txBody>
      </p:sp>
      <p:sp>
        <p:nvSpPr>
          <p:cNvPr id="14" name="Critical why 2"/>
          <p:cNvSpPr txBox="1"/>
          <p:nvPr/>
        </p:nvSpPr>
        <p:spPr>
          <a:xfrm>
            <a:off x="1508760" y="2990088"/>
            <a:ext cx="2286000" cy="548640"/>
          </a:xfrm>
          <a:prstGeom prst="rect">
            <a:avLst/>
          </a:prstGeom>
          <a:noFill/>
          <a:ln/>
        </p:spPr>
        <p:txBody>
          <a:bodyPr wrap="square" lIns="0" tIns="0" rIns="0" bIns="0" rtlCol="0" anchor="t"/>
          <a:lstStyle/>
          <a:p>
            <a:pPr indent="0" marL="0">
              <a:buNone/>
            </a:pPr>
            <a:r>
              <a:rPr lang="en-US" sz="1100" i="1" dirty="0">
                <a:solidFill>
                  <a:srgbClr val="2E8B88"/>
                </a:solidFill>
              </a:rPr>
              <a:t>Source code and Infrastructure as Code live here.</a:t>
            </a:r>
            <a:endParaRPr lang="en-US" sz="1100" dirty="0"/>
          </a:p>
        </p:txBody>
      </p:sp>
      <p:sp>
        <p:nvSpPr>
          <p:cNvPr id="15" name="Critical today 2"/>
          <p:cNvSpPr txBox="1"/>
          <p:nvPr/>
        </p:nvSpPr>
        <p:spPr>
          <a:xfrm>
            <a:off x="3977640" y="2487168"/>
            <a:ext cx="3657600" cy="1005840"/>
          </a:xfrm>
          <a:prstGeom prst="rect">
            <a:avLst/>
          </a:prstGeom>
          <a:noFill/>
          <a:ln/>
        </p:spPr>
        <p:txBody>
          <a:bodyPr wrap="square" lIns="0" tIns="0" rIns="0" bIns="0" rtlCol="0" anchor="t"/>
          <a:lstStyle/>
          <a:p>
            <a:pPr indent="0" marL="0">
              <a:buNone/>
            </a:pPr>
            <a:r>
              <a:rPr lang="en-US" sz="1150" b="1" dirty="0">
                <a:solidFill>
                  <a:srgbClr val="1F5C99"/>
                </a:solidFill>
              </a:rPr>
              <a:t>Today  </a:t>
            </a:r>
            <a:pPr indent="0" marL="0">
              <a:buNone/>
            </a:pPr>
            <a:r>
              <a:rPr lang="en-US" sz="1150" dirty="0">
                <a:solidFill>
                  <a:srgbClr val="262626"/>
                </a:solidFill>
              </a:rPr>
              <a:t>Native: deleted repositories restorable for 90 days; no customer-controlled backup or point-in-time copy.</a:t>
            </a:r>
            <a:endParaRPr lang="en-US" sz="1150" dirty="0"/>
          </a:p>
        </p:txBody>
      </p:sp>
      <p:sp>
        <p:nvSpPr>
          <p:cNvPr id="16" name="Critical gap 2"/>
          <p:cNvSpPr txBox="1"/>
          <p:nvPr/>
        </p:nvSpPr>
        <p:spPr>
          <a:xfrm>
            <a:off x="7818120" y="2487168"/>
            <a:ext cx="3657600" cy="1005840"/>
          </a:xfrm>
          <a:prstGeom prst="rect">
            <a:avLst/>
          </a:prstGeom>
          <a:noFill/>
          <a:ln/>
        </p:spPr>
        <p:txBody>
          <a:bodyPr wrap="square" lIns="0" tIns="0" rIns="0" bIns="0" rtlCol="0" anchor="t"/>
          <a:lstStyle/>
          <a:p>
            <a:pPr indent="0" marL="0">
              <a:buNone/>
            </a:pPr>
            <a:r>
              <a:rPr lang="en-US" sz="1150" b="1" dirty="0">
                <a:solidFill>
                  <a:srgbClr val="9C1F1F"/>
                </a:solidFill>
              </a:rPr>
              <a:t>Gap  </a:t>
            </a:r>
            <a:pPr indent="0" marL="0">
              <a:buNone/>
            </a:pPr>
            <a:r>
              <a:rPr lang="en-US" sz="1150" dirty="0">
                <a:solidFill>
                  <a:srgbClr val="262626"/>
                </a:solidFill>
              </a:rPr>
              <a:t>Gap: issues, pull requests, Actions and permissions not backed up; no protection from malicious deletion or account compromise.</a:t>
            </a:r>
            <a:endParaRPr lang="en-US" sz="1150" dirty="0"/>
          </a:p>
        </p:txBody>
      </p:sp>
      <p:sp>
        <p:nvSpPr>
          <p:cNvPr id="17" name="Critical card 3"/>
          <p:cNvSpPr/>
          <p:nvPr/>
        </p:nvSpPr>
        <p:spPr>
          <a:xfrm>
            <a:off x="548640" y="3694176"/>
            <a:ext cx="11091672" cy="1188720"/>
          </a:xfrm>
          <a:prstGeom prst="roundRect">
            <a:avLst>
              <a:gd name="adj" fmla="val 615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18" name="Critical 3 circle"/>
          <p:cNvSpPr/>
          <p:nvPr/>
        </p:nvSpPr>
        <p:spPr>
          <a:xfrm>
            <a:off x="731520" y="3986784"/>
            <a:ext cx="603504" cy="603504"/>
          </a:xfrm>
          <a:prstGeom prst="ellipse">
            <a:avLst/>
          </a:prstGeom>
          <a:solidFill>
            <a:srgbClr val="582873"/>
          </a:solidFill>
          <a:ln/>
        </p:spPr>
      </p:sp>
      <p:pic>
        <p:nvPicPr>
          <p:cNvPr id="19" name="Critical 3 icon" descr="preencoded.png">    </p:cNvPr>
          <p:cNvPicPr>
            <a:picLocks noChangeAspect="1"/>
          </p:cNvPicPr>
          <p:nvPr/>
        </p:nvPicPr>
        <p:blipFill>
          <a:blip r:embed="rId3"/>
          <a:stretch>
            <a:fillRect/>
          </a:stretch>
        </p:blipFill>
        <p:spPr>
          <a:xfrm>
            <a:off x="882396" y="4137660"/>
            <a:ext cx="301752" cy="301752"/>
          </a:xfrm>
          <a:prstGeom prst="rect">
            <a:avLst/>
          </a:prstGeom>
        </p:spPr>
      </p:pic>
      <p:sp>
        <p:nvSpPr>
          <p:cNvPr id="20" name="Critical heading 3"/>
          <p:cNvSpPr txBox="1"/>
          <p:nvPr/>
        </p:nvSpPr>
        <p:spPr>
          <a:xfrm>
            <a:off x="1508760" y="3785616"/>
            <a:ext cx="2286000" cy="502920"/>
          </a:xfrm>
          <a:prstGeom prst="rect">
            <a:avLst/>
          </a:prstGeom>
          <a:noFill/>
          <a:ln/>
        </p:spPr>
        <p:txBody>
          <a:bodyPr wrap="square" lIns="0" tIns="0" rIns="0" bIns="0" rtlCol="0" anchor="ctr"/>
          <a:lstStyle/>
          <a:p>
            <a:pPr indent="0" marL="0">
              <a:buNone/>
            </a:pPr>
            <a:r>
              <a:rPr lang="en-US" sz="1600" b="1" dirty="0">
                <a:solidFill>
                  <a:srgbClr val="262626"/>
                </a:solidFill>
              </a:rPr>
              <a:t>Azure DevOps Services</a:t>
            </a:r>
            <a:endParaRPr lang="en-US" sz="1600" dirty="0"/>
          </a:p>
        </p:txBody>
      </p:sp>
      <p:sp>
        <p:nvSpPr>
          <p:cNvPr id="21" name="Critical why 3"/>
          <p:cNvSpPr txBox="1"/>
          <p:nvPr/>
        </p:nvSpPr>
        <p:spPr>
          <a:xfrm>
            <a:off x="1508760" y="4288536"/>
            <a:ext cx="2286000" cy="548640"/>
          </a:xfrm>
          <a:prstGeom prst="rect">
            <a:avLst/>
          </a:prstGeom>
          <a:noFill/>
          <a:ln/>
        </p:spPr>
        <p:txBody>
          <a:bodyPr wrap="square" lIns="0" tIns="0" rIns="0" bIns="0" rtlCol="0" anchor="t"/>
          <a:lstStyle/>
          <a:p>
            <a:pPr indent="0" marL="0">
              <a:buNone/>
            </a:pPr>
            <a:r>
              <a:rPr lang="en-US" sz="1100" i="1" dirty="0">
                <a:solidFill>
                  <a:srgbClr val="2E8B88"/>
                </a:solidFill>
              </a:rPr>
              <a:t>Pipelines and work items needed to rebuild and operate.</a:t>
            </a:r>
            <a:endParaRPr lang="en-US" sz="1100" dirty="0"/>
          </a:p>
        </p:txBody>
      </p:sp>
      <p:sp>
        <p:nvSpPr>
          <p:cNvPr id="22" name="Critical today 3"/>
          <p:cNvSpPr txBox="1"/>
          <p:nvPr/>
        </p:nvSpPr>
        <p:spPr>
          <a:xfrm>
            <a:off x="3977640" y="3785616"/>
            <a:ext cx="3657600" cy="1005840"/>
          </a:xfrm>
          <a:prstGeom prst="rect">
            <a:avLst/>
          </a:prstGeom>
          <a:noFill/>
          <a:ln/>
        </p:spPr>
        <p:txBody>
          <a:bodyPr wrap="square" lIns="0" tIns="0" rIns="0" bIns="0" rtlCol="0" anchor="t"/>
          <a:lstStyle/>
          <a:p>
            <a:pPr indent="0" marL="0">
              <a:buNone/>
            </a:pPr>
            <a:r>
              <a:rPr lang="en-US" sz="1150" b="1" dirty="0">
                <a:solidFill>
                  <a:srgbClr val="1F5C99"/>
                </a:solidFill>
              </a:rPr>
              <a:t>Today  </a:t>
            </a:r>
            <a:pPr indent="0" marL="0">
              <a:buNone/>
            </a:pPr>
            <a:r>
              <a:rPr lang="en-US" sz="1150" dirty="0">
                <a:solidFill>
                  <a:srgbClr val="262626"/>
                </a:solidFill>
              </a:rPr>
              <a:t>Native: deleted projects restorable for 28 days; Microsoft-managed resilience.</a:t>
            </a:r>
            <a:endParaRPr lang="en-US" sz="1150" dirty="0"/>
          </a:p>
        </p:txBody>
      </p:sp>
      <p:sp>
        <p:nvSpPr>
          <p:cNvPr id="23" name="Critical gap 3"/>
          <p:cNvSpPr txBox="1"/>
          <p:nvPr/>
        </p:nvSpPr>
        <p:spPr>
          <a:xfrm>
            <a:off x="7818120" y="3785616"/>
            <a:ext cx="3657600" cy="1005840"/>
          </a:xfrm>
          <a:prstGeom prst="rect">
            <a:avLst/>
          </a:prstGeom>
          <a:noFill/>
          <a:ln/>
        </p:spPr>
        <p:txBody>
          <a:bodyPr wrap="square" lIns="0" tIns="0" rIns="0" bIns="0" rtlCol="0" anchor="t"/>
          <a:lstStyle/>
          <a:p>
            <a:pPr indent="0" marL="0">
              <a:buNone/>
            </a:pPr>
            <a:r>
              <a:rPr lang="en-US" sz="1150" b="1" dirty="0">
                <a:solidFill>
                  <a:srgbClr val="9C1F1F"/>
                </a:solidFill>
              </a:rPr>
              <a:t>Gap  </a:t>
            </a:r>
            <a:pPr indent="0" marL="0">
              <a:buNone/>
            </a:pPr>
            <a:r>
              <a:rPr lang="en-US" sz="1150" dirty="0">
                <a:solidFill>
                  <a:srgbClr val="262626"/>
                </a:solidFill>
              </a:rPr>
              <a:t>Gap: repositories, pipelines, work items and wikis have no customer-controlled backup; nothing beyond 28 days.</a:t>
            </a:r>
            <a:endParaRPr lang="en-US" sz="1150" dirty="0"/>
          </a:p>
        </p:txBody>
      </p:sp>
      <p:sp>
        <p:nvSpPr>
          <p:cNvPr id="24" name="Critical card 4"/>
          <p:cNvSpPr/>
          <p:nvPr/>
        </p:nvSpPr>
        <p:spPr>
          <a:xfrm>
            <a:off x="548640" y="4992624"/>
            <a:ext cx="11091672" cy="1188720"/>
          </a:xfrm>
          <a:prstGeom prst="roundRect">
            <a:avLst>
              <a:gd name="adj" fmla="val 6154"/>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25" name="Critical 4 circle"/>
          <p:cNvSpPr/>
          <p:nvPr/>
        </p:nvSpPr>
        <p:spPr>
          <a:xfrm>
            <a:off x="731520" y="5285232"/>
            <a:ext cx="603504" cy="603504"/>
          </a:xfrm>
          <a:prstGeom prst="ellipse">
            <a:avLst/>
          </a:prstGeom>
          <a:solidFill>
            <a:srgbClr val="AD1D84"/>
          </a:solidFill>
          <a:ln/>
        </p:spPr>
      </p:sp>
      <p:pic>
        <p:nvPicPr>
          <p:cNvPr id="26" name="Critical 4 icon" descr="preencoded.png">    </p:cNvPr>
          <p:cNvPicPr>
            <a:picLocks noChangeAspect="1"/>
          </p:cNvPicPr>
          <p:nvPr/>
        </p:nvPicPr>
        <p:blipFill>
          <a:blip r:embed="rId4"/>
          <a:stretch>
            <a:fillRect/>
          </a:stretch>
        </p:blipFill>
        <p:spPr>
          <a:xfrm>
            <a:off x="882396" y="5436108"/>
            <a:ext cx="301752" cy="301752"/>
          </a:xfrm>
          <a:prstGeom prst="rect">
            <a:avLst/>
          </a:prstGeom>
        </p:spPr>
      </p:pic>
      <p:sp>
        <p:nvSpPr>
          <p:cNvPr id="27" name="Critical heading 4"/>
          <p:cNvSpPr txBox="1"/>
          <p:nvPr/>
        </p:nvSpPr>
        <p:spPr>
          <a:xfrm>
            <a:off x="1508760" y="5084064"/>
            <a:ext cx="2286000" cy="502920"/>
          </a:xfrm>
          <a:prstGeom prst="rect">
            <a:avLst/>
          </a:prstGeom>
          <a:noFill/>
          <a:ln/>
        </p:spPr>
        <p:txBody>
          <a:bodyPr wrap="square" lIns="0" tIns="0" rIns="0" bIns="0" rtlCol="0" anchor="ctr"/>
          <a:lstStyle/>
          <a:p>
            <a:pPr indent="0" marL="0">
              <a:buNone/>
            </a:pPr>
            <a:r>
              <a:rPr lang="en-US" sz="1600" b="1" dirty="0">
                <a:solidFill>
                  <a:srgbClr val="262626"/>
                </a:solidFill>
              </a:rPr>
              <a:t>Platform configuration</a:t>
            </a:r>
            <a:endParaRPr lang="en-US" sz="1600" dirty="0"/>
          </a:p>
        </p:txBody>
      </p:sp>
      <p:sp>
        <p:nvSpPr>
          <p:cNvPr id="28" name="Critical why 4"/>
          <p:cNvSpPr txBox="1"/>
          <p:nvPr/>
        </p:nvSpPr>
        <p:spPr>
          <a:xfrm>
            <a:off x="1508760" y="5586984"/>
            <a:ext cx="2286000" cy="548640"/>
          </a:xfrm>
          <a:prstGeom prst="rect">
            <a:avLst/>
          </a:prstGeom>
          <a:noFill/>
          <a:ln/>
        </p:spPr>
        <p:txBody>
          <a:bodyPr wrap="square" lIns="0" tIns="0" rIns="0" bIns="0" rtlCol="0" anchor="t"/>
          <a:lstStyle/>
          <a:p>
            <a:pPr indent="0" marL="0">
              <a:buNone/>
            </a:pPr>
            <a:r>
              <a:rPr lang="en-US" sz="1100" i="1" dirty="0">
                <a:solidFill>
                  <a:srgbClr val="2E8B88"/>
                </a:solidFill>
              </a:rPr>
              <a:t>Needed before any data can be restored.</a:t>
            </a:r>
            <a:endParaRPr lang="en-US" sz="1100" dirty="0"/>
          </a:p>
        </p:txBody>
      </p:sp>
      <p:sp>
        <p:nvSpPr>
          <p:cNvPr id="29" name="Critical today 4"/>
          <p:cNvSpPr txBox="1"/>
          <p:nvPr/>
        </p:nvSpPr>
        <p:spPr>
          <a:xfrm>
            <a:off x="3977640" y="5084064"/>
            <a:ext cx="3657600" cy="1005840"/>
          </a:xfrm>
          <a:prstGeom prst="rect">
            <a:avLst/>
          </a:prstGeom>
          <a:noFill/>
          <a:ln/>
        </p:spPr>
        <p:txBody>
          <a:bodyPr wrap="square" lIns="0" tIns="0" rIns="0" bIns="0" rtlCol="0" anchor="t"/>
          <a:lstStyle/>
          <a:p>
            <a:pPr indent="0" marL="0">
              <a:buNone/>
            </a:pPr>
            <a:r>
              <a:rPr lang="en-US" sz="1150" b="1" dirty="0">
                <a:solidFill>
                  <a:srgbClr val="1F5C99"/>
                </a:solidFill>
              </a:rPr>
              <a:t>Today  </a:t>
            </a:r>
            <a:pPr indent="0" marL="0">
              <a:buNone/>
            </a:pPr>
            <a:r>
              <a:rPr lang="en-US" sz="1150" dirty="0">
                <a:solidFill>
                  <a:srgbClr val="262626"/>
                </a:solidFill>
              </a:rPr>
              <a:t>Native: resource groups, networks and PaaS settings have no undelete; locks and Azure Policy prevent deletion; redeployment from IaC in Git.</a:t>
            </a:r>
            <a:endParaRPr lang="en-US" sz="1150" dirty="0"/>
          </a:p>
        </p:txBody>
      </p:sp>
      <p:sp>
        <p:nvSpPr>
          <p:cNvPr id="30" name="Critical gap 4"/>
          <p:cNvSpPr txBox="1"/>
          <p:nvPr/>
        </p:nvSpPr>
        <p:spPr>
          <a:xfrm>
            <a:off x="7818120" y="5084064"/>
            <a:ext cx="3657600" cy="1005840"/>
          </a:xfrm>
          <a:prstGeom prst="rect">
            <a:avLst/>
          </a:prstGeom>
          <a:noFill/>
          <a:ln/>
        </p:spPr>
        <p:txBody>
          <a:bodyPr wrap="square" lIns="0" tIns="0" rIns="0" bIns="0" rtlCol="0" anchor="t"/>
          <a:lstStyle/>
          <a:p>
            <a:pPr indent="0" marL="0">
              <a:buNone/>
            </a:pPr>
            <a:r>
              <a:rPr lang="en-US" sz="1150" b="1" dirty="0">
                <a:solidFill>
                  <a:srgbClr val="9C1F1F"/>
                </a:solidFill>
              </a:rPr>
              <a:t>Gap  </a:t>
            </a:r>
            <a:pPr indent="0" marL="0">
              <a:buNone/>
            </a:pPr>
            <a:r>
              <a:rPr lang="en-US" sz="1150" dirty="0">
                <a:solidFill>
                  <a:srgbClr val="262626"/>
                </a:solidFill>
              </a:rPr>
              <a:t>Gap: recovery depends on IaC being complete and tested, and on the DevOps platform being available.</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How a third-party platform closes the gaps</a:t>
            </a:r>
            <a:endParaRPr lang="en-US" sz="3000" dirty="0"/>
          </a:p>
        </p:txBody>
      </p:sp>
      <p:graphicFrame>
        <p:nvGraphicFramePr>
          <p:cNvPr id="6" name="Gap closure table"/>
          <p:cNvGraphicFramePr>
            <a:graphicFrameLocks noGrp="1"/>
          </p:cNvGraphicFramePr>
          <p:nvPr>
            <p:extLst>
              <p:ext uri="{D42A27DB-BD31-4B8C-83A1-F6EECF244321}">
                <p14:modId xmlns:p14="http://schemas.microsoft.com/office/powerpoint/2010/main" val="1579011935"/>
              </p:ext>
            </p:extLst>
          </p:nvPr>
        </p:nvGraphicFramePr>
        <p:xfrm>
          <a:off x="548640" y="1051560"/>
          <a:ext cx="11091672" cy="914400"/>
        </p:xfrm>
        <a:graphic>
          <a:graphicData uri="http://schemas.openxmlformats.org/drawingml/2006/table">
            <a:tbl>
              <a:tblPr/>
              <a:tblGrid>
                <a:gridCol w="2651760"/>
                <a:gridCol w="3291840"/>
                <a:gridCol w="2834640"/>
                <a:gridCol w="2313432"/>
              </a:tblGrid>
              <a:tr h="640080">
                <a:tc>
                  <a:txBody>
                    <a:bodyPr/>
                    <a:lstStyle/>
                    <a:p>
                      <a:pPr indent="0" marL="0">
                        <a:buNone/>
                      </a:pPr>
                      <a:r>
                        <a:rPr lang="en-US" sz="1100" b="1" dirty="0">
                          <a:solidFill>
                            <a:srgbClr val="FFFFFF"/>
                          </a:solidFill>
                        </a:rPr>
                        <a:t>Protection gap today</a:t>
                      </a:r>
                      <a:endParaRPr lang="en-US" sz="110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100" b="1" dirty="0">
                          <a:solidFill>
                            <a:srgbClr val="FFFFFF"/>
                          </a:solidFill>
                        </a:rPr>
                        <a:t>Commvault (Option A)</a:t>
                      </a:r>
                      <a:endParaRPr lang="en-US" sz="110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100" b="1" dirty="0">
                          <a:solidFill>
                            <a:srgbClr val="FFFFFF"/>
                          </a:solidFill>
                        </a:rPr>
                        <a:t>Rubrik (Option B)</a:t>
                      </a:r>
                      <a:endParaRPr lang="en-US" sz="110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c>
                  <a:txBody>
                    <a:bodyPr/>
                    <a:lstStyle/>
                    <a:p>
                      <a:pPr indent="0" marL="0">
                        <a:buNone/>
                      </a:pPr>
                      <a:r>
                        <a:rPr lang="en-US" sz="1100" b="1" dirty="0">
                          <a:solidFill>
                            <a:srgbClr val="FFFFFF"/>
                          </a:solidFill>
                        </a:rPr>
                        <a:t>Residual dependency</a:t>
                      </a:r>
                      <a:endParaRPr lang="en-US" sz="110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82873"/>
                    </a:solidFill>
                  </a:tcPr>
                </a:tc>
              </a:tr>
              <a:tr h="640080">
                <a:tc>
                  <a:txBody>
                    <a:bodyPr/>
                    <a:lstStyle/>
                    <a:p>
                      <a:pPr indent="0" marL="0">
                        <a:buNone/>
                      </a:pPr>
                      <a:r>
                        <a:rPr lang="en-US" sz="1050" dirty="0">
                          <a:solidFill>
                            <a:srgbClr val="262626"/>
                          </a:solidFill>
                        </a:rPr>
                        <a:t>Offsite copy administered in the same Azure tenant</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Immutable AirGap Protect copy in a vendor-managed tenant (Canada Central / East); optional copy to on-premises data centres</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Immutable Rubrik Cloud Vault in a Rubrik-managed tenant (Toronto / Quebec City)</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Still Azure-hosted storage; on-premises copy removes the Azure dependency</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640080">
                <a:tc>
                  <a:txBody>
                    <a:bodyPr/>
                    <a:lstStyle/>
                    <a:p>
                      <a:pPr indent="0" marL="0">
                        <a:buNone/>
                      </a:pPr>
                      <a:r>
                        <a:rPr lang="en-US" sz="1050" dirty="0">
                          <a:solidFill>
                            <a:srgbClr val="262626"/>
                          </a:solidFill>
                        </a:rPr>
                        <a:t>No rebuild of deleted resource groups, networks and PaaS configuration</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Cloud Rewind discovers and rebuilds resource groups, VNets, compute and PaaS configuration, then restores data (same region for selected resources)</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Not provided; rebuild from Infrastructure as Code in Git</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Rebuild target region must have capacity</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640080">
                <a:tc>
                  <a:txBody>
                    <a:bodyPr/>
                    <a:lstStyle/>
                    <a:p>
                      <a:pPr indent="0" marL="0">
                        <a:buNone/>
                      </a:pPr>
                      <a:r>
                        <a:rPr lang="en-US" sz="1050" dirty="0">
                          <a:solidFill>
                            <a:srgbClr val="262626"/>
                          </a:solidFill>
                        </a:rPr>
                        <a:t>Entra ID: 7-day native retention, no hard-delete recovery</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Long-term backups of users, groups, roles, apps and Conditional Access held outside the tenant; compare and revert</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Identity Recovery: immutable backups in a Rubrik-managed tenant; orchestrated hybrid AD and Entra recovery</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Entra ID itself must be available to restore into</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640080">
                <a:tc>
                  <a:txBody>
                    <a:bodyPr/>
                    <a:lstStyle/>
                    <a:p>
                      <a:pPr indent="0" marL="0">
                        <a:buNone/>
                      </a:pPr>
                      <a:r>
                        <a:rPr lang="en-US" sz="1050" dirty="0">
                          <a:solidFill>
                            <a:srgbClr val="262626"/>
                          </a:solidFill>
                        </a:rPr>
                        <a:t>GitHub and Azure DevOps: native retention only</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Repositories, pull requests, pipelines, work items and feeds backed up; GitHub issues and Actions via exports</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Azure DevOps protection (GA Dec 2025); GitHub announced Mar 2026, scope to confirm</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SaaS platform must be reachable to restore</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640080">
                <a:tc>
                  <a:txBody>
                    <a:bodyPr/>
                    <a:lstStyle/>
                    <a:p>
                      <a:pPr indent="0" marL="0">
                        <a:buNone/>
                      </a:pPr>
                      <a:r>
                        <a:rPr lang="en-US" sz="1050" dirty="0">
                          <a:solidFill>
                            <a:srgbClr val="262626"/>
                          </a:solidFill>
                        </a:rPr>
                        <a:t>Short native retention for PaaS databases</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Long-term copies for SQL, PostgreSQL, MySQL and Cosmos DB alongside native PITR (validate per service)</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SQL DB / MI supported; others to validate</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Native PITR remains the fastest short-term path</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640080">
                <a:tc>
                  <a:txBody>
                    <a:bodyPr/>
                    <a:lstStyle/>
                    <a:p>
                      <a:pPr indent="0" marL="0">
                        <a:buNone/>
                      </a:pPr>
                      <a:r>
                        <a:rPr lang="en-US" sz="1050" dirty="0">
                          <a:solidFill>
                            <a:srgbClr val="262626"/>
                          </a:solidFill>
                        </a:rPr>
                        <a:t>Separate consoles per service; AWS would add another</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One console across on-premises, Microsoft 365, cloud and AWS</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One console for cloud and AWS; Commvault stays for on-premises and M365</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050" dirty="0">
                          <a:solidFill>
                            <a:srgbClr val="262626"/>
                          </a:solidFill>
                        </a:rPr>
                        <a:t>SaaS control-plane residency to confirm (Commvault: East US 2)</a:t>
                      </a:r>
                      <a:endParaRPr lang="en-US" sz="1050" dirty="0"/>
                    </a:p>
                  </a:txBody>
                  <a:tcPr marL="54864" marR="54864"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4" name="Gap note"/>
          <p:cNvSpPr txBox="1"/>
          <p:nvPr/>
        </p:nvSpPr>
        <p:spPr>
          <a:xfrm>
            <a:off x="548640" y="5806440"/>
            <a:ext cx="11091672" cy="411480"/>
          </a:xfrm>
          <a:prstGeom prst="rect">
            <a:avLst/>
          </a:prstGeom>
          <a:noFill/>
          <a:ln/>
        </p:spPr>
        <p:txBody>
          <a:bodyPr wrap="square" lIns="0" tIns="0" rIns="0" bIns="0" rtlCol="0" anchor="ctr"/>
          <a:lstStyle/>
          <a:p>
            <a:pPr indent="0" marL="0">
              <a:buNone/>
            </a:pPr>
            <a:r>
              <a:rPr lang="en-US" sz="1100" i="1" dirty="0">
                <a:solidFill>
                  <a:srgbClr val="595959"/>
                </a:solidFill>
              </a:rPr>
              <a:t>Capabilities are from vendor documentation (KDD 2.2) and must be confirmed in the proof of concept. Either platform keeps Microsoft-native protection enabled; it adds isolation, retention and rebuild on top.</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Recovery sequence after a major Azure outage</a:t>
            </a:r>
            <a:endParaRPr lang="en-US" sz="3000" dirty="0"/>
          </a:p>
        </p:txBody>
      </p:sp>
      <p:sp>
        <p:nvSpPr>
          <p:cNvPr id="3" name="Step card 1"/>
          <p:cNvSpPr/>
          <p:nvPr/>
        </p:nvSpPr>
        <p:spPr>
          <a:xfrm>
            <a:off x="548640" y="1143000"/>
            <a:ext cx="2108606" cy="3108960"/>
          </a:xfrm>
          <a:prstGeom prst="roundRect">
            <a:avLst>
              <a:gd name="adj" fmla="val 4337"/>
            </a:avLst>
          </a:prstGeom>
          <a:solidFill>
            <a:srgbClr val="3A1D52"/>
          </a:solidFill>
          <a:ln/>
        </p:spPr>
      </p:sp>
      <p:sp>
        <p:nvSpPr>
          <p:cNvPr id="4" name="Step 1 circle"/>
          <p:cNvSpPr/>
          <p:nvPr/>
        </p:nvSpPr>
        <p:spPr>
          <a:xfrm>
            <a:off x="731520" y="1325880"/>
            <a:ext cx="548640" cy="548640"/>
          </a:xfrm>
          <a:prstGeom prst="ellipse">
            <a:avLst/>
          </a:prstGeom>
          <a:solidFill>
            <a:srgbClr val="AD1D84"/>
          </a:solidFill>
          <a:ln/>
        </p:spPr>
      </p:sp>
      <p:pic>
        <p:nvPicPr>
          <p:cNvPr id="5" name="Step 1 icon" descr="preencoded.png">    </p:cNvPr>
          <p:cNvPicPr>
            <a:picLocks noChangeAspect="1"/>
          </p:cNvPicPr>
          <p:nvPr/>
        </p:nvPicPr>
        <p:blipFill>
          <a:blip r:embed="rId1"/>
          <a:stretch>
            <a:fillRect/>
          </a:stretch>
        </p:blipFill>
        <p:spPr>
          <a:xfrm>
            <a:off x="868680" y="1463040"/>
            <a:ext cx="274320" cy="274320"/>
          </a:xfrm>
          <a:prstGeom prst="rect">
            <a:avLst/>
          </a:prstGeom>
        </p:spPr>
      </p:pic>
      <p:sp>
        <p:nvSpPr>
          <p:cNvPr id="6" name="Step number 1"/>
          <p:cNvSpPr txBox="1"/>
          <p:nvPr/>
        </p:nvSpPr>
        <p:spPr>
          <a:xfrm>
            <a:off x="2017166" y="1280160"/>
            <a:ext cx="457200" cy="457200"/>
          </a:xfrm>
          <a:prstGeom prst="rect">
            <a:avLst/>
          </a:prstGeom>
          <a:noFill/>
          <a:ln/>
        </p:spPr>
        <p:txBody>
          <a:bodyPr wrap="square" lIns="0" tIns="0" rIns="0" bIns="0" rtlCol="0" anchor="ctr"/>
          <a:lstStyle/>
          <a:p>
            <a:pPr algn="r" indent="0" marL="0">
              <a:buNone/>
            </a:pPr>
            <a:r>
              <a:rPr lang="en-US" sz="2400" b="1" dirty="0">
                <a:solidFill>
                  <a:srgbClr val="D9C8E8"/>
                </a:solidFill>
              </a:rPr>
              <a:t>1</a:t>
            </a:r>
            <a:endParaRPr lang="en-US" sz="2400" dirty="0"/>
          </a:p>
        </p:txBody>
      </p:sp>
      <p:sp>
        <p:nvSpPr>
          <p:cNvPr id="7" name="Step heading 1"/>
          <p:cNvSpPr txBox="1"/>
          <p:nvPr/>
        </p:nvSpPr>
        <p:spPr>
          <a:xfrm>
            <a:off x="731520" y="1965960"/>
            <a:ext cx="1742846" cy="411480"/>
          </a:xfrm>
          <a:prstGeom prst="rect">
            <a:avLst/>
          </a:prstGeom>
          <a:noFill/>
          <a:ln/>
        </p:spPr>
        <p:txBody>
          <a:bodyPr wrap="square" lIns="0" tIns="0" rIns="0" bIns="0" rtlCol="0" anchor="ctr"/>
          <a:lstStyle/>
          <a:p>
            <a:pPr indent="0" marL="0">
              <a:buNone/>
            </a:pPr>
            <a:r>
              <a:rPr lang="en-US" sz="1500" b="1" dirty="0">
                <a:solidFill>
                  <a:srgbClr val="FFFFFF"/>
                </a:solidFill>
              </a:rPr>
              <a:t>Regain control</a:t>
            </a:r>
            <a:endParaRPr lang="en-US" sz="1500" dirty="0"/>
          </a:p>
        </p:txBody>
      </p:sp>
      <p:sp>
        <p:nvSpPr>
          <p:cNvPr id="8" name="Step text 1"/>
          <p:cNvSpPr txBox="1"/>
          <p:nvPr/>
        </p:nvSpPr>
        <p:spPr>
          <a:xfrm>
            <a:off x="731520" y="2423160"/>
            <a:ext cx="1742846" cy="1371600"/>
          </a:xfrm>
          <a:prstGeom prst="rect">
            <a:avLst/>
          </a:prstGeom>
          <a:noFill/>
          <a:ln/>
        </p:spPr>
        <p:txBody>
          <a:bodyPr wrap="square" lIns="0" tIns="0" rIns="0" bIns="0" rtlCol="0" anchor="t"/>
          <a:lstStyle/>
          <a:p>
            <a:pPr indent="0" marL="0">
              <a:buNone/>
            </a:pPr>
            <a:r>
              <a:rPr lang="en-US" sz="1150" dirty="0">
                <a:solidFill>
                  <a:srgbClr val="D9C8E8"/>
                </a:solidFill>
              </a:rPr>
              <a:t>Break-glass accounts (no Entra dependency) to reach backup consoles and the recovery subscription; confirm last clean recovery point</a:t>
            </a:r>
            <a:endParaRPr lang="en-US" sz="1150" dirty="0"/>
          </a:p>
        </p:txBody>
      </p:sp>
      <p:sp>
        <p:nvSpPr>
          <p:cNvPr id="9" name="Step timing 1"/>
          <p:cNvSpPr txBox="1"/>
          <p:nvPr/>
        </p:nvSpPr>
        <p:spPr>
          <a:xfrm>
            <a:off x="731520" y="3840480"/>
            <a:ext cx="1742846" cy="320040"/>
          </a:xfrm>
          <a:prstGeom prst="rect">
            <a:avLst/>
          </a:prstGeom>
          <a:noFill/>
          <a:ln/>
        </p:spPr>
        <p:txBody>
          <a:bodyPr wrap="square" lIns="0" tIns="0" rIns="0" bIns="0" rtlCol="0" anchor="ctr"/>
          <a:lstStyle/>
          <a:p>
            <a:pPr indent="0" marL="0">
              <a:buNone/>
            </a:pPr>
            <a:r>
              <a:rPr lang="en-US" sz="1100" b="1" dirty="0">
                <a:solidFill>
                  <a:srgbClr val="FFFFFF"/>
                </a:solidFill>
              </a:rPr>
              <a:t>Minutes to hours</a:t>
            </a:r>
            <a:endParaRPr lang="en-US" sz="1100" dirty="0"/>
          </a:p>
        </p:txBody>
      </p:sp>
      <p:sp>
        <p:nvSpPr>
          <p:cNvPr id="10" name="Step card 2"/>
          <p:cNvSpPr/>
          <p:nvPr/>
        </p:nvSpPr>
        <p:spPr>
          <a:xfrm>
            <a:off x="2794406" y="1143000"/>
            <a:ext cx="2108606" cy="3108960"/>
          </a:xfrm>
          <a:prstGeom prst="roundRect">
            <a:avLst>
              <a:gd name="adj" fmla="val 4337"/>
            </a:avLst>
          </a:prstGeom>
          <a:solidFill>
            <a:srgbClr val="F4EFF8"/>
          </a:solidFill>
          <a:ln/>
        </p:spPr>
      </p:sp>
      <p:sp>
        <p:nvSpPr>
          <p:cNvPr id="11" name="Step 2 circle"/>
          <p:cNvSpPr/>
          <p:nvPr/>
        </p:nvSpPr>
        <p:spPr>
          <a:xfrm>
            <a:off x="2977286" y="1325880"/>
            <a:ext cx="548640" cy="548640"/>
          </a:xfrm>
          <a:prstGeom prst="ellipse">
            <a:avLst/>
          </a:prstGeom>
          <a:solidFill>
            <a:srgbClr val="582873"/>
          </a:solidFill>
          <a:ln/>
        </p:spPr>
      </p:sp>
      <p:pic>
        <p:nvPicPr>
          <p:cNvPr id="12" name="Step 2 icon" descr="preencoded.png">    </p:cNvPr>
          <p:cNvPicPr>
            <a:picLocks noChangeAspect="1"/>
          </p:cNvPicPr>
          <p:nvPr/>
        </p:nvPicPr>
        <p:blipFill>
          <a:blip r:embed="rId2"/>
          <a:stretch>
            <a:fillRect/>
          </a:stretch>
        </p:blipFill>
        <p:spPr>
          <a:xfrm>
            <a:off x="3114446" y="1463040"/>
            <a:ext cx="274320" cy="274320"/>
          </a:xfrm>
          <a:prstGeom prst="rect">
            <a:avLst/>
          </a:prstGeom>
        </p:spPr>
      </p:pic>
      <p:sp>
        <p:nvSpPr>
          <p:cNvPr id="13" name="Step number 2"/>
          <p:cNvSpPr txBox="1"/>
          <p:nvPr/>
        </p:nvSpPr>
        <p:spPr>
          <a:xfrm>
            <a:off x="4262933" y="1280160"/>
            <a:ext cx="457200" cy="457200"/>
          </a:xfrm>
          <a:prstGeom prst="rect">
            <a:avLst/>
          </a:prstGeom>
          <a:noFill/>
          <a:ln/>
        </p:spPr>
        <p:txBody>
          <a:bodyPr wrap="square" lIns="0" tIns="0" rIns="0" bIns="0" rtlCol="0" anchor="ctr"/>
          <a:lstStyle/>
          <a:p>
            <a:pPr algn="r" indent="0" marL="0">
              <a:buNone/>
            </a:pPr>
            <a:r>
              <a:rPr lang="en-US" sz="2400" b="1" dirty="0">
                <a:solidFill>
                  <a:srgbClr val="B4A7C7"/>
                </a:solidFill>
              </a:rPr>
              <a:t>2</a:t>
            </a:r>
            <a:endParaRPr lang="en-US" sz="2400" dirty="0"/>
          </a:p>
        </p:txBody>
      </p:sp>
      <p:sp>
        <p:nvSpPr>
          <p:cNvPr id="14" name="Step heading 2"/>
          <p:cNvSpPr txBox="1"/>
          <p:nvPr/>
        </p:nvSpPr>
        <p:spPr>
          <a:xfrm>
            <a:off x="2977286" y="1965960"/>
            <a:ext cx="1742846" cy="411480"/>
          </a:xfrm>
          <a:prstGeom prst="rect">
            <a:avLst/>
          </a:prstGeom>
          <a:noFill/>
          <a:ln/>
        </p:spPr>
        <p:txBody>
          <a:bodyPr wrap="square" lIns="0" tIns="0" rIns="0" bIns="0" rtlCol="0" anchor="ctr"/>
          <a:lstStyle/>
          <a:p>
            <a:pPr indent="0" marL="0">
              <a:buNone/>
            </a:pPr>
            <a:r>
              <a:rPr lang="en-US" sz="1500" b="1" dirty="0">
                <a:solidFill>
                  <a:srgbClr val="262626"/>
                </a:solidFill>
              </a:rPr>
              <a:t>Recover identity</a:t>
            </a:r>
            <a:endParaRPr lang="en-US" sz="1500" dirty="0"/>
          </a:p>
        </p:txBody>
      </p:sp>
      <p:sp>
        <p:nvSpPr>
          <p:cNvPr id="15" name="Step text 2"/>
          <p:cNvSpPr txBox="1"/>
          <p:nvPr/>
        </p:nvSpPr>
        <p:spPr>
          <a:xfrm>
            <a:off x="2977286" y="2423160"/>
            <a:ext cx="1742846" cy="1371600"/>
          </a:xfrm>
          <a:prstGeom prst="rect">
            <a:avLst/>
          </a:prstGeom>
          <a:noFill/>
          <a:ln/>
        </p:spPr>
        <p:txBody>
          <a:bodyPr wrap="square" lIns="0" tIns="0" rIns="0" bIns="0" rtlCol="0" anchor="t"/>
          <a:lstStyle/>
          <a:p>
            <a:pPr indent="0" marL="0">
              <a:buNone/>
            </a:pPr>
            <a:r>
              <a:rPr lang="en-US" sz="1150" dirty="0">
                <a:solidFill>
                  <a:srgbClr val="404040"/>
                </a:solidFill>
              </a:rPr>
              <a:t>Restore Entra ID users, groups, apps and Conditional Access from backup if damaged; recover hybrid users via on-premises AD first</a:t>
            </a:r>
            <a:endParaRPr lang="en-US" sz="1150" dirty="0"/>
          </a:p>
        </p:txBody>
      </p:sp>
      <p:sp>
        <p:nvSpPr>
          <p:cNvPr id="16" name="Step timing 2"/>
          <p:cNvSpPr txBox="1"/>
          <p:nvPr/>
        </p:nvSpPr>
        <p:spPr>
          <a:xfrm>
            <a:off x="2977286" y="3840480"/>
            <a:ext cx="1742846" cy="320040"/>
          </a:xfrm>
          <a:prstGeom prst="rect">
            <a:avLst/>
          </a:prstGeom>
          <a:noFill/>
          <a:ln/>
        </p:spPr>
        <p:txBody>
          <a:bodyPr wrap="square" lIns="0" tIns="0" rIns="0" bIns="0" rtlCol="0" anchor="ctr"/>
          <a:lstStyle/>
          <a:p>
            <a:pPr indent="0" marL="0">
              <a:buNone/>
            </a:pPr>
            <a:r>
              <a:rPr lang="en-US" sz="1100" b="1" dirty="0">
                <a:solidFill>
                  <a:srgbClr val="2E8B88"/>
                </a:solidFill>
              </a:rPr>
              <a:t>Hours</a:t>
            </a:r>
            <a:endParaRPr lang="en-US" sz="1100" dirty="0"/>
          </a:p>
        </p:txBody>
      </p:sp>
      <p:sp>
        <p:nvSpPr>
          <p:cNvPr id="17" name="Step card 3"/>
          <p:cNvSpPr/>
          <p:nvPr/>
        </p:nvSpPr>
        <p:spPr>
          <a:xfrm>
            <a:off x="5040173" y="1143000"/>
            <a:ext cx="2108606" cy="3108960"/>
          </a:xfrm>
          <a:prstGeom prst="roundRect">
            <a:avLst>
              <a:gd name="adj" fmla="val 4337"/>
            </a:avLst>
          </a:prstGeom>
          <a:solidFill>
            <a:srgbClr val="F4EFF8"/>
          </a:solidFill>
          <a:ln/>
        </p:spPr>
      </p:sp>
      <p:sp>
        <p:nvSpPr>
          <p:cNvPr id="18" name="Step 3 circle"/>
          <p:cNvSpPr/>
          <p:nvPr/>
        </p:nvSpPr>
        <p:spPr>
          <a:xfrm>
            <a:off x="5223053" y="1325880"/>
            <a:ext cx="548640" cy="548640"/>
          </a:xfrm>
          <a:prstGeom prst="ellipse">
            <a:avLst/>
          </a:prstGeom>
          <a:solidFill>
            <a:srgbClr val="582873"/>
          </a:solidFill>
          <a:ln/>
        </p:spPr>
      </p:sp>
      <p:pic>
        <p:nvPicPr>
          <p:cNvPr id="19" name="Step 3 icon" descr="preencoded.png">    </p:cNvPr>
          <p:cNvPicPr>
            <a:picLocks noChangeAspect="1"/>
          </p:cNvPicPr>
          <p:nvPr/>
        </p:nvPicPr>
        <p:blipFill>
          <a:blip r:embed="rId3"/>
          <a:stretch>
            <a:fillRect/>
          </a:stretch>
        </p:blipFill>
        <p:spPr>
          <a:xfrm>
            <a:off x="5360213" y="1463040"/>
            <a:ext cx="274320" cy="274320"/>
          </a:xfrm>
          <a:prstGeom prst="rect">
            <a:avLst/>
          </a:prstGeom>
        </p:spPr>
      </p:pic>
      <p:sp>
        <p:nvSpPr>
          <p:cNvPr id="20" name="Step number 3"/>
          <p:cNvSpPr txBox="1"/>
          <p:nvPr/>
        </p:nvSpPr>
        <p:spPr>
          <a:xfrm>
            <a:off x="6508699" y="1280160"/>
            <a:ext cx="457200" cy="457200"/>
          </a:xfrm>
          <a:prstGeom prst="rect">
            <a:avLst/>
          </a:prstGeom>
          <a:noFill/>
          <a:ln/>
        </p:spPr>
        <p:txBody>
          <a:bodyPr wrap="square" lIns="0" tIns="0" rIns="0" bIns="0" rtlCol="0" anchor="ctr"/>
          <a:lstStyle/>
          <a:p>
            <a:pPr algn="r" indent="0" marL="0">
              <a:buNone/>
            </a:pPr>
            <a:r>
              <a:rPr lang="en-US" sz="2400" b="1" dirty="0">
                <a:solidFill>
                  <a:srgbClr val="B4A7C7"/>
                </a:solidFill>
              </a:rPr>
              <a:t>3</a:t>
            </a:r>
            <a:endParaRPr lang="en-US" sz="2400" dirty="0"/>
          </a:p>
        </p:txBody>
      </p:sp>
      <p:sp>
        <p:nvSpPr>
          <p:cNvPr id="21" name="Step heading 3"/>
          <p:cNvSpPr txBox="1"/>
          <p:nvPr/>
        </p:nvSpPr>
        <p:spPr>
          <a:xfrm>
            <a:off x="5223053" y="1965960"/>
            <a:ext cx="1742846" cy="411480"/>
          </a:xfrm>
          <a:prstGeom prst="rect">
            <a:avLst/>
          </a:prstGeom>
          <a:noFill/>
          <a:ln/>
        </p:spPr>
        <p:txBody>
          <a:bodyPr wrap="square" lIns="0" tIns="0" rIns="0" bIns="0" rtlCol="0" anchor="ctr"/>
          <a:lstStyle/>
          <a:p>
            <a:pPr indent="0" marL="0">
              <a:buNone/>
            </a:pPr>
            <a:r>
              <a:rPr lang="en-US" sz="1500" b="1" dirty="0">
                <a:solidFill>
                  <a:srgbClr val="262626"/>
                </a:solidFill>
              </a:rPr>
              <a:t>Rebuild the foundation</a:t>
            </a:r>
            <a:endParaRPr lang="en-US" sz="1500" dirty="0"/>
          </a:p>
        </p:txBody>
      </p:sp>
      <p:sp>
        <p:nvSpPr>
          <p:cNvPr id="22" name="Step text 3"/>
          <p:cNvSpPr txBox="1"/>
          <p:nvPr/>
        </p:nvSpPr>
        <p:spPr>
          <a:xfrm>
            <a:off x="5223053" y="2423160"/>
            <a:ext cx="1742846" cy="1371600"/>
          </a:xfrm>
          <a:prstGeom prst="rect">
            <a:avLst/>
          </a:prstGeom>
          <a:noFill/>
          <a:ln/>
        </p:spPr>
        <p:txBody>
          <a:bodyPr wrap="square" lIns="0" tIns="0" rIns="0" bIns="0" rtlCol="0" anchor="t"/>
          <a:lstStyle/>
          <a:p>
            <a:pPr indent="0" marL="0">
              <a:buNone/>
            </a:pPr>
            <a:r>
              <a:rPr lang="en-US" sz="1150" dirty="0">
                <a:solidFill>
                  <a:srgbClr val="404040"/>
                </a:solidFill>
              </a:rPr>
              <a:t>Recreate resource groups, VNets, Key Vault and PaaS configuration in Canada East (or Canada Central alternate subscription) from Cloud Rewind or IaC; restore DevOps repositories first if needed</a:t>
            </a:r>
            <a:endParaRPr lang="en-US" sz="1150" dirty="0"/>
          </a:p>
        </p:txBody>
      </p:sp>
      <p:sp>
        <p:nvSpPr>
          <p:cNvPr id="23" name="Step timing 3"/>
          <p:cNvSpPr txBox="1"/>
          <p:nvPr/>
        </p:nvSpPr>
        <p:spPr>
          <a:xfrm>
            <a:off x="5223053" y="3840480"/>
            <a:ext cx="1742846" cy="320040"/>
          </a:xfrm>
          <a:prstGeom prst="rect">
            <a:avLst/>
          </a:prstGeom>
          <a:noFill/>
          <a:ln/>
        </p:spPr>
        <p:txBody>
          <a:bodyPr wrap="square" lIns="0" tIns="0" rIns="0" bIns="0" rtlCol="0" anchor="ctr"/>
          <a:lstStyle/>
          <a:p>
            <a:pPr indent="0" marL="0">
              <a:buNone/>
            </a:pPr>
            <a:r>
              <a:rPr lang="en-US" sz="1100" b="1" dirty="0">
                <a:solidFill>
                  <a:srgbClr val="2E8B88"/>
                </a:solidFill>
              </a:rPr>
              <a:t>Hours</a:t>
            </a:r>
            <a:endParaRPr lang="en-US" sz="1100" dirty="0"/>
          </a:p>
        </p:txBody>
      </p:sp>
      <p:sp>
        <p:nvSpPr>
          <p:cNvPr id="24" name="Step card 4"/>
          <p:cNvSpPr/>
          <p:nvPr/>
        </p:nvSpPr>
        <p:spPr>
          <a:xfrm>
            <a:off x="7285939" y="1143000"/>
            <a:ext cx="2108606" cy="3108960"/>
          </a:xfrm>
          <a:prstGeom prst="roundRect">
            <a:avLst>
              <a:gd name="adj" fmla="val 4337"/>
            </a:avLst>
          </a:prstGeom>
          <a:solidFill>
            <a:srgbClr val="F4EFF8"/>
          </a:solidFill>
          <a:ln/>
        </p:spPr>
      </p:sp>
      <p:sp>
        <p:nvSpPr>
          <p:cNvPr id="25" name="Step 4 circle"/>
          <p:cNvSpPr/>
          <p:nvPr/>
        </p:nvSpPr>
        <p:spPr>
          <a:xfrm>
            <a:off x="7468819" y="1325880"/>
            <a:ext cx="548640" cy="548640"/>
          </a:xfrm>
          <a:prstGeom prst="ellipse">
            <a:avLst/>
          </a:prstGeom>
          <a:solidFill>
            <a:srgbClr val="582873"/>
          </a:solidFill>
          <a:ln/>
        </p:spPr>
      </p:sp>
      <p:pic>
        <p:nvPicPr>
          <p:cNvPr id="26" name="Step 4 icon" descr="preencoded.png">    </p:cNvPr>
          <p:cNvPicPr>
            <a:picLocks noChangeAspect="1"/>
          </p:cNvPicPr>
          <p:nvPr/>
        </p:nvPicPr>
        <p:blipFill>
          <a:blip r:embed="rId4"/>
          <a:stretch>
            <a:fillRect/>
          </a:stretch>
        </p:blipFill>
        <p:spPr>
          <a:xfrm>
            <a:off x="7605979" y="1463040"/>
            <a:ext cx="274320" cy="274320"/>
          </a:xfrm>
          <a:prstGeom prst="rect">
            <a:avLst/>
          </a:prstGeom>
        </p:spPr>
      </p:pic>
      <p:sp>
        <p:nvSpPr>
          <p:cNvPr id="27" name="Step number 4"/>
          <p:cNvSpPr txBox="1"/>
          <p:nvPr/>
        </p:nvSpPr>
        <p:spPr>
          <a:xfrm>
            <a:off x="8754466" y="1280160"/>
            <a:ext cx="457200" cy="457200"/>
          </a:xfrm>
          <a:prstGeom prst="rect">
            <a:avLst/>
          </a:prstGeom>
          <a:noFill/>
          <a:ln/>
        </p:spPr>
        <p:txBody>
          <a:bodyPr wrap="square" lIns="0" tIns="0" rIns="0" bIns="0" rtlCol="0" anchor="ctr"/>
          <a:lstStyle/>
          <a:p>
            <a:pPr algn="r" indent="0" marL="0">
              <a:buNone/>
            </a:pPr>
            <a:r>
              <a:rPr lang="en-US" sz="2400" b="1" dirty="0">
                <a:solidFill>
                  <a:srgbClr val="B4A7C7"/>
                </a:solidFill>
              </a:rPr>
              <a:t>4</a:t>
            </a:r>
            <a:endParaRPr lang="en-US" sz="2400" dirty="0"/>
          </a:p>
        </p:txBody>
      </p:sp>
      <p:sp>
        <p:nvSpPr>
          <p:cNvPr id="28" name="Step heading 4"/>
          <p:cNvSpPr txBox="1"/>
          <p:nvPr/>
        </p:nvSpPr>
        <p:spPr>
          <a:xfrm>
            <a:off x="7468819" y="1965960"/>
            <a:ext cx="1742846" cy="411480"/>
          </a:xfrm>
          <a:prstGeom prst="rect">
            <a:avLst/>
          </a:prstGeom>
          <a:noFill/>
          <a:ln/>
        </p:spPr>
        <p:txBody>
          <a:bodyPr wrap="square" lIns="0" tIns="0" rIns="0" bIns="0" rtlCol="0" anchor="ctr"/>
          <a:lstStyle/>
          <a:p>
            <a:pPr indent="0" marL="0">
              <a:buNone/>
            </a:pPr>
            <a:r>
              <a:rPr lang="en-US" sz="1500" b="1" dirty="0">
                <a:solidFill>
                  <a:srgbClr val="262626"/>
                </a:solidFill>
              </a:rPr>
              <a:t>Restore data</a:t>
            </a:r>
            <a:endParaRPr lang="en-US" sz="1500" dirty="0"/>
          </a:p>
        </p:txBody>
      </p:sp>
      <p:sp>
        <p:nvSpPr>
          <p:cNvPr id="29" name="Step text 4"/>
          <p:cNvSpPr txBox="1"/>
          <p:nvPr/>
        </p:nvSpPr>
        <p:spPr>
          <a:xfrm>
            <a:off x="7468819" y="2423160"/>
            <a:ext cx="1742846" cy="1371600"/>
          </a:xfrm>
          <a:prstGeom prst="rect">
            <a:avLst/>
          </a:prstGeom>
          <a:noFill/>
          <a:ln/>
        </p:spPr>
        <p:txBody>
          <a:bodyPr wrap="square" lIns="0" tIns="0" rIns="0" bIns="0" rtlCol="0" anchor="t"/>
          <a:lstStyle/>
          <a:p>
            <a:pPr indent="0" marL="0">
              <a:buNone/>
            </a:pPr>
            <a:r>
              <a:rPr lang="en-US" sz="1150" dirty="0">
                <a:solidFill>
                  <a:srgbClr val="404040"/>
                </a:solidFill>
              </a:rPr>
              <a:t>Restore Tier-0/1 VMs, databases, files and AKS volumes from the isolated offsite copy; use native geo-restore where faster</a:t>
            </a:r>
            <a:endParaRPr lang="en-US" sz="1150" dirty="0"/>
          </a:p>
        </p:txBody>
      </p:sp>
      <p:sp>
        <p:nvSpPr>
          <p:cNvPr id="30" name="Step timing 4"/>
          <p:cNvSpPr txBox="1"/>
          <p:nvPr/>
        </p:nvSpPr>
        <p:spPr>
          <a:xfrm>
            <a:off x="7468819" y="3840480"/>
            <a:ext cx="1742846" cy="320040"/>
          </a:xfrm>
          <a:prstGeom prst="rect">
            <a:avLst/>
          </a:prstGeom>
          <a:noFill/>
          <a:ln/>
        </p:spPr>
        <p:txBody>
          <a:bodyPr wrap="square" lIns="0" tIns="0" rIns="0" bIns="0" rtlCol="0" anchor="ctr"/>
          <a:lstStyle/>
          <a:p>
            <a:pPr indent="0" marL="0">
              <a:buNone/>
            </a:pPr>
            <a:r>
              <a:rPr lang="en-US" sz="1100" b="1" dirty="0">
                <a:solidFill>
                  <a:srgbClr val="2E8B88"/>
                </a:solidFill>
              </a:rPr>
              <a:t>Hours to a day per tier</a:t>
            </a:r>
            <a:endParaRPr lang="en-US" sz="1100" dirty="0"/>
          </a:p>
        </p:txBody>
      </p:sp>
      <p:sp>
        <p:nvSpPr>
          <p:cNvPr id="31" name="Step card 5"/>
          <p:cNvSpPr/>
          <p:nvPr/>
        </p:nvSpPr>
        <p:spPr>
          <a:xfrm>
            <a:off x="9531706" y="1143000"/>
            <a:ext cx="2108606" cy="3108960"/>
          </a:xfrm>
          <a:prstGeom prst="roundRect">
            <a:avLst>
              <a:gd name="adj" fmla="val 4337"/>
            </a:avLst>
          </a:prstGeom>
          <a:solidFill>
            <a:srgbClr val="F4EFF8"/>
          </a:solidFill>
          <a:ln/>
        </p:spPr>
      </p:sp>
      <p:sp>
        <p:nvSpPr>
          <p:cNvPr id="32" name="Step 5 circle"/>
          <p:cNvSpPr/>
          <p:nvPr/>
        </p:nvSpPr>
        <p:spPr>
          <a:xfrm>
            <a:off x="9714586" y="1325880"/>
            <a:ext cx="548640" cy="548640"/>
          </a:xfrm>
          <a:prstGeom prst="ellipse">
            <a:avLst/>
          </a:prstGeom>
          <a:solidFill>
            <a:srgbClr val="582873"/>
          </a:solidFill>
          <a:ln/>
        </p:spPr>
      </p:sp>
      <p:pic>
        <p:nvPicPr>
          <p:cNvPr id="33" name="Step 5 icon" descr="preencoded.png">    </p:cNvPr>
          <p:cNvPicPr>
            <a:picLocks noChangeAspect="1"/>
          </p:cNvPicPr>
          <p:nvPr/>
        </p:nvPicPr>
        <p:blipFill>
          <a:blip r:embed="rId5"/>
          <a:stretch>
            <a:fillRect/>
          </a:stretch>
        </p:blipFill>
        <p:spPr>
          <a:xfrm>
            <a:off x="9851746" y="1463040"/>
            <a:ext cx="274320" cy="274320"/>
          </a:xfrm>
          <a:prstGeom prst="rect">
            <a:avLst/>
          </a:prstGeom>
        </p:spPr>
      </p:pic>
      <p:sp>
        <p:nvSpPr>
          <p:cNvPr id="34" name="Step number 5"/>
          <p:cNvSpPr txBox="1"/>
          <p:nvPr/>
        </p:nvSpPr>
        <p:spPr>
          <a:xfrm>
            <a:off x="11000232" y="1280160"/>
            <a:ext cx="457200" cy="457200"/>
          </a:xfrm>
          <a:prstGeom prst="rect">
            <a:avLst/>
          </a:prstGeom>
          <a:noFill/>
          <a:ln/>
        </p:spPr>
        <p:txBody>
          <a:bodyPr wrap="square" lIns="0" tIns="0" rIns="0" bIns="0" rtlCol="0" anchor="ctr"/>
          <a:lstStyle/>
          <a:p>
            <a:pPr algn="r" indent="0" marL="0">
              <a:buNone/>
            </a:pPr>
            <a:r>
              <a:rPr lang="en-US" sz="2400" b="1" dirty="0">
                <a:solidFill>
                  <a:srgbClr val="B4A7C7"/>
                </a:solidFill>
              </a:rPr>
              <a:t>5</a:t>
            </a:r>
            <a:endParaRPr lang="en-US" sz="2400" dirty="0"/>
          </a:p>
        </p:txBody>
      </p:sp>
      <p:sp>
        <p:nvSpPr>
          <p:cNvPr id="35" name="Step heading 5"/>
          <p:cNvSpPr txBox="1"/>
          <p:nvPr/>
        </p:nvSpPr>
        <p:spPr>
          <a:xfrm>
            <a:off x="9714586" y="1965960"/>
            <a:ext cx="1742846" cy="411480"/>
          </a:xfrm>
          <a:prstGeom prst="rect">
            <a:avLst/>
          </a:prstGeom>
          <a:noFill/>
          <a:ln/>
        </p:spPr>
        <p:txBody>
          <a:bodyPr wrap="square" lIns="0" tIns="0" rIns="0" bIns="0" rtlCol="0" anchor="ctr"/>
          <a:lstStyle/>
          <a:p>
            <a:pPr indent="0" marL="0">
              <a:buNone/>
            </a:pPr>
            <a:r>
              <a:rPr lang="en-US" sz="1500" b="1" dirty="0">
                <a:solidFill>
                  <a:srgbClr val="262626"/>
                </a:solidFill>
              </a:rPr>
              <a:t>Validate and cut over</a:t>
            </a:r>
            <a:endParaRPr lang="en-US" sz="1500" dirty="0"/>
          </a:p>
        </p:txBody>
      </p:sp>
      <p:sp>
        <p:nvSpPr>
          <p:cNvPr id="36" name="Step text 5"/>
          <p:cNvSpPr txBox="1"/>
          <p:nvPr/>
        </p:nvSpPr>
        <p:spPr>
          <a:xfrm>
            <a:off x="9714586" y="2423160"/>
            <a:ext cx="1742846" cy="1371600"/>
          </a:xfrm>
          <a:prstGeom prst="rect">
            <a:avLst/>
          </a:prstGeom>
          <a:noFill/>
          <a:ln/>
        </p:spPr>
        <p:txBody>
          <a:bodyPr wrap="square" lIns="0" tIns="0" rIns="0" bIns="0" rtlCol="0" anchor="t"/>
          <a:lstStyle/>
          <a:p>
            <a:pPr indent="0" marL="0">
              <a:buNone/>
            </a:pPr>
            <a:r>
              <a:rPr lang="en-US" sz="1150" dirty="0">
                <a:solidFill>
                  <a:srgbClr val="404040"/>
                </a:solidFill>
              </a:rPr>
              <a:t>Application checks, DNS and ExpressRoute changes, Sentinel monitoring; fail back when Canada Central returns</a:t>
            </a:r>
            <a:endParaRPr lang="en-US" sz="1150" dirty="0"/>
          </a:p>
        </p:txBody>
      </p:sp>
      <p:sp>
        <p:nvSpPr>
          <p:cNvPr id="37" name="Step timing 5"/>
          <p:cNvSpPr txBox="1"/>
          <p:nvPr/>
        </p:nvSpPr>
        <p:spPr>
          <a:xfrm>
            <a:off x="9714586" y="3840480"/>
            <a:ext cx="1742846" cy="320040"/>
          </a:xfrm>
          <a:prstGeom prst="rect">
            <a:avLst/>
          </a:prstGeom>
          <a:noFill/>
          <a:ln/>
        </p:spPr>
        <p:txBody>
          <a:bodyPr wrap="square" lIns="0" tIns="0" rIns="0" bIns="0" rtlCol="0" anchor="ctr"/>
          <a:lstStyle/>
          <a:p>
            <a:pPr indent="0" marL="0">
              <a:buNone/>
            </a:pPr>
            <a:r>
              <a:rPr lang="en-US" sz="1100" b="1" dirty="0">
                <a:solidFill>
                  <a:srgbClr val="2E8B88"/>
                </a:solidFill>
              </a:rPr>
              <a:t>Per runbook</a:t>
            </a:r>
            <a:endParaRPr lang="en-US" sz="1100" dirty="0"/>
          </a:p>
        </p:txBody>
      </p:sp>
      <p:sp>
        <p:nvSpPr>
          <p:cNvPr id="38" name="Preconditions box"/>
          <p:cNvSpPr/>
          <p:nvPr/>
        </p:nvSpPr>
        <p:spPr>
          <a:xfrm>
            <a:off x="548640" y="4480560"/>
            <a:ext cx="11091672" cy="1691640"/>
          </a:xfrm>
          <a:prstGeom prst="roundRect">
            <a:avLst>
              <a:gd name="adj" fmla="val 5405"/>
            </a:avLst>
          </a:prstGeom>
          <a:solidFill>
            <a:srgbClr val="FFFFFF"/>
          </a:solidFill>
          <a:ln w="12700">
            <a:solidFill>
              <a:srgbClr val="E3D9EC"/>
            </a:solidFill>
            <a:prstDash val="solid"/>
          </a:ln>
          <a:effectLst>
            <a:outerShdw sx="100000" sy="100000" kx="0" ky="0" algn="bl" rotWithShape="0" blurRad="76200" dist="25400" dir="5400000">
              <a:srgbClr val="000000">
                <a:alpha val="12000"/>
              </a:srgbClr>
            </a:outerShdw>
          </a:effectLst>
        </p:spPr>
      </p:sp>
      <p:sp>
        <p:nvSpPr>
          <p:cNvPr id="39" name="Preconditions heading"/>
          <p:cNvSpPr txBox="1"/>
          <p:nvPr/>
        </p:nvSpPr>
        <p:spPr>
          <a:xfrm>
            <a:off x="777240" y="4572000"/>
            <a:ext cx="10607040" cy="365760"/>
          </a:xfrm>
          <a:prstGeom prst="rect">
            <a:avLst/>
          </a:prstGeom>
          <a:noFill/>
          <a:ln/>
        </p:spPr>
        <p:txBody>
          <a:bodyPr wrap="square" lIns="0" tIns="0" rIns="0" bIns="0" rtlCol="0" anchor="ctr"/>
          <a:lstStyle/>
          <a:p>
            <a:pPr indent="0" marL="0">
              <a:buNone/>
            </a:pPr>
            <a:r>
              <a:rPr lang="en-US" sz="1500" b="1" dirty="0">
                <a:solidFill>
                  <a:srgbClr val="582873"/>
                </a:solidFill>
              </a:rPr>
              <a:t>What must be in place before the outage</a:t>
            </a:r>
            <a:endParaRPr lang="en-US" sz="1500" dirty="0"/>
          </a:p>
        </p:txBody>
      </p:sp>
      <p:pic>
        <p:nvPicPr>
          <p:cNvPr id="40" name="Precondition icon 00" descr="preencoded.png">    </p:cNvPr>
          <p:cNvPicPr>
            <a:picLocks noChangeAspect="1"/>
          </p:cNvPicPr>
          <p:nvPr/>
        </p:nvPicPr>
        <p:blipFill>
          <a:blip r:embed="rId6"/>
          <a:stretch>
            <a:fillRect/>
          </a:stretch>
        </p:blipFill>
        <p:spPr>
          <a:xfrm>
            <a:off x="777240" y="5010912"/>
            <a:ext cx="256032" cy="256032"/>
          </a:xfrm>
          <a:prstGeom prst="rect">
            <a:avLst/>
          </a:prstGeom>
        </p:spPr>
      </p:pic>
      <p:sp>
        <p:nvSpPr>
          <p:cNvPr id="41" name="Precondition 00"/>
          <p:cNvSpPr txBox="1"/>
          <p:nvPr/>
        </p:nvSpPr>
        <p:spPr>
          <a:xfrm>
            <a:off x="1124712" y="4983480"/>
            <a:ext cx="4983480" cy="548640"/>
          </a:xfrm>
          <a:prstGeom prst="rect">
            <a:avLst/>
          </a:prstGeom>
          <a:noFill/>
          <a:ln/>
        </p:spPr>
        <p:txBody>
          <a:bodyPr wrap="square" lIns="0" tIns="0" rIns="0" bIns="0" rtlCol="0" anchor="t"/>
          <a:lstStyle/>
          <a:p>
            <a:pPr indent="0" marL="0">
              <a:buNone/>
            </a:pPr>
            <a:r>
              <a:rPr lang="en-US" sz="1150" dirty="0">
                <a:solidFill>
                  <a:srgbClr val="262626"/>
                </a:solidFill>
              </a:rPr>
              <a:t>Isolated, immutable offsite copy in a second Canadian location (or on-premises), outside production credentials</a:t>
            </a:r>
            <a:endParaRPr lang="en-US" sz="1150" dirty="0"/>
          </a:p>
        </p:txBody>
      </p:sp>
      <p:pic>
        <p:nvPicPr>
          <p:cNvPr id="42" name="Precondition icon 01" descr="preencoded.png">    </p:cNvPr>
          <p:cNvPicPr>
            <a:picLocks noChangeAspect="1"/>
          </p:cNvPicPr>
          <p:nvPr/>
        </p:nvPicPr>
        <p:blipFill>
          <a:blip r:embed="rId7"/>
          <a:stretch>
            <a:fillRect/>
          </a:stretch>
        </p:blipFill>
        <p:spPr>
          <a:xfrm>
            <a:off x="6217920" y="5010912"/>
            <a:ext cx="256032" cy="256032"/>
          </a:xfrm>
          <a:prstGeom prst="rect">
            <a:avLst/>
          </a:prstGeom>
        </p:spPr>
      </p:pic>
      <p:sp>
        <p:nvSpPr>
          <p:cNvPr id="43" name="Precondition 01"/>
          <p:cNvSpPr txBox="1"/>
          <p:nvPr/>
        </p:nvSpPr>
        <p:spPr>
          <a:xfrm>
            <a:off x="6565392" y="4983480"/>
            <a:ext cx="4983480" cy="548640"/>
          </a:xfrm>
          <a:prstGeom prst="rect">
            <a:avLst/>
          </a:prstGeom>
          <a:noFill/>
          <a:ln/>
        </p:spPr>
        <p:txBody>
          <a:bodyPr wrap="square" lIns="0" tIns="0" rIns="0" bIns="0" rtlCol="0" anchor="t"/>
          <a:lstStyle/>
          <a:p>
            <a:pPr indent="0" marL="0">
              <a:buNone/>
            </a:pPr>
            <a:r>
              <a:rPr lang="en-US" sz="1150" dirty="0">
                <a:solidFill>
                  <a:srgbClr val="262626"/>
                </a:solidFill>
              </a:rPr>
              <a:t>Recovery region plan: Canada East capacity reservation or alternate subscription, tested at least annually</a:t>
            </a:r>
            <a:endParaRPr lang="en-US" sz="1150" dirty="0"/>
          </a:p>
        </p:txBody>
      </p:sp>
      <p:pic>
        <p:nvPicPr>
          <p:cNvPr id="44" name="Precondition icon 10" descr="preencoded.png">    </p:cNvPr>
          <p:cNvPicPr>
            <a:picLocks noChangeAspect="1"/>
          </p:cNvPicPr>
          <p:nvPr/>
        </p:nvPicPr>
        <p:blipFill>
          <a:blip r:embed="rId8"/>
          <a:stretch>
            <a:fillRect/>
          </a:stretch>
        </p:blipFill>
        <p:spPr>
          <a:xfrm>
            <a:off x="777240" y="5577840"/>
            <a:ext cx="256032" cy="256032"/>
          </a:xfrm>
          <a:prstGeom prst="rect">
            <a:avLst/>
          </a:prstGeom>
        </p:spPr>
      </p:pic>
      <p:sp>
        <p:nvSpPr>
          <p:cNvPr id="45" name="Precondition 10"/>
          <p:cNvSpPr txBox="1"/>
          <p:nvPr/>
        </p:nvSpPr>
        <p:spPr>
          <a:xfrm>
            <a:off x="1124712" y="5550408"/>
            <a:ext cx="4983480" cy="548640"/>
          </a:xfrm>
          <a:prstGeom prst="rect">
            <a:avLst/>
          </a:prstGeom>
          <a:noFill/>
          <a:ln/>
        </p:spPr>
        <p:txBody>
          <a:bodyPr wrap="square" lIns="0" tIns="0" rIns="0" bIns="0" rtlCol="0" anchor="t"/>
          <a:lstStyle/>
          <a:p>
            <a:pPr indent="0" marL="0">
              <a:buNone/>
            </a:pPr>
            <a:r>
              <a:rPr lang="en-US" sz="1150" dirty="0">
                <a:solidFill>
                  <a:srgbClr val="262626"/>
                </a:solidFill>
              </a:rPr>
              <a:t>Infrastructure as Code for critical environments, with the repositories themselves backed up</a:t>
            </a:r>
            <a:endParaRPr lang="en-US" sz="1150" dirty="0"/>
          </a:p>
        </p:txBody>
      </p:sp>
      <p:pic>
        <p:nvPicPr>
          <p:cNvPr id="46" name="Precondition icon 11" descr="preencoded.png">    </p:cNvPr>
          <p:cNvPicPr>
            <a:picLocks noChangeAspect="1"/>
          </p:cNvPicPr>
          <p:nvPr/>
        </p:nvPicPr>
        <p:blipFill>
          <a:blip r:embed="rId9"/>
          <a:stretch>
            <a:fillRect/>
          </a:stretch>
        </p:blipFill>
        <p:spPr>
          <a:xfrm>
            <a:off x="6217920" y="5577840"/>
            <a:ext cx="256032" cy="256032"/>
          </a:xfrm>
          <a:prstGeom prst="rect">
            <a:avLst/>
          </a:prstGeom>
        </p:spPr>
      </p:pic>
      <p:sp>
        <p:nvSpPr>
          <p:cNvPr id="47" name="Precondition 11"/>
          <p:cNvSpPr txBox="1"/>
          <p:nvPr/>
        </p:nvSpPr>
        <p:spPr>
          <a:xfrm>
            <a:off x="6565392" y="5550408"/>
            <a:ext cx="4983480" cy="548640"/>
          </a:xfrm>
          <a:prstGeom prst="rect">
            <a:avLst/>
          </a:prstGeom>
          <a:noFill/>
          <a:ln/>
        </p:spPr>
        <p:txBody>
          <a:bodyPr wrap="square" lIns="0" tIns="0" rIns="0" bIns="0" rtlCol="0" anchor="t"/>
          <a:lstStyle/>
          <a:p>
            <a:pPr indent="0" marL="0">
              <a:buNone/>
            </a:pPr>
            <a:r>
              <a:rPr lang="en-US" sz="1150" dirty="0">
                <a:solidFill>
                  <a:srgbClr val="262626"/>
                </a:solidFill>
              </a:rPr>
              <a:t>Break-glass identities, offline runbooks and recovery-tier RPO / RTO agreed with the business</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Summary: from in-region protection to enterprise resilience</a:t>
            </a:r>
            <a:endParaRPr lang="en-US" sz="3000" dirty="0"/>
          </a:p>
        </p:txBody>
      </p:sp>
      <p:sp>
        <p:nvSpPr>
          <p:cNvPr id="3" name="Summary column 1"/>
          <p:cNvSpPr/>
          <p:nvPr/>
        </p:nvSpPr>
        <p:spPr>
          <a:xfrm>
            <a:off x="548640" y="1143000"/>
            <a:ext cx="3514344" cy="4937760"/>
          </a:xfrm>
          <a:prstGeom prst="roundRect">
            <a:avLst>
              <a:gd name="adj" fmla="val 2602"/>
            </a:avLst>
          </a:prstGeom>
          <a:solidFill>
            <a:srgbClr val="CFE3F7"/>
          </a:solidFill>
          <a:ln/>
        </p:spPr>
      </p:sp>
      <p:sp>
        <p:nvSpPr>
          <p:cNvPr id="4" name="Summary heading 1"/>
          <p:cNvSpPr txBox="1"/>
          <p:nvPr/>
        </p:nvSpPr>
        <p:spPr>
          <a:xfrm>
            <a:off x="777240" y="1325880"/>
            <a:ext cx="3057144" cy="457200"/>
          </a:xfrm>
          <a:prstGeom prst="rect">
            <a:avLst/>
          </a:prstGeom>
          <a:noFill/>
          <a:ln/>
        </p:spPr>
        <p:txBody>
          <a:bodyPr wrap="square" lIns="0" tIns="0" rIns="0" bIns="0" rtlCol="0" anchor="ctr"/>
          <a:lstStyle/>
          <a:p>
            <a:pPr indent="0" marL="0">
              <a:buNone/>
            </a:pPr>
            <a:r>
              <a:rPr lang="en-US" sz="2000" b="1" dirty="0">
                <a:solidFill>
                  <a:srgbClr val="1F5C99"/>
                </a:solidFill>
              </a:rPr>
              <a:t>Where we stand</a:t>
            </a:r>
            <a:endParaRPr lang="en-US" sz="2000" dirty="0"/>
          </a:p>
        </p:txBody>
      </p:sp>
      <p:sp>
        <p:nvSpPr>
          <p:cNvPr id="5" name="Summary items 1"/>
          <p:cNvSpPr txBox="1"/>
          <p:nvPr/>
        </p:nvSpPr>
        <p:spPr>
          <a:xfrm>
            <a:off x="777240" y="1920240"/>
            <a:ext cx="3102864" cy="40233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62626"/>
                </a:solidFill>
              </a:rPr>
              <a:t>Azure Backup and platform-native backups protect core Azure data well in region</a:t>
            </a:r>
            <a:endParaRPr lang="en-US" sz="1400" dirty="0"/>
          </a:p>
          <a:p>
            <a:pPr marL="342900" indent="-342900">
              <a:spcAft>
                <a:spcPts val="1000"/>
              </a:spcAft>
              <a:buSzPct val="100000"/>
              <a:buChar char="•"/>
            </a:pPr>
            <a:r>
              <a:rPr lang="en-US" sz="1400" dirty="0">
                <a:solidFill>
                  <a:srgbClr val="262626"/>
                </a:solidFill>
              </a:rPr>
              <a:t>Zone redundancy handles zone failures but is not an offsite copy</a:t>
            </a:r>
            <a:endParaRPr lang="en-US" sz="1400" dirty="0"/>
          </a:p>
          <a:p>
            <a:pPr marL="342900" indent="-342900">
              <a:spcAft>
                <a:spcPts val="1000"/>
              </a:spcAft>
              <a:buSzPct val="100000"/>
              <a:buChar char="•"/>
            </a:pPr>
            <a:r>
              <a:rPr lang="en-US" sz="1400" dirty="0">
                <a:solidFill>
                  <a:srgbClr val="262626"/>
                </a:solidFill>
              </a:rPr>
              <a:t>Entra ID, GitHub, Azure DevOps and platform configuration sit outside the backup strategy</a:t>
            </a:r>
            <a:endParaRPr lang="en-US" sz="1400" dirty="0"/>
          </a:p>
          <a:p>
            <a:pPr marL="342900" indent="-342900">
              <a:spcAft>
                <a:spcPts val="1000"/>
              </a:spcAft>
              <a:buSzPct val="100000"/>
              <a:buChar char="•"/>
            </a:pPr>
            <a:r>
              <a:rPr lang="en-US" sz="1400" dirty="0">
                <a:solidFill>
                  <a:srgbClr val="262626"/>
                </a:solidFill>
              </a:rPr>
              <a:t>Backups held only in Azure share Azure’s outage modes</a:t>
            </a:r>
            <a:endParaRPr lang="en-US" sz="1400" dirty="0"/>
          </a:p>
        </p:txBody>
      </p:sp>
      <p:sp>
        <p:nvSpPr>
          <p:cNvPr id="6" name="Summary column 2"/>
          <p:cNvSpPr/>
          <p:nvPr/>
        </p:nvSpPr>
        <p:spPr>
          <a:xfrm>
            <a:off x="4337304" y="1143000"/>
            <a:ext cx="3514344" cy="4937760"/>
          </a:xfrm>
          <a:prstGeom prst="roundRect">
            <a:avLst>
              <a:gd name="adj" fmla="val 2602"/>
            </a:avLst>
          </a:prstGeom>
          <a:solidFill>
            <a:srgbClr val="F4EFF8"/>
          </a:solidFill>
          <a:ln/>
        </p:spPr>
      </p:sp>
      <p:sp>
        <p:nvSpPr>
          <p:cNvPr id="7" name="Summary heading 2"/>
          <p:cNvSpPr txBox="1"/>
          <p:nvPr/>
        </p:nvSpPr>
        <p:spPr>
          <a:xfrm>
            <a:off x="4565904" y="1325880"/>
            <a:ext cx="3057144" cy="457200"/>
          </a:xfrm>
          <a:prstGeom prst="rect">
            <a:avLst/>
          </a:prstGeom>
          <a:noFill/>
          <a:ln/>
        </p:spPr>
        <p:txBody>
          <a:bodyPr wrap="square" lIns="0" tIns="0" rIns="0" bIns="0" rtlCol="0" anchor="ctr"/>
          <a:lstStyle/>
          <a:p>
            <a:pPr indent="0" marL="0">
              <a:buNone/>
            </a:pPr>
            <a:r>
              <a:rPr lang="en-US" sz="2000" b="1" dirty="0">
                <a:solidFill>
                  <a:srgbClr val="582873"/>
                </a:solidFill>
              </a:rPr>
              <a:t>What closes the gaps</a:t>
            </a:r>
            <a:endParaRPr lang="en-US" sz="2000" dirty="0"/>
          </a:p>
        </p:txBody>
      </p:sp>
      <p:sp>
        <p:nvSpPr>
          <p:cNvPr id="8" name="Summary items 2"/>
          <p:cNvSpPr txBox="1"/>
          <p:nvPr/>
        </p:nvSpPr>
        <p:spPr>
          <a:xfrm>
            <a:off x="4565904" y="1920240"/>
            <a:ext cx="3102864" cy="40233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62626"/>
                </a:solidFill>
              </a:rPr>
              <a:t>An isolated, immutable copy in a second Canadian location or on-premises</a:t>
            </a:r>
            <a:endParaRPr lang="en-US" sz="1400" dirty="0"/>
          </a:p>
          <a:p>
            <a:pPr marL="342900" indent="-342900">
              <a:spcAft>
                <a:spcPts val="1000"/>
              </a:spcAft>
              <a:buSzPct val="100000"/>
              <a:buChar char="•"/>
            </a:pPr>
            <a:r>
              <a:rPr lang="en-US" sz="1400" dirty="0">
                <a:solidFill>
                  <a:srgbClr val="262626"/>
                </a:solidFill>
              </a:rPr>
              <a:t>Long-term, externally held backups for Entra ID, GitHub and Azure DevOps</a:t>
            </a:r>
            <a:endParaRPr lang="en-US" sz="1400" dirty="0"/>
          </a:p>
          <a:p>
            <a:pPr marL="342900" indent="-342900">
              <a:spcAft>
                <a:spcPts val="1000"/>
              </a:spcAft>
              <a:buSzPct val="100000"/>
              <a:buChar char="•"/>
            </a:pPr>
            <a:r>
              <a:rPr lang="en-US" sz="1400" dirty="0">
                <a:solidFill>
                  <a:srgbClr val="262626"/>
                </a:solidFill>
              </a:rPr>
              <a:t>Automated environment rebuild (Commvault Cloud Rewind) or complete, tested IaC</a:t>
            </a:r>
            <a:endParaRPr lang="en-US" sz="1400" dirty="0"/>
          </a:p>
          <a:p>
            <a:pPr marL="342900" indent="-342900">
              <a:spcAft>
                <a:spcPts val="1000"/>
              </a:spcAft>
              <a:buSzPct val="100000"/>
              <a:buChar char="•"/>
            </a:pPr>
            <a:r>
              <a:rPr lang="en-US" sz="1400" dirty="0">
                <a:solidFill>
                  <a:srgbClr val="262626"/>
                </a:solidFill>
              </a:rPr>
              <a:t>One console across on-premises, Microsoft 365, Azure and AWS</a:t>
            </a:r>
            <a:endParaRPr lang="en-US" sz="1400" dirty="0"/>
          </a:p>
        </p:txBody>
      </p:sp>
      <p:sp>
        <p:nvSpPr>
          <p:cNvPr id="9" name="Summary column 3"/>
          <p:cNvSpPr/>
          <p:nvPr/>
        </p:nvSpPr>
        <p:spPr>
          <a:xfrm>
            <a:off x="8125968" y="1143000"/>
            <a:ext cx="3514344" cy="4937760"/>
          </a:xfrm>
          <a:prstGeom prst="roundRect">
            <a:avLst>
              <a:gd name="adj" fmla="val 2602"/>
            </a:avLst>
          </a:prstGeom>
          <a:solidFill>
            <a:srgbClr val="EAF4F3"/>
          </a:solidFill>
          <a:ln/>
        </p:spPr>
      </p:sp>
      <p:sp>
        <p:nvSpPr>
          <p:cNvPr id="10" name="Summary heading 3"/>
          <p:cNvSpPr txBox="1"/>
          <p:nvPr/>
        </p:nvSpPr>
        <p:spPr>
          <a:xfrm>
            <a:off x="8354568" y="1325880"/>
            <a:ext cx="3057144" cy="457200"/>
          </a:xfrm>
          <a:prstGeom prst="rect">
            <a:avLst/>
          </a:prstGeom>
          <a:noFill/>
          <a:ln/>
        </p:spPr>
        <p:txBody>
          <a:bodyPr wrap="square" lIns="0" tIns="0" rIns="0" bIns="0" rtlCol="0" anchor="ctr"/>
          <a:lstStyle/>
          <a:p>
            <a:pPr indent="0" marL="0">
              <a:buNone/>
            </a:pPr>
            <a:r>
              <a:rPr lang="en-US" sz="2000" b="1" dirty="0">
                <a:solidFill>
                  <a:srgbClr val="2E8B88"/>
                </a:solidFill>
              </a:rPr>
              <a:t>Next steps</a:t>
            </a:r>
            <a:endParaRPr lang="en-US" sz="2000" dirty="0"/>
          </a:p>
        </p:txBody>
      </p:sp>
      <p:sp>
        <p:nvSpPr>
          <p:cNvPr id="11" name="Summary items 3"/>
          <p:cNvSpPr txBox="1"/>
          <p:nvPr/>
        </p:nvSpPr>
        <p:spPr>
          <a:xfrm>
            <a:off x="8354568" y="1920240"/>
            <a:ext cx="3102864" cy="40233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62626"/>
                </a:solidFill>
              </a:rPr>
              <a:t>Confirm protection status per subscription and the recovery tiers with the business</a:t>
            </a:r>
            <a:endParaRPr lang="en-US" sz="1400" dirty="0"/>
          </a:p>
          <a:p>
            <a:pPr marL="342900" indent="-342900">
              <a:spcAft>
                <a:spcPts val="1000"/>
              </a:spcAft>
              <a:buSzPct val="100000"/>
              <a:buChar char="•"/>
            </a:pPr>
            <a:r>
              <a:rPr lang="en-US" sz="1400" dirty="0">
                <a:solidFill>
                  <a:srgbClr val="262626"/>
                </a:solidFill>
              </a:rPr>
              <a:t>Resolve the residency position for SaaS control planes (Commvault: East US 2)</a:t>
            </a:r>
            <a:endParaRPr lang="en-US" sz="1400" dirty="0"/>
          </a:p>
          <a:p>
            <a:pPr marL="342900" indent="-342900">
              <a:spcAft>
                <a:spcPts val="1000"/>
              </a:spcAft>
              <a:buSzPct val="100000"/>
              <a:buChar char="•"/>
            </a:pPr>
            <a:r>
              <a:rPr lang="en-US" sz="1400" dirty="0">
                <a:solidFill>
                  <a:srgbClr val="262626"/>
                </a:solidFill>
              </a:rPr>
              <a:t>Run the proof of concept: environment rebuild, Entra ID and DevOps restore, cross-region recovery</a:t>
            </a:r>
            <a:endParaRPr lang="en-US" sz="1400" dirty="0"/>
          </a:p>
          <a:p>
            <a:pPr marL="342900" indent="-342900">
              <a:spcAft>
                <a:spcPts val="1000"/>
              </a:spcAft>
              <a:buSzPct val="100000"/>
              <a:buChar char="•"/>
            </a:pPr>
            <a:r>
              <a:rPr lang="en-US" sz="1400" dirty="0">
                <a:solidFill>
                  <a:srgbClr val="262626"/>
                </a:solidFill>
              </a:rPr>
              <a:t>Decide Option A versus enhanced Azure Backup, then plan the recovery-region capacity</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Cloud Backup Coverage">
  <a:themeElements>
    <a:clrScheme name="Cloud Backup Coverage">
      <a:dk1>
        <a:srgbClr val="262626"/>
      </a:dk1>
      <a:lt1>
        <a:srgbClr val="FFFFFF"/>
      </a:lt1>
      <a:dk2>
        <a:srgbClr val="3A1D52"/>
      </a:dk2>
      <a:lt2>
        <a:srgbClr val="F4EFF8"/>
      </a:lt2>
      <a:accent1>
        <a:srgbClr val="582873"/>
      </a:accent1>
      <a:accent2>
        <a:srgbClr val="AD1D84"/>
      </a:accent2>
      <a:accent3>
        <a:srgbClr val="2E8B88"/>
      </a:accent3>
      <a:accent4>
        <a:srgbClr val="4E95D9"/>
      </a:accent4>
      <a:accent5>
        <a:srgbClr val="E8913A"/>
      </a:accent5>
      <a:accent6>
        <a:srgbClr val="8C8C8C"/>
      </a:accent6>
      <a:hlink>
        <a:srgbClr val="582873"/>
      </a:hlink>
      <a:folHlink>
        <a:srgbClr val="6B5B95"/>
      </a:folHlink>
    </a:clrScheme>
    <a:fontScheme name="Cloud Backup Coverag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Backup and recovery coverage: single pane of glass</dc:title>
  <dc:subject>PptxGenJS Presentation</dc:subject>
  <dc:creator>PptxGenJS</dc:creator>
  <cp:lastModifiedBy>PptxGenJS</cp:lastModifiedBy>
  <cp:revision>1</cp:revision>
  <dcterms:created xsi:type="dcterms:W3CDTF">2026-10-30T13:03:09Z</dcterms:created>
  <dcterms:modified xsi:type="dcterms:W3CDTF">2026-10-30T13:03:09Z</dcterms:modified>
</cp:coreProperties>
</file>